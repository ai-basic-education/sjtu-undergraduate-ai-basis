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2"/>
  </p:sldMasterIdLst>
  <p:notesMasterIdLst>
    <p:notesMasterId r:id="rId32"/>
  </p:notesMasterIdLst>
  <p:sldIdLst>
    <p:sldId id="2314" r:id="rId3"/>
    <p:sldId id="10237" r:id="rId4"/>
    <p:sldId id="10815" r:id="rId5"/>
    <p:sldId id="10333" r:id="rId6"/>
    <p:sldId id="10334" r:id="rId7"/>
    <p:sldId id="2033" r:id="rId8"/>
    <p:sldId id="2034" r:id="rId9"/>
    <p:sldId id="10335" r:id="rId10"/>
    <p:sldId id="10336" r:id="rId11"/>
    <p:sldId id="10337" r:id="rId12"/>
    <p:sldId id="10338" r:id="rId13"/>
    <p:sldId id="10339" r:id="rId14"/>
    <p:sldId id="10340" r:id="rId15"/>
    <p:sldId id="10341" r:id="rId16"/>
    <p:sldId id="10342" r:id="rId17"/>
    <p:sldId id="10343" r:id="rId18"/>
    <p:sldId id="10344" r:id="rId19"/>
    <p:sldId id="10345" r:id="rId20"/>
    <p:sldId id="10346" r:id="rId21"/>
    <p:sldId id="2058" r:id="rId22"/>
    <p:sldId id="10860" r:id="rId23"/>
    <p:sldId id="10861" r:id="rId24"/>
    <p:sldId id="10862" r:id="rId25"/>
    <p:sldId id="10874" r:id="rId26"/>
    <p:sldId id="10865" r:id="rId27"/>
    <p:sldId id="10866" r:id="rId28"/>
    <p:sldId id="10354" r:id="rId29"/>
    <p:sldId id="10355" r:id="rId30"/>
    <p:sldId id="1032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  <p:cmAuthor id="3" name="Microsoft Office User" initials="MOU" lastIdx="2" clrIdx="2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7"/>
    <a:srgbClr val="FF9966"/>
    <a:srgbClr val="002B7F"/>
    <a:srgbClr val="1D41D5"/>
    <a:srgbClr val="3232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89457" autoAdjust="0"/>
  </p:normalViewPr>
  <p:slideViewPr>
    <p:cSldViewPr snapToGrid="0">
      <p:cViewPr varScale="1">
        <p:scale>
          <a:sx n="127" d="100"/>
          <a:sy n="127" d="100"/>
        </p:scale>
        <p:origin x="600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423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2025/12/21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2025/12/21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47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2" y="175417"/>
            <a:ext cx="2023540" cy="40141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3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21"/>
            <a:ext cx="12192000" cy="336803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658702" y="1685678"/>
            <a:ext cx="11162884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58699" y="974280"/>
            <a:ext cx="11162884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01" y="175415"/>
            <a:ext cx="2023540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1"/>
            <a:ext cx="12192000" cy="91439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3519"/>
            <a:ext cx="12192000" cy="33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8351"/>
      </p:ext>
    </p:extLst>
  </p:cSld>
  <p:clrMapOvr>
    <a:masterClrMapping/>
  </p:clrMapOvr>
  <p:transition>
    <p:fad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2025/12/21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6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2025/12/21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9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8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412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913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532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89926"/>
      </p:ext>
    </p:extLst>
  </p:cSld>
  <p:clrMapOvr>
    <a:masterClrMapping/>
  </p:clrMapOvr>
  <p:transition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67" r:id="rId8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0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144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mnist-and-mlp-2" TargetMode="External"/><Relationship Id="rId2" Type="http://schemas.openxmlformats.org/officeDocument/2006/relationships/hyperlink" Target="http://www.kaggle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hyperlink" Target="https://www.kaggle.com/competitions/lstm-transformers-2/overview" TargetMode="External"/><Relationship Id="rId4" Type="http://schemas.openxmlformats.org/officeDocument/2006/relationships/hyperlink" Target="https://www.kaggle.com/competitions/cnn-cifar-10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www.kaggle.com/competitions/cnn-cifar-10" TargetMode="Externa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www.kaggle.com/competitions/mnist-and-mlp-2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mnist-and-mlp-2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91" y="3694681"/>
            <a:ext cx="12192000" cy="2769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神经网络结构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algn="ctr" defTabSz="864235">
              <a:defRPr/>
            </a:pPr>
            <a:fld id="{E102F756-3B96-CC46-A2D4-96CC8736307C}" type="datetime3"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lvl="0" algn="ctr" defTabSz="864235">
                <a:defRPr/>
              </a:pPr>
              <a:t>2025年12月21日星期日</a:t>
            </a:fld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363C8D-788B-991E-B29B-AAA8E75D2B16}"/>
              </a:ext>
            </a:extLst>
          </p:cNvPr>
          <p:cNvSpPr txBox="1"/>
          <p:nvPr/>
        </p:nvSpPr>
        <p:spPr>
          <a:xfrm>
            <a:off x="92764" y="6374296"/>
            <a:ext cx="30751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</a:rPr>
              <a:t>PPT</a:t>
            </a:r>
            <a:r>
              <a:rPr lang="zh-CN" altLang="en-US" sz="2000">
                <a:solidFill>
                  <a:schemeClr val="bg1"/>
                </a:solidFill>
              </a:rPr>
              <a:t>贡献：许志钦、马征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80999" y="1012121"/>
                <a:ext cx="11811001" cy="2611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关联性：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很多具有空间或者时间结构的数据都有局部关联的特点，也就是随着距离增长，两个空间点上的数据的关联强度不断下降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图像中的关联性：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相邻像素通常具有相似的灰度值或颜色（现实世界中物体表面的连续性和光照的平滑变化）</a:t>
                </a:r>
              </a:p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两个常见的关联衰减模型：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指数衰减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𝒌𝒙</m:t>
                        </m:r>
                      </m:sup>
                    </m:sSup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幂级数衰减</a:t>
                </a:r>
                <a:r>
                  <a:rPr lang="en-US" altLang="zh-CN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𝒚</m:t>
                    </m:r>
                    <m:r>
                      <a:rPr lang="en-US" altLang="zh-CN" sz="2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𝒙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𝒌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0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1012121"/>
                <a:ext cx="11811001" cy="2611549"/>
              </a:xfrm>
              <a:prstGeom prst="rect">
                <a:avLst/>
              </a:prstGeom>
              <a:blipFill rotWithShape="1">
                <a:blip r:embed="rId2"/>
                <a:stretch>
                  <a:fillRect l="-5" t="-2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320" y="3608798"/>
            <a:ext cx="10373360" cy="2743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B8EBB-C66E-AF3A-1E78-AA6AE685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E7C4AC-07D4-9331-DF2B-ACB2836A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7182D-BA6A-D5D9-3FBD-1D126B3EA91F}"/>
              </a:ext>
            </a:extLst>
          </p:cNvPr>
          <p:cNvSpPr txBox="1"/>
          <p:nvPr/>
        </p:nvSpPr>
        <p:spPr>
          <a:xfrm>
            <a:off x="380999" y="1012121"/>
            <a:ext cx="11811001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 law/Scaling law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幂级数衰减可以理解为有无穷多个半衰期的指数衰减的和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AC1C181-1B1F-5918-5188-3F11C697EA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320" y="3608798"/>
            <a:ext cx="10373360" cy="27432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65726DD-5630-17CA-7FB5-4E80C2C1C7CA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19D1858-6830-38E8-AE88-A5678C3DCA81}"/>
                  </a:ext>
                </a:extLst>
              </p:cNvPr>
              <p:cNvSpPr txBox="1"/>
              <p:nvPr/>
            </p:nvSpPr>
            <p:spPr>
              <a:xfrm>
                <a:off x="2624667" y="1973410"/>
                <a:ext cx="6032500" cy="75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19D1858-6830-38E8-AE88-A5678C3DC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667" y="1973410"/>
                <a:ext cx="6032500" cy="758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C3385D96-7189-F7D9-CDA5-F02950C11EED}"/>
              </a:ext>
            </a:extLst>
          </p:cNvPr>
          <p:cNvSpPr txBox="1"/>
          <p:nvPr/>
        </p:nvSpPr>
        <p:spPr>
          <a:xfrm>
            <a:off x="380999" y="2647509"/>
            <a:ext cx="11811001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有无穷慢衰减的成分！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当系统有多个子系统时，容易出现</a:t>
            </a:r>
          </a:p>
        </p:txBody>
      </p:sp>
    </p:spTree>
    <p:extLst>
      <p:ext uri="{BB962C8B-B14F-4D97-AF65-F5344CB8AC3E}">
        <p14:creationId xmlns:p14="http://schemas.microsoft.com/office/powerpoint/2010/main" val="2323087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关联性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36549" y="763121"/>
                <a:ext cx="11811001" cy="502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图像数据服从什么衰减规律？使用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相关函数</a:t>
                </a:r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来研究</a:t>
                </a:r>
                <a:r>
                  <a:rPr lang="en-US" altLang="zh-CN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是两个像素点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49" y="763121"/>
                <a:ext cx="11811001" cy="502895"/>
              </a:xfrm>
              <a:prstGeom prst="rect">
                <a:avLst/>
              </a:prstGeom>
              <a:blipFill>
                <a:blip r:embed="rId2"/>
                <a:stretch>
                  <a:fillRect l="-516" b="-192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497320" y="1382444"/>
            <a:ext cx="17030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联合概率分布</a:t>
            </a:r>
          </a:p>
        </p:txBody>
      </p:sp>
      <p:cxnSp>
        <p:nvCxnSpPr>
          <p:cNvPr id="4" name="直接箭头连接符 3"/>
          <p:cNvCxnSpPr>
            <a:stCxn id="6" idx="2"/>
          </p:cNvCxnSpPr>
          <p:nvPr/>
        </p:nvCxnSpPr>
        <p:spPr>
          <a:xfrm>
            <a:off x="7348855" y="1719629"/>
            <a:ext cx="382905" cy="178481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427402" y="1213851"/>
            <a:ext cx="9918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灰度值</a:t>
            </a: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8150860" y="1515016"/>
            <a:ext cx="617220" cy="39439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8514945" y="1515016"/>
            <a:ext cx="253136" cy="3465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80999" y="2501924"/>
                <a:ext cx="4346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当两个点相关时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，独立时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0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99" y="2501924"/>
                <a:ext cx="4346644" cy="400110"/>
              </a:xfrm>
              <a:prstGeom prst="rect">
                <a:avLst/>
              </a:prstGeom>
              <a:blipFill rotWithShape="1">
                <a:blip r:embed="rId3"/>
                <a:stretch>
                  <a:fillRect l="-15" t="-6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380999" y="3091815"/>
            <a:ext cx="10246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也可以通过</a:t>
            </a: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频谱图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来研究：对图像进行傅里叶变换，然后计算每个频率分量的模长平方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02280" y="3681706"/>
            <a:ext cx="6187440" cy="26797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34830" y="1115870"/>
            <a:ext cx="2657475" cy="203644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9769475" y="4466590"/>
            <a:ext cx="2209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图像服从幂律分布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8582660" y="4692650"/>
            <a:ext cx="1186815" cy="11112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10712767" y="3252818"/>
            <a:ext cx="310833" cy="1228203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139499" y="1772689"/>
                <a:ext cx="6929025" cy="899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0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499" y="1772689"/>
                <a:ext cx="6929025" cy="899670"/>
              </a:xfrm>
              <a:prstGeom prst="rect">
                <a:avLst/>
              </a:prstGeom>
              <a:blipFill rotWithShape="1">
                <a:blip r:embed="rId6"/>
                <a:stretch>
                  <a:fillRect l="-1" t="-45" r="9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9881BDD4-B5C5-4DF0-987F-17EA36BE7614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8E074F-1DB4-BA42-5DF0-931E66763482}"/>
              </a:ext>
            </a:extLst>
          </p:cNvPr>
          <p:cNvSpPr txBox="1"/>
          <p:nvPr/>
        </p:nvSpPr>
        <p:spPr>
          <a:xfrm>
            <a:off x="10068524" y="5410164"/>
            <a:ext cx="177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横坐标是两个像素点的距离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图像数据集的特征</a:t>
            </a:r>
            <a:r>
              <a:rPr lang="en-US" altLang="zh-CN" dirty="0"/>
              <a:t>——</a:t>
            </a:r>
            <a:r>
              <a:rPr lang="zh-CN" altLang="en-US" dirty="0"/>
              <a:t>不变性</a:t>
            </a:r>
          </a:p>
        </p:txBody>
      </p:sp>
      <p:pic>
        <p:nvPicPr>
          <p:cNvPr id="5" name="图片 4" descr="image_invariance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2890" y="1004570"/>
            <a:ext cx="6586220" cy="48488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585AED-E218-49C0-9585-9B392859E86D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D4E613-7010-4BF5-BA33-D0EF8E9C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4A0280-ADAE-4A07-8A57-ED21FBFC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416" y="2568658"/>
            <a:ext cx="6562212" cy="34860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2203DE-0652-49B7-84B1-C59D2673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924" y="1111414"/>
            <a:ext cx="2579408" cy="16976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53DD97D-C849-4008-9A8E-BDFCC89B1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42" y="888582"/>
            <a:ext cx="2854066" cy="146507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A7AA947-A2BF-44D4-96DD-F83B41813ACF}"/>
              </a:ext>
            </a:extLst>
          </p:cNvPr>
          <p:cNvSpPr/>
          <p:nvPr/>
        </p:nvSpPr>
        <p:spPr>
          <a:xfrm>
            <a:off x="9074275" y="6237844"/>
            <a:ext cx="2459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illSans-Bold"/>
              </a:rPr>
              <a:t>Hubel &amp; Wiesel</a:t>
            </a:r>
            <a:r>
              <a:rPr lang="en-US" dirty="0">
                <a:latin typeface="GillSans"/>
              </a:rPr>
              <a:t>, 1959</a:t>
            </a:r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FC764D-8F3F-963D-B457-D457E442CA5B}"/>
              </a:ext>
            </a:extLst>
          </p:cNvPr>
          <p:cNvSpPr/>
          <p:nvPr/>
        </p:nvSpPr>
        <p:spPr>
          <a:xfrm>
            <a:off x="9681104" y="5870064"/>
            <a:ext cx="24590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illSans-Bold"/>
              </a:rPr>
              <a:t>Hubel &amp; Wiesel</a:t>
            </a:r>
            <a:r>
              <a:rPr lang="en-US" dirty="0">
                <a:latin typeface="GillSans"/>
              </a:rPr>
              <a:t>, 1959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30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D4E613-7010-4BF5-BA33-D0EF8E9C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AF6C83-B835-49C2-A255-A3BF8C2AF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06" y="1002844"/>
            <a:ext cx="7653643" cy="48808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525D4AE-A73E-436E-8A27-8ECD2334F5FB}"/>
              </a:ext>
            </a:extLst>
          </p:cNvPr>
          <p:cNvSpPr/>
          <p:nvPr/>
        </p:nvSpPr>
        <p:spPr>
          <a:xfrm>
            <a:off x="9246638" y="5355763"/>
            <a:ext cx="30321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Peter Dayan and L.F. Abbott </a:t>
            </a:r>
            <a:r>
              <a:rPr lang="en-US" altLang="zh-CN" b="1" dirty="0">
                <a:latin typeface="Palatino-Bold"/>
              </a:rPr>
              <a:t>Theoretical Neuroscience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50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大脑如何处理图像数据？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1242" y="853419"/>
            <a:ext cx="10542905" cy="2405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初级视觉皮层（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）中存在简单细胞和复杂细胞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简单细胞：对位置和边缘信息非常敏感，不同简单细胞有不同的感受野，以识别特定的形状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复杂细胞：整合来自多个简单细胞的输入</a:t>
            </a:r>
          </a:p>
          <a:p>
            <a:pPr indent="0" fontAlgn="auto"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230091" y="5406263"/>
            <a:ext cx="8706035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简单细胞的感受野示意图。当视觉刺激与该细胞的感受野结构相匹配时, 即亮区落在 on 区、暗区落在 off 区, 该细胞就会被激活。可以看到，这个细胞倾向于识别竖线。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62F178-DA2B-4DF5-986E-504C1602B36B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0B0370-0048-71C8-E4F5-ADDBFDAEA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86" y="2788016"/>
            <a:ext cx="4180776" cy="25740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10C9FF8-9E17-EF1F-52DB-C4D251829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004" y="2714869"/>
            <a:ext cx="3559045" cy="244749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C7BFD9B-509F-B9A7-23C9-F8FBD1911965}"/>
              </a:ext>
            </a:extLst>
          </p:cNvPr>
          <p:cNvSpPr/>
          <p:nvPr/>
        </p:nvSpPr>
        <p:spPr>
          <a:xfrm>
            <a:off x="9936126" y="5120720"/>
            <a:ext cx="29220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Peter Dayan and L.F. Abbott </a:t>
            </a:r>
            <a:r>
              <a:rPr lang="en-US" altLang="zh-CN" b="1" dirty="0">
                <a:latin typeface="Palatino-Bold"/>
              </a:rPr>
              <a:t>Theoretical Neuroscience</a:t>
            </a:r>
          </a:p>
          <a:p>
            <a:r>
              <a:rPr lang="en-US" altLang="zh-CN" b="1" dirty="0">
                <a:latin typeface="GillSans-Bold"/>
              </a:rPr>
              <a:t>Hubel &amp; Wiesel</a:t>
            </a:r>
            <a:r>
              <a:rPr lang="en-US" altLang="zh-CN" dirty="0">
                <a:latin typeface="GillSans"/>
              </a:rPr>
              <a:t>, 1959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卷积神经网络</a:t>
            </a:r>
            <a:r>
              <a:rPr lang="en-US" altLang="zh-CN" dirty="0"/>
              <a:t>——</a:t>
            </a:r>
            <a:r>
              <a:rPr lang="zh-CN" altLang="en-US" dirty="0"/>
              <a:t>类视皮层设计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81242" y="866775"/>
            <a:ext cx="11739638" cy="217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一个标准的卷积神经网络（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Convolutional Neural Network, CNN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）通常由以下几个模块构成：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Convolutional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——  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池化层（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Pooling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全连接层（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Fully-Connected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 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复杂细胞</a:t>
            </a:r>
          </a:p>
          <a:p>
            <a:pPr marL="742950" lvl="1" indent="-285750" fontAlgn="auto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输出层（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 Layer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017" r="7408"/>
          <a:stretch>
            <a:fillRect/>
          </a:stretch>
        </p:blipFill>
        <p:spPr>
          <a:xfrm>
            <a:off x="2520950" y="3464560"/>
            <a:ext cx="2394585" cy="2392045"/>
          </a:xfrm>
          <a:prstGeom prst="rect">
            <a:avLst/>
          </a:prstGeom>
          <a:ln w="25400">
            <a:solidFill>
              <a:schemeClr val="tx2"/>
            </a:solidFill>
          </a:ln>
        </p:spPr>
      </p:pic>
      <p:sp>
        <p:nvSpPr>
          <p:cNvPr id="10" name="右箭头 8"/>
          <p:cNvSpPr/>
          <p:nvPr/>
        </p:nvSpPr>
        <p:spPr>
          <a:xfrm>
            <a:off x="5770880" y="4582794"/>
            <a:ext cx="650240" cy="155575"/>
          </a:xfrm>
          <a:prstGeom prst="rightArrow">
            <a:avLst>
              <a:gd name="adj1" fmla="val 50000"/>
              <a:gd name="adj2" fmla="val 92653"/>
            </a:avLst>
          </a:prstGeom>
          <a:solidFill>
            <a:srgbClr val="000000">
              <a:alpha val="0"/>
            </a:srgbClr>
          </a:solidFill>
          <a:ln w="12700" cap="flat" cmpd="sng" algn="ctr">
            <a:solidFill>
              <a:schemeClr val="tx2"/>
            </a:solidFill>
            <a:prstDash val="solid"/>
            <a:miter lim="800000"/>
          </a:ln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65" y="3329940"/>
            <a:ext cx="2529205" cy="25266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C60E44E-9750-45F6-A60D-1D0C391785A5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790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06970" y="211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90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06970" y="355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0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2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62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62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62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62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34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934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34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34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34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06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066970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06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0066970" y="3555553"/>
            <a:ext cx="720000" cy="720000"/>
          </a:xfrm>
          <a:prstGeom prst="rect">
            <a:avLst/>
          </a:prstGeom>
          <a:solidFill>
            <a:schemeClr val="accent3"/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06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0786970" y="139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786970" y="211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786970" y="283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786970" y="355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0786970" y="4275553"/>
            <a:ext cx="720000" cy="720000"/>
          </a:xfrm>
          <a:prstGeom prst="rect">
            <a:avLst/>
          </a:prstGeom>
          <a:solidFill>
            <a:srgbClr val="4472C4">
              <a:lumMod val="60000"/>
              <a:lumOff val="40000"/>
            </a:srgb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32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32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2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04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04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04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767325" y="2115553"/>
            <a:ext cx="720000" cy="7200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767325" y="2835553"/>
            <a:ext cx="720000" cy="720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767325" y="3555553"/>
            <a:ext cx="720000" cy="72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58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(x-1,y+1)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30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(x,y+1)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10021249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(x+1,y+1)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58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(x-1,y)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930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(x,y)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10021249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(x+1,y)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858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(x-1,y-1)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30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(x,y-1)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0021249" y="377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(x+1,y-1)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527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g(-1,1)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599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g(0,1)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6719440" y="233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g(1,1)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28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g(-1,0)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00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g(0,0)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728148" y="3057053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g(1,0)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529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g(-1,-1)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01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g(0,-1)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736856" y="3765489"/>
            <a:ext cx="811441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g(1,-1)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5839595" y="1447850"/>
            <a:ext cx="1130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卷积核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222464" y="847933"/>
            <a:ext cx="969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26236" y="2426567"/>
                <a:ext cx="5346148" cy="1670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/>
                        <m:e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nary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36" y="2426567"/>
                <a:ext cx="5346148" cy="1670137"/>
              </a:xfrm>
              <a:prstGeom prst="rect">
                <a:avLst/>
              </a:prstGeom>
              <a:blipFill rotWithShape="1">
                <a:blip r:embed="rId2"/>
                <a:stretch>
                  <a:fillRect l="-9" t="-14" r="1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063688" y="5230396"/>
                <a:ext cx="996727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−1,   1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 +  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0,  1 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1,  1  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algn="just"/>
                <a:r>
                  <a:rPr lang="en-US" altLang="zh-CN" b="0" dirty="0">
                    <a:solidFill>
                      <a:schemeClr val="tx2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−1,    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−1,   0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 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0,  0 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+1,    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1,  0  </m:t>
                        </m:r>
                      </m:e>
                    </m:d>
                  </m:oMath>
                </a14:m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r>
                  <a:rPr lang="en-US" altLang="zh-CN" b="0" dirty="0">
                    <a:solidFill>
                      <a:schemeClr val="accent3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−1,−1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 + 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0,−1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  + 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(1,−1)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688" y="5230396"/>
                <a:ext cx="9967273" cy="923330"/>
              </a:xfrm>
              <a:prstGeom prst="rect">
                <a:avLst/>
              </a:prstGeom>
              <a:blipFill>
                <a:blip r:embed="rId3"/>
                <a:stretch>
                  <a:fillRect b="-5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8A793457-3593-48CD-8043-A0474BDFFF26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45AEFD-225B-4771-7365-F482093E0207}"/>
                  </a:ext>
                </a:extLst>
              </p:cNvPr>
              <p:cNvSpPr txBox="1"/>
              <p:nvPr/>
            </p:nvSpPr>
            <p:spPr>
              <a:xfrm>
                <a:off x="339415" y="1447850"/>
                <a:ext cx="49051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zh-CN" altLang="en-US" sz="2000" dirty="0"/>
                  <a:t>右边的例子中用的是</a:t>
                </a:r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,−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kumimoji="1" lang="en-US" altLang="zh-CN" sz="2000" dirty="0"/>
                  <a:t>,</a:t>
                </a:r>
                <a:r>
                  <a:rPr kumimoji="1" lang="zh-CN" altLang="en-US" sz="2000" dirty="0"/>
                  <a:t> 是否等价？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45AEFD-225B-4771-7365-F482093E0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15" y="1447850"/>
                <a:ext cx="4905155" cy="400110"/>
              </a:xfrm>
              <a:prstGeom prst="rect">
                <a:avLst/>
              </a:prstGeom>
              <a:blipFill>
                <a:blip r:embed="rId4"/>
                <a:stretch>
                  <a:fillRect l="-1292" t="-15625" r="-6460" b="-28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卷积作用于图像</a:t>
            </a:r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7325" y="1461135"/>
            <a:ext cx="6736715" cy="41586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6998" y="6351998"/>
            <a:ext cx="10665179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图像过卷积后长什么样子？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8935" y="1331595"/>
            <a:ext cx="8914130" cy="43643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5FBD239-E797-4ACB-AF5E-731FECEEED65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Zero Padding———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解决图像过卷积后大小改变的问题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62835" y="1475740"/>
            <a:ext cx="7466330" cy="44761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4D6E3F-679A-470C-95B7-FB13171CA368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跨步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stride(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j)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81242" y="1043940"/>
            <a:ext cx="1052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横向跨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步，纵向跨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步。图中第一行为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stride(1,1)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，第二行为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stride(2,2)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76020" y="2034540"/>
            <a:ext cx="9764395" cy="36048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909FD80-B4C0-45FD-9B44-58DF6C63E524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多通道卷积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3105" y="945515"/>
            <a:ext cx="7869555" cy="52209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19F0065-ABAA-4AEF-BE68-8B75A6ADC081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为什么要引入卷积？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81242" y="894715"/>
                <a:ext cx="11587238" cy="1730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0" fontAlgn="auto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识别局部关联：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假设输入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维向量，标签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个分量的和（模拟了局部关联）。假设训练数据中存在噪音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l-GR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(0,0.01)</m:t>
                    </m:r>
                  </m:oMath>
                </a14:m>
                <a:r>
                  <a:rPr lang="zh-CN" altLang="en-US" sz="2400" b="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我们用全连接网络和带有一个大小和跨度均为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的卷积核的全连接网络（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 err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conv+DNN</a:t>
                </a:r>
                <a:r>
                  <a:rPr lang="en-US" altLang="zh-CN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）分别进行训练。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42" y="894715"/>
                <a:ext cx="11587238" cy="1730795"/>
              </a:xfrm>
              <a:prstGeom prst="rect">
                <a:avLst/>
              </a:prstGeom>
              <a:blipFill>
                <a:blip r:embed="rId2"/>
                <a:stretch>
                  <a:fillRect l="-842" r="-737" b="-6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12870" y="2657408"/>
            <a:ext cx="4366260" cy="26777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81242" y="5411470"/>
            <a:ext cx="60960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平移等变性：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输入与输出以同样的方式改变。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4137498" y="5452764"/>
                <a:ext cx="6096000" cy="71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8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conv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conv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lang="en-US" altLang="zh-CN" sz="1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98" y="5452764"/>
                <a:ext cx="6096000" cy="717632"/>
              </a:xfrm>
              <a:prstGeom prst="rect">
                <a:avLst/>
              </a:prstGeom>
              <a:blipFill rotWithShape="1">
                <a:blip r:embed="rId4"/>
                <a:stretch>
                  <a:fillRect l="-8" t="-3" r="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75F42C2-E638-4563-BA82-07CDF554C967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D3F5EFF-4870-3B5A-3173-A3697C30B3B7}"/>
              </a:ext>
            </a:extLst>
          </p:cNvPr>
          <p:cNvSpPr txBox="1"/>
          <p:nvPr/>
        </p:nvSpPr>
        <p:spPr>
          <a:xfrm>
            <a:off x="8798560" y="2727766"/>
            <a:ext cx="3205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思考：为什么</a:t>
            </a:r>
            <a:r>
              <a:rPr lang="en-US" altLang="zh-CN" sz="2000" dirty="0" err="1"/>
              <a:t>conv+DNN</a:t>
            </a:r>
            <a:r>
              <a:rPr lang="zh-CN" altLang="en-US" sz="2000" dirty="0"/>
              <a:t>效果更好？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9CE16-DD23-5EFD-DE63-C49B5CDCC0F1}"/>
              </a:ext>
            </a:extLst>
          </p:cNvPr>
          <p:cNvSpPr txBox="1"/>
          <p:nvPr/>
        </p:nvSpPr>
        <p:spPr>
          <a:xfrm>
            <a:off x="8798560" y="3484319"/>
            <a:ext cx="32054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，数据不充分且有噪音时，</a:t>
            </a:r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DNN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易用</a:t>
            </a:r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90 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个无关的数据维度拟合训练数据</a:t>
            </a:r>
            <a:endParaRPr lang="en-US" altLang="zh-CN" dirty="0">
              <a:solidFill>
                <a:srgbClr val="000000"/>
              </a:solidFill>
              <a:latin typeface="FandolSong-Regular-Identity-H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2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，卷积可以提取局部信息 </a:t>
            </a:r>
            <a:endParaRPr lang="en-US" altLang="zh-CN" dirty="0">
              <a:solidFill>
                <a:srgbClr val="000000"/>
              </a:solidFill>
              <a:latin typeface="FandolSong-Regular-Identity-H"/>
            </a:endParaRPr>
          </a:p>
          <a:p>
            <a:pPr algn="l"/>
            <a:r>
              <a:rPr lang="en-US" altLang="zh-CN" dirty="0">
                <a:solidFill>
                  <a:srgbClr val="000000"/>
                </a:solidFill>
                <a:latin typeface="FandolSong-Regular-Identity-H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FandolSong-Regular-Identity-H"/>
              </a:rPr>
              <a:t>，默认每局部五个是高关联，且求和权重一样，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池化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57450" y="1346835"/>
            <a:ext cx="6864350" cy="44297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790320-DD6C-45D2-AA89-603880E540BF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Pooling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梯度怎么做反向传播？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425" y="1955800"/>
            <a:ext cx="11020425" cy="284670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43F741-2668-426D-BFC4-37DDF07CFA0E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卷积神经网络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51062" y="761979"/>
            <a:ext cx="7889875" cy="553974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4480AD-8A3A-408E-B28E-B717A0983F40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8B2807-528E-4781-99C1-DFC81B6D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</a:t>
            </a:r>
            <a:r>
              <a:rPr lang="en-US" altLang="zh-CN" dirty="0"/>
              <a:t>CNN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E3971D-D97A-40CA-8B83-8142F833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00" y="1629329"/>
            <a:ext cx="7121882" cy="477869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1B42C78-C688-4735-829B-FFB3F6E1F3F9}"/>
              </a:ext>
            </a:extLst>
          </p:cNvPr>
          <p:cNvSpPr/>
          <p:nvPr/>
        </p:nvSpPr>
        <p:spPr>
          <a:xfrm>
            <a:off x="0" y="6408020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MR9"/>
              </a:rPr>
              <a:t>Krizhevsky</a:t>
            </a:r>
            <a:r>
              <a:rPr lang="en-US" altLang="zh-CN" dirty="0">
                <a:latin typeface="CMR9"/>
              </a:rPr>
              <a:t>, A., </a:t>
            </a:r>
            <a:r>
              <a:rPr lang="en-US" altLang="zh-CN" dirty="0" err="1">
                <a:latin typeface="CMR9"/>
              </a:rPr>
              <a:t>Sutskever</a:t>
            </a:r>
            <a:r>
              <a:rPr lang="en-US" altLang="zh-CN" dirty="0">
                <a:latin typeface="CMR9"/>
              </a:rPr>
              <a:t>, I., Hinton, G.: </a:t>
            </a:r>
            <a:r>
              <a:rPr lang="en-US" altLang="zh-CN" dirty="0" err="1">
                <a:latin typeface="CMR9"/>
              </a:rPr>
              <a:t>Imagenet</a:t>
            </a:r>
            <a:r>
              <a:rPr lang="en-US" altLang="zh-CN" dirty="0">
                <a:latin typeface="CMR9"/>
              </a:rPr>
              <a:t> classification with deep convolutional neural networks. In: NIPS (2012)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693656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802B-2E03-40B7-B83B-7E0E5426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114A7-2D2D-D5DF-C672-145F28C0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42" y="2844289"/>
            <a:ext cx="11429516" cy="761979"/>
          </a:xfrm>
        </p:spPr>
        <p:txBody>
          <a:bodyPr/>
          <a:lstStyle/>
          <a:p>
            <a:pPr algn="ctr"/>
            <a:r>
              <a:rPr lang="zh-CN" altLang="en-US" dirty="0"/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1961573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介绍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0038AF-3566-B855-CAEC-443AE6297839}"/>
              </a:ext>
            </a:extLst>
          </p:cNvPr>
          <p:cNvSpPr txBox="1"/>
          <p:nvPr/>
        </p:nvSpPr>
        <p:spPr>
          <a:xfrm>
            <a:off x="380999" y="1012121"/>
            <a:ext cx="11049001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Kaggle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为数据科学家、机器学习工程师和学生提供了一个展现和提升技能的大舞台，通过参与各类数据建模和机器学习的竞赛，他们可以与全球各地的参赛者一决高下。这些竞赛涵盖多个领域，包括表格数据、计算机视觉、自然语言处理、语音处理和生物医学等。这些竞赛通常由各大企业和研究机构赞助，提出具体的数据问题，参赛者则需要开发出模型来解决这些问题。这些竞赛不仅推动了数据科学领域的研究，还为企业寻找创新解决方案提供了机会。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本节课程的后半部分 ，我们将发布关于训练分类器和生成式模型两项内容的竞赛。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828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注册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BFEC3C2-DAD2-9870-3CCC-6503459E1F72}"/>
              </a:ext>
            </a:extLst>
          </p:cNvPr>
          <p:cNvSpPr txBox="1"/>
          <p:nvPr/>
        </p:nvSpPr>
        <p:spPr>
          <a:xfrm>
            <a:off x="380999" y="1012121"/>
            <a:ext cx="11255830" cy="512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www.kaggle.com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，点击网页的右上角的 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，点击画面上的 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Register with Email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输入你的邮箱 ，密码 ，进行人机验证。登录邮箱 ，输入你收到的六位验证码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进行手机号码验证 ，以便使用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Kaggle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平台提供的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计算资源：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点击右上角的头像 ，并选择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settings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，完成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Phone verification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访问本课程提供的竞赛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MLP: </a:t>
            </a:r>
            <a:r>
              <a:rPr lang="en-US" altLang="zh-CN" sz="2000" dirty="0">
                <a:hlinkClick r:id="rId3"/>
              </a:rPr>
              <a:t>MNIST_AND_MLP2 | Kaggle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CNN: </a:t>
            </a:r>
            <a:r>
              <a:rPr lang="en-US" altLang="zh-CN" sz="2000" dirty="0">
                <a:hlinkClick r:id="rId4"/>
              </a:rPr>
              <a:t>CNN-Cifar10 | Kaggle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 + Transformer: </a:t>
            </a:r>
            <a:r>
              <a:rPr lang="en-US" altLang="zh-CN" sz="2000" dirty="0">
                <a:hlinkClick r:id="rId5"/>
              </a:rPr>
              <a:t>LSTM+Transformers2 | Kaggle</a:t>
            </a:r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DBDCED-538D-F72A-CF95-88A26BD07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1743" y="2940146"/>
            <a:ext cx="3528772" cy="3316460"/>
          </a:xfrm>
          <a:prstGeom prst="rect">
            <a:avLst/>
          </a:prstGeom>
        </p:spPr>
      </p:pic>
      <p:sp>
        <p:nvSpPr>
          <p:cNvPr id="7" name="箭头: 左 6">
            <a:extLst>
              <a:ext uri="{FF2B5EF4-FFF2-40B4-BE49-F238E27FC236}">
                <a16:creationId xmlns:a16="http://schemas.microsoft.com/office/drawing/2014/main" id="{3953C379-B369-96FF-EE5D-22D2AF765A1F}"/>
              </a:ext>
            </a:extLst>
          </p:cNvPr>
          <p:cNvSpPr/>
          <p:nvPr/>
        </p:nvSpPr>
        <p:spPr>
          <a:xfrm rot="2399504">
            <a:off x="7445615" y="4005060"/>
            <a:ext cx="968828" cy="31933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99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3D2A-6FAE-A60A-8846-180A0228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F8BA8C3-D9E2-CFBF-A786-0D7C18E0B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图像识别任务 </a:t>
            </a: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CIFAR10 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数据集介绍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6CE98F-A095-CE44-E1EA-67BBFF587F98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F9FAFB"/>
                </a:solidFill>
                <a:effectLst/>
                <a:latin typeface="quote-cjk-patch"/>
              </a:rPr>
              <a:t>MNIST </a:t>
            </a:r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是一个被广泛使用的手写数字图像数据集。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CE5CC8-51AA-375C-0197-BCABFCF30F1E}"/>
              </a:ext>
            </a:extLst>
          </p:cNvPr>
          <p:cNvSpPr txBox="1"/>
          <p:nvPr/>
        </p:nvSpPr>
        <p:spPr>
          <a:xfrm>
            <a:off x="380999" y="1012121"/>
            <a:ext cx="11255830" cy="4246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是一个更接近普适物体的彩色图像数据集。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CIFAR-10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Hinton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的学生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 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Krizhevsky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Ilya </a:t>
            </a:r>
            <a:r>
              <a:rPr lang="en-US" altLang="zh-CN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Sutskever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整理的一个用于识别普适物体的小型数据集。一共包含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个类别的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彩色图片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内容构成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个类别的彩色图片：飞机、汽车、鸟、猫、鹿、狗、</a:t>
            </a:r>
            <a:b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青蛙、马、船、卡车。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总数量为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32x32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像素的彩色小图片。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张为训练集，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10,000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张为测试集。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使用经典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 </a:t>
            </a:r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模型训练 </a:t>
            </a:r>
            <a:r>
              <a:rPr lang="en-US" altLang="zh-CN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CIFAR10 : </a:t>
            </a:r>
            <a:r>
              <a:rPr lang="en-US" altLang="zh-CN" dirty="0">
                <a:hlinkClick r:id="rId2"/>
              </a:rPr>
              <a:t>CNN-Cifar10 | Kaggle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6B39BC1-74EB-AAA9-9918-3487476C0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288" y="2000321"/>
            <a:ext cx="5002959" cy="384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974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跑实验说明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65885D-9A66-8992-07F0-541DB8536947}"/>
              </a:ext>
            </a:extLst>
          </p:cNvPr>
          <p:cNvSpPr txBox="1"/>
          <p:nvPr/>
        </p:nvSpPr>
        <p:spPr>
          <a:xfrm>
            <a:off x="380999" y="1012121"/>
            <a:ext cx="11255830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 by teacher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预览界面后，点击右上角三点展开，选择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 &amp; edit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给自己复制一份再修改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编辑界面后，修改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题目，并找到代码中可以修改的超参数部分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修改超参数，将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setting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中设置为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P100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all              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运行所有的单元格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运行完毕后生成测试准确率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（以上过程并不会提交作业，可以查看作业的效果）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72394F-30EB-9DE1-E94B-B30482243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440" y="3483019"/>
            <a:ext cx="4629318" cy="335625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89C1088-B965-2B56-FBBF-2CB3CA15173F}"/>
              </a:ext>
            </a:extLst>
          </p:cNvPr>
          <p:cNvSpPr txBox="1"/>
          <p:nvPr/>
        </p:nvSpPr>
        <p:spPr>
          <a:xfrm>
            <a:off x="8765810" y="337498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1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5E2901-FAB1-1D55-902E-9BE5DA227169}"/>
              </a:ext>
            </a:extLst>
          </p:cNvPr>
          <p:cNvSpPr txBox="1"/>
          <p:nvPr/>
        </p:nvSpPr>
        <p:spPr>
          <a:xfrm>
            <a:off x="9974421" y="5845879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2</a:t>
            </a: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10EF86-A2F7-DD2E-CB02-52416406B85D}"/>
              </a:ext>
            </a:extLst>
          </p:cNvPr>
          <p:cNvSpPr txBox="1"/>
          <p:nvPr/>
        </p:nvSpPr>
        <p:spPr>
          <a:xfrm>
            <a:off x="9908841" y="445397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3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DED9243-6F7B-8DE6-7A64-079BB3F3E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538" y="2906867"/>
            <a:ext cx="1069178" cy="40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50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6532-8CF8-7CC8-893D-9054884D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00B6109-743A-33C4-A287-7A1E05E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buSzPct val="100000"/>
            </a:pPr>
            <a:r>
              <a:rPr lang="en-US" altLang="zh-CN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Kaggle</a:t>
            </a:r>
            <a:r>
              <a:rPr lang="zh-CN" altLang="en-US" spc="60" dirty="0">
                <a:ln w="3175">
                  <a:noFill/>
                  <a:prstDash val="dash"/>
                </a:ln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提交成绩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46EB0D-9B8F-1E78-F403-9F36179E8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865" y="1012121"/>
            <a:ext cx="2178749" cy="50191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B9ED0A3-A0B4-D262-5B96-D3CD81D9A35A}"/>
              </a:ext>
            </a:extLst>
          </p:cNvPr>
          <p:cNvSpPr txBox="1"/>
          <p:nvPr/>
        </p:nvSpPr>
        <p:spPr>
          <a:xfrm>
            <a:off x="380999" y="1012121"/>
            <a:ext cx="11255830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选择右上角的                               在界面中点开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Advanced Settings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with GPU for all sessions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此时左下角出现了运行中的提示，运行结束后会出现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successful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failed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字样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点击运行结束的提示，进入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预览界面</a:t>
            </a:r>
            <a:b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点击右上角三个点，选择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 to competition</a:t>
            </a:r>
          </a:p>
          <a:p>
            <a:pPr marL="457200" indent="-4572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submit 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即可提交，作业会显示在 </a:t>
            </a:r>
            <a:r>
              <a:rPr lang="en-US" altLang="zh-CN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“submission”</a:t>
            </a:r>
            <a:r>
              <a:rPr lang="zh-CN" altLang="en-US" sz="2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选项卡下</a:t>
            </a:r>
            <a:endParaRPr lang="en-US" altLang="zh-CN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548657C-DC52-D8EC-6E03-2200AE18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662" y="2536161"/>
            <a:ext cx="4428119" cy="8928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888214C-4A56-899D-8E10-D267C5705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062" y="4073054"/>
            <a:ext cx="5427696" cy="175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21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4480AD-8A3A-408E-B28E-B717A0983F40}"/>
              </a:ext>
            </a:extLst>
          </p:cNvPr>
          <p:cNvSpPr txBox="1"/>
          <p:nvPr/>
        </p:nvSpPr>
        <p:spPr>
          <a:xfrm>
            <a:off x="101059" y="6351998"/>
            <a:ext cx="9639572" cy="37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[1]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深度学习现象导论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许志钦、张耀宇 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https://github.com/xuzhiqin1990/understanding_dl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981154"/>
                <a:ext cx="11429516" cy="5333856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kumimoji="1" lang="zh-CN" altLang="en-US" b="0" dirty="0"/>
                  <a:t>卷积运算具有平移不变性，即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kumimoji="1" lang="zh-CN" altLang="en-US" b="0" dirty="0"/>
                  <a:t>，其中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zh-CN" altLang="en-US" b="0" dirty="0"/>
                  <a:t>为卷积运算，</a:t>
                </a:r>
                <a:r>
                  <a:rPr kumimoji="1" lang="en-US" altLang="zh-CN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1" lang="zh-CN" altLang="en-US" b="0" dirty="0"/>
                  <a:t>为平移操作</a:t>
                </a:r>
                <a:r>
                  <a:rPr kumimoji="1" lang="en-US" altLang="zh-CN" b="0" dirty="0"/>
                  <a:t>,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kumimoji="1" lang="zh-CN" altLang="en-US" b="0" dirty="0"/>
                  <a:t>为关于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zh-CN" altLang="en-US" b="0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kumimoji="1" lang="zh-CN" altLang="en-US" b="0" dirty="0"/>
                  <a:t>函数。请证明这一性质。并思考为什么平移不变性对于图像识别任务是有益的？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981154"/>
                <a:ext cx="11429516" cy="5333856"/>
              </a:xfrm>
              <a:blipFill>
                <a:blip r:embed="rId2"/>
                <a:stretch>
                  <a:fillRect l="-640" t="-343" r="-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25443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参考答案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242" y="839894"/>
                <a:ext cx="11739422" cy="5333856"/>
              </a:xfrm>
            </p:spPr>
            <p:txBody>
              <a:bodyPr>
                <a:normAutofit lnSpcReduction="10000"/>
              </a:bodyPr>
              <a:lstStyle/>
              <a:p>
                <a:r>
                  <a:rPr kumimoji="1" lang="zh-CN" altLang="en-US" sz="1800" b="0" dirty="0"/>
                  <a:t>设平移操作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kumimoji="1" lang="zh-CN" altLang="en-US" sz="1800" b="0" dirty="0"/>
                  <a:t>表示为</a:t>
                </a:r>
                <a14:m>
                  <m:oMath xmlns:m="http://schemas.openxmlformats.org/officeDocument/2006/math"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kumimoji="1" lang="zh-CN" altLang="en-US" sz="1800" b="0" dirty="0"/>
                  <a:t>卷积运算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zh-CN" altLang="en-US" sz="1800" b="0" dirty="0"/>
                  <a:t>对应的核为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zh-CN" altLang="en-US" sz="1800" b="0" dirty="0"/>
                  <a:t>，即</a:t>
                </a:r>
                <a:endParaRPr kumimoji="1" lang="en-US" altLang="zh-CN" sz="1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18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r>
                  <a:rPr kumimoji="1" lang="zh-CN" altLang="en-US" sz="1800" b="0" dirty="0"/>
                  <a:t>先卷积再平移：</a:t>
                </a:r>
                <a:endParaRPr kumimoji="1" lang="en-US" altLang="zh-CN" sz="1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r>
                  <a:rPr kumimoji="1" lang="zh-CN" altLang="en-US" sz="1800" b="0" dirty="0"/>
                  <a:t>先平移再卷积：</a:t>
                </a:r>
                <a:endParaRPr kumimoji="1" lang="en-US" altLang="zh-CN" sz="1800" b="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1800" b="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1800" b="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zh-CN" sz="1800" b="0" dirty="0"/>
              </a:p>
              <a:p>
                <a:pPr algn="l"/>
                <a:r>
                  <a:rPr kumimoji="1" lang="zh-CN" altLang="en-US" sz="1800" b="0" dirty="0"/>
                  <a:t>作变量代换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zh-CN" altLang="en-US" sz="1800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zh-CN" sz="18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18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zh-CN" altLang="en-US" sz="1800" b="0" dirty="0"/>
                  <a:t>得</a:t>
                </a:r>
                <a:endParaRPr kumimoji="1" lang="en-US" altLang="zh-CN" sz="1800" b="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zh-CN" sz="1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zh-CN" sz="1800" b="0" i="1">
                              <a:latin typeface="Cambria Math" panose="02040503050406030204" pitchFamily="18" charset="0"/>
                            </a:rPr>
                            <m:t>𝑢𝑑</m:t>
                          </m:r>
                          <m:r>
                            <a:rPr kumimoji="1" lang="en-US" altLang="zh-CN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</m:oMath>
                  </m:oMathPara>
                </a14:m>
                <a:endParaRPr kumimoji="1" lang="zh-CN" altLang="en-US" sz="1800" b="0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6B3902-E8EB-48FE-B688-8C1DB0558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242" y="839894"/>
                <a:ext cx="11739422" cy="5333856"/>
              </a:xfrm>
              <a:blipFill>
                <a:blip r:embed="rId2"/>
                <a:stretch>
                  <a:fillRect l="-468" t="-13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976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自定义 1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2080</Words>
  <Application>Microsoft Macintosh PowerPoint</Application>
  <PresentationFormat>宽屏</PresentationFormat>
  <Paragraphs>156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CMR9</vt:lpstr>
      <vt:lpstr>FandolSong-Regular-Identity-H</vt:lpstr>
      <vt:lpstr>quote-cjk-patch</vt:lpstr>
      <vt:lpstr>微软雅黑</vt:lpstr>
      <vt:lpstr>等线</vt:lpstr>
      <vt:lpstr>黑体</vt:lpstr>
      <vt:lpstr>Arial</vt:lpstr>
      <vt:lpstr>Book Antiqua</vt:lpstr>
      <vt:lpstr>Cambria Math</vt:lpstr>
      <vt:lpstr>GillSans</vt:lpstr>
      <vt:lpstr>GillSans-Bold</vt:lpstr>
      <vt:lpstr>Palatino-Bold</vt:lpstr>
      <vt:lpstr>Segoe UI</vt:lpstr>
      <vt:lpstr>Times New Roman</vt:lpstr>
      <vt:lpstr>Wingdings</vt:lpstr>
      <vt:lpstr>1_自定义设计方案</vt:lpstr>
      <vt:lpstr>2_自定义设计方案</vt:lpstr>
      <vt:lpstr>PowerPoint 演示文稿</vt:lpstr>
      <vt:lpstr>图像数据集的特征——关联性</vt:lpstr>
      <vt:lpstr>图像数据集的特征——关联性</vt:lpstr>
      <vt:lpstr>图像数据集的特征——关联性</vt:lpstr>
      <vt:lpstr>图像数据集的特征——不变性</vt:lpstr>
      <vt:lpstr>大脑如何处理图像数据？</vt:lpstr>
      <vt:lpstr>大脑如何处理图像数据？</vt:lpstr>
      <vt:lpstr>大脑如何处理图像数据？</vt:lpstr>
      <vt:lpstr>卷积神经网络——类视皮层设计</vt:lpstr>
      <vt:lpstr>卷积运算</vt:lpstr>
      <vt:lpstr>卷积作用于图像</vt:lpstr>
      <vt:lpstr>图像过卷积后长什么样子？</vt:lpstr>
      <vt:lpstr>Zero Padding———解决图像过卷积后大小改变的问题</vt:lpstr>
      <vt:lpstr>跨步  stride(i, j)</vt:lpstr>
      <vt:lpstr>多通道卷积</vt:lpstr>
      <vt:lpstr>为什么要引入卷积？</vt:lpstr>
      <vt:lpstr>池化 Pooling</vt:lpstr>
      <vt:lpstr>Pooling梯度怎么做反向传播？</vt:lpstr>
      <vt:lpstr>卷积神经网络 CNN</vt:lpstr>
      <vt:lpstr>理解CNN</vt:lpstr>
      <vt:lpstr>实验</vt:lpstr>
      <vt:lpstr>Kaggle介绍</vt:lpstr>
      <vt:lpstr>Kaggle注册</vt:lpstr>
      <vt:lpstr>图像识别任务 CIFAR10 数据集介绍</vt:lpstr>
      <vt:lpstr>Kaggle跑实验说明</vt:lpstr>
      <vt:lpstr>Kaggle提交成绩</vt:lpstr>
      <vt:lpstr>习题</vt:lpstr>
      <vt:lpstr>参考答案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Microsoft Office User</cp:lastModifiedBy>
  <cp:revision>626</cp:revision>
  <dcterms:created xsi:type="dcterms:W3CDTF">2020-06-05T07:59:00Z</dcterms:created>
  <dcterms:modified xsi:type="dcterms:W3CDTF">2025-12-21T05:23:11Z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31F957580B7B45D18D290D792645BC9D_13</vt:lpwstr>
  </property>
  <property fmtid="{D5CDD505-2E9C-101B-9397-08002B2CF9AE}" pid="3" name="KSOProductBuildVer">
    <vt:lpwstr>2052-12.1.0.19770</vt:lpwstr>
  </property>
</Properties>
</file>