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314" r:id="rId2"/>
    <p:sldId id="10354" r:id="rId3"/>
    <p:sldId id="10363" r:id="rId4"/>
    <p:sldId id="10333" r:id="rId5"/>
    <p:sldId id="10371" r:id="rId6"/>
    <p:sldId id="10370" r:id="rId7"/>
    <p:sldId id="10372" r:id="rId8"/>
    <p:sldId id="10373" r:id="rId9"/>
    <p:sldId id="10359" r:id="rId10"/>
    <p:sldId id="10376" r:id="rId11"/>
    <p:sldId id="10374" r:id="rId12"/>
    <p:sldId id="10375" r:id="rId13"/>
    <p:sldId id="10377" r:id="rId14"/>
    <p:sldId id="10378" r:id="rId15"/>
    <p:sldId id="10380" r:id="rId16"/>
    <p:sldId id="10358" r:id="rId17"/>
    <p:sldId id="10364" r:id="rId18"/>
    <p:sldId id="10331" r:id="rId19"/>
    <p:sldId id="10366" r:id="rId20"/>
    <p:sldId id="10360" r:id="rId21"/>
    <p:sldId id="10335" r:id="rId22"/>
    <p:sldId id="10367" r:id="rId23"/>
    <p:sldId id="10365" r:id="rId24"/>
    <p:sldId id="10336" r:id="rId25"/>
    <p:sldId id="10902" r:id="rId26"/>
    <p:sldId id="10903" r:id="rId27"/>
    <p:sldId id="10425" r:id="rId28"/>
    <p:sldId id="10426" r:id="rId29"/>
    <p:sldId id="10337" r:id="rId30"/>
    <p:sldId id="10338" r:id="rId31"/>
    <p:sldId id="10428" r:id="rId32"/>
    <p:sldId id="10429" r:id="rId33"/>
    <p:sldId id="10430" r:id="rId34"/>
    <p:sldId id="10339" r:id="rId35"/>
    <p:sldId id="10340" r:id="rId36"/>
    <p:sldId id="10361" r:id="rId37"/>
    <p:sldId id="10341" r:id="rId38"/>
    <p:sldId id="10362" r:id="rId39"/>
    <p:sldId id="10342" r:id="rId40"/>
    <p:sldId id="10353" r:id="rId41"/>
    <p:sldId id="10369" r:id="rId42"/>
    <p:sldId id="10379" r:id="rId43"/>
    <p:sldId id="10320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耀宇" initials="张耀宇" lastIdx="1" clrIdx="0"/>
  <p:cmAuthor id="2" name="zhiqin xu" initials="zx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B61516"/>
    <a:srgbClr val="1D41D5"/>
    <a:srgbClr val="070707"/>
    <a:srgbClr val="002B7F"/>
    <a:srgbClr val="3232FF"/>
    <a:srgbClr val="0000FF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97" autoAdjust="0"/>
    <p:restoredTop sz="89457" autoAdjust="0"/>
  </p:normalViewPr>
  <p:slideViewPr>
    <p:cSldViewPr snapToGrid="0">
      <p:cViewPr varScale="1">
        <p:scale>
          <a:sx n="127" d="100"/>
          <a:sy n="127" d="100"/>
        </p:scale>
        <p:origin x="992" y="1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29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CCD4-B0A0-4411-AF27-E52F275BA53D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FB6C25-FFE4-4126-ADF1-3137FE8DB2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欢迎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81242" y="3716337"/>
            <a:ext cx="11429516" cy="1523959"/>
          </a:xfrm>
        </p:spPr>
        <p:txBody>
          <a:bodyPr vert="horz" lIns="0" tIns="0" rIns="0" bIns="0" rtlCol="0" anchor="t" anchorCtr="0">
            <a:normAutofit/>
          </a:bodyPr>
          <a:lstStyle>
            <a:lvl1pPr algn="ctr">
              <a:defRPr lang="zh-CN" altLang="en-US" sz="5400" b="1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 dirty="0"/>
              <a:t>欢迎页面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81242" y="5336848"/>
            <a:ext cx="11429516" cy="76197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ea"/>
                <a:ea typeface="+mj-ea"/>
              </a:defRPr>
            </a:lvl1pPr>
            <a:lvl2pPr marL="60960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备注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81242" y="6237360"/>
            <a:ext cx="11429516" cy="4571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2540" smtClean="0">
                <a:solidFill>
                  <a:schemeClr val="bg1"/>
                </a:solidFill>
              </a:defRPr>
            </a:lvl1pPr>
          </a:lstStyle>
          <a:p>
            <a:fld id="{D2032502-F676-4D52-ABE7-5D8167C8AC58}" type="datetimeFigureOut">
              <a:rPr lang="zh-CN" altLang="en-US" smtClean="0"/>
              <a:t>2025/12/21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62226" y="3717192"/>
            <a:ext cx="10667548" cy="1333464"/>
          </a:xfrm>
        </p:spPr>
        <p:txBody>
          <a:bodyPr lIns="0" tIns="0" rIns="0" bIns="0" anchor="t" anchorCtr="0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讲演主标题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429113" y="5387513"/>
            <a:ext cx="5333774" cy="571485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defRPr lang="zh-CN" altLang="en-US" dirty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演讲者</a:t>
            </a:r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1"/>
          </p:nvPr>
        </p:nvSpPr>
        <p:spPr>
          <a:xfrm>
            <a:off x="3429113" y="6229835"/>
            <a:ext cx="5333774" cy="45718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D2032502-F676-4D52-ABE7-5D8167C8AC58}" type="datetimeFigureOut">
              <a:rPr lang="zh-CN" altLang="en-US" smtClean="0"/>
              <a:t>2025/12/21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34117" y="5941837"/>
            <a:ext cx="2723765" cy="720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结尾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97884"/>
            <a:ext cx="12192000" cy="37232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02" y="2699982"/>
            <a:ext cx="3626453" cy="960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/>
              <a:t>页面标题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736001" y="6318000"/>
            <a:ext cx="6720000" cy="540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36002" y="6318000"/>
            <a:ext cx="960000" cy="540000"/>
          </a:xfrm>
        </p:spPr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726" y="6100774"/>
            <a:ext cx="2611396" cy="5184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802" y="235137"/>
            <a:ext cx="8632687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accent1"/>
                </a:solidFill>
                <a:effectLst>
                  <a:glow rad="25400">
                    <a:srgbClr val="BFE2F3"/>
                  </a:glo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4519" y="6100774"/>
            <a:ext cx="2143761" cy="51846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9" cstate="print"/>
          <a:srcRect r="1346"/>
          <a:stretch>
            <a:fillRect/>
          </a:stretch>
        </p:blipFill>
        <p:spPr>
          <a:xfrm>
            <a:off x="516" y="341947"/>
            <a:ext cx="12191484" cy="411617"/>
          </a:xfrm>
          <a:prstGeom prst="rect">
            <a:avLst/>
          </a:prstGeom>
        </p:spPr>
      </p:pic>
      <p:sp>
        <p:nvSpPr>
          <p:cNvPr id="9" name="矩形 6"/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905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81242" y="0"/>
            <a:ext cx="11429516" cy="76197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242" y="981154"/>
            <a:ext cx="11429516" cy="5333856"/>
          </a:xfrm>
          <a:prstGeom prst="rect">
            <a:avLst/>
          </a:prstGeom>
        </p:spPr>
        <p:txBody>
          <a:bodyPr vert="horz" lIns="90000" tIns="0" rIns="91440" bIns="0" rtlCol="0">
            <a:normAutofit/>
          </a:bodyPr>
          <a:lstStyle/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667146" y="6318000"/>
            <a:ext cx="6857709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05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81242" y="6318000"/>
            <a:ext cx="952460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95">
                <a:solidFill>
                  <a:schemeClr val="bg1"/>
                </a:solidFill>
              </a:defRPr>
            </a:lvl1pPr>
          </a:lstStyle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7359" y="6371999"/>
            <a:ext cx="1622722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7" r:id="rId7"/>
  </p:sldLayoutIdLst>
  <p:txStyles>
    <p:titleStyle>
      <a:lvl1pPr algn="l" defTabSz="12192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80000"/>
        <a:buFontTx/>
        <a:buNone/>
        <a:defRPr sz="24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096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70000"/>
        <a:buFontTx/>
        <a:buNone/>
        <a:defRPr sz="20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192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60000"/>
        <a:buFontTx/>
        <a:buNone/>
        <a:defRPr sz="18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gif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gif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image" Target="../media/image160.png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image" Target="../media/image140.png"/><Relationship Id="rId58" Type="http://schemas.openxmlformats.org/officeDocument/2006/relationships/image" Target="../media/image171.png"/><Relationship Id="rId5" Type="http://schemas.openxmlformats.org/officeDocument/2006/relationships/tags" Target="../tags/tag5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image" Target="../media/image11.png"/><Relationship Id="rId8" Type="http://schemas.openxmlformats.org/officeDocument/2006/relationships/tags" Target="../tags/tag8.xml"/><Relationship Id="rId51" Type="http://schemas.openxmlformats.org/officeDocument/2006/relationships/slideLayout" Target="../slideLayouts/slideLayout6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image" Target="../media/image150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image" Target="../media/image34.jpeg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image" Target="../media/image1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3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37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4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png"/><Relationship Id="rId5" Type="http://schemas.openxmlformats.org/officeDocument/2006/relationships/image" Target="../media/image50.png"/><Relationship Id="rId4" Type="http://schemas.openxmlformats.org/officeDocument/2006/relationships/image" Target="../media/image43.png"/><Relationship Id="rId9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58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3.png"/><Relationship Id="rId7" Type="http://schemas.openxmlformats.org/officeDocument/2006/relationships/image" Target="../media/image6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6.png"/><Relationship Id="rId5" Type="http://schemas.openxmlformats.org/officeDocument/2006/relationships/image" Target="../media/image60.png"/><Relationship Id="rId4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6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11.png"/><Relationship Id="rId7" Type="http://schemas.openxmlformats.org/officeDocument/2006/relationships/image" Target="../media/image20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6.png"/><Relationship Id="rId5" Type="http://schemas.openxmlformats.org/officeDocument/2006/relationships/image" Target="../media/image210.png"/><Relationship Id="rId4" Type="http://schemas.openxmlformats.org/officeDocument/2006/relationships/image" Target="../media/image72.jpeg"/><Relationship Id="rId9" Type="http://schemas.openxmlformats.org/officeDocument/2006/relationships/image" Target="../media/image23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8.jpeg"/><Relationship Id="rId4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tags" Target="../tags/tag68.xml"/><Relationship Id="rId26" Type="http://schemas.openxmlformats.org/officeDocument/2006/relationships/image" Target="../media/image83.jpeg"/><Relationship Id="rId3" Type="http://schemas.openxmlformats.org/officeDocument/2006/relationships/tags" Target="../tags/tag53.xml"/><Relationship Id="rId21" Type="http://schemas.openxmlformats.org/officeDocument/2006/relationships/tags" Target="../tags/tag71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tags" Target="../tags/tag67.xml"/><Relationship Id="rId25" Type="http://schemas.openxmlformats.org/officeDocument/2006/relationships/image" Target="../media/image81.png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20" Type="http://schemas.openxmlformats.org/officeDocument/2006/relationships/tags" Target="../tags/tag70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24" Type="http://schemas.openxmlformats.org/officeDocument/2006/relationships/image" Target="../media/image290.png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23" Type="http://schemas.openxmlformats.org/officeDocument/2006/relationships/slideLayout" Target="../slideLayouts/slideLayout6.xml"/><Relationship Id="rId10" Type="http://schemas.openxmlformats.org/officeDocument/2006/relationships/tags" Target="../tags/tag60.xml"/><Relationship Id="rId19" Type="http://schemas.openxmlformats.org/officeDocument/2006/relationships/tags" Target="../tags/tag69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Relationship Id="rId22" Type="http://schemas.openxmlformats.org/officeDocument/2006/relationships/tags" Target="../tags/tag72.xml"/><Relationship Id="rId27" Type="http://schemas.openxmlformats.org/officeDocument/2006/relationships/image" Target="../media/image8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1.png"/><Relationship Id="rId2" Type="http://schemas.openxmlformats.org/officeDocument/2006/relationships/image" Target="../media/image8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7" Type="http://schemas.openxmlformats.org/officeDocument/2006/relationships/image" Target="../media/image361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easyai.tech/en/ai-definition/gradient-descent/" TargetMode="Externa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0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0.png"/></Relationships>
</file>

<file path=ppt/slides/_rels/slide34.xml.rels><?xml version="1.0" encoding="UTF-8" standalone="yes"?>
<Relationships xmlns="http://schemas.openxmlformats.org/package/2006/relationships"><Relationship Id="rId26" Type="http://schemas.openxmlformats.org/officeDocument/2006/relationships/tags" Target="../tags/tag98.xml"/><Relationship Id="rId21" Type="http://schemas.openxmlformats.org/officeDocument/2006/relationships/tags" Target="../tags/tag93.xml"/><Relationship Id="rId42" Type="http://schemas.openxmlformats.org/officeDocument/2006/relationships/tags" Target="../tags/tag114.xml"/><Relationship Id="rId47" Type="http://schemas.openxmlformats.org/officeDocument/2006/relationships/tags" Target="../tags/tag119.xml"/><Relationship Id="rId63" Type="http://schemas.openxmlformats.org/officeDocument/2006/relationships/tags" Target="../tags/tag135.xml"/><Relationship Id="rId68" Type="http://schemas.openxmlformats.org/officeDocument/2006/relationships/tags" Target="../tags/tag140.xml"/><Relationship Id="rId84" Type="http://schemas.openxmlformats.org/officeDocument/2006/relationships/tags" Target="../tags/tag156.xml"/><Relationship Id="rId16" Type="http://schemas.openxmlformats.org/officeDocument/2006/relationships/tags" Target="../tags/tag88.xml"/><Relationship Id="rId11" Type="http://schemas.openxmlformats.org/officeDocument/2006/relationships/tags" Target="../tags/tag83.xml"/><Relationship Id="rId32" Type="http://schemas.openxmlformats.org/officeDocument/2006/relationships/tags" Target="../tags/tag104.xml"/><Relationship Id="rId37" Type="http://schemas.openxmlformats.org/officeDocument/2006/relationships/tags" Target="../tags/tag109.xml"/><Relationship Id="rId53" Type="http://schemas.openxmlformats.org/officeDocument/2006/relationships/tags" Target="../tags/tag125.xml"/><Relationship Id="rId58" Type="http://schemas.openxmlformats.org/officeDocument/2006/relationships/tags" Target="../tags/tag130.xml"/><Relationship Id="rId74" Type="http://schemas.openxmlformats.org/officeDocument/2006/relationships/tags" Target="../tags/tag146.xml"/><Relationship Id="rId79" Type="http://schemas.openxmlformats.org/officeDocument/2006/relationships/tags" Target="../tags/tag151.xml"/><Relationship Id="rId5" Type="http://schemas.openxmlformats.org/officeDocument/2006/relationships/tags" Target="../tags/tag77.xml"/><Relationship Id="rId19" Type="http://schemas.openxmlformats.org/officeDocument/2006/relationships/tags" Target="../tags/tag91.xml"/><Relationship Id="rId14" Type="http://schemas.openxmlformats.org/officeDocument/2006/relationships/tags" Target="../tags/tag86.xml"/><Relationship Id="rId22" Type="http://schemas.openxmlformats.org/officeDocument/2006/relationships/tags" Target="../tags/tag94.xml"/><Relationship Id="rId27" Type="http://schemas.openxmlformats.org/officeDocument/2006/relationships/tags" Target="../tags/tag99.xml"/><Relationship Id="rId30" Type="http://schemas.openxmlformats.org/officeDocument/2006/relationships/tags" Target="../tags/tag102.xml"/><Relationship Id="rId35" Type="http://schemas.openxmlformats.org/officeDocument/2006/relationships/tags" Target="../tags/tag107.xml"/><Relationship Id="rId43" Type="http://schemas.openxmlformats.org/officeDocument/2006/relationships/tags" Target="../tags/tag115.xml"/><Relationship Id="rId48" Type="http://schemas.openxmlformats.org/officeDocument/2006/relationships/tags" Target="../tags/tag120.xml"/><Relationship Id="rId56" Type="http://schemas.openxmlformats.org/officeDocument/2006/relationships/tags" Target="../tags/tag128.xml"/><Relationship Id="rId64" Type="http://schemas.openxmlformats.org/officeDocument/2006/relationships/tags" Target="../tags/tag136.xml"/><Relationship Id="rId69" Type="http://schemas.openxmlformats.org/officeDocument/2006/relationships/tags" Target="../tags/tag141.xml"/><Relationship Id="rId77" Type="http://schemas.openxmlformats.org/officeDocument/2006/relationships/tags" Target="../tags/tag149.xml"/><Relationship Id="rId8" Type="http://schemas.openxmlformats.org/officeDocument/2006/relationships/tags" Target="../tags/tag80.xml"/><Relationship Id="rId51" Type="http://schemas.openxmlformats.org/officeDocument/2006/relationships/tags" Target="../tags/tag123.xml"/><Relationship Id="rId72" Type="http://schemas.openxmlformats.org/officeDocument/2006/relationships/tags" Target="../tags/tag144.xml"/><Relationship Id="rId80" Type="http://schemas.openxmlformats.org/officeDocument/2006/relationships/tags" Target="../tags/tag152.xml"/><Relationship Id="rId85" Type="http://schemas.openxmlformats.org/officeDocument/2006/relationships/slideLayout" Target="../slideLayouts/slideLayout6.xml"/><Relationship Id="rId3" Type="http://schemas.openxmlformats.org/officeDocument/2006/relationships/tags" Target="../tags/tag75.xml"/><Relationship Id="rId12" Type="http://schemas.openxmlformats.org/officeDocument/2006/relationships/tags" Target="../tags/tag84.xml"/><Relationship Id="rId17" Type="http://schemas.openxmlformats.org/officeDocument/2006/relationships/tags" Target="../tags/tag89.xml"/><Relationship Id="rId25" Type="http://schemas.openxmlformats.org/officeDocument/2006/relationships/tags" Target="../tags/tag97.xml"/><Relationship Id="rId33" Type="http://schemas.openxmlformats.org/officeDocument/2006/relationships/tags" Target="../tags/tag105.xml"/><Relationship Id="rId38" Type="http://schemas.openxmlformats.org/officeDocument/2006/relationships/tags" Target="../tags/tag110.xml"/><Relationship Id="rId46" Type="http://schemas.openxmlformats.org/officeDocument/2006/relationships/tags" Target="../tags/tag118.xml"/><Relationship Id="rId59" Type="http://schemas.openxmlformats.org/officeDocument/2006/relationships/tags" Target="../tags/tag131.xml"/><Relationship Id="rId67" Type="http://schemas.openxmlformats.org/officeDocument/2006/relationships/tags" Target="../tags/tag139.xml"/><Relationship Id="rId20" Type="http://schemas.openxmlformats.org/officeDocument/2006/relationships/tags" Target="../tags/tag92.xml"/><Relationship Id="rId41" Type="http://schemas.openxmlformats.org/officeDocument/2006/relationships/tags" Target="../tags/tag113.xml"/><Relationship Id="rId54" Type="http://schemas.openxmlformats.org/officeDocument/2006/relationships/tags" Target="../tags/tag126.xml"/><Relationship Id="rId62" Type="http://schemas.openxmlformats.org/officeDocument/2006/relationships/tags" Target="../tags/tag134.xml"/><Relationship Id="rId70" Type="http://schemas.openxmlformats.org/officeDocument/2006/relationships/tags" Target="../tags/tag142.xml"/><Relationship Id="rId75" Type="http://schemas.openxmlformats.org/officeDocument/2006/relationships/tags" Target="../tags/tag147.xml"/><Relationship Id="rId83" Type="http://schemas.openxmlformats.org/officeDocument/2006/relationships/tags" Target="../tags/tag155.xml"/><Relationship Id="rId88" Type="http://schemas.openxmlformats.org/officeDocument/2006/relationships/image" Target="../media/image95.png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5" Type="http://schemas.openxmlformats.org/officeDocument/2006/relationships/tags" Target="../tags/tag87.xml"/><Relationship Id="rId23" Type="http://schemas.openxmlformats.org/officeDocument/2006/relationships/tags" Target="../tags/tag95.xml"/><Relationship Id="rId28" Type="http://schemas.openxmlformats.org/officeDocument/2006/relationships/tags" Target="../tags/tag100.xml"/><Relationship Id="rId36" Type="http://schemas.openxmlformats.org/officeDocument/2006/relationships/tags" Target="../tags/tag108.xml"/><Relationship Id="rId49" Type="http://schemas.openxmlformats.org/officeDocument/2006/relationships/tags" Target="../tags/tag121.xml"/><Relationship Id="rId57" Type="http://schemas.openxmlformats.org/officeDocument/2006/relationships/tags" Target="../tags/tag129.xml"/><Relationship Id="rId10" Type="http://schemas.openxmlformats.org/officeDocument/2006/relationships/tags" Target="../tags/tag82.xml"/><Relationship Id="rId31" Type="http://schemas.openxmlformats.org/officeDocument/2006/relationships/tags" Target="../tags/tag103.xml"/><Relationship Id="rId44" Type="http://schemas.openxmlformats.org/officeDocument/2006/relationships/tags" Target="../tags/tag116.xml"/><Relationship Id="rId52" Type="http://schemas.openxmlformats.org/officeDocument/2006/relationships/tags" Target="../tags/tag124.xml"/><Relationship Id="rId60" Type="http://schemas.openxmlformats.org/officeDocument/2006/relationships/tags" Target="../tags/tag132.xml"/><Relationship Id="rId65" Type="http://schemas.openxmlformats.org/officeDocument/2006/relationships/tags" Target="../tags/tag137.xml"/><Relationship Id="rId73" Type="http://schemas.openxmlformats.org/officeDocument/2006/relationships/tags" Target="../tags/tag145.xml"/><Relationship Id="rId78" Type="http://schemas.openxmlformats.org/officeDocument/2006/relationships/tags" Target="../tags/tag150.xml"/><Relationship Id="rId81" Type="http://schemas.openxmlformats.org/officeDocument/2006/relationships/tags" Target="../tags/tag153.xml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3" Type="http://schemas.openxmlformats.org/officeDocument/2006/relationships/tags" Target="../tags/tag85.xml"/><Relationship Id="rId18" Type="http://schemas.openxmlformats.org/officeDocument/2006/relationships/tags" Target="../tags/tag90.xml"/><Relationship Id="rId39" Type="http://schemas.openxmlformats.org/officeDocument/2006/relationships/tags" Target="../tags/tag111.xml"/><Relationship Id="rId34" Type="http://schemas.openxmlformats.org/officeDocument/2006/relationships/tags" Target="../tags/tag106.xml"/><Relationship Id="rId50" Type="http://schemas.openxmlformats.org/officeDocument/2006/relationships/tags" Target="../tags/tag122.xml"/><Relationship Id="rId55" Type="http://schemas.openxmlformats.org/officeDocument/2006/relationships/tags" Target="../tags/tag127.xml"/><Relationship Id="rId76" Type="http://schemas.openxmlformats.org/officeDocument/2006/relationships/tags" Target="../tags/tag148.xml"/><Relationship Id="rId7" Type="http://schemas.openxmlformats.org/officeDocument/2006/relationships/tags" Target="../tags/tag79.xml"/><Relationship Id="rId71" Type="http://schemas.openxmlformats.org/officeDocument/2006/relationships/tags" Target="../tags/tag143.xml"/><Relationship Id="rId2" Type="http://schemas.openxmlformats.org/officeDocument/2006/relationships/tags" Target="../tags/tag74.xml"/><Relationship Id="rId29" Type="http://schemas.openxmlformats.org/officeDocument/2006/relationships/tags" Target="../tags/tag101.xml"/><Relationship Id="rId24" Type="http://schemas.openxmlformats.org/officeDocument/2006/relationships/tags" Target="../tags/tag96.xml"/><Relationship Id="rId40" Type="http://schemas.openxmlformats.org/officeDocument/2006/relationships/tags" Target="../tags/tag112.xml"/><Relationship Id="rId45" Type="http://schemas.openxmlformats.org/officeDocument/2006/relationships/tags" Target="../tags/tag117.xml"/><Relationship Id="rId66" Type="http://schemas.openxmlformats.org/officeDocument/2006/relationships/tags" Target="../tags/tag138.xml"/><Relationship Id="rId87" Type="http://schemas.openxmlformats.org/officeDocument/2006/relationships/image" Target="../media/image380.png"/><Relationship Id="rId61" Type="http://schemas.openxmlformats.org/officeDocument/2006/relationships/tags" Target="../tags/tag133.xml"/><Relationship Id="rId82" Type="http://schemas.openxmlformats.org/officeDocument/2006/relationships/tags" Target="../tags/tag15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0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591" y="3694681"/>
            <a:ext cx="12192000" cy="276998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0" algn="ctr" defTabSz="864235" fontAlgn="auto">
              <a:lnSpc>
                <a:spcPct val="100000"/>
              </a:lnSpc>
              <a:spcAft>
                <a:spcPts val="2400"/>
              </a:spcAft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数学基础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indent="0" algn="ctr" defTabSz="864235" fontAlgn="auto">
              <a:lnSpc>
                <a:spcPct val="100000"/>
              </a:lnSpc>
              <a:spcAft>
                <a:spcPts val="240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上海交通大学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ctr" defTabSz="864235" fontAlgn="auto">
              <a:lnSpc>
                <a:spcPct val="100000"/>
              </a:lnSpc>
              <a:spcAft>
                <a:spcPts val="2400"/>
              </a:spcAft>
              <a:defRPr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SJTU AI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大课</a:t>
            </a:r>
          </a:p>
          <a:p>
            <a:pPr marR="0" lvl="0" indent="0" algn="ctr" defTabSz="864235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102F756-3B96-CC46-A2D4-96CC8736307C}" type="datetime3">
              <a:rPr lang="zh-CN" altLang="en-US" sz="20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marR="0" lvl="0" indent="0" algn="ctr" defTabSz="864235" rtl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2025年12月21日星期日</a:t>
            </a:fld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D65379-E0EE-E6AC-75C2-D59ADC0A11B3}"/>
              </a:ext>
            </a:extLst>
          </p:cNvPr>
          <p:cNvSpPr txBox="1"/>
          <p:nvPr/>
        </p:nvSpPr>
        <p:spPr>
          <a:xfrm>
            <a:off x="92765" y="6374296"/>
            <a:ext cx="2544418" cy="404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bg1"/>
                </a:solidFill>
              </a:rPr>
              <a:t>PPT</a:t>
            </a:r>
            <a:r>
              <a:rPr lang="zh-CN" altLang="en-US" sz="2000" dirty="0">
                <a:solidFill>
                  <a:schemeClr val="bg1"/>
                </a:solidFill>
              </a:rPr>
              <a:t>贡献：张耀宇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B5717-CE55-6CB0-664E-5AFD66CD6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047FC-9D99-12F9-07A3-1C17B95FC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FE3C73-61A8-2693-3468-F320DBE96ADE}"/>
              </a:ext>
            </a:extLst>
          </p:cNvPr>
          <p:cNvSpPr txBox="1"/>
          <p:nvPr/>
        </p:nvSpPr>
        <p:spPr>
          <a:xfrm>
            <a:off x="3855154" y="1399967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一、矩阵与向量基础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D382BF-1385-C859-6151-31817A9F99C4}"/>
              </a:ext>
            </a:extLst>
          </p:cNvPr>
          <p:cNvSpPr txBox="1"/>
          <p:nvPr/>
        </p:nvSpPr>
        <p:spPr>
          <a:xfrm>
            <a:off x="3855154" y="236207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二、概率统计基础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BB8358-CAF0-9647-865B-9028CF4D9677}"/>
              </a:ext>
            </a:extLst>
          </p:cNvPr>
          <p:cNvSpPr txBox="1"/>
          <p:nvPr/>
        </p:nvSpPr>
        <p:spPr>
          <a:xfrm>
            <a:off x="3855154" y="3324179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三、优化算法基础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74E5C7-3E8D-BA85-B740-61B45DF9917B}"/>
              </a:ext>
            </a:extLst>
          </p:cNvPr>
          <p:cNvSpPr txBox="1"/>
          <p:nvPr/>
        </p:nvSpPr>
        <p:spPr>
          <a:xfrm>
            <a:off x="3855153" y="4286286"/>
            <a:ext cx="2427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四、内容小结</a:t>
            </a:r>
          </a:p>
        </p:txBody>
      </p:sp>
    </p:spTree>
    <p:extLst>
      <p:ext uri="{BB962C8B-B14F-4D97-AF65-F5344CB8AC3E}">
        <p14:creationId xmlns:p14="http://schemas.microsoft.com/office/powerpoint/2010/main" val="328333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EBD39-BD17-45F5-4676-90A4918F3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33EA9-283F-CF54-C176-ABAD34D38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4E5100-754E-F90C-CB98-F7A45369E30E}"/>
              </a:ext>
            </a:extLst>
          </p:cNvPr>
          <p:cNvSpPr txBox="1"/>
          <p:nvPr/>
        </p:nvSpPr>
        <p:spPr>
          <a:xfrm>
            <a:off x="3855154" y="1399967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一、矩阵与向量基础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9FDBFE-A8AC-657E-46A6-C3E3B4DE94B6}"/>
              </a:ext>
            </a:extLst>
          </p:cNvPr>
          <p:cNvSpPr txBox="1"/>
          <p:nvPr/>
        </p:nvSpPr>
        <p:spPr>
          <a:xfrm>
            <a:off x="3855154" y="236207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二、概率统计基础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5FE669-1C05-4CA2-DD09-746348EA6670}"/>
              </a:ext>
            </a:extLst>
          </p:cNvPr>
          <p:cNvSpPr txBox="1"/>
          <p:nvPr/>
        </p:nvSpPr>
        <p:spPr>
          <a:xfrm>
            <a:off x="3855154" y="3324179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三、优化算法基础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8EBF1F-605B-F057-CFF4-E21FC66C0A3C}"/>
              </a:ext>
            </a:extLst>
          </p:cNvPr>
          <p:cNvSpPr txBox="1"/>
          <p:nvPr/>
        </p:nvSpPr>
        <p:spPr>
          <a:xfrm>
            <a:off x="3855153" y="4286286"/>
            <a:ext cx="2427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四、内容小结</a:t>
            </a:r>
          </a:p>
        </p:txBody>
      </p:sp>
    </p:spTree>
    <p:extLst>
      <p:ext uri="{BB962C8B-B14F-4D97-AF65-F5344CB8AC3E}">
        <p14:creationId xmlns:p14="http://schemas.microsoft.com/office/powerpoint/2010/main" val="103185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627CF-2BA5-1BBB-2AE9-BD7A50397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1148C04-D319-B596-CA91-549B48476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向量（</a:t>
            </a:r>
            <a:r>
              <a:rPr lang="en-US" altLang="zh-CN" dirty="0"/>
              <a:t>vector</a:t>
            </a:r>
            <a:r>
              <a:rPr lang="zh-CN" altLang="en-US" dirty="0"/>
              <a:t>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76C694-4AA0-258C-11FE-9D29D7FB81DA}"/>
              </a:ext>
            </a:extLst>
          </p:cNvPr>
          <p:cNvSpPr txBox="1"/>
          <p:nvPr/>
        </p:nvSpPr>
        <p:spPr>
          <a:xfrm>
            <a:off x="380999" y="894891"/>
            <a:ext cx="11811001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sz="2400" b="1" dirty="0">
                <a:solidFill>
                  <a:srgbClr val="0707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定义：</a:t>
            </a:r>
            <a:r>
              <a:rPr lang="zh-CN" altLang="en-US" sz="2400" dirty="0">
                <a:solidFill>
                  <a:srgbClr val="0707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向量是一个有序数列，</a:t>
            </a:r>
            <a:r>
              <a:rPr lang="en-US" altLang="zh-CN" sz="2400" dirty="0">
                <a:solidFill>
                  <a:srgbClr val="0707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solidFill>
                  <a:srgbClr val="0707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维向量可以表示为</a:t>
            </a:r>
            <a:endParaRPr lang="zh-CN" altLang="en-US" sz="24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7FF45B-7F4E-A8B9-207C-1C7EEFFB4803}"/>
                  </a:ext>
                </a:extLst>
              </p:cNvPr>
              <p:cNvSpPr txBox="1"/>
              <p:nvPr/>
            </p:nvSpPr>
            <p:spPr>
              <a:xfrm>
                <a:off x="3229874" y="1608860"/>
                <a:ext cx="4459426" cy="501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7FF45B-7F4E-A8B9-207C-1C7EEFFB4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874" y="1608860"/>
                <a:ext cx="4459426" cy="501291"/>
              </a:xfrm>
              <a:prstGeom prst="rect">
                <a:avLst/>
              </a:prstGeom>
              <a:blipFill>
                <a:blip r:embed="rId2"/>
                <a:stretch>
                  <a:fillRect l="-852" t="-2439" r="-284" b="-17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7A0D514A-4056-3D02-50DB-E1527A80F536}"/>
              </a:ext>
            </a:extLst>
          </p:cNvPr>
          <p:cNvSpPr txBox="1"/>
          <p:nvPr/>
        </p:nvSpPr>
        <p:spPr>
          <a:xfrm>
            <a:off x="380999" y="2501054"/>
            <a:ext cx="760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Wingdings" pitchFamily="2" charset="2"/>
              <a:buChar char="p"/>
            </a:pPr>
            <a:r>
              <a:rPr kumimoji="1"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几何意义：</a:t>
            </a:r>
            <a:r>
              <a:rPr kumimoji="1"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向量可以表示空间中的一个样本点或方向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BE58F2A-65A4-6F83-E4E9-B7EF14C252C1}"/>
                  </a:ext>
                </a:extLst>
              </p:cNvPr>
              <p:cNvSpPr txBox="1"/>
              <p:nvPr/>
            </p:nvSpPr>
            <p:spPr>
              <a:xfrm>
                <a:off x="586056" y="4007148"/>
                <a:ext cx="7404719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向量加法：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, ⋯,</m:t>
                            </m:r>
                            <m:sSub>
                              <m:sSubPr>
                                <m:ctrlP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BE58F2A-65A4-6F83-E4E9-B7EF14C25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56" y="4007148"/>
                <a:ext cx="7404719" cy="375872"/>
              </a:xfrm>
              <a:prstGeom prst="rect">
                <a:avLst/>
              </a:prstGeom>
              <a:blipFill>
                <a:blip r:embed="rId3"/>
                <a:stretch>
                  <a:fillRect l="-2568" t="-19355" b="-483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E2300D5-51AF-1206-C7FB-203AD37E4178}"/>
                  </a:ext>
                </a:extLst>
              </p:cNvPr>
              <p:cNvSpPr txBox="1"/>
              <p:nvPr/>
            </p:nvSpPr>
            <p:spPr>
              <a:xfrm>
                <a:off x="586056" y="4703581"/>
                <a:ext cx="6331605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数乘向量：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, ⋯,</m:t>
                            </m:r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E2300D5-51AF-1206-C7FB-203AD37E4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56" y="4703581"/>
                <a:ext cx="6331605" cy="375872"/>
              </a:xfrm>
              <a:prstGeom prst="rect">
                <a:avLst/>
              </a:prstGeom>
              <a:blipFill>
                <a:blip r:embed="rId4"/>
                <a:stretch>
                  <a:fillRect l="-3006" t="-23333" b="-5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C5D7170-EC0D-34E1-A9A3-8FAE4BFB1854}"/>
                  </a:ext>
                </a:extLst>
              </p:cNvPr>
              <p:cNvSpPr txBox="1"/>
              <p:nvPr/>
            </p:nvSpPr>
            <p:spPr>
              <a:xfrm>
                <a:off x="586056" y="5394500"/>
                <a:ext cx="4336700" cy="398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zh-CN" altLang="en-US" sz="2400" b="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向量内积：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kumimoji="1"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400" i="1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nary>
                  </m:oMath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C5D7170-EC0D-34E1-A9A3-8FAE4BFB1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56" y="5394500"/>
                <a:ext cx="4336700" cy="398955"/>
              </a:xfrm>
              <a:prstGeom prst="rect">
                <a:avLst/>
              </a:prstGeom>
              <a:blipFill>
                <a:blip r:embed="rId5"/>
                <a:stretch>
                  <a:fillRect l="-4386" t="-145455" r="-1754" b="-2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" descr="Vector Algebra:">
            <a:extLst>
              <a:ext uri="{FF2B5EF4-FFF2-40B4-BE49-F238E27FC236}">
                <a16:creationId xmlns:a16="http://schemas.microsoft.com/office/drawing/2014/main" id="{83DC7535-FFDB-8025-8918-E1B797EE9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3224" y="856071"/>
            <a:ext cx="3088789" cy="2130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DA56F960-A86A-F5F5-CFE7-08BFDF59FBF5}"/>
              </a:ext>
            </a:extLst>
          </p:cNvPr>
          <p:cNvSpPr txBox="1"/>
          <p:nvPr/>
        </p:nvSpPr>
        <p:spPr>
          <a:xfrm>
            <a:off x="365478" y="3254101"/>
            <a:ext cx="29931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p"/>
            </a:pPr>
            <a:r>
              <a:rPr kumimoji="1"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向量的基本运算：</a:t>
            </a:r>
            <a:endParaRPr kumimoji="1" lang="en-US" altLang="zh-CN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4" name="Picture 4" descr="machine learning - What image format are MNIST images? - Stack Overflow">
            <a:extLst>
              <a:ext uri="{FF2B5EF4-FFF2-40B4-BE49-F238E27FC236}">
                <a16:creationId xmlns:a16="http://schemas.microsoft.com/office/drawing/2014/main" id="{5F10DEEC-2AA0-D284-4E29-254B4C490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582" y="3066532"/>
            <a:ext cx="2316075" cy="2397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2408F900-EFB4-FDB6-DED2-C20E11242E34}"/>
              </a:ext>
            </a:extLst>
          </p:cNvPr>
          <p:cNvSpPr/>
          <p:nvPr/>
        </p:nvSpPr>
        <p:spPr>
          <a:xfrm>
            <a:off x="8237059" y="5499520"/>
            <a:ext cx="3767372" cy="7375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一张 </a:t>
            </a:r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28x28 </a:t>
            </a:r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像素的图像可以展平看成一个 </a:t>
            </a:r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784 </a:t>
            </a:r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维的向量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AF0651-8318-CD29-9A65-E5E2679C592D}"/>
              </a:ext>
            </a:extLst>
          </p:cNvPr>
          <p:cNvSpPr txBox="1"/>
          <p:nvPr/>
        </p:nvSpPr>
        <p:spPr>
          <a:xfrm>
            <a:off x="180549" y="6458649"/>
            <a:ext cx="60986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200" dirty="0">
                <a:solidFill>
                  <a:schemeClr val="bg1"/>
                </a:solidFill>
              </a:rPr>
              <a:t>图片来源：</a:t>
            </a:r>
            <a:r>
              <a:rPr kumimoji="1" lang="en-US" altLang="zh-CN" sz="1200" dirty="0">
                <a:solidFill>
                  <a:schemeClr val="bg1"/>
                </a:solidFill>
              </a:rPr>
              <a:t>MNIST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46205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EF328-906F-A130-F3F1-ADDB83100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75D1533-A3A2-95FC-D39A-2D0A519A7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范数（</a:t>
            </a:r>
            <a:r>
              <a:rPr lang="en-US" altLang="zh-CN" dirty="0"/>
              <a:t>norm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0E588A3-CD01-1832-37D9-4E7BA5273895}"/>
                  </a:ext>
                </a:extLst>
              </p:cNvPr>
              <p:cNvSpPr txBox="1"/>
              <p:nvPr/>
            </p:nvSpPr>
            <p:spPr>
              <a:xfrm>
                <a:off x="3358605" y="925882"/>
                <a:ext cx="4459426" cy="501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0E588A3-CD01-1832-37D9-4E7BA5273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605" y="925882"/>
                <a:ext cx="4459426" cy="501291"/>
              </a:xfrm>
              <a:prstGeom prst="rect">
                <a:avLst/>
              </a:prstGeom>
              <a:blipFill>
                <a:blip r:embed="rId2"/>
                <a:stretch>
                  <a:fillRect l="-852" r="-284" b="-17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15E0E51-5B90-0D90-B505-50EF758EF732}"/>
                  </a:ext>
                </a:extLst>
              </p:cNvPr>
              <p:cNvSpPr txBox="1"/>
              <p:nvPr/>
            </p:nvSpPr>
            <p:spPr>
              <a:xfrm>
                <a:off x="365478" y="3622081"/>
                <a:ext cx="9218742" cy="539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 algn="l">
                  <a:buFont typeface="Wingdings" pitchFamily="2" charset="2"/>
                  <a:buChar char="p"/>
                </a:pPr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Euclidean 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范数（</a:t>
                </a:r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范数）：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kumimoji="1"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||</m:t>
                    </m:r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𝒙</m:t>
                    </m:r>
                    <m:r>
                      <m:rPr>
                        <m:lit/>
                      </m:rPr>
                      <a:rPr kumimoji="1"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kumimoji="1"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kumimoji="1"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p>
                        </m:sSubSup>
                        <m: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</m:t>
                        </m:r>
                        <m:sSubSup>
                          <m:sSubSupPr>
                            <m:ctrlPr>
                              <a:rPr kumimoji="1"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kumimoji="1"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p>
                        </m:sSubSup>
                        <m: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+⋯+</m:t>
                        </m:r>
                        <m:sSubSup>
                          <m:sSubSupPr>
                            <m:ctrlPr>
                              <a:rPr kumimoji="1"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kumimoji="1"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𝑛</m:t>
                            </m:r>
                          </m:sub>
                          <m:sup>
                            <m:r>
                              <a:rPr kumimoji="1"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p>
                        </m:sSubSup>
                      </m:e>
                    </m:rad>
                    <m:r>
                      <a:rPr kumimoji="1"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kumimoji="1"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⊤</m:t>
                            </m:r>
                          </m:sup>
                        </m:sSup>
                        <m: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𝑥</m:t>
                        </m:r>
                      </m:e>
                    </m:rad>
                  </m:oMath>
                </a14:m>
                <a:endParaRPr kumimoji="1" lang="zh-CN" altLang="en-US" sz="24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15E0E51-5B90-0D90-B505-50EF758EF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78" y="3622081"/>
                <a:ext cx="9218742" cy="539571"/>
              </a:xfrm>
              <a:prstGeom prst="rect">
                <a:avLst/>
              </a:prstGeom>
              <a:blipFill>
                <a:blip r:embed="rId3"/>
                <a:stretch>
                  <a:fillRect l="-825" b="-25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8AE30CD-5E13-A91E-EBC8-9135E971E6FB}"/>
                  </a:ext>
                </a:extLst>
              </p:cNvPr>
              <p:cNvSpPr txBox="1"/>
              <p:nvPr/>
            </p:nvSpPr>
            <p:spPr>
              <a:xfrm>
                <a:off x="365478" y="4585220"/>
                <a:ext cx="55956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p"/>
                </a:pPr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范数：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kumimoji="1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||</m:t>
                    </m:r>
                    <m:r>
                      <a:rPr kumimoji="1" lang="en-US" altLang="zh-CN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𝒙</m:t>
                    </m:r>
                    <m:r>
                      <m:rPr>
                        <m:lit/>
                      </m:rPr>
                      <a:rPr kumimoji="1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  <m: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m:rPr>
                        <m:lit/>
                      </m:rPr>
                      <a:rPr kumimoji="1"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r>
                      <a:rPr kumimoji="1"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  <m: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m:rPr>
                        <m:lit/>
                      </m:rPr>
                      <a:rPr kumimoji="1"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r>
                      <a:rPr kumimoji="1"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+⋯+</m:t>
                    </m:r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  <m: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𝑛</m:t>
                        </m:r>
                      </m:sub>
                    </m:sSub>
                    <m:r>
                      <m:rPr>
                        <m:lit/>
                      </m:rPr>
                      <a:rPr kumimoji="1"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</m:oMath>
                </a14:m>
                <a:endParaRPr kumimoji="1" lang="zh-CN" altLang="en-US" sz="24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8AE30CD-5E13-A91E-EBC8-9135E971E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78" y="4585220"/>
                <a:ext cx="5595699" cy="461665"/>
              </a:xfrm>
              <a:prstGeom prst="rect">
                <a:avLst/>
              </a:prstGeom>
              <a:blipFill>
                <a:blip r:embed="rId4"/>
                <a:stretch>
                  <a:fillRect l="-1357" t="-7895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85F4B8D-555D-2E9B-16D7-206AC73997E3}"/>
                  </a:ext>
                </a:extLst>
              </p:cNvPr>
              <p:cNvSpPr txBox="1"/>
              <p:nvPr/>
            </p:nvSpPr>
            <p:spPr>
              <a:xfrm>
                <a:off x="365478" y="5470453"/>
                <a:ext cx="40451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p"/>
                </a:pP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∞</m:t>
                    </m:r>
                  </m:oMath>
                </a14:m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范数：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kumimoji="1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||</m:t>
                    </m:r>
                    <m:r>
                      <a:rPr kumimoji="1" lang="en-US" altLang="zh-CN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𝒙</m:t>
                    </m:r>
                    <m:r>
                      <m:rPr>
                        <m:lit/>
                      </m:rPr>
                      <a:rPr kumimoji="1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∞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max</m:t>
                    </m:r>
                    <m:r>
                      <a:rPr kumimoji="1"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  <m: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m:rPr>
                        <m:lit/>
                      </m:rPr>
                      <a:rPr kumimoji="1"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r>
                      <a:rPr kumimoji="1"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</m:oMath>
                </a14:m>
                <a:endParaRPr kumimoji="1" lang="zh-CN" altLang="en-US" sz="24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85F4B8D-555D-2E9B-16D7-206AC7399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78" y="5470453"/>
                <a:ext cx="4045146" cy="461665"/>
              </a:xfrm>
              <a:prstGeom prst="rect">
                <a:avLst/>
              </a:prstGeom>
              <a:blipFill>
                <a:blip r:embed="rId5"/>
                <a:stretch>
                  <a:fillRect l="-1875" t="-10526" r="-625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73BF078-FDA9-B19A-9FF9-A4D10A56B89B}"/>
                  </a:ext>
                </a:extLst>
              </p:cNvPr>
              <p:cNvSpPr txBox="1"/>
              <p:nvPr/>
            </p:nvSpPr>
            <p:spPr>
              <a:xfrm>
                <a:off x="4120904" y="1756345"/>
                <a:ext cx="7823663" cy="5824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lit/>
                      </m:rPr>
                      <a:rPr kumimoji="1"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||</m:t>
                    </m:r>
                    <m:r>
                      <a:rPr kumimoji="1"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𝒙</m:t>
                    </m:r>
                    <m:r>
                      <m:rPr>
                        <m:lit/>
                      </m:rPr>
                      <a:rPr kumimoji="1"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kumimoji="1"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kumimoji="1"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</m:e>
                      <m:sub>
                        <m:r>
                          <a:rPr kumimoji="1"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𝑝</m:t>
                        </m:r>
                      </m:sub>
                    </m:sSub>
                    <m:r>
                      <a:rPr kumimoji="1"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kumimoji="1"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lit/>
                                  </m:rP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|</m:t>
                                </m:r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 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lit/>
                                  </m:rP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𝑝</m:t>
                                </m:r>
                              </m:sup>
                            </m:sSup>
                            <m:r>
                              <a:rPr kumimoji="1"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</m:t>
                            </m:r>
                            <m:r>
                              <m:rPr>
                                <m:lit/>
                              </m:rPr>
                              <a:rPr kumimoji="1"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 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lit/>
                                  </m:rP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𝑝</m:t>
                                </m:r>
                              </m:sup>
                            </m:sSup>
                            <m:r>
                              <a:rPr kumimoji="1"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+⋯+</m:t>
                            </m:r>
                            <m:r>
                              <m:rPr>
                                <m:lit/>
                              </m:rPr>
                              <a:rPr kumimoji="1"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 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lit/>
                                  </m:rP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kumimoji="1"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𝑝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kumimoji="1"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1/</m:t>
                        </m:r>
                        <m:r>
                          <a:rPr kumimoji="1"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𝑝</m:t>
                        </m:r>
                      </m:sup>
                    </m:sSup>
                  </m:oMath>
                </a14:m>
                <a:r>
                  <a:rPr kumimoji="1" lang="en-US" altLang="zh-CN" sz="28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,  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𝑝</m:t>
                    </m:r>
                    <m:r>
                      <a:rPr kumimoji="1"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≥1</m:t>
                    </m:r>
                  </m:oMath>
                </a14:m>
                <a:endParaRPr kumimoji="1" lang="zh-CN" altLang="en-US" sz="28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73BF078-FDA9-B19A-9FF9-A4D10A56B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904" y="1756345"/>
                <a:ext cx="7823663" cy="582467"/>
              </a:xfrm>
              <a:prstGeom prst="rect">
                <a:avLst/>
              </a:prstGeom>
              <a:blipFill>
                <a:blip r:embed="rId6"/>
                <a:stretch>
                  <a:fillRect l="-972" t="-6383" b="-234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79B33F2A-DF5B-403B-6460-0CA8A6A385E9}"/>
              </a:ext>
            </a:extLst>
          </p:cNvPr>
          <p:cNvSpPr txBox="1"/>
          <p:nvPr/>
        </p:nvSpPr>
        <p:spPr>
          <a:xfrm>
            <a:off x="381242" y="1850741"/>
            <a:ext cx="34522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itchFamily="2" charset="2"/>
              <a:buChar char="p"/>
            </a:pPr>
            <a:r>
              <a:rPr kumimoji="1"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向量的 </a:t>
            </a:r>
            <a:r>
              <a:rPr kumimoji="1"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kumimoji="1"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范数定义为：</a:t>
            </a:r>
            <a:endParaRPr kumimoji="1" lang="en-US" altLang="zh-CN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C33ED86-9B96-B894-9DE6-4FAC6A18451F}"/>
              </a:ext>
            </a:extLst>
          </p:cNvPr>
          <p:cNvSpPr txBox="1"/>
          <p:nvPr/>
        </p:nvSpPr>
        <p:spPr>
          <a:xfrm>
            <a:off x="365478" y="2718837"/>
            <a:ext cx="34522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kumimoji="1"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常用的范数举例：</a:t>
            </a:r>
            <a:endParaRPr kumimoji="1" lang="en-US" altLang="zh-CN" sz="28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26" name="Picture 2" descr="img">
            <a:extLst>
              <a:ext uri="{FF2B5EF4-FFF2-40B4-BE49-F238E27FC236}">
                <a16:creationId xmlns:a16="http://schemas.microsoft.com/office/drawing/2014/main" id="{2EA5B152-24CC-94B3-D582-F838F58A2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700" y="2891583"/>
            <a:ext cx="2654300" cy="303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DB0CB86-1DA8-9FCE-134F-11FFA4F0664B}"/>
              </a:ext>
            </a:extLst>
          </p:cNvPr>
          <p:cNvSpPr txBox="1"/>
          <p:nvPr/>
        </p:nvSpPr>
        <p:spPr>
          <a:xfrm>
            <a:off x="9748975" y="5838092"/>
            <a:ext cx="21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Euclidean Norm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5C7FD9-3CB5-90FA-345C-52D6B8644C8F}"/>
              </a:ext>
            </a:extLst>
          </p:cNvPr>
          <p:cNvSpPr txBox="1"/>
          <p:nvPr/>
        </p:nvSpPr>
        <p:spPr>
          <a:xfrm>
            <a:off x="123936" y="6482862"/>
            <a:ext cx="74190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chemeClr val="bg1"/>
                </a:solidFill>
              </a:rPr>
              <a:t>图片来源：</a:t>
            </a:r>
            <a:r>
              <a:rPr kumimoji="1" lang="en" altLang="zh-CN" sz="1200" dirty="0">
                <a:solidFill>
                  <a:schemeClr val="bg1"/>
                </a:solidFill>
              </a:rPr>
              <a:t>https://</a:t>
            </a:r>
            <a:r>
              <a:rPr kumimoji="1" lang="en" altLang="zh-CN" sz="1200" dirty="0" err="1">
                <a:solidFill>
                  <a:schemeClr val="bg1"/>
                </a:solidFill>
              </a:rPr>
              <a:t>www.kaggle.com</a:t>
            </a:r>
            <a:r>
              <a:rPr kumimoji="1" lang="en" altLang="zh-CN" sz="1200" dirty="0">
                <a:solidFill>
                  <a:schemeClr val="bg1"/>
                </a:solidFill>
              </a:rPr>
              <a:t>/code/paulrohan2020/</a:t>
            </a:r>
            <a:r>
              <a:rPr kumimoji="1" lang="en" altLang="zh-CN" sz="1200" dirty="0" err="1">
                <a:solidFill>
                  <a:schemeClr val="bg1"/>
                </a:solidFill>
              </a:rPr>
              <a:t>euclidean</a:t>
            </a:r>
            <a:r>
              <a:rPr kumimoji="1" lang="en" altLang="zh-CN" sz="1200" dirty="0">
                <a:solidFill>
                  <a:schemeClr val="bg1"/>
                </a:solidFill>
              </a:rPr>
              <a:t>-distance-and-normalizing-a-vector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610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FD35D-65BF-149D-3AC7-0A62EAC56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CD2D27F-B1F6-7779-9594-C91625AF7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距离（</a:t>
            </a:r>
            <a:r>
              <a:rPr lang="en-US" altLang="zh-CN" dirty="0"/>
              <a:t>distance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F50B8C2-4D59-3D0B-897A-78582DE7168B}"/>
                  </a:ext>
                </a:extLst>
              </p:cNvPr>
              <p:cNvSpPr txBox="1"/>
              <p:nvPr/>
            </p:nvSpPr>
            <p:spPr>
              <a:xfrm>
                <a:off x="650574" y="1038141"/>
                <a:ext cx="4459426" cy="501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F50B8C2-4D59-3D0B-897A-78582DE71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74" y="1038141"/>
                <a:ext cx="4459426" cy="501291"/>
              </a:xfrm>
              <a:prstGeom prst="rect">
                <a:avLst/>
              </a:prstGeom>
              <a:blipFill>
                <a:blip r:embed="rId2"/>
                <a:stretch>
                  <a:fillRect l="-852" t="-2439" r="-284" b="-17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3BD7DCDA-6425-5509-9FA8-59F7168B2FB0}"/>
              </a:ext>
            </a:extLst>
          </p:cNvPr>
          <p:cNvSpPr txBox="1"/>
          <p:nvPr/>
        </p:nvSpPr>
        <p:spPr>
          <a:xfrm>
            <a:off x="0" y="6372889"/>
            <a:ext cx="112728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200" dirty="0">
                <a:solidFill>
                  <a:schemeClr val="bg1"/>
                </a:solidFill>
              </a:rPr>
              <a:t>图片来源：</a:t>
            </a:r>
            <a:r>
              <a:rPr kumimoji="1" lang="en" altLang="zh-CN" sz="1200" dirty="0">
                <a:solidFill>
                  <a:schemeClr val="bg1"/>
                </a:solidFill>
              </a:rPr>
              <a:t>http://</a:t>
            </a:r>
            <a:r>
              <a:rPr kumimoji="1" lang="en" altLang="zh-CN" sz="1200" dirty="0" err="1">
                <a:solidFill>
                  <a:schemeClr val="bg1"/>
                </a:solidFill>
              </a:rPr>
              <a:t>www.improvedoutcomes.com</a:t>
            </a:r>
            <a:r>
              <a:rPr kumimoji="1" lang="en" altLang="zh-CN" sz="1200" dirty="0">
                <a:solidFill>
                  <a:schemeClr val="bg1"/>
                </a:solidFill>
              </a:rPr>
              <a:t>/docs/</a:t>
            </a:r>
            <a:r>
              <a:rPr kumimoji="1" lang="en" altLang="zh-CN" sz="1200" dirty="0" err="1">
                <a:solidFill>
                  <a:schemeClr val="bg1"/>
                </a:solidFill>
              </a:rPr>
              <a:t>WebSiteDocs</a:t>
            </a:r>
            <a:r>
              <a:rPr kumimoji="1" lang="en" altLang="zh-CN" sz="1200" dirty="0">
                <a:solidFill>
                  <a:schemeClr val="bg1"/>
                </a:solidFill>
              </a:rPr>
              <a:t>/Clustering/</a:t>
            </a:r>
            <a:r>
              <a:rPr kumimoji="1" lang="en" altLang="zh-CN" sz="1200" dirty="0" err="1">
                <a:solidFill>
                  <a:schemeClr val="bg1"/>
                </a:solidFill>
              </a:rPr>
              <a:t>Clustering_Parameters</a:t>
            </a:r>
            <a:r>
              <a:rPr kumimoji="1" lang="en" altLang="zh-CN" sz="1200" dirty="0">
                <a:solidFill>
                  <a:schemeClr val="bg1"/>
                </a:solidFill>
              </a:rPr>
              <a:t>/</a:t>
            </a:r>
            <a:r>
              <a:rPr kumimoji="1" lang="en" altLang="zh-CN" sz="1200" dirty="0" err="1">
                <a:solidFill>
                  <a:schemeClr val="bg1"/>
                </a:solidFill>
              </a:rPr>
              <a:t>Euclidean_and_Euclidean_Squared_Distance_Metrics.htm</a:t>
            </a:r>
            <a:endParaRPr lang="zh-CN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1EFE550-B9D9-0DD5-602E-73A489468B8B}"/>
                  </a:ext>
                </a:extLst>
              </p:cNvPr>
              <p:cNvSpPr txBox="1"/>
              <p:nvPr/>
            </p:nvSpPr>
            <p:spPr>
              <a:xfrm>
                <a:off x="3087768" y="1791994"/>
                <a:ext cx="7823663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d</m:t>
                      </m:r>
                      <m:r>
                        <m:rPr>
                          <m:sty m:val="p"/>
                        </m:rP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ist</m:t>
                      </m:r>
                      <m:d>
                        <m:dPr>
                          <m:ctrlPr>
                            <a:rPr kumimoji="1"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𝒙</m:t>
                          </m:r>
                          <m:r>
                            <a:rPr kumimoji="1"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 </m:t>
                          </m:r>
                          <m: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𝒚</m:t>
                          </m:r>
                        </m:e>
                      </m:d>
                      <m: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r>
                        <m:rPr>
                          <m:lit/>
                        </m:rP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||</m:t>
                      </m:r>
                      <m:r>
                        <a:rPr kumimoji="1" lang="en-US" altLang="zh-CN" sz="2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𝒙</m:t>
                      </m:r>
                      <m: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</m:t>
                      </m:r>
                      <m:r>
                        <a:rPr kumimoji="1" lang="en-US" altLang="zh-CN" sz="2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𝒚</m:t>
                      </m:r>
                      <m:r>
                        <m:rPr>
                          <m:lit/>
                        </m:rP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|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lit/>
                            </m:rPr>
                            <a:rPr kumimoji="1"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|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1EFE550-B9D9-0DD5-602E-73A489468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768" y="1791994"/>
                <a:ext cx="7823663" cy="556434"/>
              </a:xfrm>
              <a:prstGeom prst="rect">
                <a:avLst/>
              </a:prstGeom>
              <a:blipFill>
                <a:blip r:embed="rId3"/>
                <a:stretch>
                  <a:fillRect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F5C250A-C38F-AD99-F519-DB398E549C87}"/>
                  </a:ext>
                </a:extLst>
              </p:cNvPr>
              <p:cNvSpPr txBox="1"/>
              <p:nvPr/>
            </p:nvSpPr>
            <p:spPr>
              <a:xfrm>
                <a:off x="215857" y="1854576"/>
                <a:ext cx="489414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l">
                  <a:buFont typeface="Wingdings" pitchFamily="2" charset="2"/>
                  <a:buChar char="p"/>
                </a:pP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向量</a:t>
                </a:r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𝒙</m:t>
                    </m:r>
                  </m:oMath>
                </a14:m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到向量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𝒚</m:t>
                    </m:r>
                  </m:oMath>
                </a14:m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的距离定义为：</a:t>
                </a:r>
                <a:endParaRPr kumimoji="1" lang="en-US" altLang="zh-CN" sz="24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F5C250A-C38F-AD99-F519-DB398E549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57" y="1854576"/>
                <a:ext cx="4894143" cy="461665"/>
              </a:xfrm>
              <a:prstGeom prst="rect">
                <a:avLst/>
              </a:prstGeom>
              <a:blipFill>
                <a:blip r:embed="rId4"/>
                <a:stretch>
                  <a:fillRect l="-1550" t="-7895" r="-8010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5C0611B-2076-0D1F-48DC-267CE5036079}"/>
                  </a:ext>
                </a:extLst>
              </p:cNvPr>
              <p:cNvSpPr txBox="1"/>
              <p:nvPr/>
            </p:nvSpPr>
            <p:spPr>
              <a:xfrm>
                <a:off x="5632882" y="1008516"/>
                <a:ext cx="4627870" cy="501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5C0611B-2076-0D1F-48DC-267CE5036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882" y="1008516"/>
                <a:ext cx="4627870" cy="501291"/>
              </a:xfrm>
              <a:prstGeom prst="rect">
                <a:avLst/>
              </a:prstGeom>
              <a:blipFill>
                <a:blip r:embed="rId5"/>
                <a:stretch>
                  <a:fillRect t="-2439" b="-24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1984F725-CB41-91CF-49F9-89C4B0619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032" y="2816606"/>
            <a:ext cx="5305726" cy="2625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335AA03-46F9-2067-0C58-B8D55566DE39}"/>
                  </a:ext>
                </a:extLst>
              </p:cNvPr>
              <p:cNvSpPr txBox="1"/>
              <p:nvPr/>
            </p:nvSpPr>
            <p:spPr>
              <a:xfrm>
                <a:off x="6980850" y="5504601"/>
                <a:ext cx="87209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335AA03-46F9-2067-0C58-B8D55566D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0850" y="5504601"/>
                <a:ext cx="872098" cy="400110"/>
              </a:xfrm>
              <a:prstGeom prst="rect">
                <a:avLst/>
              </a:prstGeom>
              <a:blipFill>
                <a:blip r:embed="rId7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71E9F54-F48C-BD2D-A682-3BB726EC9D6D}"/>
                  </a:ext>
                </a:extLst>
              </p:cNvPr>
              <p:cNvSpPr txBox="1"/>
              <p:nvPr/>
            </p:nvSpPr>
            <p:spPr>
              <a:xfrm>
                <a:off x="10322849" y="5504601"/>
                <a:ext cx="87209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71E9F54-F48C-BD2D-A682-3BB726EC9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2849" y="5504601"/>
                <a:ext cx="872098" cy="400110"/>
              </a:xfrm>
              <a:prstGeom prst="rect">
                <a:avLst/>
              </a:prstGeom>
              <a:blipFill>
                <a:blip r:embed="rId8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07523F0-A5D0-3FC9-0A5C-51C58667C599}"/>
                  </a:ext>
                </a:extLst>
              </p:cNvPr>
              <p:cNvSpPr txBox="1"/>
              <p:nvPr/>
            </p:nvSpPr>
            <p:spPr>
              <a:xfrm>
                <a:off x="296912" y="2600990"/>
                <a:ext cx="6055568" cy="3077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200000"/>
                  </a:lnSpc>
                </a:pP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距离需要满足如下条件：</a:t>
                </a:r>
                <a:endParaRPr kumimoji="1" lang="en-US" altLang="zh-CN" sz="20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kumimoji="1" lang="en-US" altLang="zh-CN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(1)</a:t>
                </a:r>
                <a:r>
                  <a:rPr kumimoji="1"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非负性：</a:t>
                </a:r>
                <a14:m>
                  <m:oMath xmlns:m="http://schemas.openxmlformats.org/officeDocument/2006/math">
                    <m:r>
                      <a:rPr kumimoji="1" lang="en-US" altLang="zh-CN" sz="2000" b="1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𝐝𝐢𝐬𝐭</m:t>
                    </m:r>
                    <m:d>
                      <m:dPr>
                        <m:ctrlPr>
                          <a:rPr kumimoji="1" lang="en-US" altLang="zh-CN" sz="2000" b="1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000" b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  <m:r>
                          <a:rPr kumimoji="1" lang="en-US" altLang="zh-CN" sz="2000" b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kumimoji="1" lang="en-US" altLang="zh-CN" sz="2000" b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kumimoji="1" lang="en-US" altLang="zh-CN" sz="2000" b="1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≥</m:t>
                    </m:r>
                    <m:r>
                      <a:rPr kumimoji="1" lang="en-US" altLang="zh-CN" sz="2000" b="1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𝟎</m:t>
                    </m:r>
                    <m:r>
                      <a:rPr kumimoji="1" lang="zh-CN" altLang="en-US" sz="2000" b="1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</m:oMath>
                </a14:m>
                <a:endParaRPr kumimoji="1" lang="en-US" altLang="zh-CN" sz="2000" b="1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kumimoji="1" lang="en-US" altLang="zh-CN" sz="2000" b="1" dirty="0">
                    <a:solidFill>
                      <a:srgbClr val="B61516"/>
                    </a:solidFill>
                    <a:ea typeface="Microsoft YaHei" panose="020B0503020204020204" pitchFamily="34" charset="-122"/>
                  </a:rPr>
                  <a:t>	</a:t>
                </a:r>
                <a14:m>
                  <m:oMath xmlns:m="http://schemas.openxmlformats.org/officeDocument/2006/math">
                    <m:r>
                      <a:rPr kumimoji="1" lang="zh-CN" altLang="en-US" sz="2000" b="1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且</m:t>
                    </m:r>
                    <m:r>
                      <a:rPr kumimoji="1" lang="zh-CN" altLang="en-US" sz="2000" b="1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  <m:r>
                      <a:rPr kumimoji="1" lang="en-US" altLang="zh-CN" sz="2000" b="1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𝐝𝐢𝐬𝐭</m:t>
                    </m:r>
                    <m:d>
                      <m:dPr>
                        <m:ctrlPr>
                          <a:rPr kumimoji="1" lang="en-US" altLang="zh-CN" sz="2000" b="1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000" b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  <m:r>
                          <a:rPr kumimoji="1" lang="en-US" altLang="zh-CN" sz="2000" b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kumimoji="1" lang="en-US" altLang="zh-CN" sz="2000" b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kumimoji="1" lang="en-US" altLang="zh-CN" sz="2000" b="1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>
                      <a:rPr kumimoji="1" lang="en-US" altLang="zh-CN" sz="2000" b="1" i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</m:oMath>
                </a14:m>
                <a:r>
                  <a:rPr kumimoji="1" lang="en-US" altLang="zh-CN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 ⟺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kumimoji="1" lang="en-US" altLang="zh-CN" sz="2000" b="1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000" b="1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kumimoji="1" lang="en-US" altLang="zh-CN" sz="2000" b="1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kumimoji="1" lang="en-US" altLang="zh-CN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(2) </a:t>
                </a:r>
                <a:r>
                  <a:rPr kumimoji="1"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对称性： </a:t>
                </a:r>
                <a14:m>
                  <m:oMath xmlns:m="http://schemas.openxmlformats.org/officeDocument/2006/math">
                    <m:r>
                      <a:rPr kumimoji="1" lang="en-US" altLang="zh-CN" sz="2000" b="1" i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𝐝𝐢𝐬𝐭</m:t>
                    </m:r>
                    <m:d>
                      <m:dPr>
                        <m:ctrlPr>
                          <a:rPr kumimoji="1" lang="en-US" altLang="zh-CN" sz="2000" b="1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kumimoji="1" lang="en-US" altLang="zh-CN" sz="2000" b="1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>
                      <a:rPr kumimoji="1" lang="en-US" altLang="zh-CN" sz="2000" b="1" i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𝐝𝐢𝐬𝐭</m:t>
                    </m:r>
                    <m:d>
                      <m:dPr>
                        <m:ctrlPr>
                          <a:rPr kumimoji="1" lang="en-US" altLang="zh-CN" sz="2000" b="1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𝒚</m:t>
                        </m:r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</m:e>
                    </m:d>
                  </m:oMath>
                </a14:m>
                <a:endParaRPr kumimoji="1" lang="en-US" altLang="zh-CN" sz="2000" b="1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kumimoji="1" lang="en-US" altLang="zh-CN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(3) </a:t>
                </a:r>
                <a:r>
                  <a:rPr kumimoji="1"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三角不等式：</a:t>
                </a:r>
                <a:r>
                  <a:rPr kumimoji="1" lang="en-US" altLang="zh-CN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1" i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𝐝𝐢𝐬𝐭</m:t>
                    </m:r>
                    <m:d>
                      <m:dPr>
                        <m:ctrlPr>
                          <a:rPr kumimoji="1" lang="en-US" altLang="zh-CN" sz="2000" b="1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kumimoji="1" lang="en-US" altLang="zh-CN" sz="2000" b="1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≤</m:t>
                    </m:r>
                    <m:r>
                      <a:rPr kumimoji="1" lang="en-US" altLang="zh-CN" sz="2000" b="1" i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𝐝𝐢𝐬𝐭</m:t>
                    </m:r>
                    <m:d>
                      <m:dPr>
                        <m:ctrlPr>
                          <a:rPr kumimoji="1" lang="en-US" altLang="zh-CN" sz="2000" b="1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𝒛</m:t>
                        </m:r>
                      </m:e>
                    </m:d>
                    <m:r>
                      <a:rPr kumimoji="1" lang="en-US" altLang="zh-CN" sz="2000" b="1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+</m:t>
                    </m:r>
                    <m:r>
                      <a:rPr kumimoji="1" lang="en-US" altLang="zh-CN" sz="2000" b="1" i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𝐝𝐢𝐬𝐭</m:t>
                    </m:r>
                    <m:d>
                      <m:dPr>
                        <m:ctrlPr>
                          <a:rPr kumimoji="1" lang="en-US" altLang="zh-CN" sz="2000" b="1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𝒛</m:t>
                        </m:r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kumimoji="1" lang="en-US" altLang="zh-CN" sz="20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𝒚</m:t>
                        </m:r>
                      </m:e>
                    </m:d>
                  </m:oMath>
                </a14:m>
                <a:endParaRPr kumimoji="1" lang="zh-CN" altLang="en-US" sz="2000" b="1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07523F0-A5D0-3FC9-0A5C-51C58667C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12" y="2600990"/>
                <a:ext cx="6055568" cy="3077189"/>
              </a:xfrm>
              <a:prstGeom prst="rect">
                <a:avLst/>
              </a:prstGeom>
              <a:blipFill>
                <a:blip r:embed="rId9"/>
                <a:stretch>
                  <a:fillRect l="-1046" b="-28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2319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C4812-9470-1179-4928-51D8CD24C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68ADD1C-6BA7-F088-CA9F-04EB3324A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角度（</a:t>
            </a:r>
            <a:r>
              <a:rPr lang="en-US" altLang="zh-CN" dirty="0"/>
              <a:t>angle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899A480-F2D8-2C7F-DE25-0B382221D415}"/>
                  </a:ext>
                </a:extLst>
              </p:cNvPr>
              <p:cNvSpPr txBox="1"/>
              <p:nvPr/>
            </p:nvSpPr>
            <p:spPr>
              <a:xfrm>
                <a:off x="650574" y="1038141"/>
                <a:ext cx="4459426" cy="501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899A480-F2D8-2C7F-DE25-0B382221D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74" y="1038141"/>
                <a:ext cx="4459426" cy="501291"/>
              </a:xfrm>
              <a:prstGeom prst="rect">
                <a:avLst/>
              </a:prstGeom>
              <a:blipFill>
                <a:blip r:embed="rId2"/>
                <a:stretch>
                  <a:fillRect l="-852" t="-2439" r="-284" b="-17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B2EAF670-2DDF-02A7-96BD-9BF6B8869233}"/>
              </a:ext>
            </a:extLst>
          </p:cNvPr>
          <p:cNvSpPr txBox="1"/>
          <p:nvPr/>
        </p:nvSpPr>
        <p:spPr>
          <a:xfrm>
            <a:off x="0" y="6372889"/>
            <a:ext cx="112728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200" dirty="0">
                <a:solidFill>
                  <a:schemeClr val="bg1"/>
                </a:solidFill>
              </a:rPr>
              <a:t>图片来源：</a:t>
            </a:r>
            <a:r>
              <a:rPr kumimoji="1" lang="en" altLang="zh-CN" sz="1200" dirty="0">
                <a:solidFill>
                  <a:schemeClr val="bg1"/>
                </a:solidFill>
              </a:rPr>
              <a:t>https://</a:t>
            </a:r>
            <a:r>
              <a:rPr kumimoji="1" lang="en" altLang="zh-CN" sz="1200" dirty="0" err="1">
                <a:solidFill>
                  <a:schemeClr val="bg1"/>
                </a:solidFill>
              </a:rPr>
              <a:t>web.stanford.edu</a:t>
            </a:r>
            <a:r>
              <a:rPr kumimoji="1" lang="en" altLang="zh-CN" sz="1200" dirty="0">
                <a:solidFill>
                  <a:schemeClr val="bg1"/>
                </a:solidFill>
              </a:rPr>
              <a:t>/~</a:t>
            </a:r>
            <a:r>
              <a:rPr kumimoji="1" lang="en" altLang="zh-CN" sz="1200" dirty="0" err="1">
                <a:solidFill>
                  <a:schemeClr val="bg1"/>
                </a:solidFill>
              </a:rPr>
              <a:t>boyd</a:t>
            </a:r>
            <a:r>
              <a:rPr kumimoji="1" lang="en" altLang="zh-CN" sz="1200" dirty="0">
                <a:solidFill>
                  <a:schemeClr val="bg1"/>
                </a:solidFill>
              </a:rPr>
              <a:t>/</a:t>
            </a:r>
            <a:r>
              <a:rPr kumimoji="1" lang="en" altLang="zh-CN" sz="1200" dirty="0" err="1">
                <a:solidFill>
                  <a:schemeClr val="bg1"/>
                </a:solidFill>
              </a:rPr>
              <a:t>vmls</a:t>
            </a:r>
            <a:r>
              <a:rPr kumimoji="1" lang="en" altLang="zh-CN" sz="1200" dirty="0">
                <a:solidFill>
                  <a:schemeClr val="bg1"/>
                </a:solidFill>
              </a:rPr>
              <a:t>/</a:t>
            </a:r>
            <a:r>
              <a:rPr kumimoji="1" lang="en" altLang="zh-CN" sz="1200" dirty="0" err="1">
                <a:solidFill>
                  <a:schemeClr val="bg1"/>
                </a:solidFill>
              </a:rPr>
              <a:t>vmls-slides.pdf</a:t>
            </a:r>
            <a:endParaRPr lang="zh-CN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211FA5B-A6FE-C247-DB2F-DA53D5752BB7}"/>
                  </a:ext>
                </a:extLst>
              </p:cNvPr>
              <p:cNvSpPr txBox="1"/>
              <p:nvPr/>
            </p:nvSpPr>
            <p:spPr>
              <a:xfrm>
                <a:off x="2437089" y="2290671"/>
                <a:ext cx="7823663" cy="10682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∠</m:t>
                      </m:r>
                      <m:d>
                        <m:dPr>
                          <m:ctrlPr>
                            <a:rPr kumimoji="1"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𝒙</m:t>
                          </m:r>
                          <m:r>
                            <a:rPr kumimoji="1"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 </m:t>
                          </m:r>
                          <m:r>
                            <a:rPr kumimoji="1"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𝒚</m:t>
                          </m:r>
                        </m:e>
                      </m:d>
                      <m: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arccos</m:t>
                      </m:r>
                      <m:d>
                        <m:dPr>
                          <m:ctrlPr>
                            <a:rPr kumimoji="1"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1" lang="en-US" altLang="zh-CN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kumimoji="1" lang="en-US" altLang="zh-CN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1" lang="en-US" altLang="zh-CN" sz="28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𝒚</m:t>
                              </m:r>
                            </m:num>
                            <m:den>
                              <m:r>
                                <m:rPr>
                                  <m:lit/>
                                </m:rPr>
                                <a:rPr kumimoji="1"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||</m:t>
                              </m:r>
                              <m:r>
                                <a:rPr kumimoji="1" lang="en-US" altLang="zh-CN" sz="28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𝒙</m:t>
                              </m:r>
                              <m:r>
                                <m:rPr>
                                  <m:lit/>
                                </m:rPr>
                                <a:rPr kumimoji="1"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||</m:t>
                              </m:r>
                              <m:r>
                                <a:rPr kumimoji="1"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⋅</m:t>
                              </m:r>
                              <m:r>
                                <m:rPr>
                                  <m:lit/>
                                </m:rPr>
                                <a:rPr kumimoji="1"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||</m:t>
                              </m:r>
                              <m:r>
                                <a:rPr kumimoji="1" lang="en-US" altLang="zh-CN" sz="28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𝒚</m:t>
                              </m:r>
                              <m:r>
                                <m:rPr>
                                  <m:lit/>
                                </m:rPr>
                                <a:rPr kumimoji="1"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||</m:t>
                              </m:r>
                            </m:den>
                          </m:f>
                        </m:e>
                      </m:d>
                      <m: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∈[0, </m:t>
                      </m:r>
                      <m: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𝜋</m:t>
                      </m:r>
                      <m:r>
                        <a:rPr kumimoji="1"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]</m:t>
                      </m:r>
                    </m:oMath>
                  </m:oMathPara>
                </a14:m>
                <a:endParaRPr kumimoji="1" lang="zh-CN" altLang="en-US" sz="28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211FA5B-A6FE-C247-DB2F-DA53D5752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7089" y="2290671"/>
                <a:ext cx="7823663" cy="1068241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EA18325-FAEB-1DD9-9256-F9166460CCA1}"/>
                  </a:ext>
                </a:extLst>
              </p:cNvPr>
              <p:cNvSpPr txBox="1"/>
              <p:nvPr/>
            </p:nvSpPr>
            <p:spPr>
              <a:xfrm>
                <a:off x="381242" y="1850741"/>
                <a:ext cx="502309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l">
                  <a:buFont typeface="Wingdings" pitchFamily="2" charset="2"/>
                  <a:buChar char="p"/>
                </a:pP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向量</a:t>
                </a:r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𝒙</m:t>
                    </m:r>
                  </m:oMath>
                </a14:m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与向量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𝒚</m:t>
                    </m:r>
                  </m:oMath>
                </a14:m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的角度定义为：</a:t>
                </a:r>
                <a:endParaRPr kumimoji="1" lang="en-US" altLang="zh-CN" sz="24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EA18325-FAEB-1DD9-9256-F9166460C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1850741"/>
                <a:ext cx="5023096" cy="461665"/>
              </a:xfrm>
              <a:prstGeom prst="rect">
                <a:avLst/>
              </a:prstGeom>
              <a:blipFill>
                <a:blip r:embed="rId4"/>
                <a:stretch>
                  <a:fillRect l="-1768" t="-10811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64A2908-1409-7816-B2FA-011D91464190}"/>
                  </a:ext>
                </a:extLst>
              </p:cNvPr>
              <p:cNvSpPr txBox="1"/>
              <p:nvPr/>
            </p:nvSpPr>
            <p:spPr>
              <a:xfrm>
                <a:off x="5632882" y="1008516"/>
                <a:ext cx="4627870" cy="501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3200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64A2908-1409-7816-B2FA-011D91464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882" y="1008516"/>
                <a:ext cx="4627870" cy="501291"/>
              </a:xfrm>
              <a:prstGeom prst="rect">
                <a:avLst/>
              </a:prstGeom>
              <a:blipFill>
                <a:blip r:embed="rId5"/>
                <a:stretch>
                  <a:fillRect t="-2439" b="-24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C6667268-4E6B-A5F3-8CBC-85F94C7324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8138" y="4917355"/>
            <a:ext cx="7772400" cy="13693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14FB9B1-04EB-4D52-FC5F-D47C010D7FCD}"/>
                  </a:ext>
                </a:extLst>
              </p:cNvPr>
              <p:cNvSpPr txBox="1"/>
              <p:nvPr/>
            </p:nvSpPr>
            <p:spPr>
              <a:xfrm>
                <a:off x="381241" y="3538637"/>
                <a:ext cx="11670081" cy="611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l">
                  <a:buFont typeface="Wingdings" pitchFamily="2" charset="2"/>
                  <a:buChar char="p"/>
                </a:pP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向量</a:t>
                </a:r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𝒙</m:t>
                    </m:r>
                  </m:oMath>
                </a14:m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与向量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𝒚</m:t>
                    </m:r>
                  </m:oMath>
                </a14:m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正交定义为：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∠</m:t>
                    </m:r>
                    <m:d>
                      <m:dPr>
                        <m:ctrlP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l-GR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l-GR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𝝅</m:t>
                        </m:r>
                      </m:num>
                      <m:den>
                        <m:r>
                          <a:rPr kumimoji="1" lang="el-GR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𝟐</m:t>
                        </m:r>
                      </m:den>
                    </m:f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  <m:groupChr>
                      <m:groupChrPr>
                        <m:chr m:val="⇔"/>
                        <m:pos m:val="top"/>
                        <m:ctrlPr>
                          <a:rPr kumimoji="1" lang="el-GR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 </m:t>
                        </m:r>
                      </m:e>
                    </m:groupChr>
                    <m:sSup>
                      <m:sSupPr>
                        <m:ctrlP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 </m:t>
                        </m:r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⊤</m:t>
                        </m:r>
                      </m:sup>
                    </m:sSup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𝒚</m:t>
                    </m:r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𝟎</m:t>
                    </m:r>
                  </m:oMath>
                </a14:m>
                <a:endParaRPr kumimoji="1" lang="en-US" altLang="zh-CN" sz="24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14FB9B1-04EB-4D52-FC5F-D47C010D7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1" y="3538637"/>
                <a:ext cx="11670081" cy="611899"/>
              </a:xfrm>
              <a:prstGeom prst="rect">
                <a:avLst/>
              </a:prstGeom>
              <a:blipFill>
                <a:blip r:embed="rId7"/>
                <a:stretch>
                  <a:fillRect l="-762" t="-28571" b="-469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1436E2F-4BE0-BB2F-1B26-422833C39B12}"/>
                  </a:ext>
                </a:extLst>
              </p:cNvPr>
              <p:cNvSpPr txBox="1"/>
              <p:nvPr/>
            </p:nvSpPr>
            <p:spPr>
              <a:xfrm>
                <a:off x="381241" y="4227996"/>
                <a:ext cx="116700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l">
                  <a:buFont typeface="Wingdings" pitchFamily="2" charset="2"/>
                  <a:buChar char="p"/>
                </a:pP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向量</a:t>
                </a:r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𝒙</m:t>
                    </m:r>
                  </m:oMath>
                </a14:m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与向量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𝒚</m:t>
                    </m:r>
                  </m:oMath>
                </a14:m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共线定义为：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∠</m:t>
                    </m:r>
                    <m:d>
                      <m:dPr>
                        <m:ctrlP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𝟎</m:t>
                    </m:r>
                    <m:r>
                      <a:rPr kumimoji="1" lang="zh-CN" altLang="en-US" sz="24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  <m:r>
                      <a:rPr kumimoji="1"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或</m:t>
                    </m:r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𝝅</m:t>
                    </m:r>
                  </m:oMath>
                </a14:m>
                <a:endParaRPr kumimoji="1" lang="en-US" altLang="zh-CN" sz="24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1436E2F-4BE0-BB2F-1B26-422833C39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1" y="4227996"/>
                <a:ext cx="11670081" cy="461665"/>
              </a:xfrm>
              <a:prstGeom prst="rect">
                <a:avLst/>
              </a:prstGeom>
              <a:blipFill>
                <a:blip r:embed="rId8"/>
                <a:stretch>
                  <a:fillRect l="-762" t="-13514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1213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FA169-FFA4-8864-CC88-10344CDC3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CC8681E-60CD-03AB-DA57-D39264B97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线性相关性（</a:t>
            </a:r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dependence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D95B9A0-D3BF-4A75-0C7C-58954EEA9C8C}"/>
                  </a:ext>
                </a:extLst>
              </p:cNvPr>
              <p:cNvSpPr txBox="1"/>
              <p:nvPr/>
            </p:nvSpPr>
            <p:spPr>
              <a:xfrm>
                <a:off x="1466708" y="2077178"/>
                <a:ext cx="782366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𝛽</m:t>
                          </m:r>
                        </m:e>
                        <m:sub>
                          <m: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3200" b="1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3200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𝛽</m:t>
                          </m:r>
                        </m:e>
                        <m:sub>
                          <m: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3200" b="1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3200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𝛽</m:t>
                          </m:r>
                        </m:e>
                        <m:sub>
                          <m: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3200" b="1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𝑘</m:t>
                          </m:r>
                        </m:sub>
                      </m:sSub>
                      <m:r>
                        <a:rPr kumimoji="1" lang="en-US" altLang="zh-CN" sz="3200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3200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D95B9A0-D3BF-4A75-0C7C-58954EEA9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708" y="2077178"/>
                <a:ext cx="7823663" cy="584775"/>
              </a:xfrm>
              <a:prstGeom prst="rect">
                <a:avLst/>
              </a:prstGeom>
              <a:blipFill>
                <a:blip r:embed="rId2"/>
                <a:stretch>
                  <a:fillRect b="-212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7A1F8AC-3976-42C9-45F2-FDA2D6DD2514}"/>
                  </a:ext>
                </a:extLst>
              </p:cNvPr>
              <p:cNvSpPr txBox="1"/>
              <p:nvPr/>
            </p:nvSpPr>
            <p:spPr>
              <a:xfrm>
                <a:off x="381243" y="866322"/>
                <a:ext cx="11611466" cy="11390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一族向量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kumimoji="1" lang="en-US" altLang="zh-CN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kumimoji="1" lang="en-US" altLang="zh-CN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kumimoji="1" lang="en-US" altLang="zh-CN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,⋯, </m:t>
                    </m:r>
                    <m:sSub>
                      <m:sSubPr>
                        <m:ctrlP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m:rPr>
                        <m:lit/>
                      </m:rPr>
                      <a:rPr kumimoji="1" lang="en-US" altLang="zh-CN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称为</a:t>
                </a:r>
                <a:r>
                  <a:rPr kumimoji="1" lang="zh-CN" altLang="en-US" sz="24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线性相关的（</a:t>
                </a:r>
                <a:r>
                  <a:rPr kumimoji="1" lang="en-US" altLang="zh-CN" sz="24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linearly dependent</a:t>
                </a:r>
                <a:r>
                  <a:rPr kumimoji="1" lang="zh-CN" altLang="en-US" sz="24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）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如果存在一组不全为 </a:t>
                </a:r>
                <a:r>
                  <a:rPr kumimoji="1" lang="en-US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的实数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B61516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B61516"/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使得</a:t>
                </a:r>
                <a:endParaRPr kumimoji="1" lang="zh-CN" altLang="en-US" sz="2400" b="1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7A1F8AC-3976-42C9-45F2-FDA2D6DD2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3" y="866322"/>
                <a:ext cx="11611466" cy="1139030"/>
              </a:xfrm>
              <a:prstGeom prst="rect">
                <a:avLst/>
              </a:prstGeom>
              <a:blipFill>
                <a:blip r:embed="rId3"/>
                <a:stretch>
                  <a:fillRect l="-765" r="-219" b="-1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60CC30C-5A5A-8267-AD4C-621AB0D73C29}"/>
                  </a:ext>
                </a:extLst>
              </p:cNvPr>
              <p:cNvSpPr txBox="1"/>
              <p:nvPr/>
            </p:nvSpPr>
            <p:spPr>
              <a:xfrm>
                <a:off x="381242" y="2733779"/>
                <a:ext cx="11611466" cy="1135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一族向量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kumimoji="1" lang="en-US" altLang="zh-CN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kumimoji="1" lang="en-US" altLang="zh-CN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,⋯, </m:t>
                    </m:r>
                    <m:sSub>
                      <m:sSubPr>
                        <m:ctrlP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m:rPr>
                        <m:lit/>
                      </m:rPr>
                      <a:rPr kumimoji="1" lang="en-US" altLang="zh-CN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称为</a:t>
                </a:r>
                <a:r>
                  <a:rPr kumimoji="1" lang="zh-CN" altLang="en-US" sz="24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线性不相关的（</a:t>
                </a:r>
                <a:r>
                  <a:rPr kumimoji="1" lang="en-US" altLang="zh-CN" sz="24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linearly independent</a:t>
                </a:r>
                <a:r>
                  <a:rPr kumimoji="1" lang="zh-CN" altLang="en-US" sz="24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）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如果它们不是线性相关的，也即</a:t>
                </a:r>
                <a:endParaRPr kumimoji="1" lang="zh-CN" altLang="en-US" sz="2400" b="1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60CC30C-5A5A-8267-AD4C-621AB0D73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2733779"/>
                <a:ext cx="11611466" cy="1135054"/>
              </a:xfrm>
              <a:prstGeom prst="rect">
                <a:avLst/>
              </a:prstGeom>
              <a:blipFill>
                <a:blip r:embed="rId4"/>
                <a:stretch>
                  <a:fillRect l="-765" b="-1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CC93057-B92D-B6A9-CEF6-6144FEAA61A9}"/>
                  </a:ext>
                </a:extLst>
              </p:cNvPr>
              <p:cNvSpPr txBox="1"/>
              <p:nvPr/>
            </p:nvSpPr>
            <p:spPr>
              <a:xfrm>
                <a:off x="868831" y="3991114"/>
                <a:ext cx="100570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400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𝛽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𝛽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+⋯+</m:t>
                    </m:r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𝛽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1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𝑘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=0</m:t>
                    </m:r>
                  </m:oMath>
                </a14:m>
                <a:r>
                  <a:rPr kumimoji="1" lang="zh-CN" altLang="en-US" sz="2400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成立，则必须有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𝛽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𝛽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=⋯=</m:t>
                    </m:r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𝛽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𝑘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=0</m:t>
                    </m:r>
                  </m:oMath>
                </a14:m>
                <a:endParaRPr kumimoji="1" lang="zh-CN" altLang="en-US" sz="2400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CC93057-B92D-B6A9-CEF6-6144FEAA6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831" y="3991114"/>
                <a:ext cx="10057077" cy="461665"/>
              </a:xfrm>
              <a:prstGeom prst="rect">
                <a:avLst/>
              </a:prstGeom>
              <a:blipFill>
                <a:blip r:embed="rId5"/>
                <a:stretch>
                  <a:fillRect l="-1009" t="-10811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4DF6E083-A4B3-DD3E-3387-9A20FCFC79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99" y="4663534"/>
            <a:ext cx="7391400" cy="1498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11177ED-326C-026D-129F-40E2C71D4E61}"/>
                  </a:ext>
                </a:extLst>
              </p:cNvPr>
              <p:cNvSpPr txBox="1"/>
              <p:nvPr/>
            </p:nvSpPr>
            <p:spPr>
              <a:xfrm>
                <a:off x="8912796" y="4909755"/>
                <a:ext cx="2974404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lit/>
                        </m:rP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zh-CN" altLang="en-US" sz="2000" i="1">
                          <a:latin typeface="Cambria Math" panose="02040503050406030204" pitchFamily="18" charset="0"/>
                        </a:rPr>
                        <m:t>线性</m:t>
                      </m:r>
                      <m:r>
                        <a:rPr kumimoji="1" lang="zh-CN" altLang="en-US" sz="2000" i="1" smtClean="0">
                          <a:latin typeface="Cambria Math" panose="02040503050406030204" pitchFamily="18" charset="0"/>
                        </a:rPr>
                        <m:t>相关</m:t>
                      </m:r>
                      <m:r>
                        <a:rPr kumimoji="1" lang="zh-CN" altLang="en-US" sz="2000" b="0" i="1" smtClean="0"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kumimoji="1" lang="en-US" altLang="zh-CN" sz="2000" b="0" i="1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000" i="1">
                          <a:latin typeface="Cambria Math" panose="02040503050406030204" pitchFamily="18" charset="0"/>
                        </a:rPr>
                        <m:t>因为</m:t>
                      </m:r>
                      <m:r>
                        <a:rPr kumimoji="1" lang="zh-CN" alt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−3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zh-CN" altLang="en-US" sz="20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11177ED-326C-026D-129F-40E2C71D4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2796" y="4909755"/>
                <a:ext cx="2974404" cy="1015663"/>
              </a:xfrm>
              <a:prstGeom prst="rect">
                <a:avLst/>
              </a:prstGeom>
              <a:blipFill>
                <a:blip r:embed="rId7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EA4B67A1-321D-09F4-B760-1749894D3278}"/>
              </a:ext>
            </a:extLst>
          </p:cNvPr>
          <p:cNvSpPr txBox="1"/>
          <p:nvPr/>
        </p:nvSpPr>
        <p:spPr>
          <a:xfrm>
            <a:off x="304800" y="5017477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例子</a:t>
            </a:r>
          </a:p>
        </p:txBody>
      </p:sp>
    </p:spTree>
    <p:extLst>
      <p:ext uri="{BB962C8B-B14F-4D97-AF65-F5344CB8AC3E}">
        <p14:creationId xmlns:p14="http://schemas.microsoft.com/office/powerpoint/2010/main" val="1950042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95DBE-869C-69D6-CE78-A6B964843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F1B75F7-1045-9A59-7ABF-1C6A39F2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矩阵（</a:t>
            </a:r>
            <a:r>
              <a:rPr lang="en-US" altLang="zh-CN" dirty="0"/>
              <a:t>matrix</a:t>
            </a:r>
            <a:r>
              <a:rPr lang="zh-CN" altLang="en-US" dirty="0"/>
              <a:t>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3963671-968D-C783-D3F9-ECBDF9F3C2BD}"/>
              </a:ext>
            </a:extLst>
          </p:cNvPr>
          <p:cNvSpPr txBox="1"/>
          <p:nvPr/>
        </p:nvSpPr>
        <p:spPr>
          <a:xfrm>
            <a:off x="146539" y="894891"/>
            <a:ext cx="5410201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sz="2000" b="1" dirty="0">
                <a:solidFill>
                  <a:srgbClr val="0707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定义：</a:t>
            </a:r>
            <a:r>
              <a:rPr lang="zh-CN" altLang="en-US" sz="2000" dirty="0">
                <a:solidFill>
                  <a:srgbClr val="0707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矩阵是一个二维数组，可以表示为</a:t>
            </a:r>
            <a:endParaRPr lang="zh-CN" altLang="en-US" sz="20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5EE6959-3FC9-64F4-BE60-B704CAD21795}"/>
                  </a:ext>
                </a:extLst>
              </p:cNvPr>
              <p:cNvSpPr txBox="1"/>
              <p:nvPr/>
            </p:nvSpPr>
            <p:spPr>
              <a:xfrm>
                <a:off x="756307" y="1608860"/>
                <a:ext cx="6195286" cy="4964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, 1≤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, 1≤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5EE6959-3FC9-64F4-BE60-B704CAD21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07" y="1608860"/>
                <a:ext cx="6195286" cy="496418"/>
              </a:xfrm>
              <a:prstGeom prst="rect">
                <a:avLst/>
              </a:prstGeom>
              <a:blipFill>
                <a:blip r:embed="rId52"/>
                <a:stretch>
                  <a:fillRect l="-818" t="-25000" b="-2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18A45D50-0EA2-8D22-34D9-B2987F506179}"/>
              </a:ext>
            </a:extLst>
          </p:cNvPr>
          <p:cNvSpPr txBox="1"/>
          <p:nvPr/>
        </p:nvSpPr>
        <p:spPr>
          <a:xfrm>
            <a:off x="146539" y="2501054"/>
            <a:ext cx="7968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Wingdings" pitchFamily="2" charset="2"/>
              <a:buChar char="p"/>
            </a:pPr>
            <a:r>
              <a:rPr kumimoji="1"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几何意义：</a:t>
            </a:r>
            <a:r>
              <a:rPr kumimoji="1"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矩阵可以表示</a:t>
            </a:r>
            <a:r>
              <a:rPr kumimoji="1" lang="zh-CN" altLang="en-US" sz="2000" b="1" dirty="0">
                <a:solidFill>
                  <a:srgbClr val="B6151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线性变换</a:t>
            </a:r>
            <a:r>
              <a:rPr kumimoji="1"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，也可以表示一个或多个样本点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10DD416-919B-0FA2-82A3-49838DF04701}"/>
                  </a:ext>
                </a:extLst>
              </p:cNvPr>
              <p:cNvSpPr txBox="1"/>
              <p:nvPr/>
            </p:nvSpPr>
            <p:spPr>
              <a:xfrm>
                <a:off x="457848" y="3953555"/>
                <a:ext cx="4358950" cy="3545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zh-CN" altLang="en-US" sz="20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矩阵加法：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kumimoji="1" lang="en-US" altLang="zh-CN" sz="20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10DD416-919B-0FA2-82A3-49838DF04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48" y="3953555"/>
                <a:ext cx="4358950" cy="354584"/>
              </a:xfrm>
              <a:prstGeom prst="rect">
                <a:avLst/>
              </a:prstGeom>
              <a:blipFill>
                <a:blip r:embed="rId53"/>
                <a:stretch>
                  <a:fillRect l="-3488" t="-27586" b="-344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E1A923F-7C30-C33B-0881-2671DCF4BEB4}"/>
                  </a:ext>
                </a:extLst>
              </p:cNvPr>
              <p:cNvSpPr txBox="1"/>
              <p:nvPr/>
            </p:nvSpPr>
            <p:spPr>
              <a:xfrm>
                <a:off x="445830" y="4554940"/>
                <a:ext cx="3896195" cy="3545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zh-CN" altLang="en-US" sz="20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数乘矩阵：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kumimoji="1" lang="zh-CN" altLang="en-US" sz="20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E1A923F-7C30-C33B-0881-2671DCF4B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30" y="4554940"/>
                <a:ext cx="3896195" cy="354584"/>
              </a:xfrm>
              <a:prstGeom prst="rect">
                <a:avLst/>
              </a:prstGeom>
              <a:blipFill>
                <a:blip r:embed="rId54"/>
                <a:stretch>
                  <a:fillRect l="-3909" t="-27586" b="-344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DBA2957-9230-5AD5-11DF-D1F1214C1AC2}"/>
                  </a:ext>
                </a:extLst>
              </p:cNvPr>
              <p:cNvSpPr txBox="1"/>
              <p:nvPr/>
            </p:nvSpPr>
            <p:spPr>
              <a:xfrm>
                <a:off x="457682" y="5144952"/>
                <a:ext cx="3783665" cy="9345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zh-CN" altLang="en-US" sz="20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矩阵乘</a:t>
                </a:r>
                <a:r>
                  <a:rPr kumimoji="1" lang="zh-CN" altLang="en-US" sz="2000" b="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kumimoji="1" lang="zh-CN" altLang="en-US" sz="2000" b="0" i="0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kumimoji="1" lang="en-US" altLang="zh-CN" sz="20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000" i="1">
                          <a:latin typeface="Cambria Math" panose="02040503050406030204" pitchFamily="18" charset="0"/>
                        </a:rPr>
                        <m:t>其中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subSup"/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𝑘𝑗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0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DBA2957-9230-5AD5-11DF-D1F1214C1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82" y="5144952"/>
                <a:ext cx="3783665" cy="934551"/>
              </a:xfrm>
              <a:prstGeom prst="rect">
                <a:avLst/>
              </a:prstGeom>
              <a:blipFill>
                <a:blip r:embed="rId55"/>
                <a:stretch>
                  <a:fillRect l="-4013" t="-87838" b="-1743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823D4910-3D2D-09C0-1182-201BDA2DE6E8}"/>
              </a:ext>
            </a:extLst>
          </p:cNvPr>
          <p:cNvSpPr txBox="1"/>
          <p:nvPr/>
        </p:nvSpPr>
        <p:spPr>
          <a:xfrm>
            <a:off x="131018" y="3254101"/>
            <a:ext cx="2582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p"/>
            </a:pPr>
            <a:r>
              <a:rPr kumimoji="1"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矩阵的基本运算：</a:t>
            </a:r>
            <a:endParaRPr kumimoji="1" lang="en-US" altLang="zh-CN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Picture 4" descr="machine learning - What image format are MNIST images? - Stack Overflow">
            <a:extLst>
              <a:ext uri="{FF2B5EF4-FFF2-40B4-BE49-F238E27FC236}">
                <a16:creationId xmlns:a16="http://schemas.microsoft.com/office/drawing/2014/main" id="{1D35B40D-71B7-02BC-371F-350A7C879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4345" y="3027065"/>
            <a:ext cx="2316075" cy="2397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82EC5A6-F74D-325B-D8DD-EB0E96F39D39}"/>
              </a:ext>
            </a:extLst>
          </p:cNvPr>
          <p:cNvSpPr/>
          <p:nvPr/>
        </p:nvSpPr>
        <p:spPr>
          <a:xfrm>
            <a:off x="9097107" y="5499520"/>
            <a:ext cx="2907323" cy="7375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一张 </a:t>
            </a:r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28x28 </a:t>
            </a:r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像素的图像可以看成一个 </a:t>
            </a:r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28x28 </a:t>
            </a:r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的矩阵</a:t>
            </a:r>
          </a:p>
        </p:txBody>
      </p:sp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035FF491-2BFC-7374-A9D9-5C04E0B1C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340" y="826825"/>
            <a:ext cx="4160867" cy="164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08" name="组合 2107" descr="\documentclass{article}&#10;\usepackage{amsmath}&#10;\pagestyle{empty}&#10;\begin{document}&#10;&#10;$$&#10;       X = \begin{bmatrix}&#10;       x_{11} &amp; x_{12} &amp; x_{1d} \\&#10;       x_{21} &amp; x_{22} &amp; x_{2d} \\&#10;       \vdots &amp; \vdots &amp; \vdots \\&#10;       x_{n1} &amp; x_{n2} &amp; x_{nd}&#10;       \end{bmatrix}.&#10;$$&#10;&#10;\end{document}" title="IguanaTex Vector Display">
            <a:extLst>
              <a:ext uri="{FF2B5EF4-FFF2-40B4-BE49-F238E27FC236}">
                <a16:creationId xmlns:a16="http://schemas.microsoft.com/office/drawing/2014/main" id="{2272751A-C3BE-05B3-BC48-EBF9A32ED88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245100" y="3530600"/>
            <a:ext cx="3333908" cy="1719466"/>
            <a:chOff x="11039713" y="5579053"/>
            <a:chExt cx="3333908" cy="1719466"/>
          </a:xfrm>
        </p:grpSpPr>
        <p:sp>
          <p:nvSpPr>
            <p:cNvPr id="2059" name="任意形状 2058">
              <a:extLst>
                <a:ext uri="{FF2B5EF4-FFF2-40B4-BE49-F238E27FC236}">
                  <a16:creationId xmlns:a16="http://schemas.microsoft.com/office/drawing/2014/main" id="{4EEE542E-312E-8A56-A99D-5E411E2771E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1039713" y="6300863"/>
              <a:ext cx="262473" cy="217559"/>
            </a:xfrm>
            <a:custGeom>
              <a:avLst/>
              <a:gdLst>
                <a:gd name="connsiteX0" fmla="*/ 146070 w 262473"/>
                <a:gd name="connsiteY0" fmla="*/ 86735 h 217559"/>
                <a:gd name="connsiteX1" fmla="*/ 119313 w 262473"/>
                <a:gd name="connsiteY1" fmla="*/ 23347 h 217559"/>
                <a:gd name="connsiteX2" fmla="*/ 117721 w 262473"/>
                <a:gd name="connsiteY2" fmla="*/ 19206 h 217559"/>
                <a:gd name="connsiteX3" fmla="*/ 136514 w 262473"/>
                <a:gd name="connsiteY3" fmla="*/ 9968 h 217559"/>
                <a:gd name="connsiteX4" fmla="*/ 142885 w 262473"/>
                <a:gd name="connsiteY4" fmla="*/ 3916 h 217559"/>
                <a:gd name="connsiteX5" fmla="*/ 138107 w 262473"/>
                <a:gd name="connsiteY5" fmla="*/ 93 h 217559"/>
                <a:gd name="connsiteX6" fmla="*/ 97971 w 262473"/>
                <a:gd name="connsiteY6" fmla="*/ 1049 h 217559"/>
                <a:gd name="connsiteX7" fmla="*/ 62295 w 262473"/>
                <a:gd name="connsiteY7" fmla="*/ 93 h 217559"/>
                <a:gd name="connsiteX8" fmla="*/ 56562 w 262473"/>
                <a:gd name="connsiteY8" fmla="*/ 6464 h 217559"/>
                <a:gd name="connsiteX9" fmla="*/ 63888 w 262473"/>
                <a:gd name="connsiteY9" fmla="*/ 9968 h 217559"/>
                <a:gd name="connsiteX10" fmla="*/ 87778 w 262473"/>
                <a:gd name="connsiteY10" fmla="*/ 20161 h 217559"/>
                <a:gd name="connsiteX11" fmla="*/ 125365 w 262473"/>
                <a:gd name="connsiteY11" fmla="*/ 109033 h 217559"/>
                <a:gd name="connsiteX12" fmla="*/ 58154 w 262473"/>
                <a:gd name="connsiteY12" fmla="*/ 181340 h 217559"/>
                <a:gd name="connsiteX13" fmla="*/ 54013 w 262473"/>
                <a:gd name="connsiteY13" fmla="*/ 184844 h 217559"/>
                <a:gd name="connsiteX14" fmla="*/ 7189 w 262473"/>
                <a:gd name="connsiteY14" fmla="*/ 207779 h 217559"/>
                <a:gd name="connsiteX15" fmla="*/ 181 w 262473"/>
                <a:gd name="connsiteY15" fmla="*/ 214149 h 217559"/>
                <a:gd name="connsiteX16" fmla="*/ 4322 w 262473"/>
                <a:gd name="connsiteY16" fmla="*/ 217653 h 217559"/>
                <a:gd name="connsiteX17" fmla="*/ 34264 w 262473"/>
                <a:gd name="connsiteY17" fmla="*/ 216698 h 217559"/>
                <a:gd name="connsiteX18" fmla="*/ 69940 w 262473"/>
                <a:gd name="connsiteY18" fmla="*/ 217653 h 217559"/>
                <a:gd name="connsiteX19" fmla="*/ 75674 w 262473"/>
                <a:gd name="connsiteY19" fmla="*/ 211283 h 217559"/>
                <a:gd name="connsiteX20" fmla="*/ 71851 w 262473"/>
                <a:gd name="connsiteY20" fmla="*/ 207779 h 217559"/>
                <a:gd name="connsiteX21" fmla="*/ 59110 w 262473"/>
                <a:gd name="connsiteY21" fmla="*/ 197904 h 217559"/>
                <a:gd name="connsiteX22" fmla="*/ 67711 w 262473"/>
                <a:gd name="connsiteY22" fmla="*/ 183570 h 217559"/>
                <a:gd name="connsiteX23" fmla="*/ 100201 w 262473"/>
                <a:gd name="connsiteY23" fmla="*/ 149168 h 217559"/>
                <a:gd name="connsiteX24" fmla="*/ 128869 w 262473"/>
                <a:gd name="connsiteY24" fmla="*/ 117952 h 217559"/>
                <a:gd name="connsiteX25" fmla="*/ 161041 w 262473"/>
                <a:gd name="connsiteY25" fmla="*/ 194082 h 217559"/>
                <a:gd name="connsiteX26" fmla="*/ 162634 w 262473"/>
                <a:gd name="connsiteY26" fmla="*/ 198541 h 217559"/>
                <a:gd name="connsiteX27" fmla="*/ 144159 w 262473"/>
                <a:gd name="connsiteY27" fmla="*/ 207779 h 217559"/>
                <a:gd name="connsiteX28" fmla="*/ 137788 w 262473"/>
                <a:gd name="connsiteY28" fmla="*/ 213831 h 217559"/>
                <a:gd name="connsiteX29" fmla="*/ 142566 w 262473"/>
                <a:gd name="connsiteY29" fmla="*/ 217653 h 217559"/>
                <a:gd name="connsiteX30" fmla="*/ 182702 w 262473"/>
                <a:gd name="connsiteY30" fmla="*/ 216698 h 217559"/>
                <a:gd name="connsiteX31" fmla="*/ 218059 w 262473"/>
                <a:gd name="connsiteY31" fmla="*/ 217653 h 217559"/>
                <a:gd name="connsiteX32" fmla="*/ 224112 w 262473"/>
                <a:gd name="connsiteY32" fmla="*/ 211601 h 217559"/>
                <a:gd name="connsiteX33" fmla="*/ 218378 w 262473"/>
                <a:gd name="connsiteY33" fmla="*/ 207779 h 217559"/>
                <a:gd name="connsiteX34" fmla="*/ 190984 w 262473"/>
                <a:gd name="connsiteY34" fmla="*/ 193763 h 217559"/>
                <a:gd name="connsiteX35" fmla="*/ 149893 w 262473"/>
                <a:gd name="connsiteY35" fmla="*/ 95336 h 217559"/>
                <a:gd name="connsiteX36" fmla="*/ 215193 w 262473"/>
                <a:gd name="connsiteY36" fmla="*/ 26213 h 217559"/>
                <a:gd name="connsiteX37" fmla="*/ 255647 w 262473"/>
                <a:gd name="connsiteY37" fmla="*/ 9968 h 217559"/>
                <a:gd name="connsiteX38" fmla="*/ 262654 w 262473"/>
                <a:gd name="connsiteY38" fmla="*/ 3597 h 217559"/>
                <a:gd name="connsiteX39" fmla="*/ 258513 w 262473"/>
                <a:gd name="connsiteY39" fmla="*/ 93 h 217559"/>
                <a:gd name="connsiteX40" fmla="*/ 228571 w 262473"/>
                <a:gd name="connsiteY40" fmla="*/ 1049 h 217559"/>
                <a:gd name="connsiteX41" fmla="*/ 193214 w 262473"/>
                <a:gd name="connsiteY41" fmla="*/ 93 h 217559"/>
                <a:gd name="connsiteX42" fmla="*/ 187161 w 262473"/>
                <a:gd name="connsiteY42" fmla="*/ 6464 h 217559"/>
                <a:gd name="connsiteX43" fmla="*/ 190984 w 262473"/>
                <a:gd name="connsiteY43" fmla="*/ 9968 h 217559"/>
                <a:gd name="connsiteX44" fmla="*/ 203725 w 262473"/>
                <a:gd name="connsiteY44" fmla="*/ 19843 h 217559"/>
                <a:gd name="connsiteX45" fmla="*/ 197673 w 262473"/>
                <a:gd name="connsiteY45" fmla="*/ 31310 h 217559"/>
                <a:gd name="connsiteX46" fmla="*/ 146070 w 262473"/>
                <a:gd name="connsiteY46" fmla="*/ 86735 h 217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62473" h="217559">
                  <a:moveTo>
                    <a:pt x="146070" y="86735"/>
                  </a:moveTo>
                  <a:lnTo>
                    <a:pt x="119313" y="23347"/>
                  </a:lnTo>
                  <a:cubicBezTo>
                    <a:pt x="118358" y="20798"/>
                    <a:pt x="117721" y="19524"/>
                    <a:pt x="117721" y="19206"/>
                  </a:cubicBezTo>
                  <a:cubicBezTo>
                    <a:pt x="117721" y="17294"/>
                    <a:pt x="123136" y="11242"/>
                    <a:pt x="136514" y="9968"/>
                  </a:cubicBezTo>
                  <a:cubicBezTo>
                    <a:pt x="139700" y="9650"/>
                    <a:pt x="142885" y="9331"/>
                    <a:pt x="142885" y="3916"/>
                  </a:cubicBezTo>
                  <a:cubicBezTo>
                    <a:pt x="142885" y="93"/>
                    <a:pt x="139062" y="93"/>
                    <a:pt x="138107" y="93"/>
                  </a:cubicBezTo>
                  <a:cubicBezTo>
                    <a:pt x="125047" y="93"/>
                    <a:pt x="111350" y="1049"/>
                    <a:pt x="97971" y="1049"/>
                  </a:cubicBezTo>
                  <a:cubicBezTo>
                    <a:pt x="90008" y="1049"/>
                    <a:pt x="70259" y="93"/>
                    <a:pt x="62295" y="93"/>
                  </a:cubicBezTo>
                  <a:cubicBezTo>
                    <a:pt x="60384" y="93"/>
                    <a:pt x="56562" y="93"/>
                    <a:pt x="56562" y="6464"/>
                  </a:cubicBezTo>
                  <a:cubicBezTo>
                    <a:pt x="56562" y="9968"/>
                    <a:pt x="59747" y="9968"/>
                    <a:pt x="63888" y="9968"/>
                  </a:cubicBezTo>
                  <a:cubicBezTo>
                    <a:pt x="83000" y="9968"/>
                    <a:pt x="84911" y="13153"/>
                    <a:pt x="87778" y="20161"/>
                  </a:cubicBezTo>
                  <a:lnTo>
                    <a:pt x="125365" y="109033"/>
                  </a:lnTo>
                  <a:lnTo>
                    <a:pt x="58154" y="181340"/>
                  </a:lnTo>
                  <a:lnTo>
                    <a:pt x="54013" y="184844"/>
                  </a:lnTo>
                  <a:cubicBezTo>
                    <a:pt x="38405" y="201727"/>
                    <a:pt x="23434" y="206823"/>
                    <a:pt x="7189" y="207779"/>
                  </a:cubicBezTo>
                  <a:cubicBezTo>
                    <a:pt x="3048" y="208097"/>
                    <a:pt x="181" y="208097"/>
                    <a:pt x="181" y="214149"/>
                  </a:cubicBezTo>
                  <a:cubicBezTo>
                    <a:pt x="181" y="214468"/>
                    <a:pt x="181" y="217653"/>
                    <a:pt x="4322" y="217653"/>
                  </a:cubicBezTo>
                  <a:cubicBezTo>
                    <a:pt x="13878" y="217653"/>
                    <a:pt x="24390" y="216698"/>
                    <a:pt x="34264" y="216698"/>
                  </a:cubicBezTo>
                  <a:cubicBezTo>
                    <a:pt x="46050" y="216698"/>
                    <a:pt x="58473" y="217653"/>
                    <a:pt x="69940" y="217653"/>
                  </a:cubicBezTo>
                  <a:cubicBezTo>
                    <a:pt x="71851" y="217653"/>
                    <a:pt x="75674" y="217653"/>
                    <a:pt x="75674" y="211283"/>
                  </a:cubicBezTo>
                  <a:cubicBezTo>
                    <a:pt x="75674" y="208097"/>
                    <a:pt x="72489" y="207779"/>
                    <a:pt x="71851" y="207779"/>
                  </a:cubicBezTo>
                  <a:cubicBezTo>
                    <a:pt x="68985" y="207460"/>
                    <a:pt x="59110" y="206823"/>
                    <a:pt x="59110" y="197904"/>
                  </a:cubicBezTo>
                  <a:cubicBezTo>
                    <a:pt x="59110" y="192808"/>
                    <a:pt x="63888" y="187711"/>
                    <a:pt x="67711" y="183570"/>
                  </a:cubicBezTo>
                  <a:lnTo>
                    <a:pt x="100201" y="149168"/>
                  </a:lnTo>
                  <a:lnTo>
                    <a:pt x="128869" y="117952"/>
                  </a:lnTo>
                  <a:lnTo>
                    <a:pt x="161041" y="194082"/>
                  </a:lnTo>
                  <a:cubicBezTo>
                    <a:pt x="162316" y="197586"/>
                    <a:pt x="162634" y="197904"/>
                    <a:pt x="162634" y="198541"/>
                  </a:cubicBezTo>
                  <a:cubicBezTo>
                    <a:pt x="162634" y="201089"/>
                    <a:pt x="156582" y="206505"/>
                    <a:pt x="144159" y="207779"/>
                  </a:cubicBezTo>
                  <a:cubicBezTo>
                    <a:pt x="140655" y="208097"/>
                    <a:pt x="137788" y="208416"/>
                    <a:pt x="137788" y="213831"/>
                  </a:cubicBezTo>
                  <a:cubicBezTo>
                    <a:pt x="137788" y="217653"/>
                    <a:pt x="141292" y="217653"/>
                    <a:pt x="142566" y="217653"/>
                  </a:cubicBezTo>
                  <a:cubicBezTo>
                    <a:pt x="151485" y="217653"/>
                    <a:pt x="173783" y="216698"/>
                    <a:pt x="182702" y="216698"/>
                  </a:cubicBezTo>
                  <a:cubicBezTo>
                    <a:pt x="190665" y="216698"/>
                    <a:pt x="210096" y="217653"/>
                    <a:pt x="218059" y="217653"/>
                  </a:cubicBezTo>
                  <a:cubicBezTo>
                    <a:pt x="220289" y="217653"/>
                    <a:pt x="224112" y="217653"/>
                    <a:pt x="224112" y="211601"/>
                  </a:cubicBezTo>
                  <a:cubicBezTo>
                    <a:pt x="224112" y="207779"/>
                    <a:pt x="220926" y="207779"/>
                    <a:pt x="218378" y="207779"/>
                  </a:cubicBezTo>
                  <a:cubicBezTo>
                    <a:pt x="197036" y="207460"/>
                    <a:pt x="196399" y="206505"/>
                    <a:pt x="190984" y="193763"/>
                  </a:cubicBezTo>
                  <a:cubicBezTo>
                    <a:pt x="178561" y="164139"/>
                    <a:pt x="157219" y="114448"/>
                    <a:pt x="149893" y="95336"/>
                  </a:cubicBezTo>
                  <a:cubicBezTo>
                    <a:pt x="171553" y="73038"/>
                    <a:pt x="204999" y="35132"/>
                    <a:pt x="215193" y="26213"/>
                  </a:cubicBezTo>
                  <a:cubicBezTo>
                    <a:pt x="224430" y="18569"/>
                    <a:pt x="236534" y="10924"/>
                    <a:pt x="255647" y="9968"/>
                  </a:cubicBezTo>
                  <a:cubicBezTo>
                    <a:pt x="259788" y="9650"/>
                    <a:pt x="262654" y="9650"/>
                    <a:pt x="262654" y="3597"/>
                  </a:cubicBezTo>
                  <a:cubicBezTo>
                    <a:pt x="262654" y="3279"/>
                    <a:pt x="262654" y="93"/>
                    <a:pt x="258513" y="93"/>
                  </a:cubicBezTo>
                  <a:cubicBezTo>
                    <a:pt x="248957" y="93"/>
                    <a:pt x="238446" y="1049"/>
                    <a:pt x="228571" y="1049"/>
                  </a:cubicBezTo>
                  <a:cubicBezTo>
                    <a:pt x="216785" y="1049"/>
                    <a:pt x="204681" y="93"/>
                    <a:pt x="193214" y="93"/>
                  </a:cubicBezTo>
                  <a:cubicBezTo>
                    <a:pt x="191302" y="93"/>
                    <a:pt x="187161" y="93"/>
                    <a:pt x="187161" y="6464"/>
                  </a:cubicBezTo>
                  <a:cubicBezTo>
                    <a:pt x="187161" y="8694"/>
                    <a:pt x="188754" y="9650"/>
                    <a:pt x="190984" y="9968"/>
                  </a:cubicBezTo>
                  <a:cubicBezTo>
                    <a:pt x="193851" y="10287"/>
                    <a:pt x="203725" y="10924"/>
                    <a:pt x="203725" y="19843"/>
                  </a:cubicBezTo>
                  <a:cubicBezTo>
                    <a:pt x="203725" y="24302"/>
                    <a:pt x="200221" y="28443"/>
                    <a:pt x="197673" y="31310"/>
                  </a:cubicBezTo>
                  <a:lnTo>
                    <a:pt x="146070" y="86735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60" name="任意形状 2059">
              <a:extLst>
                <a:ext uri="{FF2B5EF4-FFF2-40B4-BE49-F238E27FC236}">
                  <a16:creationId xmlns:a16="http://schemas.microsoft.com/office/drawing/2014/main" id="{F908D8B2-3EE8-A6F9-FC92-8481C89ACA7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1426324" y="6401521"/>
              <a:ext cx="211826" cy="74537"/>
            </a:xfrm>
            <a:custGeom>
              <a:avLst/>
              <a:gdLst>
                <a:gd name="connsiteX0" fmla="*/ 201189 w 211826"/>
                <a:gd name="connsiteY0" fmla="*/ 12835 h 74537"/>
                <a:gd name="connsiteX1" fmla="*/ 212019 w 211826"/>
                <a:gd name="connsiteY1" fmla="*/ 6464 h 74537"/>
                <a:gd name="connsiteX2" fmla="*/ 201507 w 211826"/>
                <a:gd name="connsiteY2" fmla="*/ 93 h 74537"/>
                <a:gd name="connsiteX3" fmla="*/ 10704 w 211826"/>
                <a:gd name="connsiteY3" fmla="*/ 93 h 74537"/>
                <a:gd name="connsiteX4" fmla="*/ 193 w 211826"/>
                <a:gd name="connsiteY4" fmla="*/ 6464 h 74537"/>
                <a:gd name="connsiteX5" fmla="*/ 11023 w 211826"/>
                <a:gd name="connsiteY5" fmla="*/ 12835 h 74537"/>
                <a:gd name="connsiteX6" fmla="*/ 201189 w 211826"/>
                <a:gd name="connsiteY6" fmla="*/ 12835 h 74537"/>
                <a:gd name="connsiteX7" fmla="*/ 201507 w 211826"/>
                <a:gd name="connsiteY7" fmla="*/ 74631 h 74537"/>
                <a:gd name="connsiteX8" fmla="*/ 212019 w 211826"/>
                <a:gd name="connsiteY8" fmla="*/ 68260 h 74537"/>
                <a:gd name="connsiteX9" fmla="*/ 201189 w 211826"/>
                <a:gd name="connsiteY9" fmla="*/ 61889 h 74537"/>
                <a:gd name="connsiteX10" fmla="*/ 11023 w 211826"/>
                <a:gd name="connsiteY10" fmla="*/ 61889 h 74537"/>
                <a:gd name="connsiteX11" fmla="*/ 193 w 211826"/>
                <a:gd name="connsiteY11" fmla="*/ 68260 h 74537"/>
                <a:gd name="connsiteX12" fmla="*/ 10704 w 211826"/>
                <a:gd name="connsiteY12" fmla="*/ 74631 h 74537"/>
                <a:gd name="connsiteX13" fmla="*/ 201507 w 211826"/>
                <a:gd name="connsiteY13" fmla="*/ 74631 h 74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1826" h="74537">
                  <a:moveTo>
                    <a:pt x="201189" y="12835"/>
                  </a:moveTo>
                  <a:cubicBezTo>
                    <a:pt x="205967" y="12835"/>
                    <a:pt x="212019" y="12835"/>
                    <a:pt x="212019" y="6464"/>
                  </a:cubicBezTo>
                  <a:cubicBezTo>
                    <a:pt x="212019" y="93"/>
                    <a:pt x="205967" y="93"/>
                    <a:pt x="201507" y="93"/>
                  </a:cubicBezTo>
                  <a:lnTo>
                    <a:pt x="10704" y="93"/>
                  </a:lnTo>
                  <a:cubicBezTo>
                    <a:pt x="6245" y="93"/>
                    <a:pt x="193" y="93"/>
                    <a:pt x="193" y="6464"/>
                  </a:cubicBezTo>
                  <a:cubicBezTo>
                    <a:pt x="193" y="12835"/>
                    <a:pt x="6245" y="12835"/>
                    <a:pt x="11023" y="12835"/>
                  </a:cubicBezTo>
                  <a:lnTo>
                    <a:pt x="201189" y="12835"/>
                  </a:lnTo>
                  <a:close/>
                  <a:moveTo>
                    <a:pt x="201507" y="74631"/>
                  </a:moveTo>
                  <a:cubicBezTo>
                    <a:pt x="205967" y="74631"/>
                    <a:pt x="212019" y="74631"/>
                    <a:pt x="212019" y="68260"/>
                  </a:cubicBezTo>
                  <a:cubicBezTo>
                    <a:pt x="212019" y="61889"/>
                    <a:pt x="205967" y="61889"/>
                    <a:pt x="201189" y="61889"/>
                  </a:cubicBezTo>
                  <a:lnTo>
                    <a:pt x="11023" y="61889"/>
                  </a:lnTo>
                  <a:cubicBezTo>
                    <a:pt x="6245" y="61889"/>
                    <a:pt x="193" y="61889"/>
                    <a:pt x="193" y="68260"/>
                  </a:cubicBezTo>
                  <a:cubicBezTo>
                    <a:pt x="193" y="74631"/>
                    <a:pt x="6245" y="74631"/>
                    <a:pt x="10704" y="74631"/>
                  </a:cubicBezTo>
                  <a:lnTo>
                    <a:pt x="201507" y="74631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61" name="任意形状 2060">
              <a:extLst>
                <a:ext uri="{FF2B5EF4-FFF2-40B4-BE49-F238E27FC236}">
                  <a16:creationId xmlns:a16="http://schemas.microsoft.com/office/drawing/2014/main" id="{7355FA19-1ADE-E13C-4AE8-2FFB497EE1A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1848560" y="5579053"/>
              <a:ext cx="106072" cy="573045"/>
            </a:xfrm>
            <a:custGeom>
              <a:avLst/>
              <a:gdLst>
                <a:gd name="connsiteX0" fmla="*/ 203 w 106072"/>
                <a:gd name="connsiteY0" fmla="*/ 573110 h 573045"/>
                <a:gd name="connsiteX1" fmla="*/ 22182 w 106072"/>
                <a:gd name="connsiteY1" fmla="*/ 573110 h 573045"/>
                <a:gd name="connsiteX2" fmla="*/ 22182 w 106072"/>
                <a:gd name="connsiteY2" fmla="*/ 22043 h 573045"/>
                <a:gd name="connsiteX3" fmla="*/ 106276 w 106072"/>
                <a:gd name="connsiteY3" fmla="*/ 22043 h 573045"/>
                <a:gd name="connsiteX4" fmla="*/ 106276 w 106072"/>
                <a:gd name="connsiteY4" fmla="*/ 64 h 573045"/>
                <a:gd name="connsiteX5" fmla="*/ 203 w 106072"/>
                <a:gd name="connsiteY5" fmla="*/ 64 h 573045"/>
                <a:gd name="connsiteX6" fmla="*/ 203 w 106072"/>
                <a:gd name="connsiteY6" fmla="*/ 573110 h 57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072" h="573045">
                  <a:moveTo>
                    <a:pt x="203" y="573110"/>
                  </a:moveTo>
                  <a:lnTo>
                    <a:pt x="22182" y="573110"/>
                  </a:lnTo>
                  <a:lnTo>
                    <a:pt x="22182" y="22043"/>
                  </a:lnTo>
                  <a:lnTo>
                    <a:pt x="106276" y="22043"/>
                  </a:lnTo>
                  <a:lnTo>
                    <a:pt x="106276" y="64"/>
                  </a:lnTo>
                  <a:lnTo>
                    <a:pt x="203" y="64"/>
                  </a:lnTo>
                  <a:lnTo>
                    <a:pt x="203" y="573110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62" name="任意形状 2061">
              <a:extLst>
                <a:ext uri="{FF2B5EF4-FFF2-40B4-BE49-F238E27FC236}">
                  <a16:creationId xmlns:a16="http://schemas.microsoft.com/office/drawing/2014/main" id="{F41BE439-DF5B-1784-0873-533B2B1DF94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1848560" y="6151786"/>
              <a:ext cx="21978" cy="191758"/>
            </a:xfrm>
            <a:custGeom>
              <a:avLst/>
              <a:gdLst>
                <a:gd name="connsiteX0" fmla="*/ 203 w 21978"/>
                <a:gd name="connsiteY0" fmla="*/ 191841 h 191758"/>
                <a:gd name="connsiteX1" fmla="*/ 22182 w 21978"/>
                <a:gd name="connsiteY1" fmla="*/ 191841 h 191758"/>
                <a:gd name="connsiteX2" fmla="*/ 22182 w 21978"/>
                <a:gd name="connsiteY2" fmla="*/ 82 h 191758"/>
                <a:gd name="connsiteX3" fmla="*/ 203 w 21978"/>
                <a:gd name="connsiteY3" fmla="*/ 82 h 191758"/>
                <a:gd name="connsiteX4" fmla="*/ 203 w 21978"/>
                <a:gd name="connsiteY4" fmla="*/ 191841 h 191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78" h="191758">
                  <a:moveTo>
                    <a:pt x="203" y="191841"/>
                  </a:moveTo>
                  <a:lnTo>
                    <a:pt x="22182" y="191841"/>
                  </a:lnTo>
                  <a:lnTo>
                    <a:pt x="22182" y="82"/>
                  </a:lnTo>
                  <a:lnTo>
                    <a:pt x="203" y="82"/>
                  </a:lnTo>
                  <a:lnTo>
                    <a:pt x="203" y="191841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63" name="任意形状 2062">
              <a:extLst>
                <a:ext uri="{FF2B5EF4-FFF2-40B4-BE49-F238E27FC236}">
                  <a16:creationId xmlns:a16="http://schemas.microsoft.com/office/drawing/2014/main" id="{220141F3-A830-FDA8-A782-E90E819F5C9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1848560" y="6342909"/>
              <a:ext cx="21978" cy="191758"/>
            </a:xfrm>
            <a:custGeom>
              <a:avLst/>
              <a:gdLst>
                <a:gd name="connsiteX0" fmla="*/ 203 w 21978"/>
                <a:gd name="connsiteY0" fmla="*/ 191847 h 191758"/>
                <a:gd name="connsiteX1" fmla="*/ 22182 w 21978"/>
                <a:gd name="connsiteY1" fmla="*/ 191847 h 191758"/>
                <a:gd name="connsiteX2" fmla="*/ 22182 w 21978"/>
                <a:gd name="connsiteY2" fmla="*/ 88 h 191758"/>
                <a:gd name="connsiteX3" fmla="*/ 203 w 21978"/>
                <a:gd name="connsiteY3" fmla="*/ 88 h 191758"/>
                <a:gd name="connsiteX4" fmla="*/ 203 w 21978"/>
                <a:gd name="connsiteY4" fmla="*/ 191847 h 191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78" h="191758">
                  <a:moveTo>
                    <a:pt x="203" y="191847"/>
                  </a:moveTo>
                  <a:lnTo>
                    <a:pt x="22182" y="191847"/>
                  </a:lnTo>
                  <a:lnTo>
                    <a:pt x="22182" y="88"/>
                  </a:lnTo>
                  <a:lnTo>
                    <a:pt x="203" y="88"/>
                  </a:lnTo>
                  <a:lnTo>
                    <a:pt x="203" y="191847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64" name="任意形状 2063">
              <a:extLst>
                <a:ext uri="{FF2B5EF4-FFF2-40B4-BE49-F238E27FC236}">
                  <a16:creationId xmlns:a16="http://schemas.microsoft.com/office/drawing/2014/main" id="{FA385EE9-4DDD-D66E-9192-2DE810BBF8A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1848560" y="6534033"/>
              <a:ext cx="21978" cy="191758"/>
            </a:xfrm>
            <a:custGeom>
              <a:avLst/>
              <a:gdLst>
                <a:gd name="connsiteX0" fmla="*/ 203 w 21978"/>
                <a:gd name="connsiteY0" fmla="*/ 191852 h 191758"/>
                <a:gd name="connsiteX1" fmla="*/ 22182 w 21978"/>
                <a:gd name="connsiteY1" fmla="*/ 191852 h 191758"/>
                <a:gd name="connsiteX2" fmla="*/ 22182 w 21978"/>
                <a:gd name="connsiteY2" fmla="*/ 94 h 191758"/>
                <a:gd name="connsiteX3" fmla="*/ 203 w 21978"/>
                <a:gd name="connsiteY3" fmla="*/ 94 h 191758"/>
                <a:gd name="connsiteX4" fmla="*/ 203 w 21978"/>
                <a:gd name="connsiteY4" fmla="*/ 191852 h 191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78" h="191758">
                  <a:moveTo>
                    <a:pt x="203" y="191852"/>
                  </a:moveTo>
                  <a:lnTo>
                    <a:pt x="22182" y="191852"/>
                  </a:lnTo>
                  <a:lnTo>
                    <a:pt x="22182" y="94"/>
                  </a:lnTo>
                  <a:lnTo>
                    <a:pt x="203" y="94"/>
                  </a:lnTo>
                  <a:lnTo>
                    <a:pt x="203" y="191852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65" name="任意形状 2064">
              <a:extLst>
                <a:ext uri="{FF2B5EF4-FFF2-40B4-BE49-F238E27FC236}">
                  <a16:creationId xmlns:a16="http://schemas.microsoft.com/office/drawing/2014/main" id="{95A2DC44-CDCF-31B5-6BB2-64E90B904D49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1848560" y="6725474"/>
              <a:ext cx="106072" cy="573045"/>
            </a:xfrm>
            <a:custGeom>
              <a:avLst/>
              <a:gdLst>
                <a:gd name="connsiteX0" fmla="*/ 203 w 106072"/>
                <a:gd name="connsiteY0" fmla="*/ 573146 h 573045"/>
                <a:gd name="connsiteX1" fmla="*/ 106276 w 106072"/>
                <a:gd name="connsiteY1" fmla="*/ 573146 h 573045"/>
                <a:gd name="connsiteX2" fmla="*/ 106276 w 106072"/>
                <a:gd name="connsiteY2" fmla="*/ 551167 h 573045"/>
                <a:gd name="connsiteX3" fmla="*/ 22182 w 106072"/>
                <a:gd name="connsiteY3" fmla="*/ 551167 h 573045"/>
                <a:gd name="connsiteX4" fmla="*/ 22182 w 106072"/>
                <a:gd name="connsiteY4" fmla="*/ 100 h 573045"/>
                <a:gd name="connsiteX5" fmla="*/ 203 w 106072"/>
                <a:gd name="connsiteY5" fmla="*/ 100 h 573045"/>
                <a:gd name="connsiteX6" fmla="*/ 203 w 106072"/>
                <a:gd name="connsiteY6" fmla="*/ 573146 h 57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072" h="573045">
                  <a:moveTo>
                    <a:pt x="203" y="573146"/>
                  </a:moveTo>
                  <a:lnTo>
                    <a:pt x="106276" y="573146"/>
                  </a:lnTo>
                  <a:lnTo>
                    <a:pt x="106276" y="551167"/>
                  </a:lnTo>
                  <a:lnTo>
                    <a:pt x="22182" y="551167"/>
                  </a:lnTo>
                  <a:lnTo>
                    <a:pt x="22182" y="100"/>
                  </a:lnTo>
                  <a:lnTo>
                    <a:pt x="203" y="100"/>
                  </a:lnTo>
                  <a:lnTo>
                    <a:pt x="203" y="573146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66" name="任意形状 2065">
              <a:extLst>
                <a:ext uri="{FF2B5EF4-FFF2-40B4-BE49-F238E27FC236}">
                  <a16:creationId xmlns:a16="http://schemas.microsoft.com/office/drawing/2014/main" id="{905A178F-315F-0B38-C355-30464920169A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981558" y="5695078"/>
              <a:ext cx="158630" cy="144296"/>
            </a:xfrm>
            <a:custGeom>
              <a:avLst/>
              <a:gdLst>
                <a:gd name="connsiteX0" fmla="*/ 97364 w 158630"/>
                <a:gd name="connsiteY0" fmla="*/ 44667 h 144296"/>
                <a:gd name="connsiteX1" fmla="*/ 128899 w 158630"/>
                <a:gd name="connsiteY1" fmla="*/ 7080 h 144296"/>
                <a:gd name="connsiteX2" fmla="*/ 144826 w 158630"/>
                <a:gd name="connsiteY2" fmla="*/ 11221 h 144296"/>
                <a:gd name="connsiteX3" fmla="*/ 129536 w 158630"/>
                <a:gd name="connsiteY3" fmla="*/ 28422 h 144296"/>
                <a:gd name="connsiteX4" fmla="*/ 141640 w 158630"/>
                <a:gd name="connsiteY4" fmla="*/ 39571 h 144296"/>
                <a:gd name="connsiteX5" fmla="*/ 158841 w 158630"/>
                <a:gd name="connsiteY5" fmla="*/ 21095 h 144296"/>
                <a:gd name="connsiteX6" fmla="*/ 129217 w 158630"/>
                <a:gd name="connsiteY6" fmla="*/ 72 h 144296"/>
                <a:gd name="connsiteX7" fmla="*/ 95771 w 158630"/>
                <a:gd name="connsiteY7" fmla="*/ 24281 h 144296"/>
                <a:gd name="connsiteX8" fmla="*/ 61369 w 158630"/>
                <a:gd name="connsiteY8" fmla="*/ 72 h 144296"/>
                <a:gd name="connsiteX9" fmla="*/ 10085 w 158630"/>
                <a:gd name="connsiteY9" fmla="*/ 49127 h 144296"/>
                <a:gd name="connsiteX10" fmla="*/ 13907 w 158630"/>
                <a:gd name="connsiteY10" fmla="*/ 52312 h 144296"/>
                <a:gd name="connsiteX11" fmla="*/ 18048 w 158630"/>
                <a:gd name="connsiteY11" fmla="*/ 48808 h 144296"/>
                <a:gd name="connsiteX12" fmla="*/ 60732 w 158630"/>
                <a:gd name="connsiteY12" fmla="*/ 7080 h 144296"/>
                <a:gd name="connsiteX13" fmla="*/ 77933 w 158630"/>
                <a:gd name="connsiteY13" fmla="*/ 28422 h 144296"/>
                <a:gd name="connsiteX14" fmla="*/ 60732 w 158630"/>
                <a:gd name="connsiteY14" fmla="*/ 104233 h 144296"/>
                <a:gd name="connsiteX15" fmla="*/ 30471 w 158630"/>
                <a:gd name="connsiteY15" fmla="*/ 137361 h 144296"/>
                <a:gd name="connsiteX16" fmla="*/ 14544 w 158630"/>
                <a:gd name="connsiteY16" fmla="*/ 133220 h 144296"/>
                <a:gd name="connsiteX17" fmla="*/ 29516 w 158630"/>
                <a:gd name="connsiteY17" fmla="*/ 116019 h 144296"/>
                <a:gd name="connsiteX18" fmla="*/ 17730 w 158630"/>
                <a:gd name="connsiteY18" fmla="*/ 104870 h 144296"/>
                <a:gd name="connsiteX19" fmla="*/ 210 w 158630"/>
                <a:gd name="connsiteY19" fmla="*/ 123345 h 144296"/>
                <a:gd name="connsiteX20" fmla="*/ 30153 w 158630"/>
                <a:gd name="connsiteY20" fmla="*/ 144369 h 144296"/>
                <a:gd name="connsiteX21" fmla="*/ 63599 w 158630"/>
                <a:gd name="connsiteY21" fmla="*/ 120160 h 144296"/>
                <a:gd name="connsiteX22" fmla="*/ 98001 w 158630"/>
                <a:gd name="connsiteY22" fmla="*/ 144369 h 144296"/>
                <a:gd name="connsiteX23" fmla="*/ 148967 w 158630"/>
                <a:gd name="connsiteY23" fmla="*/ 95314 h 144296"/>
                <a:gd name="connsiteX24" fmla="*/ 145144 w 158630"/>
                <a:gd name="connsiteY24" fmla="*/ 92129 h 144296"/>
                <a:gd name="connsiteX25" fmla="*/ 141003 w 158630"/>
                <a:gd name="connsiteY25" fmla="*/ 95633 h 144296"/>
                <a:gd name="connsiteX26" fmla="*/ 98638 w 158630"/>
                <a:gd name="connsiteY26" fmla="*/ 137361 h 144296"/>
                <a:gd name="connsiteX27" fmla="*/ 81118 w 158630"/>
                <a:gd name="connsiteY27" fmla="*/ 116338 h 144296"/>
                <a:gd name="connsiteX28" fmla="*/ 86534 w 158630"/>
                <a:gd name="connsiteY28" fmla="*/ 88307 h 144296"/>
                <a:gd name="connsiteX29" fmla="*/ 97364 w 158630"/>
                <a:gd name="connsiteY29" fmla="*/ 44667 h 1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8630" h="144296">
                  <a:moveTo>
                    <a:pt x="97364" y="44667"/>
                  </a:moveTo>
                  <a:cubicBezTo>
                    <a:pt x="99275" y="36385"/>
                    <a:pt x="106601" y="7080"/>
                    <a:pt x="128899" y="7080"/>
                  </a:cubicBezTo>
                  <a:cubicBezTo>
                    <a:pt x="130491" y="7080"/>
                    <a:pt x="138136" y="7080"/>
                    <a:pt x="144826" y="11221"/>
                  </a:cubicBezTo>
                  <a:cubicBezTo>
                    <a:pt x="135907" y="12814"/>
                    <a:pt x="129536" y="20777"/>
                    <a:pt x="129536" y="28422"/>
                  </a:cubicBezTo>
                  <a:cubicBezTo>
                    <a:pt x="129536" y="33518"/>
                    <a:pt x="133040" y="39571"/>
                    <a:pt x="141640" y="39571"/>
                  </a:cubicBezTo>
                  <a:cubicBezTo>
                    <a:pt x="148648" y="39571"/>
                    <a:pt x="158841" y="33837"/>
                    <a:pt x="158841" y="21095"/>
                  </a:cubicBezTo>
                  <a:cubicBezTo>
                    <a:pt x="158841" y="4532"/>
                    <a:pt x="140048" y="72"/>
                    <a:pt x="129217" y="72"/>
                  </a:cubicBezTo>
                  <a:cubicBezTo>
                    <a:pt x="110742" y="72"/>
                    <a:pt x="99593" y="16955"/>
                    <a:pt x="95771" y="24281"/>
                  </a:cubicBezTo>
                  <a:cubicBezTo>
                    <a:pt x="87808" y="3257"/>
                    <a:pt x="70607" y="72"/>
                    <a:pt x="61369" y="72"/>
                  </a:cubicBezTo>
                  <a:cubicBezTo>
                    <a:pt x="28241" y="72"/>
                    <a:pt x="10085" y="41163"/>
                    <a:pt x="10085" y="49127"/>
                  </a:cubicBezTo>
                  <a:cubicBezTo>
                    <a:pt x="10085" y="52312"/>
                    <a:pt x="13270" y="52312"/>
                    <a:pt x="13907" y="52312"/>
                  </a:cubicBezTo>
                  <a:cubicBezTo>
                    <a:pt x="16456" y="52312"/>
                    <a:pt x="17411" y="51675"/>
                    <a:pt x="18048" y="48808"/>
                  </a:cubicBezTo>
                  <a:cubicBezTo>
                    <a:pt x="28879" y="15043"/>
                    <a:pt x="49902" y="7080"/>
                    <a:pt x="60732" y="7080"/>
                  </a:cubicBezTo>
                  <a:cubicBezTo>
                    <a:pt x="66784" y="7080"/>
                    <a:pt x="77933" y="9947"/>
                    <a:pt x="77933" y="28422"/>
                  </a:cubicBezTo>
                  <a:cubicBezTo>
                    <a:pt x="77933" y="38296"/>
                    <a:pt x="72518" y="59638"/>
                    <a:pt x="60732" y="104233"/>
                  </a:cubicBezTo>
                  <a:cubicBezTo>
                    <a:pt x="55636" y="123983"/>
                    <a:pt x="44487" y="137361"/>
                    <a:pt x="30471" y="137361"/>
                  </a:cubicBezTo>
                  <a:cubicBezTo>
                    <a:pt x="28560" y="137361"/>
                    <a:pt x="21234" y="137361"/>
                    <a:pt x="14544" y="133220"/>
                  </a:cubicBezTo>
                  <a:cubicBezTo>
                    <a:pt x="22508" y="131627"/>
                    <a:pt x="29516" y="124938"/>
                    <a:pt x="29516" y="116019"/>
                  </a:cubicBezTo>
                  <a:cubicBezTo>
                    <a:pt x="29516" y="107419"/>
                    <a:pt x="22508" y="104870"/>
                    <a:pt x="17730" y="104870"/>
                  </a:cubicBezTo>
                  <a:cubicBezTo>
                    <a:pt x="8174" y="104870"/>
                    <a:pt x="210" y="113152"/>
                    <a:pt x="210" y="123345"/>
                  </a:cubicBezTo>
                  <a:cubicBezTo>
                    <a:pt x="210" y="137998"/>
                    <a:pt x="16137" y="144369"/>
                    <a:pt x="30153" y="144369"/>
                  </a:cubicBezTo>
                  <a:cubicBezTo>
                    <a:pt x="51176" y="144369"/>
                    <a:pt x="62643" y="122071"/>
                    <a:pt x="63599" y="120160"/>
                  </a:cubicBezTo>
                  <a:cubicBezTo>
                    <a:pt x="67421" y="131946"/>
                    <a:pt x="78889" y="144369"/>
                    <a:pt x="98001" y="144369"/>
                  </a:cubicBezTo>
                  <a:cubicBezTo>
                    <a:pt x="130810" y="144369"/>
                    <a:pt x="148967" y="103278"/>
                    <a:pt x="148967" y="95314"/>
                  </a:cubicBezTo>
                  <a:cubicBezTo>
                    <a:pt x="148967" y="92129"/>
                    <a:pt x="146100" y="92129"/>
                    <a:pt x="145144" y="92129"/>
                  </a:cubicBezTo>
                  <a:cubicBezTo>
                    <a:pt x="142277" y="92129"/>
                    <a:pt x="141640" y="93403"/>
                    <a:pt x="141003" y="95633"/>
                  </a:cubicBezTo>
                  <a:cubicBezTo>
                    <a:pt x="130491" y="129716"/>
                    <a:pt x="108831" y="137361"/>
                    <a:pt x="98638" y="137361"/>
                  </a:cubicBezTo>
                  <a:cubicBezTo>
                    <a:pt x="86215" y="137361"/>
                    <a:pt x="81118" y="127168"/>
                    <a:pt x="81118" y="116338"/>
                  </a:cubicBezTo>
                  <a:cubicBezTo>
                    <a:pt x="81118" y="109330"/>
                    <a:pt x="83030" y="102322"/>
                    <a:pt x="86534" y="88307"/>
                  </a:cubicBezTo>
                  <a:lnTo>
                    <a:pt x="97364" y="44667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67" name="任意形状 2066">
              <a:extLst>
                <a:ext uri="{FF2B5EF4-FFF2-40B4-BE49-F238E27FC236}">
                  <a16:creationId xmlns:a16="http://schemas.microsoft.com/office/drawing/2014/main" id="{42CC5CAD-A95D-7FBD-579D-20E672BEAE7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2178677" y="5735595"/>
              <a:ext cx="81162" cy="148055"/>
            </a:xfrm>
            <a:custGeom>
              <a:avLst/>
              <a:gdLst>
                <a:gd name="connsiteX0" fmla="*/ 50608 w 81162"/>
                <a:gd name="connsiteY0" fmla="*/ 6317 h 148055"/>
                <a:gd name="connsiteX1" fmla="*/ 43919 w 81162"/>
                <a:gd name="connsiteY1" fmla="*/ 74 h 148055"/>
                <a:gd name="connsiteX2" fmla="*/ 216 w 81162"/>
                <a:gd name="connsiteY2" fmla="*/ 14344 h 148055"/>
                <a:gd name="connsiteX3" fmla="*/ 216 w 81162"/>
                <a:gd name="connsiteY3" fmla="*/ 22371 h 148055"/>
                <a:gd name="connsiteX4" fmla="*/ 32547 w 81162"/>
                <a:gd name="connsiteY4" fmla="*/ 16128 h 148055"/>
                <a:gd name="connsiteX5" fmla="*/ 32547 w 81162"/>
                <a:gd name="connsiteY5" fmla="*/ 129845 h 148055"/>
                <a:gd name="connsiteX6" fmla="*/ 10250 w 81162"/>
                <a:gd name="connsiteY6" fmla="*/ 140102 h 148055"/>
                <a:gd name="connsiteX7" fmla="*/ 1777 w 81162"/>
                <a:gd name="connsiteY7" fmla="*/ 140102 h 148055"/>
                <a:gd name="connsiteX8" fmla="*/ 1777 w 81162"/>
                <a:gd name="connsiteY8" fmla="*/ 148129 h 148055"/>
                <a:gd name="connsiteX9" fmla="*/ 41466 w 81162"/>
                <a:gd name="connsiteY9" fmla="*/ 147237 h 148055"/>
                <a:gd name="connsiteX10" fmla="*/ 81379 w 81162"/>
                <a:gd name="connsiteY10" fmla="*/ 148129 h 148055"/>
                <a:gd name="connsiteX11" fmla="*/ 81379 w 81162"/>
                <a:gd name="connsiteY11" fmla="*/ 140102 h 148055"/>
                <a:gd name="connsiteX12" fmla="*/ 72906 w 81162"/>
                <a:gd name="connsiteY12" fmla="*/ 140102 h 148055"/>
                <a:gd name="connsiteX13" fmla="*/ 50608 w 81162"/>
                <a:gd name="connsiteY13" fmla="*/ 129845 h 148055"/>
                <a:gd name="connsiteX14" fmla="*/ 50608 w 81162"/>
                <a:gd name="connsiteY14" fmla="*/ 6317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162" h="148055">
                  <a:moveTo>
                    <a:pt x="50608" y="6317"/>
                  </a:moveTo>
                  <a:cubicBezTo>
                    <a:pt x="50608" y="297"/>
                    <a:pt x="50162" y="74"/>
                    <a:pt x="43919" y="74"/>
                  </a:cubicBezTo>
                  <a:cubicBezTo>
                    <a:pt x="29649" y="14121"/>
                    <a:pt x="9358" y="14344"/>
                    <a:pt x="216" y="14344"/>
                  </a:cubicBezTo>
                  <a:lnTo>
                    <a:pt x="216" y="22371"/>
                  </a:lnTo>
                  <a:cubicBezTo>
                    <a:pt x="5567" y="22371"/>
                    <a:pt x="20284" y="22371"/>
                    <a:pt x="32547" y="16128"/>
                  </a:cubicBezTo>
                  <a:lnTo>
                    <a:pt x="32547" y="129845"/>
                  </a:lnTo>
                  <a:cubicBezTo>
                    <a:pt x="32547" y="137203"/>
                    <a:pt x="32547" y="140102"/>
                    <a:pt x="10250" y="140102"/>
                  </a:cubicBezTo>
                  <a:lnTo>
                    <a:pt x="1777" y="140102"/>
                  </a:lnTo>
                  <a:lnTo>
                    <a:pt x="1777" y="148129"/>
                  </a:lnTo>
                  <a:cubicBezTo>
                    <a:pt x="5790" y="147906"/>
                    <a:pt x="33216" y="147237"/>
                    <a:pt x="41466" y="147237"/>
                  </a:cubicBezTo>
                  <a:cubicBezTo>
                    <a:pt x="48379" y="147237"/>
                    <a:pt x="76474" y="147906"/>
                    <a:pt x="81379" y="148129"/>
                  </a:cubicBezTo>
                  <a:lnTo>
                    <a:pt x="81379" y="140102"/>
                  </a:lnTo>
                  <a:lnTo>
                    <a:pt x="72906" y="140102"/>
                  </a:lnTo>
                  <a:cubicBezTo>
                    <a:pt x="50608" y="140102"/>
                    <a:pt x="50608" y="137203"/>
                    <a:pt x="50608" y="129845"/>
                  </a:cubicBezTo>
                  <a:lnTo>
                    <a:pt x="50608" y="6317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68" name="任意形状 2067">
              <a:extLst>
                <a:ext uri="{FF2B5EF4-FFF2-40B4-BE49-F238E27FC236}">
                  <a16:creationId xmlns:a16="http://schemas.microsoft.com/office/drawing/2014/main" id="{F0BBAE7B-65AF-D8E5-E3DB-288434E93B55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2305649" y="5735595"/>
              <a:ext cx="81162" cy="148055"/>
            </a:xfrm>
            <a:custGeom>
              <a:avLst/>
              <a:gdLst>
                <a:gd name="connsiteX0" fmla="*/ 50612 w 81162"/>
                <a:gd name="connsiteY0" fmla="*/ 6317 h 148055"/>
                <a:gd name="connsiteX1" fmla="*/ 43923 w 81162"/>
                <a:gd name="connsiteY1" fmla="*/ 74 h 148055"/>
                <a:gd name="connsiteX2" fmla="*/ 220 w 81162"/>
                <a:gd name="connsiteY2" fmla="*/ 14344 h 148055"/>
                <a:gd name="connsiteX3" fmla="*/ 220 w 81162"/>
                <a:gd name="connsiteY3" fmla="*/ 22371 h 148055"/>
                <a:gd name="connsiteX4" fmla="*/ 32551 w 81162"/>
                <a:gd name="connsiteY4" fmla="*/ 16128 h 148055"/>
                <a:gd name="connsiteX5" fmla="*/ 32551 w 81162"/>
                <a:gd name="connsiteY5" fmla="*/ 129845 h 148055"/>
                <a:gd name="connsiteX6" fmla="*/ 10254 w 81162"/>
                <a:gd name="connsiteY6" fmla="*/ 140102 h 148055"/>
                <a:gd name="connsiteX7" fmla="*/ 1781 w 81162"/>
                <a:gd name="connsiteY7" fmla="*/ 140102 h 148055"/>
                <a:gd name="connsiteX8" fmla="*/ 1781 w 81162"/>
                <a:gd name="connsiteY8" fmla="*/ 148129 h 148055"/>
                <a:gd name="connsiteX9" fmla="*/ 41470 w 81162"/>
                <a:gd name="connsiteY9" fmla="*/ 147237 h 148055"/>
                <a:gd name="connsiteX10" fmla="*/ 81383 w 81162"/>
                <a:gd name="connsiteY10" fmla="*/ 148129 h 148055"/>
                <a:gd name="connsiteX11" fmla="*/ 81383 w 81162"/>
                <a:gd name="connsiteY11" fmla="*/ 140102 h 148055"/>
                <a:gd name="connsiteX12" fmla="*/ 72910 w 81162"/>
                <a:gd name="connsiteY12" fmla="*/ 140102 h 148055"/>
                <a:gd name="connsiteX13" fmla="*/ 50612 w 81162"/>
                <a:gd name="connsiteY13" fmla="*/ 129845 h 148055"/>
                <a:gd name="connsiteX14" fmla="*/ 50612 w 81162"/>
                <a:gd name="connsiteY14" fmla="*/ 6317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162" h="148055">
                  <a:moveTo>
                    <a:pt x="50612" y="6317"/>
                  </a:moveTo>
                  <a:cubicBezTo>
                    <a:pt x="50612" y="297"/>
                    <a:pt x="50166" y="74"/>
                    <a:pt x="43923" y="74"/>
                  </a:cubicBezTo>
                  <a:cubicBezTo>
                    <a:pt x="29653" y="14121"/>
                    <a:pt x="9362" y="14344"/>
                    <a:pt x="220" y="14344"/>
                  </a:cubicBezTo>
                  <a:lnTo>
                    <a:pt x="220" y="22371"/>
                  </a:lnTo>
                  <a:cubicBezTo>
                    <a:pt x="5571" y="22371"/>
                    <a:pt x="20288" y="22371"/>
                    <a:pt x="32551" y="16128"/>
                  </a:cubicBezTo>
                  <a:lnTo>
                    <a:pt x="32551" y="129845"/>
                  </a:lnTo>
                  <a:cubicBezTo>
                    <a:pt x="32551" y="137203"/>
                    <a:pt x="32551" y="140102"/>
                    <a:pt x="10254" y="140102"/>
                  </a:cubicBezTo>
                  <a:lnTo>
                    <a:pt x="1781" y="140102"/>
                  </a:lnTo>
                  <a:lnTo>
                    <a:pt x="1781" y="148129"/>
                  </a:lnTo>
                  <a:cubicBezTo>
                    <a:pt x="5794" y="147906"/>
                    <a:pt x="33220" y="147237"/>
                    <a:pt x="41470" y="147237"/>
                  </a:cubicBezTo>
                  <a:cubicBezTo>
                    <a:pt x="48383" y="147237"/>
                    <a:pt x="76477" y="147906"/>
                    <a:pt x="81383" y="148129"/>
                  </a:cubicBezTo>
                  <a:lnTo>
                    <a:pt x="81383" y="140102"/>
                  </a:lnTo>
                  <a:lnTo>
                    <a:pt x="72910" y="140102"/>
                  </a:lnTo>
                  <a:cubicBezTo>
                    <a:pt x="50612" y="140102"/>
                    <a:pt x="50612" y="137203"/>
                    <a:pt x="50612" y="129845"/>
                  </a:cubicBezTo>
                  <a:lnTo>
                    <a:pt x="50612" y="6317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69" name="任意形状 2068">
              <a:extLst>
                <a:ext uri="{FF2B5EF4-FFF2-40B4-BE49-F238E27FC236}">
                  <a16:creationId xmlns:a16="http://schemas.microsoft.com/office/drawing/2014/main" id="{79D238CD-3341-F036-F769-93E9BD511FCA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2782507" y="5695078"/>
              <a:ext cx="158630" cy="144296"/>
            </a:xfrm>
            <a:custGeom>
              <a:avLst/>
              <a:gdLst>
                <a:gd name="connsiteX0" fmla="*/ 97389 w 158630"/>
                <a:gd name="connsiteY0" fmla="*/ 44667 h 144296"/>
                <a:gd name="connsiteX1" fmla="*/ 128924 w 158630"/>
                <a:gd name="connsiteY1" fmla="*/ 7080 h 144296"/>
                <a:gd name="connsiteX2" fmla="*/ 144851 w 158630"/>
                <a:gd name="connsiteY2" fmla="*/ 11221 h 144296"/>
                <a:gd name="connsiteX3" fmla="*/ 129561 w 158630"/>
                <a:gd name="connsiteY3" fmla="*/ 28422 h 144296"/>
                <a:gd name="connsiteX4" fmla="*/ 141665 w 158630"/>
                <a:gd name="connsiteY4" fmla="*/ 39571 h 144296"/>
                <a:gd name="connsiteX5" fmla="*/ 158866 w 158630"/>
                <a:gd name="connsiteY5" fmla="*/ 21095 h 144296"/>
                <a:gd name="connsiteX6" fmla="*/ 129242 w 158630"/>
                <a:gd name="connsiteY6" fmla="*/ 72 h 144296"/>
                <a:gd name="connsiteX7" fmla="*/ 95796 w 158630"/>
                <a:gd name="connsiteY7" fmla="*/ 24281 h 144296"/>
                <a:gd name="connsiteX8" fmla="*/ 61394 w 158630"/>
                <a:gd name="connsiteY8" fmla="*/ 72 h 144296"/>
                <a:gd name="connsiteX9" fmla="*/ 10110 w 158630"/>
                <a:gd name="connsiteY9" fmla="*/ 49127 h 144296"/>
                <a:gd name="connsiteX10" fmla="*/ 13932 w 158630"/>
                <a:gd name="connsiteY10" fmla="*/ 52312 h 144296"/>
                <a:gd name="connsiteX11" fmla="*/ 18073 w 158630"/>
                <a:gd name="connsiteY11" fmla="*/ 48808 h 144296"/>
                <a:gd name="connsiteX12" fmla="*/ 60757 w 158630"/>
                <a:gd name="connsiteY12" fmla="*/ 7080 h 144296"/>
                <a:gd name="connsiteX13" fmla="*/ 77958 w 158630"/>
                <a:gd name="connsiteY13" fmla="*/ 28422 h 144296"/>
                <a:gd name="connsiteX14" fmla="*/ 60757 w 158630"/>
                <a:gd name="connsiteY14" fmla="*/ 104233 h 144296"/>
                <a:gd name="connsiteX15" fmla="*/ 30496 w 158630"/>
                <a:gd name="connsiteY15" fmla="*/ 137361 h 144296"/>
                <a:gd name="connsiteX16" fmla="*/ 14569 w 158630"/>
                <a:gd name="connsiteY16" fmla="*/ 133220 h 144296"/>
                <a:gd name="connsiteX17" fmla="*/ 29541 w 158630"/>
                <a:gd name="connsiteY17" fmla="*/ 116019 h 144296"/>
                <a:gd name="connsiteX18" fmla="*/ 17755 w 158630"/>
                <a:gd name="connsiteY18" fmla="*/ 104870 h 144296"/>
                <a:gd name="connsiteX19" fmla="*/ 235 w 158630"/>
                <a:gd name="connsiteY19" fmla="*/ 123345 h 144296"/>
                <a:gd name="connsiteX20" fmla="*/ 30178 w 158630"/>
                <a:gd name="connsiteY20" fmla="*/ 144369 h 144296"/>
                <a:gd name="connsiteX21" fmla="*/ 63624 w 158630"/>
                <a:gd name="connsiteY21" fmla="*/ 120160 h 144296"/>
                <a:gd name="connsiteX22" fmla="*/ 98026 w 158630"/>
                <a:gd name="connsiteY22" fmla="*/ 144369 h 144296"/>
                <a:gd name="connsiteX23" fmla="*/ 148992 w 158630"/>
                <a:gd name="connsiteY23" fmla="*/ 95314 h 144296"/>
                <a:gd name="connsiteX24" fmla="*/ 145169 w 158630"/>
                <a:gd name="connsiteY24" fmla="*/ 92129 h 144296"/>
                <a:gd name="connsiteX25" fmla="*/ 141028 w 158630"/>
                <a:gd name="connsiteY25" fmla="*/ 95633 h 144296"/>
                <a:gd name="connsiteX26" fmla="*/ 98663 w 158630"/>
                <a:gd name="connsiteY26" fmla="*/ 137361 h 144296"/>
                <a:gd name="connsiteX27" fmla="*/ 81143 w 158630"/>
                <a:gd name="connsiteY27" fmla="*/ 116338 h 144296"/>
                <a:gd name="connsiteX28" fmla="*/ 86559 w 158630"/>
                <a:gd name="connsiteY28" fmla="*/ 88307 h 144296"/>
                <a:gd name="connsiteX29" fmla="*/ 97389 w 158630"/>
                <a:gd name="connsiteY29" fmla="*/ 44667 h 1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8630" h="144296">
                  <a:moveTo>
                    <a:pt x="97389" y="44667"/>
                  </a:moveTo>
                  <a:cubicBezTo>
                    <a:pt x="99300" y="36385"/>
                    <a:pt x="106626" y="7080"/>
                    <a:pt x="128924" y="7080"/>
                  </a:cubicBezTo>
                  <a:cubicBezTo>
                    <a:pt x="130516" y="7080"/>
                    <a:pt x="138161" y="7080"/>
                    <a:pt x="144851" y="11221"/>
                  </a:cubicBezTo>
                  <a:cubicBezTo>
                    <a:pt x="135932" y="12814"/>
                    <a:pt x="129561" y="20777"/>
                    <a:pt x="129561" y="28422"/>
                  </a:cubicBezTo>
                  <a:cubicBezTo>
                    <a:pt x="129561" y="33518"/>
                    <a:pt x="133065" y="39571"/>
                    <a:pt x="141665" y="39571"/>
                  </a:cubicBezTo>
                  <a:cubicBezTo>
                    <a:pt x="148673" y="39571"/>
                    <a:pt x="158866" y="33837"/>
                    <a:pt x="158866" y="21095"/>
                  </a:cubicBezTo>
                  <a:cubicBezTo>
                    <a:pt x="158866" y="4532"/>
                    <a:pt x="140073" y="72"/>
                    <a:pt x="129242" y="72"/>
                  </a:cubicBezTo>
                  <a:cubicBezTo>
                    <a:pt x="110767" y="72"/>
                    <a:pt x="99619" y="16955"/>
                    <a:pt x="95796" y="24281"/>
                  </a:cubicBezTo>
                  <a:cubicBezTo>
                    <a:pt x="87833" y="3257"/>
                    <a:pt x="70632" y="72"/>
                    <a:pt x="61394" y="72"/>
                  </a:cubicBezTo>
                  <a:cubicBezTo>
                    <a:pt x="28267" y="72"/>
                    <a:pt x="10110" y="41163"/>
                    <a:pt x="10110" y="49127"/>
                  </a:cubicBezTo>
                  <a:cubicBezTo>
                    <a:pt x="10110" y="52312"/>
                    <a:pt x="13295" y="52312"/>
                    <a:pt x="13932" y="52312"/>
                  </a:cubicBezTo>
                  <a:cubicBezTo>
                    <a:pt x="16481" y="52312"/>
                    <a:pt x="17436" y="51675"/>
                    <a:pt x="18073" y="48808"/>
                  </a:cubicBezTo>
                  <a:cubicBezTo>
                    <a:pt x="28904" y="15043"/>
                    <a:pt x="49927" y="7080"/>
                    <a:pt x="60757" y="7080"/>
                  </a:cubicBezTo>
                  <a:cubicBezTo>
                    <a:pt x="66809" y="7080"/>
                    <a:pt x="77958" y="9947"/>
                    <a:pt x="77958" y="28422"/>
                  </a:cubicBezTo>
                  <a:cubicBezTo>
                    <a:pt x="77958" y="38296"/>
                    <a:pt x="72543" y="59638"/>
                    <a:pt x="60757" y="104233"/>
                  </a:cubicBezTo>
                  <a:cubicBezTo>
                    <a:pt x="55661" y="123983"/>
                    <a:pt x="44512" y="137361"/>
                    <a:pt x="30496" y="137361"/>
                  </a:cubicBezTo>
                  <a:cubicBezTo>
                    <a:pt x="28585" y="137361"/>
                    <a:pt x="21259" y="137361"/>
                    <a:pt x="14569" y="133220"/>
                  </a:cubicBezTo>
                  <a:cubicBezTo>
                    <a:pt x="22533" y="131627"/>
                    <a:pt x="29541" y="124938"/>
                    <a:pt x="29541" y="116019"/>
                  </a:cubicBezTo>
                  <a:cubicBezTo>
                    <a:pt x="29541" y="107419"/>
                    <a:pt x="22533" y="104870"/>
                    <a:pt x="17755" y="104870"/>
                  </a:cubicBezTo>
                  <a:cubicBezTo>
                    <a:pt x="8199" y="104870"/>
                    <a:pt x="235" y="113152"/>
                    <a:pt x="235" y="123345"/>
                  </a:cubicBezTo>
                  <a:cubicBezTo>
                    <a:pt x="235" y="137998"/>
                    <a:pt x="16162" y="144369"/>
                    <a:pt x="30178" y="144369"/>
                  </a:cubicBezTo>
                  <a:cubicBezTo>
                    <a:pt x="51201" y="144369"/>
                    <a:pt x="62668" y="122071"/>
                    <a:pt x="63624" y="120160"/>
                  </a:cubicBezTo>
                  <a:cubicBezTo>
                    <a:pt x="67446" y="131946"/>
                    <a:pt x="78914" y="144369"/>
                    <a:pt x="98026" y="144369"/>
                  </a:cubicBezTo>
                  <a:cubicBezTo>
                    <a:pt x="130835" y="144369"/>
                    <a:pt x="148992" y="103278"/>
                    <a:pt x="148992" y="95314"/>
                  </a:cubicBezTo>
                  <a:cubicBezTo>
                    <a:pt x="148992" y="92129"/>
                    <a:pt x="146125" y="92129"/>
                    <a:pt x="145169" y="92129"/>
                  </a:cubicBezTo>
                  <a:cubicBezTo>
                    <a:pt x="142302" y="92129"/>
                    <a:pt x="141665" y="93403"/>
                    <a:pt x="141028" y="95633"/>
                  </a:cubicBezTo>
                  <a:cubicBezTo>
                    <a:pt x="130516" y="129716"/>
                    <a:pt x="108856" y="137361"/>
                    <a:pt x="98663" y="137361"/>
                  </a:cubicBezTo>
                  <a:cubicBezTo>
                    <a:pt x="86240" y="137361"/>
                    <a:pt x="81143" y="127168"/>
                    <a:pt x="81143" y="116338"/>
                  </a:cubicBezTo>
                  <a:cubicBezTo>
                    <a:pt x="81143" y="109330"/>
                    <a:pt x="83055" y="102322"/>
                    <a:pt x="86559" y="88307"/>
                  </a:cubicBezTo>
                  <a:lnTo>
                    <a:pt x="97389" y="44667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70" name="任意形状 2069">
              <a:extLst>
                <a:ext uri="{FF2B5EF4-FFF2-40B4-BE49-F238E27FC236}">
                  <a16:creationId xmlns:a16="http://schemas.microsoft.com/office/drawing/2014/main" id="{551C07ED-7DC1-E930-C54C-02DFB9CB349F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2979626" y="5735595"/>
              <a:ext cx="81162" cy="148055"/>
            </a:xfrm>
            <a:custGeom>
              <a:avLst/>
              <a:gdLst>
                <a:gd name="connsiteX0" fmla="*/ 50633 w 81162"/>
                <a:gd name="connsiteY0" fmla="*/ 6317 h 148055"/>
                <a:gd name="connsiteX1" fmla="*/ 43944 w 81162"/>
                <a:gd name="connsiteY1" fmla="*/ 74 h 148055"/>
                <a:gd name="connsiteX2" fmla="*/ 241 w 81162"/>
                <a:gd name="connsiteY2" fmla="*/ 14344 h 148055"/>
                <a:gd name="connsiteX3" fmla="*/ 241 w 81162"/>
                <a:gd name="connsiteY3" fmla="*/ 22371 h 148055"/>
                <a:gd name="connsiteX4" fmla="*/ 32572 w 81162"/>
                <a:gd name="connsiteY4" fmla="*/ 16128 h 148055"/>
                <a:gd name="connsiteX5" fmla="*/ 32572 w 81162"/>
                <a:gd name="connsiteY5" fmla="*/ 129845 h 148055"/>
                <a:gd name="connsiteX6" fmla="*/ 10275 w 81162"/>
                <a:gd name="connsiteY6" fmla="*/ 140102 h 148055"/>
                <a:gd name="connsiteX7" fmla="*/ 1802 w 81162"/>
                <a:gd name="connsiteY7" fmla="*/ 140102 h 148055"/>
                <a:gd name="connsiteX8" fmla="*/ 1802 w 81162"/>
                <a:gd name="connsiteY8" fmla="*/ 148129 h 148055"/>
                <a:gd name="connsiteX9" fmla="*/ 41491 w 81162"/>
                <a:gd name="connsiteY9" fmla="*/ 147237 h 148055"/>
                <a:gd name="connsiteX10" fmla="*/ 81404 w 81162"/>
                <a:gd name="connsiteY10" fmla="*/ 148129 h 148055"/>
                <a:gd name="connsiteX11" fmla="*/ 81404 w 81162"/>
                <a:gd name="connsiteY11" fmla="*/ 140102 h 148055"/>
                <a:gd name="connsiteX12" fmla="*/ 72931 w 81162"/>
                <a:gd name="connsiteY12" fmla="*/ 140102 h 148055"/>
                <a:gd name="connsiteX13" fmla="*/ 50633 w 81162"/>
                <a:gd name="connsiteY13" fmla="*/ 129845 h 148055"/>
                <a:gd name="connsiteX14" fmla="*/ 50633 w 81162"/>
                <a:gd name="connsiteY14" fmla="*/ 6317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162" h="148055">
                  <a:moveTo>
                    <a:pt x="50633" y="6317"/>
                  </a:moveTo>
                  <a:cubicBezTo>
                    <a:pt x="50633" y="297"/>
                    <a:pt x="50188" y="74"/>
                    <a:pt x="43944" y="74"/>
                  </a:cubicBezTo>
                  <a:cubicBezTo>
                    <a:pt x="29674" y="14121"/>
                    <a:pt x="9383" y="14344"/>
                    <a:pt x="241" y="14344"/>
                  </a:cubicBezTo>
                  <a:lnTo>
                    <a:pt x="241" y="22371"/>
                  </a:lnTo>
                  <a:cubicBezTo>
                    <a:pt x="5593" y="22371"/>
                    <a:pt x="20309" y="22371"/>
                    <a:pt x="32572" y="16128"/>
                  </a:cubicBezTo>
                  <a:lnTo>
                    <a:pt x="32572" y="129845"/>
                  </a:lnTo>
                  <a:cubicBezTo>
                    <a:pt x="32572" y="137203"/>
                    <a:pt x="32572" y="140102"/>
                    <a:pt x="10275" y="140102"/>
                  </a:cubicBezTo>
                  <a:lnTo>
                    <a:pt x="1802" y="140102"/>
                  </a:lnTo>
                  <a:lnTo>
                    <a:pt x="1802" y="148129"/>
                  </a:lnTo>
                  <a:cubicBezTo>
                    <a:pt x="5816" y="147906"/>
                    <a:pt x="33241" y="147237"/>
                    <a:pt x="41491" y="147237"/>
                  </a:cubicBezTo>
                  <a:cubicBezTo>
                    <a:pt x="48404" y="147237"/>
                    <a:pt x="76499" y="147906"/>
                    <a:pt x="81404" y="148129"/>
                  </a:cubicBezTo>
                  <a:lnTo>
                    <a:pt x="81404" y="140102"/>
                  </a:lnTo>
                  <a:lnTo>
                    <a:pt x="72931" y="140102"/>
                  </a:lnTo>
                  <a:cubicBezTo>
                    <a:pt x="50633" y="140102"/>
                    <a:pt x="50633" y="137203"/>
                    <a:pt x="50633" y="129845"/>
                  </a:cubicBezTo>
                  <a:lnTo>
                    <a:pt x="50633" y="6317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71" name="任意形状 2070">
              <a:extLst>
                <a:ext uri="{FF2B5EF4-FFF2-40B4-BE49-F238E27FC236}">
                  <a16:creationId xmlns:a16="http://schemas.microsoft.com/office/drawing/2014/main" id="{5A330CB5-1D3E-77D5-09AE-E4FA5C1FDBC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3096342" y="5735595"/>
              <a:ext cx="98554" cy="148055"/>
            </a:xfrm>
            <a:custGeom>
              <a:avLst/>
              <a:gdLst>
                <a:gd name="connsiteX0" fmla="*/ 98800 w 98554"/>
                <a:gd name="connsiteY0" fmla="*/ 107548 h 148055"/>
                <a:gd name="connsiteX1" fmla="*/ 91219 w 98554"/>
                <a:gd name="connsiteY1" fmla="*/ 107548 h 148055"/>
                <a:gd name="connsiteX2" fmla="*/ 85422 w 98554"/>
                <a:gd name="connsiteY2" fmla="*/ 127838 h 148055"/>
                <a:gd name="connsiteX3" fmla="*/ 63347 w 98554"/>
                <a:gd name="connsiteY3" fmla="*/ 129176 h 148055"/>
                <a:gd name="connsiteX4" fmla="*/ 22320 w 98554"/>
                <a:gd name="connsiteY4" fmla="*/ 129176 h 148055"/>
                <a:gd name="connsiteX5" fmla="*/ 66915 w 98554"/>
                <a:gd name="connsiteY5" fmla="*/ 91716 h 148055"/>
                <a:gd name="connsiteX6" fmla="*/ 98800 w 98554"/>
                <a:gd name="connsiteY6" fmla="*/ 43554 h 148055"/>
                <a:gd name="connsiteX7" fmla="*/ 46624 w 98554"/>
                <a:gd name="connsiteY7" fmla="*/ 74 h 148055"/>
                <a:gd name="connsiteX8" fmla="*/ 245 w 98554"/>
                <a:gd name="connsiteY8" fmla="*/ 39986 h 148055"/>
                <a:gd name="connsiteX9" fmla="*/ 12063 w 98554"/>
                <a:gd name="connsiteY9" fmla="*/ 52473 h 148055"/>
                <a:gd name="connsiteX10" fmla="*/ 23880 w 98554"/>
                <a:gd name="connsiteY10" fmla="*/ 40655 h 148055"/>
                <a:gd name="connsiteX11" fmla="*/ 10725 w 98554"/>
                <a:gd name="connsiteY11" fmla="*/ 28837 h 148055"/>
                <a:gd name="connsiteX12" fmla="*/ 43279 w 98554"/>
                <a:gd name="connsiteY12" fmla="*/ 8101 h 148055"/>
                <a:gd name="connsiteX13" fmla="*/ 77171 w 98554"/>
                <a:gd name="connsiteY13" fmla="*/ 43554 h 148055"/>
                <a:gd name="connsiteX14" fmla="*/ 56212 w 98554"/>
                <a:gd name="connsiteY14" fmla="*/ 86365 h 148055"/>
                <a:gd name="connsiteX15" fmla="*/ 2475 w 98554"/>
                <a:gd name="connsiteY15" fmla="*/ 139433 h 148055"/>
                <a:gd name="connsiteX16" fmla="*/ 245 w 98554"/>
                <a:gd name="connsiteY16" fmla="*/ 148129 h 148055"/>
                <a:gd name="connsiteX17" fmla="*/ 92111 w 98554"/>
                <a:gd name="connsiteY17" fmla="*/ 148129 h 148055"/>
                <a:gd name="connsiteX18" fmla="*/ 98800 w 98554"/>
                <a:gd name="connsiteY18" fmla="*/ 107548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8554" h="148055">
                  <a:moveTo>
                    <a:pt x="98800" y="107548"/>
                  </a:moveTo>
                  <a:lnTo>
                    <a:pt x="91219" y="107548"/>
                  </a:lnTo>
                  <a:cubicBezTo>
                    <a:pt x="90550" y="112453"/>
                    <a:pt x="88320" y="125609"/>
                    <a:pt x="85422" y="127838"/>
                  </a:cubicBezTo>
                  <a:cubicBezTo>
                    <a:pt x="83638" y="129176"/>
                    <a:pt x="66469" y="129176"/>
                    <a:pt x="63347" y="129176"/>
                  </a:cubicBezTo>
                  <a:lnTo>
                    <a:pt x="22320" y="129176"/>
                  </a:lnTo>
                  <a:cubicBezTo>
                    <a:pt x="45732" y="108439"/>
                    <a:pt x="53536" y="102196"/>
                    <a:pt x="66915" y="91716"/>
                  </a:cubicBezTo>
                  <a:cubicBezTo>
                    <a:pt x="83415" y="78561"/>
                    <a:pt x="98800" y="64736"/>
                    <a:pt x="98800" y="43554"/>
                  </a:cubicBezTo>
                  <a:cubicBezTo>
                    <a:pt x="98800" y="16574"/>
                    <a:pt x="75165" y="74"/>
                    <a:pt x="46624" y="74"/>
                  </a:cubicBezTo>
                  <a:cubicBezTo>
                    <a:pt x="18975" y="74"/>
                    <a:pt x="245" y="19472"/>
                    <a:pt x="245" y="39986"/>
                  </a:cubicBezTo>
                  <a:cubicBezTo>
                    <a:pt x="245" y="51358"/>
                    <a:pt x="9833" y="52473"/>
                    <a:pt x="12063" y="52473"/>
                  </a:cubicBezTo>
                  <a:cubicBezTo>
                    <a:pt x="17414" y="52473"/>
                    <a:pt x="23880" y="48682"/>
                    <a:pt x="23880" y="40655"/>
                  </a:cubicBezTo>
                  <a:cubicBezTo>
                    <a:pt x="23880" y="36642"/>
                    <a:pt x="22320" y="28837"/>
                    <a:pt x="10725" y="28837"/>
                  </a:cubicBezTo>
                  <a:cubicBezTo>
                    <a:pt x="17637" y="13006"/>
                    <a:pt x="32799" y="8101"/>
                    <a:pt x="43279" y="8101"/>
                  </a:cubicBezTo>
                  <a:cubicBezTo>
                    <a:pt x="65577" y="8101"/>
                    <a:pt x="77171" y="25493"/>
                    <a:pt x="77171" y="43554"/>
                  </a:cubicBezTo>
                  <a:cubicBezTo>
                    <a:pt x="77171" y="62953"/>
                    <a:pt x="63347" y="78338"/>
                    <a:pt x="56212" y="86365"/>
                  </a:cubicBezTo>
                  <a:lnTo>
                    <a:pt x="2475" y="139433"/>
                  </a:lnTo>
                  <a:cubicBezTo>
                    <a:pt x="245" y="141440"/>
                    <a:pt x="245" y="141886"/>
                    <a:pt x="245" y="148129"/>
                  </a:cubicBezTo>
                  <a:lnTo>
                    <a:pt x="92111" y="148129"/>
                  </a:lnTo>
                  <a:lnTo>
                    <a:pt x="98800" y="107548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72" name="任意形状 2071">
              <a:extLst>
                <a:ext uri="{FF2B5EF4-FFF2-40B4-BE49-F238E27FC236}">
                  <a16:creationId xmlns:a16="http://schemas.microsoft.com/office/drawing/2014/main" id="{97D6C78F-92BF-51D2-7448-C78BEF39AD2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3583456" y="5695078"/>
              <a:ext cx="158630" cy="144296"/>
            </a:xfrm>
            <a:custGeom>
              <a:avLst/>
              <a:gdLst>
                <a:gd name="connsiteX0" fmla="*/ 97414 w 158630"/>
                <a:gd name="connsiteY0" fmla="*/ 44667 h 144296"/>
                <a:gd name="connsiteX1" fmla="*/ 128949 w 158630"/>
                <a:gd name="connsiteY1" fmla="*/ 7080 h 144296"/>
                <a:gd name="connsiteX2" fmla="*/ 144876 w 158630"/>
                <a:gd name="connsiteY2" fmla="*/ 11221 h 144296"/>
                <a:gd name="connsiteX3" fmla="*/ 129586 w 158630"/>
                <a:gd name="connsiteY3" fmla="*/ 28422 h 144296"/>
                <a:gd name="connsiteX4" fmla="*/ 141690 w 158630"/>
                <a:gd name="connsiteY4" fmla="*/ 39571 h 144296"/>
                <a:gd name="connsiteX5" fmla="*/ 158891 w 158630"/>
                <a:gd name="connsiteY5" fmla="*/ 21095 h 144296"/>
                <a:gd name="connsiteX6" fmla="*/ 129267 w 158630"/>
                <a:gd name="connsiteY6" fmla="*/ 72 h 144296"/>
                <a:gd name="connsiteX7" fmla="*/ 95821 w 158630"/>
                <a:gd name="connsiteY7" fmla="*/ 24281 h 144296"/>
                <a:gd name="connsiteX8" fmla="*/ 61419 w 158630"/>
                <a:gd name="connsiteY8" fmla="*/ 72 h 144296"/>
                <a:gd name="connsiteX9" fmla="*/ 10135 w 158630"/>
                <a:gd name="connsiteY9" fmla="*/ 49127 h 144296"/>
                <a:gd name="connsiteX10" fmla="*/ 13957 w 158630"/>
                <a:gd name="connsiteY10" fmla="*/ 52312 h 144296"/>
                <a:gd name="connsiteX11" fmla="*/ 18098 w 158630"/>
                <a:gd name="connsiteY11" fmla="*/ 48808 h 144296"/>
                <a:gd name="connsiteX12" fmla="*/ 60782 w 158630"/>
                <a:gd name="connsiteY12" fmla="*/ 7080 h 144296"/>
                <a:gd name="connsiteX13" fmla="*/ 77983 w 158630"/>
                <a:gd name="connsiteY13" fmla="*/ 28422 h 144296"/>
                <a:gd name="connsiteX14" fmla="*/ 60782 w 158630"/>
                <a:gd name="connsiteY14" fmla="*/ 104233 h 144296"/>
                <a:gd name="connsiteX15" fmla="*/ 30521 w 158630"/>
                <a:gd name="connsiteY15" fmla="*/ 137361 h 144296"/>
                <a:gd name="connsiteX16" fmla="*/ 14595 w 158630"/>
                <a:gd name="connsiteY16" fmla="*/ 133220 h 144296"/>
                <a:gd name="connsiteX17" fmla="*/ 29566 w 158630"/>
                <a:gd name="connsiteY17" fmla="*/ 116019 h 144296"/>
                <a:gd name="connsiteX18" fmla="*/ 17780 w 158630"/>
                <a:gd name="connsiteY18" fmla="*/ 104870 h 144296"/>
                <a:gd name="connsiteX19" fmla="*/ 260 w 158630"/>
                <a:gd name="connsiteY19" fmla="*/ 123345 h 144296"/>
                <a:gd name="connsiteX20" fmla="*/ 30203 w 158630"/>
                <a:gd name="connsiteY20" fmla="*/ 144369 h 144296"/>
                <a:gd name="connsiteX21" fmla="*/ 63649 w 158630"/>
                <a:gd name="connsiteY21" fmla="*/ 120160 h 144296"/>
                <a:gd name="connsiteX22" fmla="*/ 98051 w 158630"/>
                <a:gd name="connsiteY22" fmla="*/ 144369 h 144296"/>
                <a:gd name="connsiteX23" fmla="*/ 149017 w 158630"/>
                <a:gd name="connsiteY23" fmla="*/ 95314 h 144296"/>
                <a:gd name="connsiteX24" fmla="*/ 145194 w 158630"/>
                <a:gd name="connsiteY24" fmla="*/ 92129 h 144296"/>
                <a:gd name="connsiteX25" fmla="*/ 141053 w 158630"/>
                <a:gd name="connsiteY25" fmla="*/ 95633 h 144296"/>
                <a:gd name="connsiteX26" fmla="*/ 98688 w 158630"/>
                <a:gd name="connsiteY26" fmla="*/ 137361 h 144296"/>
                <a:gd name="connsiteX27" fmla="*/ 81169 w 158630"/>
                <a:gd name="connsiteY27" fmla="*/ 116338 h 144296"/>
                <a:gd name="connsiteX28" fmla="*/ 86584 w 158630"/>
                <a:gd name="connsiteY28" fmla="*/ 88307 h 144296"/>
                <a:gd name="connsiteX29" fmla="*/ 97414 w 158630"/>
                <a:gd name="connsiteY29" fmla="*/ 44667 h 1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8630" h="144296">
                  <a:moveTo>
                    <a:pt x="97414" y="44667"/>
                  </a:moveTo>
                  <a:cubicBezTo>
                    <a:pt x="99325" y="36385"/>
                    <a:pt x="106651" y="7080"/>
                    <a:pt x="128949" y="7080"/>
                  </a:cubicBezTo>
                  <a:cubicBezTo>
                    <a:pt x="130542" y="7080"/>
                    <a:pt x="138186" y="7080"/>
                    <a:pt x="144876" y="11221"/>
                  </a:cubicBezTo>
                  <a:cubicBezTo>
                    <a:pt x="135957" y="12814"/>
                    <a:pt x="129586" y="20777"/>
                    <a:pt x="129586" y="28422"/>
                  </a:cubicBezTo>
                  <a:cubicBezTo>
                    <a:pt x="129586" y="33518"/>
                    <a:pt x="133090" y="39571"/>
                    <a:pt x="141690" y="39571"/>
                  </a:cubicBezTo>
                  <a:cubicBezTo>
                    <a:pt x="148698" y="39571"/>
                    <a:pt x="158891" y="33837"/>
                    <a:pt x="158891" y="21095"/>
                  </a:cubicBezTo>
                  <a:cubicBezTo>
                    <a:pt x="158891" y="4532"/>
                    <a:pt x="140098" y="72"/>
                    <a:pt x="129267" y="72"/>
                  </a:cubicBezTo>
                  <a:cubicBezTo>
                    <a:pt x="110792" y="72"/>
                    <a:pt x="99644" y="16955"/>
                    <a:pt x="95821" y="24281"/>
                  </a:cubicBezTo>
                  <a:cubicBezTo>
                    <a:pt x="87858" y="3257"/>
                    <a:pt x="70657" y="72"/>
                    <a:pt x="61419" y="72"/>
                  </a:cubicBezTo>
                  <a:cubicBezTo>
                    <a:pt x="28292" y="72"/>
                    <a:pt x="10135" y="41163"/>
                    <a:pt x="10135" y="49127"/>
                  </a:cubicBezTo>
                  <a:cubicBezTo>
                    <a:pt x="10135" y="52312"/>
                    <a:pt x="13320" y="52312"/>
                    <a:pt x="13957" y="52312"/>
                  </a:cubicBezTo>
                  <a:cubicBezTo>
                    <a:pt x="16506" y="52312"/>
                    <a:pt x="17461" y="51675"/>
                    <a:pt x="18098" y="48808"/>
                  </a:cubicBezTo>
                  <a:cubicBezTo>
                    <a:pt x="28929" y="15043"/>
                    <a:pt x="49952" y="7080"/>
                    <a:pt x="60782" y="7080"/>
                  </a:cubicBezTo>
                  <a:cubicBezTo>
                    <a:pt x="66834" y="7080"/>
                    <a:pt x="77983" y="9947"/>
                    <a:pt x="77983" y="28422"/>
                  </a:cubicBezTo>
                  <a:cubicBezTo>
                    <a:pt x="77983" y="38296"/>
                    <a:pt x="72568" y="59638"/>
                    <a:pt x="60782" y="104233"/>
                  </a:cubicBezTo>
                  <a:cubicBezTo>
                    <a:pt x="55686" y="123983"/>
                    <a:pt x="44537" y="137361"/>
                    <a:pt x="30521" y="137361"/>
                  </a:cubicBezTo>
                  <a:cubicBezTo>
                    <a:pt x="28610" y="137361"/>
                    <a:pt x="21284" y="137361"/>
                    <a:pt x="14595" y="133220"/>
                  </a:cubicBezTo>
                  <a:cubicBezTo>
                    <a:pt x="22558" y="131627"/>
                    <a:pt x="29566" y="124938"/>
                    <a:pt x="29566" y="116019"/>
                  </a:cubicBezTo>
                  <a:cubicBezTo>
                    <a:pt x="29566" y="107419"/>
                    <a:pt x="22558" y="104870"/>
                    <a:pt x="17780" y="104870"/>
                  </a:cubicBezTo>
                  <a:cubicBezTo>
                    <a:pt x="8224" y="104870"/>
                    <a:pt x="260" y="113152"/>
                    <a:pt x="260" y="123345"/>
                  </a:cubicBezTo>
                  <a:cubicBezTo>
                    <a:pt x="260" y="137998"/>
                    <a:pt x="16187" y="144369"/>
                    <a:pt x="30203" y="144369"/>
                  </a:cubicBezTo>
                  <a:cubicBezTo>
                    <a:pt x="51226" y="144369"/>
                    <a:pt x="62693" y="122071"/>
                    <a:pt x="63649" y="120160"/>
                  </a:cubicBezTo>
                  <a:cubicBezTo>
                    <a:pt x="67471" y="131946"/>
                    <a:pt x="78939" y="144369"/>
                    <a:pt x="98051" y="144369"/>
                  </a:cubicBezTo>
                  <a:cubicBezTo>
                    <a:pt x="130860" y="144369"/>
                    <a:pt x="149017" y="103278"/>
                    <a:pt x="149017" y="95314"/>
                  </a:cubicBezTo>
                  <a:cubicBezTo>
                    <a:pt x="149017" y="92129"/>
                    <a:pt x="146150" y="92129"/>
                    <a:pt x="145194" y="92129"/>
                  </a:cubicBezTo>
                  <a:cubicBezTo>
                    <a:pt x="142327" y="92129"/>
                    <a:pt x="141690" y="93403"/>
                    <a:pt x="141053" y="95633"/>
                  </a:cubicBezTo>
                  <a:cubicBezTo>
                    <a:pt x="130542" y="129716"/>
                    <a:pt x="108881" y="137361"/>
                    <a:pt x="98688" y="137361"/>
                  </a:cubicBezTo>
                  <a:cubicBezTo>
                    <a:pt x="86265" y="137361"/>
                    <a:pt x="81169" y="127168"/>
                    <a:pt x="81169" y="116338"/>
                  </a:cubicBezTo>
                  <a:cubicBezTo>
                    <a:pt x="81169" y="109330"/>
                    <a:pt x="83080" y="102322"/>
                    <a:pt x="86584" y="88307"/>
                  </a:cubicBezTo>
                  <a:lnTo>
                    <a:pt x="97414" y="44667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73" name="任意形状 2072">
              <a:extLst>
                <a:ext uri="{FF2B5EF4-FFF2-40B4-BE49-F238E27FC236}">
                  <a16:creationId xmlns:a16="http://schemas.microsoft.com/office/drawing/2014/main" id="{D28DE964-DC6E-0401-1CCB-406B4B531557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3780575" y="5735595"/>
              <a:ext cx="81162" cy="148055"/>
            </a:xfrm>
            <a:custGeom>
              <a:avLst/>
              <a:gdLst>
                <a:gd name="connsiteX0" fmla="*/ 50659 w 81162"/>
                <a:gd name="connsiteY0" fmla="*/ 6317 h 148055"/>
                <a:gd name="connsiteX1" fmla="*/ 43969 w 81162"/>
                <a:gd name="connsiteY1" fmla="*/ 74 h 148055"/>
                <a:gd name="connsiteX2" fmla="*/ 266 w 81162"/>
                <a:gd name="connsiteY2" fmla="*/ 14344 h 148055"/>
                <a:gd name="connsiteX3" fmla="*/ 266 w 81162"/>
                <a:gd name="connsiteY3" fmla="*/ 22371 h 148055"/>
                <a:gd name="connsiteX4" fmla="*/ 32598 w 81162"/>
                <a:gd name="connsiteY4" fmla="*/ 16128 h 148055"/>
                <a:gd name="connsiteX5" fmla="*/ 32598 w 81162"/>
                <a:gd name="connsiteY5" fmla="*/ 129845 h 148055"/>
                <a:gd name="connsiteX6" fmla="*/ 10300 w 81162"/>
                <a:gd name="connsiteY6" fmla="*/ 140102 h 148055"/>
                <a:gd name="connsiteX7" fmla="*/ 1827 w 81162"/>
                <a:gd name="connsiteY7" fmla="*/ 140102 h 148055"/>
                <a:gd name="connsiteX8" fmla="*/ 1827 w 81162"/>
                <a:gd name="connsiteY8" fmla="*/ 148129 h 148055"/>
                <a:gd name="connsiteX9" fmla="*/ 41517 w 81162"/>
                <a:gd name="connsiteY9" fmla="*/ 147237 h 148055"/>
                <a:gd name="connsiteX10" fmla="*/ 81429 w 81162"/>
                <a:gd name="connsiteY10" fmla="*/ 148129 h 148055"/>
                <a:gd name="connsiteX11" fmla="*/ 81429 w 81162"/>
                <a:gd name="connsiteY11" fmla="*/ 140102 h 148055"/>
                <a:gd name="connsiteX12" fmla="*/ 72956 w 81162"/>
                <a:gd name="connsiteY12" fmla="*/ 140102 h 148055"/>
                <a:gd name="connsiteX13" fmla="*/ 50659 w 81162"/>
                <a:gd name="connsiteY13" fmla="*/ 129845 h 148055"/>
                <a:gd name="connsiteX14" fmla="*/ 50659 w 81162"/>
                <a:gd name="connsiteY14" fmla="*/ 6317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162" h="148055">
                  <a:moveTo>
                    <a:pt x="50659" y="6317"/>
                  </a:moveTo>
                  <a:cubicBezTo>
                    <a:pt x="50659" y="297"/>
                    <a:pt x="50213" y="74"/>
                    <a:pt x="43969" y="74"/>
                  </a:cubicBezTo>
                  <a:cubicBezTo>
                    <a:pt x="29699" y="14121"/>
                    <a:pt x="9408" y="14344"/>
                    <a:pt x="266" y="14344"/>
                  </a:cubicBezTo>
                  <a:lnTo>
                    <a:pt x="266" y="22371"/>
                  </a:lnTo>
                  <a:cubicBezTo>
                    <a:pt x="5618" y="22371"/>
                    <a:pt x="20334" y="22371"/>
                    <a:pt x="32598" y="16128"/>
                  </a:cubicBezTo>
                  <a:lnTo>
                    <a:pt x="32598" y="129845"/>
                  </a:lnTo>
                  <a:cubicBezTo>
                    <a:pt x="32598" y="137203"/>
                    <a:pt x="32598" y="140102"/>
                    <a:pt x="10300" y="140102"/>
                  </a:cubicBezTo>
                  <a:lnTo>
                    <a:pt x="1827" y="140102"/>
                  </a:lnTo>
                  <a:lnTo>
                    <a:pt x="1827" y="148129"/>
                  </a:lnTo>
                  <a:cubicBezTo>
                    <a:pt x="5841" y="147906"/>
                    <a:pt x="33266" y="147237"/>
                    <a:pt x="41517" y="147237"/>
                  </a:cubicBezTo>
                  <a:cubicBezTo>
                    <a:pt x="48429" y="147237"/>
                    <a:pt x="76524" y="147906"/>
                    <a:pt x="81429" y="148129"/>
                  </a:cubicBezTo>
                  <a:lnTo>
                    <a:pt x="81429" y="140102"/>
                  </a:lnTo>
                  <a:lnTo>
                    <a:pt x="72956" y="140102"/>
                  </a:lnTo>
                  <a:cubicBezTo>
                    <a:pt x="50659" y="140102"/>
                    <a:pt x="50659" y="137203"/>
                    <a:pt x="50659" y="129845"/>
                  </a:cubicBezTo>
                  <a:lnTo>
                    <a:pt x="50659" y="6317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74" name="任意形状 2073">
              <a:extLst>
                <a:ext uri="{FF2B5EF4-FFF2-40B4-BE49-F238E27FC236}">
                  <a16:creationId xmlns:a16="http://schemas.microsoft.com/office/drawing/2014/main" id="{CB6EF314-CFB7-95E5-B8BF-11D1B507435A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3896845" y="5728906"/>
              <a:ext cx="114609" cy="156974"/>
            </a:xfrm>
            <a:custGeom>
              <a:avLst/>
              <a:gdLst>
                <a:gd name="connsiteX0" fmla="*/ 113987 w 114609"/>
                <a:gd name="connsiteY0" fmla="*/ 6763 h 156974"/>
                <a:gd name="connsiteX1" fmla="*/ 114879 w 114609"/>
                <a:gd name="connsiteY1" fmla="*/ 3195 h 156974"/>
                <a:gd name="connsiteX2" fmla="*/ 111312 w 114609"/>
                <a:gd name="connsiteY2" fmla="*/ 74 h 156974"/>
                <a:gd name="connsiteX3" fmla="*/ 82771 w 114609"/>
                <a:gd name="connsiteY3" fmla="*/ 2303 h 156974"/>
                <a:gd name="connsiteX4" fmla="*/ 77865 w 114609"/>
                <a:gd name="connsiteY4" fmla="*/ 7432 h 156974"/>
                <a:gd name="connsiteX5" fmla="*/ 83663 w 114609"/>
                <a:gd name="connsiteY5" fmla="*/ 10553 h 156974"/>
                <a:gd name="connsiteX6" fmla="*/ 94366 w 114609"/>
                <a:gd name="connsiteY6" fmla="*/ 13898 h 156974"/>
                <a:gd name="connsiteX7" fmla="*/ 93474 w 114609"/>
                <a:gd name="connsiteY7" fmla="*/ 18804 h 156974"/>
                <a:gd name="connsiteX8" fmla="*/ 80764 w 114609"/>
                <a:gd name="connsiteY8" fmla="*/ 69642 h 156974"/>
                <a:gd name="connsiteX9" fmla="*/ 57798 w 114609"/>
                <a:gd name="connsiteY9" fmla="*/ 56486 h 156974"/>
                <a:gd name="connsiteX10" fmla="*/ 270 w 114609"/>
                <a:gd name="connsiteY10" fmla="*/ 120034 h 156974"/>
                <a:gd name="connsiteX11" fmla="*/ 33939 w 114609"/>
                <a:gd name="connsiteY11" fmla="*/ 157048 h 156974"/>
                <a:gd name="connsiteX12" fmla="*/ 65602 w 114609"/>
                <a:gd name="connsiteY12" fmla="*/ 141440 h 156974"/>
                <a:gd name="connsiteX13" fmla="*/ 88568 w 114609"/>
                <a:gd name="connsiteY13" fmla="*/ 157048 h 156974"/>
                <a:gd name="connsiteX14" fmla="*/ 106183 w 114609"/>
                <a:gd name="connsiteY14" fmla="*/ 145230 h 156974"/>
                <a:gd name="connsiteX15" fmla="*/ 113987 w 114609"/>
                <a:gd name="connsiteY15" fmla="*/ 122933 h 156974"/>
                <a:gd name="connsiteX16" fmla="*/ 110420 w 114609"/>
                <a:gd name="connsiteY16" fmla="*/ 120034 h 156974"/>
                <a:gd name="connsiteX17" fmla="*/ 105514 w 114609"/>
                <a:gd name="connsiteY17" fmla="*/ 126946 h 156974"/>
                <a:gd name="connsiteX18" fmla="*/ 89237 w 114609"/>
                <a:gd name="connsiteY18" fmla="*/ 150805 h 156974"/>
                <a:gd name="connsiteX19" fmla="*/ 81879 w 114609"/>
                <a:gd name="connsiteY19" fmla="*/ 139879 h 156974"/>
                <a:gd name="connsiteX20" fmla="*/ 82994 w 114609"/>
                <a:gd name="connsiteY20" fmla="*/ 130737 h 156974"/>
                <a:gd name="connsiteX21" fmla="*/ 113987 w 114609"/>
                <a:gd name="connsiteY21" fmla="*/ 6763 h 156974"/>
                <a:gd name="connsiteX22" fmla="*/ 66494 w 114609"/>
                <a:gd name="connsiteY22" fmla="*/ 126946 h 156974"/>
                <a:gd name="connsiteX23" fmla="*/ 55122 w 114609"/>
                <a:gd name="connsiteY23" fmla="*/ 141886 h 156974"/>
                <a:gd name="connsiteX24" fmla="*/ 34608 w 114609"/>
                <a:gd name="connsiteY24" fmla="*/ 150805 h 156974"/>
                <a:gd name="connsiteX25" fmla="*/ 18331 w 114609"/>
                <a:gd name="connsiteY25" fmla="*/ 129176 h 156974"/>
                <a:gd name="connsiteX26" fmla="*/ 29926 w 114609"/>
                <a:gd name="connsiteY26" fmla="*/ 83912 h 156974"/>
                <a:gd name="connsiteX27" fmla="*/ 57798 w 114609"/>
                <a:gd name="connsiteY27" fmla="*/ 62730 h 156974"/>
                <a:gd name="connsiteX28" fmla="*/ 77642 w 114609"/>
                <a:gd name="connsiteY28" fmla="*/ 82128 h 156974"/>
                <a:gd name="connsiteX29" fmla="*/ 76974 w 114609"/>
                <a:gd name="connsiteY29" fmla="*/ 85250 h 156974"/>
                <a:gd name="connsiteX30" fmla="*/ 66494 w 114609"/>
                <a:gd name="connsiteY30" fmla="*/ 126946 h 1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4609" h="156974">
                  <a:moveTo>
                    <a:pt x="113987" y="6763"/>
                  </a:moveTo>
                  <a:cubicBezTo>
                    <a:pt x="114210" y="6317"/>
                    <a:pt x="114879" y="3418"/>
                    <a:pt x="114879" y="3195"/>
                  </a:cubicBezTo>
                  <a:cubicBezTo>
                    <a:pt x="114879" y="2080"/>
                    <a:pt x="113987" y="74"/>
                    <a:pt x="111312" y="74"/>
                  </a:cubicBezTo>
                  <a:cubicBezTo>
                    <a:pt x="106852" y="74"/>
                    <a:pt x="88345" y="1857"/>
                    <a:pt x="82771" y="2303"/>
                  </a:cubicBezTo>
                  <a:cubicBezTo>
                    <a:pt x="80987" y="2526"/>
                    <a:pt x="77865" y="2749"/>
                    <a:pt x="77865" y="7432"/>
                  </a:cubicBezTo>
                  <a:cubicBezTo>
                    <a:pt x="77865" y="10553"/>
                    <a:pt x="80987" y="10553"/>
                    <a:pt x="83663" y="10553"/>
                  </a:cubicBezTo>
                  <a:cubicBezTo>
                    <a:pt x="94366" y="10553"/>
                    <a:pt x="94366" y="12114"/>
                    <a:pt x="94366" y="13898"/>
                  </a:cubicBezTo>
                  <a:cubicBezTo>
                    <a:pt x="94366" y="15459"/>
                    <a:pt x="93920" y="16797"/>
                    <a:pt x="93474" y="18804"/>
                  </a:cubicBezTo>
                  <a:lnTo>
                    <a:pt x="80764" y="69642"/>
                  </a:lnTo>
                  <a:cubicBezTo>
                    <a:pt x="76082" y="62284"/>
                    <a:pt x="68500" y="56486"/>
                    <a:pt x="57798" y="56486"/>
                  </a:cubicBezTo>
                  <a:cubicBezTo>
                    <a:pt x="29257" y="56486"/>
                    <a:pt x="270" y="87926"/>
                    <a:pt x="270" y="120034"/>
                  </a:cubicBezTo>
                  <a:cubicBezTo>
                    <a:pt x="270" y="141663"/>
                    <a:pt x="14764" y="157048"/>
                    <a:pt x="33939" y="157048"/>
                  </a:cubicBezTo>
                  <a:cubicBezTo>
                    <a:pt x="45980" y="157048"/>
                    <a:pt x="56683" y="150136"/>
                    <a:pt x="65602" y="141440"/>
                  </a:cubicBezTo>
                  <a:cubicBezTo>
                    <a:pt x="69838" y="154818"/>
                    <a:pt x="82771" y="157048"/>
                    <a:pt x="88568" y="157048"/>
                  </a:cubicBezTo>
                  <a:cubicBezTo>
                    <a:pt x="96595" y="157048"/>
                    <a:pt x="102170" y="152143"/>
                    <a:pt x="106183" y="145230"/>
                  </a:cubicBezTo>
                  <a:cubicBezTo>
                    <a:pt x="111089" y="136534"/>
                    <a:pt x="113987" y="123825"/>
                    <a:pt x="113987" y="122933"/>
                  </a:cubicBezTo>
                  <a:cubicBezTo>
                    <a:pt x="113987" y="120034"/>
                    <a:pt x="111089" y="120034"/>
                    <a:pt x="110420" y="120034"/>
                  </a:cubicBezTo>
                  <a:cubicBezTo>
                    <a:pt x="107298" y="120034"/>
                    <a:pt x="107075" y="120926"/>
                    <a:pt x="105514" y="126946"/>
                  </a:cubicBezTo>
                  <a:cubicBezTo>
                    <a:pt x="102839" y="137649"/>
                    <a:pt x="98602" y="150805"/>
                    <a:pt x="89237" y="150805"/>
                  </a:cubicBezTo>
                  <a:cubicBezTo>
                    <a:pt x="83440" y="150805"/>
                    <a:pt x="81879" y="145899"/>
                    <a:pt x="81879" y="139879"/>
                  </a:cubicBezTo>
                  <a:cubicBezTo>
                    <a:pt x="81879" y="135642"/>
                    <a:pt x="82325" y="133636"/>
                    <a:pt x="82994" y="130737"/>
                  </a:cubicBezTo>
                  <a:lnTo>
                    <a:pt x="113987" y="6763"/>
                  </a:lnTo>
                  <a:close/>
                  <a:moveTo>
                    <a:pt x="66494" y="126946"/>
                  </a:moveTo>
                  <a:cubicBezTo>
                    <a:pt x="64933" y="133190"/>
                    <a:pt x="60027" y="137649"/>
                    <a:pt x="55122" y="141886"/>
                  </a:cubicBezTo>
                  <a:cubicBezTo>
                    <a:pt x="53115" y="143670"/>
                    <a:pt x="44196" y="150805"/>
                    <a:pt x="34608" y="150805"/>
                  </a:cubicBezTo>
                  <a:cubicBezTo>
                    <a:pt x="26358" y="150805"/>
                    <a:pt x="18331" y="145007"/>
                    <a:pt x="18331" y="129176"/>
                  </a:cubicBezTo>
                  <a:cubicBezTo>
                    <a:pt x="18331" y="117358"/>
                    <a:pt x="24797" y="92831"/>
                    <a:pt x="29926" y="83912"/>
                  </a:cubicBezTo>
                  <a:cubicBezTo>
                    <a:pt x="40183" y="66074"/>
                    <a:pt x="51554" y="62730"/>
                    <a:pt x="57798" y="62730"/>
                  </a:cubicBezTo>
                  <a:cubicBezTo>
                    <a:pt x="73406" y="62730"/>
                    <a:pt x="77642" y="79676"/>
                    <a:pt x="77642" y="82128"/>
                  </a:cubicBezTo>
                  <a:cubicBezTo>
                    <a:pt x="77642" y="83020"/>
                    <a:pt x="77196" y="84581"/>
                    <a:pt x="76974" y="85250"/>
                  </a:cubicBezTo>
                  <a:lnTo>
                    <a:pt x="66494" y="126946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75" name="任意形状 2074">
              <a:extLst>
                <a:ext uri="{FF2B5EF4-FFF2-40B4-BE49-F238E27FC236}">
                  <a16:creationId xmlns:a16="http://schemas.microsoft.com/office/drawing/2014/main" id="{44B90488-D225-5D07-DE3C-F83C6597834B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1981558" y="6077321"/>
              <a:ext cx="158630" cy="144296"/>
            </a:xfrm>
            <a:custGeom>
              <a:avLst/>
              <a:gdLst>
                <a:gd name="connsiteX0" fmla="*/ 97364 w 158630"/>
                <a:gd name="connsiteY0" fmla="*/ 44679 h 144296"/>
                <a:gd name="connsiteX1" fmla="*/ 128899 w 158630"/>
                <a:gd name="connsiteY1" fmla="*/ 7092 h 144296"/>
                <a:gd name="connsiteX2" fmla="*/ 144826 w 158630"/>
                <a:gd name="connsiteY2" fmla="*/ 11233 h 144296"/>
                <a:gd name="connsiteX3" fmla="*/ 129536 w 158630"/>
                <a:gd name="connsiteY3" fmla="*/ 28434 h 144296"/>
                <a:gd name="connsiteX4" fmla="*/ 141640 w 158630"/>
                <a:gd name="connsiteY4" fmla="*/ 39583 h 144296"/>
                <a:gd name="connsiteX5" fmla="*/ 158841 w 158630"/>
                <a:gd name="connsiteY5" fmla="*/ 21107 h 144296"/>
                <a:gd name="connsiteX6" fmla="*/ 129217 w 158630"/>
                <a:gd name="connsiteY6" fmla="*/ 84 h 144296"/>
                <a:gd name="connsiteX7" fmla="*/ 95771 w 158630"/>
                <a:gd name="connsiteY7" fmla="*/ 24293 h 144296"/>
                <a:gd name="connsiteX8" fmla="*/ 61369 w 158630"/>
                <a:gd name="connsiteY8" fmla="*/ 84 h 144296"/>
                <a:gd name="connsiteX9" fmla="*/ 10085 w 158630"/>
                <a:gd name="connsiteY9" fmla="*/ 49139 h 144296"/>
                <a:gd name="connsiteX10" fmla="*/ 13907 w 158630"/>
                <a:gd name="connsiteY10" fmla="*/ 52324 h 144296"/>
                <a:gd name="connsiteX11" fmla="*/ 18048 w 158630"/>
                <a:gd name="connsiteY11" fmla="*/ 48820 h 144296"/>
                <a:gd name="connsiteX12" fmla="*/ 60732 w 158630"/>
                <a:gd name="connsiteY12" fmla="*/ 7092 h 144296"/>
                <a:gd name="connsiteX13" fmla="*/ 77933 w 158630"/>
                <a:gd name="connsiteY13" fmla="*/ 28434 h 144296"/>
                <a:gd name="connsiteX14" fmla="*/ 60732 w 158630"/>
                <a:gd name="connsiteY14" fmla="*/ 104245 h 144296"/>
                <a:gd name="connsiteX15" fmla="*/ 30471 w 158630"/>
                <a:gd name="connsiteY15" fmla="*/ 137373 h 144296"/>
                <a:gd name="connsiteX16" fmla="*/ 14544 w 158630"/>
                <a:gd name="connsiteY16" fmla="*/ 133232 h 144296"/>
                <a:gd name="connsiteX17" fmla="*/ 29516 w 158630"/>
                <a:gd name="connsiteY17" fmla="*/ 116031 h 144296"/>
                <a:gd name="connsiteX18" fmla="*/ 17730 w 158630"/>
                <a:gd name="connsiteY18" fmla="*/ 104882 h 144296"/>
                <a:gd name="connsiteX19" fmla="*/ 210 w 158630"/>
                <a:gd name="connsiteY19" fmla="*/ 123357 h 144296"/>
                <a:gd name="connsiteX20" fmla="*/ 30153 w 158630"/>
                <a:gd name="connsiteY20" fmla="*/ 144381 h 144296"/>
                <a:gd name="connsiteX21" fmla="*/ 63599 w 158630"/>
                <a:gd name="connsiteY21" fmla="*/ 120172 h 144296"/>
                <a:gd name="connsiteX22" fmla="*/ 98001 w 158630"/>
                <a:gd name="connsiteY22" fmla="*/ 144381 h 144296"/>
                <a:gd name="connsiteX23" fmla="*/ 148967 w 158630"/>
                <a:gd name="connsiteY23" fmla="*/ 95326 h 144296"/>
                <a:gd name="connsiteX24" fmla="*/ 145144 w 158630"/>
                <a:gd name="connsiteY24" fmla="*/ 92141 h 144296"/>
                <a:gd name="connsiteX25" fmla="*/ 141003 w 158630"/>
                <a:gd name="connsiteY25" fmla="*/ 95645 h 144296"/>
                <a:gd name="connsiteX26" fmla="*/ 98638 w 158630"/>
                <a:gd name="connsiteY26" fmla="*/ 137373 h 144296"/>
                <a:gd name="connsiteX27" fmla="*/ 81118 w 158630"/>
                <a:gd name="connsiteY27" fmla="*/ 116350 h 144296"/>
                <a:gd name="connsiteX28" fmla="*/ 86534 w 158630"/>
                <a:gd name="connsiteY28" fmla="*/ 88318 h 144296"/>
                <a:gd name="connsiteX29" fmla="*/ 97364 w 158630"/>
                <a:gd name="connsiteY29" fmla="*/ 44679 h 1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8630" h="144296">
                  <a:moveTo>
                    <a:pt x="97364" y="44679"/>
                  </a:moveTo>
                  <a:cubicBezTo>
                    <a:pt x="99275" y="36397"/>
                    <a:pt x="106601" y="7092"/>
                    <a:pt x="128899" y="7092"/>
                  </a:cubicBezTo>
                  <a:cubicBezTo>
                    <a:pt x="130491" y="7092"/>
                    <a:pt x="138136" y="7092"/>
                    <a:pt x="144826" y="11233"/>
                  </a:cubicBezTo>
                  <a:cubicBezTo>
                    <a:pt x="135907" y="12826"/>
                    <a:pt x="129536" y="20789"/>
                    <a:pt x="129536" y="28434"/>
                  </a:cubicBezTo>
                  <a:cubicBezTo>
                    <a:pt x="129536" y="33530"/>
                    <a:pt x="133040" y="39583"/>
                    <a:pt x="141640" y="39583"/>
                  </a:cubicBezTo>
                  <a:cubicBezTo>
                    <a:pt x="148648" y="39583"/>
                    <a:pt x="158841" y="33849"/>
                    <a:pt x="158841" y="21107"/>
                  </a:cubicBezTo>
                  <a:cubicBezTo>
                    <a:pt x="158841" y="4544"/>
                    <a:pt x="140048" y="84"/>
                    <a:pt x="129217" y="84"/>
                  </a:cubicBezTo>
                  <a:cubicBezTo>
                    <a:pt x="110742" y="84"/>
                    <a:pt x="99593" y="16966"/>
                    <a:pt x="95771" y="24293"/>
                  </a:cubicBezTo>
                  <a:cubicBezTo>
                    <a:pt x="87808" y="3269"/>
                    <a:pt x="70607" y="84"/>
                    <a:pt x="61369" y="84"/>
                  </a:cubicBezTo>
                  <a:cubicBezTo>
                    <a:pt x="28241" y="84"/>
                    <a:pt x="10085" y="41175"/>
                    <a:pt x="10085" y="49139"/>
                  </a:cubicBezTo>
                  <a:cubicBezTo>
                    <a:pt x="10085" y="52324"/>
                    <a:pt x="13270" y="52324"/>
                    <a:pt x="13907" y="52324"/>
                  </a:cubicBezTo>
                  <a:cubicBezTo>
                    <a:pt x="16456" y="52324"/>
                    <a:pt x="17411" y="51687"/>
                    <a:pt x="18048" y="48820"/>
                  </a:cubicBezTo>
                  <a:cubicBezTo>
                    <a:pt x="28879" y="15055"/>
                    <a:pt x="49902" y="7092"/>
                    <a:pt x="60732" y="7092"/>
                  </a:cubicBezTo>
                  <a:cubicBezTo>
                    <a:pt x="66784" y="7092"/>
                    <a:pt x="77933" y="9959"/>
                    <a:pt x="77933" y="28434"/>
                  </a:cubicBezTo>
                  <a:cubicBezTo>
                    <a:pt x="77933" y="38308"/>
                    <a:pt x="72518" y="59650"/>
                    <a:pt x="60732" y="104245"/>
                  </a:cubicBezTo>
                  <a:cubicBezTo>
                    <a:pt x="55636" y="123994"/>
                    <a:pt x="44487" y="137373"/>
                    <a:pt x="30471" y="137373"/>
                  </a:cubicBezTo>
                  <a:cubicBezTo>
                    <a:pt x="28560" y="137373"/>
                    <a:pt x="21234" y="137373"/>
                    <a:pt x="14544" y="133232"/>
                  </a:cubicBezTo>
                  <a:cubicBezTo>
                    <a:pt x="22508" y="131639"/>
                    <a:pt x="29516" y="124950"/>
                    <a:pt x="29516" y="116031"/>
                  </a:cubicBezTo>
                  <a:cubicBezTo>
                    <a:pt x="29516" y="107431"/>
                    <a:pt x="22508" y="104882"/>
                    <a:pt x="17730" y="104882"/>
                  </a:cubicBezTo>
                  <a:cubicBezTo>
                    <a:pt x="8174" y="104882"/>
                    <a:pt x="210" y="113164"/>
                    <a:pt x="210" y="123357"/>
                  </a:cubicBezTo>
                  <a:cubicBezTo>
                    <a:pt x="210" y="138010"/>
                    <a:pt x="16137" y="144381"/>
                    <a:pt x="30153" y="144381"/>
                  </a:cubicBezTo>
                  <a:cubicBezTo>
                    <a:pt x="51176" y="144381"/>
                    <a:pt x="62643" y="122083"/>
                    <a:pt x="63599" y="120172"/>
                  </a:cubicBezTo>
                  <a:cubicBezTo>
                    <a:pt x="67421" y="131958"/>
                    <a:pt x="78889" y="144381"/>
                    <a:pt x="98001" y="144381"/>
                  </a:cubicBezTo>
                  <a:cubicBezTo>
                    <a:pt x="130810" y="144381"/>
                    <a:pt x="148967" y="103290"/>
                    <a:pt x="148967" y="95326"/>
                  </a:cubicBezTo>
                  <a:cubicBezTo>
                    <a:pt x="148967" y="92141"/>
                    <a:pt x="146100" y="92141"/>
                    <a:pt x="145144" y="92141"/>
                  </a:cubicBezTo>
                  <a:cubicBezTo>
                    <a:pt x="142277" y="92141"/>
                    <a:pt x="141640" y="93415"/>
                    <a:pt x="141003" y="95645"/>
                  </a:cubicBezTo>
                  <a:cubicBezTo>
                    <a:pt x="130491" y="129728"/>
                    <a:pt x="108831" y="137373"/>
                    <a:pt x="98638" y="137373"/>
                  </a:cubicBezTo>
                  <a:cubicBezTo>
                    <a:pt x="86215" y="137373"/>
                    <a:pt x="81118" y="127180"/>
                    <a:pt x="81118" y="116350"/>
                  </a:cubicBezTo>
                  <a:cubicBezTo>
                    <a:pt x="81118" y="109342"/>
                    <a:pt x="83030" y="102334"/>
                    <a:pt x="86534" y="88318"/>
                  </a:cubicBezTo>
                  <a:lnTo>
                    <a:pt x="97364" y="44679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76" name="任意形状 2075">
              <a:extLst>
                <a:ext uri="{FF2B5EF4-FFF2-40B4-BE49-F238E27FC236}">
                  <a16:creationId xmlns:a16="http://schemas.microsoft.com/office/drawing/2014/main" id="{D33A0975-CE44-3958-95F0-ACB936E444E9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2168420" y="6117838"/>
              <a:ext cx="98554" cy="148055"/>
            </a:xfrm>
            <a:custGeom>
              <a:avLst/>
              <a:gdLst>
                <a:gd name="connsiteX0" fmla="*/ 98771 w 98554"/>
                <a:gd name="connsiteY0" fmla="*/ 107560 h 148055"/>
                <a:gd name="connsiteX1" fmla="*/ 91190 w 98554"/>
                <a:gd name="connsiteY1" fmla="*/ 107560 h 148055"/>
                <a:gd name="connsiteX2" fmla="*/ 85393 w 98554"/>
                <a:gd name="connsiteY2" fmla="*/ 127850 h 148055"/>
                <a:gd name="connsiteX3" fmla="*/ 63318 w 98554"/>
                <a:gd name="connsiteY3" fmla="*/ 129188 h 148055"/>
                <a:gd name="connsiteX4" fmla="*/ 22291 w 98554"/>
                <a:gd name="connsiteY4" fmla="*/ 129188 h 148055"/>
                <a:gd name="connsiteX5" fmla="*/ 66886 w 98554"/>
                <a:gd name="connsiteY5" fmla="*/ 91728 h 148055"/>
                <a:gd name="connsiteX6" fmla="*/ 98771 w 98554"/>
                <a:gd name="connsiteY6" fmla="*/ 43566 h 148055"/>
                <a:gd name="connsiteX7" fmla="*/ 46595 w 98554"/>
                <a:gd name="connsiteY7" fmla="*/ 86 h 148055"/>
                <a:gd name="connsiteX8" fmla="*/ 216 w 98554"/>
                <a:gd name="connsiteY8" fmla="*/ 39998 h 148055"/>
                <a:gd name="connsiteX9" fmla="*/ 12034 w 98554"/>
                <a:gd name="connsiteY9" fmla="*/ 52485 h 148055"/>
                <a:gd name="connsiteX10" fmla="*/ 23851 w 98554"/>
                <a:gd name="connsiteY10" fmla="*/ 40667 h 148055"/>
                <a:gd name="connsiteX11" fmla="*/ 10696 w 98554"/>
                <a:gd name="connsiteY11" fmla="*/ 28849 h 148055"/>
                <a:gd name="connsiteX12" fmla="*/ 43250 w 98554"/>
                <a:gd name="connsiteY12" fmla="*/ 8113 h 148055"/>
                <a:gd name="connsiteX13" fmla="*/ 77142 w 98554"/>
                <a:gd name="connsiteY13" fmla="*/ 43566 h 148055"/>
                <a:gd name="connsiteX14" fmla="*/ 56183 w 98554"/>
                <a:gd name="connsiteY14" fmla="*/ 86377 h 148055"/>
                <a:gd name="connsiteX15" fmla="*/ 2446 w 98554"/>
                <a:gd name="connsiteY15" fmla="*/ 139445 h 148055"/>
                <a:gd name="connsiteX16" fmla="*/ 216 w 98554"/>
                <a:gd name="connsiteY16" fmla="*/ 148141 h 148055"/>
                <a:gd name="connsiteX17" fmla="*/ 92082 w 98554"/>
                <a:gd name="connsiteY17" fmla="*/ 148141 h 148055"/>
                <a:gd name="connsiteX18" fmla="*/ 98771 w 98554"/>
                <a:gd name="connsiteY18" fmla="*/ 107560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8554" h="148055">
                  <a:moveTo>
                    <a:pt x="98771" y="107560"/>
                  </a:moveTo>
                  <a:lnTo>
                    <a:pt x="91190" y="107560"/>
                  </a:lnTo>
                  <a:cubicBezTo>
                    <a:pt x="90521" y="112465"/>
                    <a:pt x="88291" y="125620"/>
                    <a:pt x="85393" y="127850"/>
                  </a:cubicBezTo>
                  <a:cubicBezTo>
                    <a:pt x="83609" y="129188"/>
                    <a:pt x="66440" y="129188"/>
                    <a:pt x="63318" y="129188"/>
                  </a:cubicBezTo>
                  <a:lnTo>
                    <a:pt x="22291" y="129188"/>
                  </a:lnTo>
                  <a:cubicBezTo>
                    <a:pt x="45703" y="108451"/>
                    <a:pt x="53507" y="102208"/>
                    <a:pt x="66886" y="91728"/>
                  </a:cubicBezTo>
                  <a:cubicBezTo>
                    <a:pt x="83386" y="78573"/>
                    <a:pt x="98771" y="64748"/>
                    <a:pt x="98771" y="43566"/>
                  </a:cubicBezTo>
                  <a:cubicBezTo>
                    <a:pt x="98771" y="16586"/>
                    <a:pt x="75136" y="86"/>
                    <a:pt x="46595" y="86"/>
                  </a:cubicBezTo>
                  <a:cubicBezTo>
                    <a:pt x="18946" y="86"/>
                    <a:pt x="216" y="19484"/>
                    <a:pt x="216" y="39998"/>
                  </a:cubicBezTo>
                  <a:cubicBezTo>
                    <a:pt x="216" y="51370"/>
                    <a:pt x="9804" y="52485"/>
                    <a:pt x="12034" y="52485"/>
                  </a:cubicBezTo>
                  <a:cubicBezTo>
                    <a:pt x="17385" y="52485"/>
                    <a:pt x="23851" y="48694"/>
                    <a:pt x="23851" y="40667"/>
                  </a:cubicBezTo>
                  <a:cubicBezTo>
                    <a:pt x="23851" y="36653"/>
                    <a:pt x="22291" y="28849"/>
                    <a:pt x="10696" y="28849"/>
                  </a:cubicBezTo>
                  <a:cubicBezTo>
                    <a:pt x="17608" y="13018"/>
                    <a:pt x="32770" y="8113"/>
                    <a:pt x="43250" y="8113"/>
                  </a:cubicBezTo>
                  <a:cubicBezTo>
                    <a:pt x="65548" y="8113"/>
                    <a:pt x="77142" y="25505"/>
                    <a:pt x="77142" y="43566"/>
                  </a:cubicBezTo>
                  <a:cubicBezTo>
                    <a:pt x="77142" y="62965"/>
                    <a:pt x="63318" y="78350"/>
                    <a:pt x="56183" y="86377"/>
                  </a:cubicBezTo>
                  <a:lnTo>
                    <a:pt x="2446" y="139445"/>
                  </a:lnTo>
                  <a:cubicBezTo>
                    <a:pt x="216" y="141452"/>
                    <a:pt x="216" y="141898"/>
                    <a:pt x="216" y="148141"/>
                  </a:cubicBezTo>
                  <a:lnTo>
                    <a:pt x="92082" y="148141"/>
                  </a:lnTo>
                  <a:lnTo>
                    <a:pt x="98771" y="107560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77" name="任意形状 2076">
              <a:extLst>
                <a:ext uri="{FF2B5EF4-FFF2-40B4-BE49-F238E27FC236}">
                  <a16:creationId xmlns:a16="http://schemas.microsoft.com/office/drawing/2014/main" id="{11F1735B-5655-5332-516D-FF48AB6DBBAB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2305649" y="6117838"/>
              <a:ext cx="81162" cy="148055"/>
            </a:xfrm>
            <a:custGeom>
              <a:avLst/>
              <a:gdLst>
                <a:gd name="connsiteX0" fmla="*/ 50612 w 81162"/>
                <a:gd name="connsiteY0" fmla="*/ 6329 h 148055"/>
                <a:gd name="connsiteX1" fmla="*/ 43923 w 81162"/>
                <a:gd name="connsiteY1" fmla="*/ 86 h 148055"/>
                <a:gd name="connsiteX2" fmla="*/ 220 w 81162"/>
                <a:gd name="connsiteY2" fmla="*/ 14356 h 148055"/>
                <a:gd name="connsiteX3" fmla="*/ 220 w 81162"/>
                <a:gd name="connsiteY3" fmla="*/ 22383 h 148055"/>
                <a:gd name="connsiteX4" fmla="*/ 32551 w 81162"/>
                <a:gd name="connsiteY4" fmla="*/ 16140 h 148055"/>
                <a:gd name="connsiteX5" fmla="*/ 32551 w 81162"/>
                <a:gd name="connsiteY5" fmla="*/ 129857 h 148055"/>
                <a:gd name="connsiteX6" fmla="*/ 10254 w 81162"/>
                <a:gd name="connsiteY6" fmla="*/ 140114 h 148055"/>
                <a:gd name="connsiteX7" fmla="*/ 1781 w 81162"/>
                <a:gd name="connsiteY7" fmla="*/ 140114 h 148055"/>
                <a:gd name="connsiteX8" fmla="*/ 1781 w 81162"/>
                <a:gd name="connsiteY8" fmla="*/ 148141 h 148055"/>
                <a:gd name="connsiteX9" fmla="*/ 41470 w 81162"/>
                <a:gd name="connsiteY9" fmla="*/ 147249 h 148055"/>
                <a:gd name="connsiteX10" fmla="*/ 81383 w 81162"/>
                <a:gd name="connsiteY10" fmla="*/ 148141 h 148055"/>
                <a:gd name="connsiteX11" fmla="*/ 81383 w 81162"/>
                <a:gd name="connsiteY11" fmla="*/ 140114 h 148055"/>
                <a:gd name="connsiteX12" fmla="*/ 72910 w 81162"/>
                <a:gd name="connsiteY12" fmla="*/ 140114 h 148055"/>
                <a:gd name="connsiteX13" fmla="*/ 50612 w 81162"/>
                <a:gd name="connsiteY13" fmla="*/ 129857 h 148055"/>
                <a:gd name="connsiteX14" fmla="*/ 50612 w 81162"/>
                <a:gd name="connsiteY14" fmla="*/ 6329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162" h="148055">
                  <a:moveTo>
                    <a:pt x="50612" y="6329"/>
                  </a:moveTo>
                  <a:cubicBezTo>
                    <a:pt x="50612" y="309"/>
                    <a:pt x="50166" y="86"/>
                    <a:pt x="43923" y="86"/>
                  </a:cubicBezTo>
                  <a:cubicBezTo>
                    <a:pt x="29653" y="14133"/>
                    <a:pt x="9362" y="14356"/>
                    <a:pt x="220" y="14356"/>
                  </a:cubicBezTo>
                  <a:lnTo>
                    <a:pt x="220" y="22383"/>
                  </a:lnTo>
                  <a:cubicBezTo>
                    <a:pt x="5571" y="22383"/>
                    <a:pt x="20288" y="22383"/>
                    <a:pt x="32551" y="16140"/>
                  </a:cubicBezTo>
                  <a:lnTo>
                    <a:pt x="32551" y="129857"/>
                  </a:lnTo>
                  <a:cubicBezTo>
                    <a:pt x="32551" y="137215"/>
                    <a:pt x="32551" y="140114"/>
                    <a:pt x="10254" y="140114"/>
                  </a:cubicBezTo>
                  <a:lnTo>
                    <a:pt x="1781" y="140114"/>
                  </a:lnTo>
                  <a:lnTo>
                    <a:pt x="1781" y="148141"/>
                  </a:lnTo>
                  <a:cubicBezTo>
                    <a:pt x="5794" y="147918"/>
                    <a:pt x="33220" y="147249"/>
                    <a:pt x="41470" y="147249"/>
                  </a:cubicBezTo>
                  <a:cubicBezTo>
                    <a:pt x="48383" y="147249"/>
                    <a:pt x="76477" y="147918"/>
                    <a:pt x="81383" y="148141"/>
                  </a:cubicBezTo>
                  <a:lnTo>
                    <a:pt x="81383" y="140114"/>
                  </a:lnTo>
                  <a:lnTo>
                    <a:pt x="72910" y="140114"/>
                  </a:lnTo>
                  <a:cubicBezTo>
                    <a:pt x="50612" y="140114"/>
                    <a:pt x="50612" y="137215"/>
                    <a:pt x="50612" y="129857"/>
                  </a:cubicBezTo>
                  <a:lnTo>
                    <a:pt x="50612" y="6329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78" name="任意形状 2077">
              <a:extLst>
                <a:ext uri="{FF2B5EF4-FFF2-40B4-BE49-F238E27FC236}">
                  <a16:creationId xmlns:a16="http://schemas.microsoft.com/office/drawing/2014/main" id="{80FCDDA0-BE4D-FD44-BE30-97454EACB55F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2782507" y="6077321"/>
              <a:ext cx="158630" cy="144296"/>
            </a:xfrm>
            <a:custGeom>
              <a:avLst/>
              <a:gdLst>
                <a:gd name="connsiteX0" fmla="*/ 97389 w 158630"/>
                <a:gd name="connsiteY0" fmla="*/ 44679 h 144296"/>
                <a:gd name="connsiteX1" fmla="*/ 128924 w 158630"/>
                <a:gd name="connsiteY1" fmla="*/ 7092 h 144296"/>
                <a:gd name="connsiteX2" fmla="*/ 144851 w 158630"/>
                <a:gd name="connsiteY2" fmla="*/ 11233 h 144296"/>
                <a:gd name="connsiteX3" fmla="*/ 129561 w 158630"/>
                <a:gd name="connsiteY3" fmla="*/ 28434 h 144296"/>
                <a:gd name="connsiteX4" fmla="*/ 141665 w 158630"/>
                <a:gd name="connsiteY4" fmla="*/ 39583 h 144296"/>
                <a:gd name="connsiteX5" fmla="*/ 158866 w 158630"/>
                <a:gd name="connsiteY5" fmla="*/ 21107 h 144296"/>
                <a:gd name="connsiteX6" fmla="*/ 129242 w 158630"/>
                <a:gd name="connsiteY6" fmla="*/ 84 h 144296"/>
                <a:gd name="connsiteX7" fmla="*/ 95796 w 158630"/>
                <a:gd name="connsiteY7" fmla="*/ 24293 h 144296"/>
                <a:gd name="connsiteX8" fmla="*/ 61394 w 158630"/>
                <a:gd name="connsiteY8" fmla="*/ 84 h 144296"/>
                <a:gd name="connsiteX9" fmla="*/ 10110 w 158630"/>
                <a:gd name="connsiteY9" fmla="*/ 49139 h 144296"/>
                <a:gd name="connsiteX10" fmla="*/ 13932 w 158630"/>
                <a:gd name="connsiteY10" fmla="*/ 52324 h 144296"/>
                <a:gd name="connsiteX11" fmla="*/ 18073 w 158630"/>
                <a:gd name="connsiteY11" fmla="*/ 48820 h 144296"/>
                <a:gd name="connsiteX12" fmla="*/ 60757 w 158630"/>
                <a:gd name="connsiteY12" fmla="*/ 7092 h 144296"/>
                <a:gd name="connsiteX13" fmla="*/ 77958 w 158630"/>
                <a:gd name="connsiteY13" fmla="*/ 28434 h 144296"/>
                <a:gd name="connsiteX14" fmla="*/ 60757 w 158630"/>
                <a:gd name="connsiteY14" fmla="*/ 104245 h 144296"/>
                <a:gd name="connsiteX15" fmla="*/ 30496 w 158630"/>
                <a:gd name="connsiteY15" fmla="*/ 137373 h 144296"/>
                <a:gd name="connsiteX16" fmla="*/ 14569 w 158630"/>
                <a:gd name="connsiteY16" fmla="*/ 133232 h 144296"/>
                <a:gd name="connsiteX17" fmla="*/ 29541 w 158630"/>
                <a:gd name="connsiteY17" fmla="*/ 116031 h 144296"/>
                <a:gd name="connsiteX18" fmla="*/ 17755 w 158630"/>
                <a:gd name="connsiteY18" fmla="*/ 104882 h 144296"/>
                <a:gd name="connsiteX19" fmla="*/ 235 w 158630"/>
                <a:gd name="connsiteY19" fmla="*/ 123357 h 144296"/>
                <a:gd name="connsiteX20" fmla="*/ 30178 w 158630"/>
                <a:gd name="connsiteY20" fmla="*/ 144381 h 144296"/>
                <a:gd name="connsiteX21" fmla="*/ 63624 w 158630"/>
                <a:gd name="connsiteY21" fmla="*/ 120172 h 144296"/>
                <a:gd name="connsiteX22" fmla="*/ 98026 w 158630"/>
                <a:gd name="connsiteY22" fmla="*/ 144381 h 144296"/>
                <a:gd name="connsiteX23" fmla="*/ 148992 w 158630"/>
                <a:gd name="connsiteY23" fmla="*/ 95326 h 144296"/>
                <a:gd name="connsiteX24" fmla="*/ 145169 w 158630"/>
                <a:gd name="connsiteY24" fmla="*/ 92141 h 144296"/>
                <a:gd name="connsiteX25" fmla="*/ 141028 w 158630"/>
                <a:gd name="connsiteY25" fmla="*/ 95645 h 144296"/>
                <a:gd name="connsiteX26" fmla="*/ 98663 w 158630"/>
                <a:gd name="connsiteY26" fmla="*/ 137373 h 144296"/>
                <a:gd name="connsiteX27" fmla="*/ 81143 w 158630"/>
                <a:gd name="connsiteY27" fmla="*/ 116350 h 144296"/>
                <a:gd name="connsiteX28" fmla="*/ 86559 w 158630"/>
                <a:gd name="connsiteY28" fmla="*/ 88318 h 144296"/>
                <a:gd name="connsiteX29" fmla="*/ 97389 w 158630"/>
                <a:gd name="connsiteY29" fmla="*/ 44679 h 1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8630" h="144296">
                  <a:moveTo>
                    <a:pt x="97389" y="44679"/>
                  </a:moveTo>
                  <a:cubicBezTo>
                    <a:pt x="99300" y="36397"/>
                    <a:pt x="106626" y="7092"/>
                    <a:pt x="128924" y="7092"/>
                  </a:cubicBezTo>
                  <a:cubicBezTo>
                    <a:pt x="130516" y="7092"/>
                    <a:pt x="138161" y="7092"/>
                    <a:pt x="144851" y="11233"/>
                  </a:cubicBezTo>
                  <a:cubicBezTo>
                    <a:pt x="135932" y="12826"/>
                    <a:pt x="129561" y="20789"/>
                    <a:pt x="129561" y="28434"/>
                  </a:cubicBezTo>
                  <a:cubicBezTo>
                    <a:pt x="129561" y="33530"/>
                    <a:pt x="133065" y="39583"/>
                    <a:pt x="141665" y="39583"/>
                  </a:cubicBezTo>
                  <a:cubicBezTo>
                    <a:pt x="148673" y="39583"/>
                    <a:pt x="158866" y="33849"/>
                    <a:pt x="158866" y="21107"/>
                  </a:cubicBezTo>
                  <a:cubicBezTo>
                    <a:pt x="158866" y="4544"/>
                    <a:pt x="140073" y="84"/>
                    <a:pt x="129242" y="84"/>
                  </a:cubicBezTo>
                  <a:cubicBezTo>
                    <a:pt x="110767" y="84"/>
                    <a:pt x="99619" y="16966"/>
                    <a:pt x="95796" y="24293"/>
                  </a:cubicBezTo>
                  <a:cubicBezTo>
                    <a:pt x="87833" y="3269"/>
                    <a:pt x="70632" y="84"/>
                    <a:pt x="61394" y="84"/>
                  </a:cubicBezTo>
                  <a:cubicBezTo>
                    <a:pt x="28267" y="84"/>
                    <a:pt x="10110" y="41175"/>
                    <a:pt x="10110" y="49139"/>
                  </a:cubicBezTo>
                  <a:cubicBezTo>
                    <a:pt x="10110" y="52324"/>
                    <a:pt x="13295" y="52324"/>
                    <a:pt x="13932" y="52324"/>
                  </a:cubicBezTo>
                  <a:cubicBezTo>
                    <a:pt x="16481" y="52324"/>
                    <a:pt x="17436" y="51687"/>
                    <a:pt x="18073" y="48820"/>
                  </a:cubicBezTo>
                  <a:cubicBezTo>
                    <a:pt x="28904" y="15055"/>
                    <a:pt x="49927" y="7092"/>
                    <a:pt x="60757" y="7092"/>
                  </a:cubicBezTo>
                  <a:cubicBezTo>
                    <a:pt x="66809" y="7092"/>
                    <a:pt x="77958" y="9959"/>
                    <a:pt x="77958" y="28434"/>
                  </a:cubicBezTo>
                  <a:cubicBezTo>
                    <a:pt x="77958" y="38308"/>
                    <a:pt x="72543" y="59650"/>
                    <a:pt x="60757" y="104245"/>
                  </a:cubicBezTo>
                  <a:cubicBezTo>
                    <a:pt x="55661" y="123994"/>
                    <a:pt x="44512" y="137373"/>
                    <a:pt x="30496" y="137373"/>
                  </a:cubicBezTo>
                  <a:cubicBezTo>
                    <a:pt x="28585" y="137373"/>
                    <a:pt x="21259" y="137373"/>
                    <a:pt x="14569" y="133232"/>
                  </a:cubicBezTo>
                  <a:cubicBezTo>
                    <a:pt x="22533" y="131639"/>
                    <a:pt x="29541" y="124950"/>
                    <a:pt x="29541" y="116031"/>
                  </a:cubicBezTo>
                  <a:cubicBezTo>
                    <a:pt x="29541" y="107431"/>
                    <a:pt x="22533" y="104882"/>
                    <a:pt x="17755" y="104882"/>
                  </a:cubicBezTo>
                  <a:cubicBezTo>
                    <a:pt x="8199" y="104882"/>
                    <a:pt x="235" y="113164"/>
                    <a:pt x="235" y="123357"/>
                  </a:cubicBezTo>
                  <a:cubicBezTo>
                    <a:pt x="235" y="138010"/>
                    <a:pt x="16162" y="144381"/>
                    <a:pt x="30178" y="144381"/>
                  </a:cubicBezTo>
                  <a:cubicBezTo>
                    <a:pt x="51201" y="144381"/>
                    <a:pt x="62668" y="122083"/>
                    <a:pt x="63624" y="120172"/>
                  </a:cubicBezTo>
                  <a:cubicBezTo>
                    <a:pt x="67446" y="131958"/>
                    <a:pt x="78914" y="144381"/>
                    <a:pt x="98026" y="144381"/>
                  </a:cubicBezTo>
                  <a:cubicBezTo>
                    <a:pt x="130835" y="144381"/>
                    <a:pt x="148992" y="103290"/>
                    <a:pt x="148992" y="95326"/>
                  </a:cubicBezTo>
                  <a:cubicBezTo>
                    <a:pt x="148992" y="92141"/>
                    <a:pt x="146125" y="92141"/>
                    <a:pt x="145169" y="92141"/>
                  </a:cubicBezTo>
                  <a:cubicBezTo>
                    <a:pt x="142302" y="92141"/>
                    <a:pt x="141665" y="93415"/>
                    <a:pt x="141028" y="95645"/>
                  </a:cubicBezTo>
                  <a:cubicBezTo>
                    <a:pt x="130516" y="129728"/>
                    <a:pt x="108856" y="137373"/>
                    <a:pt x="98663" y="137373"/>
                  </a:cubicBezTo>
                  <a:cubicBezTo>
                    <a:pt x="86240" y="137373"/>
                    <a:pt x="81143" y="127180"/>
                    <a:pt x="81143" y="116350"/>
                  </a:cubicBezTo>
                  <a:cubicBezTo>
                    <a:pt x="81143" y="109342"/>
                    <a:pt x="83055" y="102334"/>
                    <a:pt x="86559" y="88318"/>
                  </a:cubicBezTo>
                  <a:lnTo>
                    <a:pt x="97389" y="44679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79" name="任意形状 2078">
              <a:extLst>
                <a:ext uri="{FF2B5EF4-FFF2-40B4-BE49-F238E27FC236}">
                  <a16:creationId xmlns:a16="http://schemas.microsoft.com/office/drawing/2014/main" id="{26B94D4F-5BDD-0F62-7512-EEA9FF61D6B1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2969369" y="6117838"/>
              <a:ext cx="98554" cy="148055"/>
            </a:xfrm>
            <a:custGeom>
              <a:avLst/>
              <a:gdLst>
                <a:gd name="connsiteX0" fmla="*/ 98796 w 98554"/>
                <a:gd name="connsiteY0" fmla="*/ 107560 h 148055"/>
                <a:gd name="connsiteX1" fmla="*/ 91215 w 98554"/>
                <a:gd name="connsiteY1" fmla="*/ 107560 h 148055"/>
                <a:gd name="connsiteX2" fmla="*/ 85418 w 98554"/>
                <a:gd name="connsiteY2" fmla="*/ 127850 h 148055"/>
                <a:gd name="connsiteX3" fmla="*/ 63343 w 98554"/>
                <a:gd name="connsiteY3" fmla="*/ 129188 h 148055"/>
                <a:gd name="connsiteX4" fmla="*/ 22316 w 98554"/>
                <a:gd name="connsiteY4" fmla="*/ 129188 h 148055"/>
                <a:gd name="connsiteX5" fmla="*/ 66911 w 98554"/>
                <a:gd name="connsiteY5" fmla="*/ 91728 h 148055"/>
                <a:gd name="connsiteX6" fmla="*/ 98796 w 98554"/>
                <a:gd name="connsiteY6" fmla="*/ 43566 h 148055"/>
                <a:gd name="connsiteX7" fmla="*/ 46620 w 98554"/>
                <a:gd name="connsiteY7" fmla="*/ 86 h 148055"/>
                <a:gd name="connsiteX8" fmla="*/ 241 w 98554"/>
                <a:gd name="connsiteY8" fmla="*/ 39998 h 148055"/>
                <a:gd name="connsiteX9" fmla="*/ 12059 w 98554"/>
                <a:gd name="connsiteY9" fmla="*/ 52485 h 148055"/>
                <a:gd name="connsiteX10" fmla="*/ 23876 w 98554"/>
                <a:gd name="connsiteY10" fmla="*/ 40667 h 148055"/>
                <a:gd name="connsiteX11" fmla="*/ 10721 w 98554"/>
                <a:gd name="connsiteY11" fmla="*/ 28849 h 148055"/>
                <a:gd name="connsiteX12" fmla="*/ 43275 w 98554"/>
                <a:gd name="connsiteY12" fmla="*/ 8113 h 148055"/>
                <a:gd name="connsiteX13" fmla="*/ 77167 w 98554"/>
                <a:gd name="connsiteY13" fmla="*/ 43566 h 148055"/>
                <a:gd name="connsiteX14" fmla="*/ 56208 w 98554"/>
                <a:gd name="connsiteY14" fmla="*/ 86377 h 148055"/>
                <a:gd name="connsiteX15" fmla="*/ 2471 w 98554"/>
                <a:gd name="connsiteY15" fmla="*/ 139445 h 148055"/>
                <a:gd name="connsiteX16" fmla="*/ 241 w 98554"/>
                <a:gd name="connsiteY16" fmla="*/ 148141 h 148055"/>
                <a:gd name="connsiteX17" fmla="*/ 92107 w 98554"/>
                <a:gd name="connsiteY17" fmla="*/ 148141 h 148055"/>
                <a:gd name="connsiteX18" fmla="*/ 98796 w 98554"/>
                <a:gd name="connsiteY18" fmla="*/ 107560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8554" h="148055">
                  <a:moveTo>
                    <a:pt x="98796" y="107560"/>
                  </a:moveTo>
                  <a:lnTo>
                    <a:pt x="91215" y="107560"/>
                  </a:lnTo>
                  <a:cubicBezTo>
                    <a:pt x="90546" y="112465"/>
                    <a:pt x="88316" y="125620"/>
                    <a:pt x="85418" y="127850"/>
                  </a:cubicBezTo>
                  <a:cubicBezTo>
                    <a:pt x="83634" y="129188"/>
                    <a:pt x="66465" y="129188"/>
                    <a:pt x="63343" y="129188"/>
                  </a:cubicBezTo>
                  <a:lnTo>
                    <a:pt x="22316" y="129188"/>
                  </a:lnTo>
                  <a:cubicBezTo>
                    <a:pt x="45728" y="108451"/>
                    <a:pt x="53532" y="102208"/>
                    <a:pt x="66911" y="91728"/>
                  </a:cubicBezTo>
                  <a:cubicBezTo>
                    <a:pt x="83411" y="78573"/>
                    <a:pt x="98796" y="64748"/>
                    <a:pt x="98796" y="43566"/>
                  </a:cubicBezTo>
                  <a:cubicBezTo>
                    <a:pt x="98796" y="16586"/>
                    <a:pt x="75161" y="86"/>
                    <a:pt x="46620" y="86"/>
                  </a:cubicBezTo>
                  <a:cubicBezTo>
                    <a:pt x="18971" y="86"/>
                    <a:pt x="241" y="19484"/>
                    <a:pt x="241" y="39998"/>
                  </a:cubicBezTo>
                  <a:cubicBezTo>
                    <a:pt x="241" y="51370"/>
                    <a:pt x="9829" y="52485"/>
                    <a:pt x="12059" y="52485"/>
                  </a:cubicBezTo>
                  <a:cubicBezTo>
                    <a:pt x="17410" y="52485"/>
                    <a:pt x="23876" y="48694"/>
                    <a:pt x="23876" y="40667"/>
                  </a:cubicBezTo>
                  <a:cubicBezTo>
                    <a:pt x="23876" y="36653"/>
                    <a:pt x="22316" y="28849"/>
                    <a:pt x="10721" y="28849"/>
                  </a:cubicBezTo>
                  <a:cubicBezTo>
                    <a:pt x="17633" y="13018"/>
                    <a:pt x="32795" y="8113"/>
                    <a:pt x="43275" y="8113"/>
                  </a:cubicBezTo>
                  <a:cubicBezTo>
                    <a:pt x="65573" y="8113"/>
                    <a:pt x="77167" y="25505"/>
                    <a:pt x="77167" y="43566"/>
                  </a:cubicBezTo>
                  <a:cubicBezTo>
                    <a:pt x="77167" y="62965"/>
                    <a:pt x="63343" y="78350"/>
                    <a:pt x="56208" y="86377"/>
                  </a:cubicBezTo>
                  <a:lnTo>
                    <a:pt x="2471" y="139445"/>
                  </a:lnTo>
                  <a:cubicBezTo>
                    <a:pt x="241" y="141452"/>
                    <a:pt x="241" y="141898"/>
                    <a:pt x="241" y="148141"/>
                  </a:cubicBezTo>
                  <a:lnTo>
                    <a:pt x="92107" y="148141"/>
                  </a:lnTo>
                  <a:lnTo>
                    <a:pt x="98796" y="107560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80" name="任意形状 2079">
              <a:extLst>
                <a:ext uri="{FF2B5EF4-FFF2-40B4-BE49-F238E27FC236}">
                  <a16:creationId xmlns:a16="http://schemas.microsoft.com/office/drawing/2014/main" id="{16EC6939-FB0D-3F5F-845C-6836A8786422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3096342" y="6117838"/>
              <a:ext cx="98554" cy="148055"/>
            </a:xfrm>
            <a:custGeom>
              <a:avLst/>
              <a:gdLst>
                <a:gd name="connsiteX0" fmla="*/ 98800 w 98554"/>
                <a:gd name="connsiteY0" fmla="*/ 107560 h 148055"/>
                <a:gd name="connsiteX1" fmla="*/ 91219 w 98554"/>
                <a:gd name="connsiteY1" fmla="*/ 107560 h 148055"/>
                <a:gd name="connsiteX2" fmla="*/ 85422 w 98554"/>
                <a:gd name="connsiteY2" fmla="*/ 127850 h 148055"/>
                <a:gd name="connsiteX3" fmla="*/ 63347 w 98554"/>
                <a:gd name="connsiteY3" fmla="*/ 129188 h 148055"/>
                <a:gd name="connsiteX4" fmla="*/ 22320 w 98554"/>
                <a:gd name="connsiteY4" fmla="*/ 129188 h 148055"/>
                <a:gd name="connsiteX5" fmla="*/ 66915 w 98554"/>
                <a:gd name="connsiteY5" fmla="*/ 91728 h 148055"/>
                <a:gd name="connsiteX6" fmla="*/ 98800 w 98554"/>
                <a:gd name="connsiteY6" fmla="*/ 43566 h 148055"/>
                <a:gd name="connsiteX7" fmla="*/ 46624 w 98554"/>
                <a:gd name="connsiteY7" fmla="*/ 86 h 148055"/>
                <a:gd name="connsiteX8" fmla="*/ 245 w 98554"/>
                <a:gd name="connsiteY8" fmla="*/ 39998 h 148055"/>
                <a:gd name="connsiteX9" fmla="*/ 12063 w 98554"/>
                <a:gd name="connsiteY9" fmla="*/ 52485 h 148055"/>
                <a:gd name="connsiteX10" fmla="*/ 23880 w 98554"/>
                <a:gd name="connsiteY10" fmla="*/ 40667 h 148055"/>
                <a:gd name="connsiteX11" fmla="*/ 10725 w 98554"/>
                <a:gd name="connsiteY11" fmla="*/ 28849 h 148055"/>
                <a:gd name="connsiteX12" fmla="*/ 43279 w 98554"/>
                <a:gd name="connsiteY12" fmla="*/ 8113 h 148055"/>
                <a:gd name="connsiteX13" fmla="*/ 77171 w 98554"/>
                <a:gd name="connsiteY13" fmla="*/ 43566 h 148055"/>
                <a:gd name="connsiteX14" fmla="*/ 56212 w 98554"/>
                <a:gd name="connsiteY14" fmla="*/ 86377 h 148055"/>
                <a:gd name="connsiteX15" fmla="*/ 2475 w 98554"/>
                <a:gd name="connsiteY15" fmla="*/ 139445 h 148055"/>
                <a:gd name="connsiteX16" fmla="*/ 245 w 98554"/>
                <a:gd name="connsiteY16" fmla="*/ 148141 h 148055"/>
                <a:gd name="connsiteX17" fmla="*/ 92111 w 98554"/>
                <a:gd name="connsiteY17" fmla="*/ 148141 h 148055"/>
                <a:gd name="connsiteX18" fmla="*/ 98800 w 98554"/>
                <a:gd name="connsiteY18" fmla="*/ 107560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8554" h="148055">
                  <a:moveTo>
                    <a:pt x="98800" y="107560"/>
                  </a:moveTo>
                  <a:lnTo>
                    <a:pt x="91219" y="107560"/>
                  </a:lnTo>
                  <a:cubicBezTo>
                    <a:pt x="90550" y="112465"/>
                    <a:pt x="88320" y="125620"/>
                    <a:pt x="85422" y="127850"/>
                  </a:cubicBezTo>
                  <a:cubicBezTo>
                    <a:pt x="83638" y="129188"/>
                    <a:pt x="66469" y="129188"/>
                    <a:pt x="63347" y="129188"/>
                  </a:cubicBezTo>
                  <a:lnTo>
                    <a:pt x="22320" y="129188"/>
                  </a:lnTo>
                  <a:cubicBezTo>
                    <a:pt x="45732" y="108451"/>
                    <a:pt x="53536" y="102208"/>
                    <a:pt x="66915" y="91728"/>
                  </a:cubicBezTo>
                  <a:cubicBezTo>
                    <a:pt x="83415" y="78573"/>
                    <a:pt x="98800" y="64748"/>
                    <a:pt x="98800" y="43566"/>
                  </a:cubicBezTo>
                  <a:cubicBezTo>
                    <a:pt x="98800" y="16586"/>
                    <a:pt x="75165" y="86"/>
                    <a:pt x="46624" y="86"/>
                  </a:cubicBezTo>
                  <a:cubicBezTo>
                    <a:pt x="18975" y="86"/>
                    <a:pt x="245" y="19484"/>
                    <a:pt x="245" y="39998"/>
                  </a:cubicBezTo>
                  <a:cubicBezTo>
                    <a:pt x="245" y="51370"/>
                    <a:pt x="9833" y="52485"/>
                    <a:pt x="12063" y="52485"/>
                  </a:cubicBezTo>
                  <a:cubicBezTo>
                    <a:pt x="17414" y="52485"/>
                    <a:pt x="23880" y="48694"/>
                    <a:pt x="23880" y="40667"/>
                  </a:cubicBezTo>
                  <a:cubicBezTo>
                    <a:pt x="23880" y="36653"/>
                    <a:pt x="22320" y="28849"/>
                    <a:pt x="10725" y="28849"/>
                  </a:cubicBezTo>
                  <a:cubicBezTo>
                    <a:pt x="17637" y="13018"/>
                    <a:pt x="32799" y="8113"/>
                    <a:pt x="43279" y="8113"/>
                  </a:cubicBezTo>
                  <a:cubicBezTo>
                    <a:pt x="65577" y="8113"/>
                    <a:pt x="77171" y="25505"/>
                    <a:pt x="77171" y="43566"/>
                  </a:cubicBezTo>
                  <a:cubicBezTo>
                    <a:pt x="77171" y="62965"/>
                    <a:pt x="63347" y="78350"/>
                    <a:pt x="56212" y="86377"/>
                  </a:cubicBezTo>
                  <a:lnTo>
                    <a:pt x="2475" y="139445"/>
                  </a:lnTo>
                  <a:cubicBezTo>
                    <a:pt x="245" y="141452"/>
                    <a:pt x="245" y="141898"/>
                    <a:pt x="245" y="148141"/>
                  </a:cubicBezTo>
                  <a:lnTo>
                    <a:pt x="92111" y="148141"/>
                  </a:lnTo>
                  <a:lnTo>
                    <a:pt x="98800" y="107560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81" name="任意形状 2080">
              <a:extLst>
                <a:ext uri="{FF2B5EF4-FFF2-40B4-BE49-F238E27FC236}">
                  <a16:creationId xmlns:a16="http://schemas.microsoft.com/office/drawing/2014/main" id="{631FC1FD-ADE0-069A-839B-6001378683CF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3583456" y="6077321"/>
              <a:ext cx="158630" cy="144296"/>
            </a:xfrm>
            <a:custGeom>
              <a:avLst/>
              <a:gdLst>
                <a:gd name="connsiteX0" fmla="*/ 97414 w 158630"/>
                <a:gd name="connsiteY0" fmla="*/ 44679 h 144296"/>
                <a:gd name="connsiteX1" fmla="*/ 128949 w 158630"/>
                <a:gd name="connsiteY1" fmla="*/ 7092 h 144296"/>
                <a:gd name="connsiteX2" fmla="*/ 144876 w 158630"/>
                <a:gd name="connsiteY2" fmla="*/ 11233 h 144296"/>
                <a:gd name="connsiteX3" fmla="*/ 129586 w 158630"/>
                <a:gd name="connsiteY3" fmla="*/ 28434 h 144296"/>
                <a:gd name="connsiteX4" fmla="*/ 141690 w 158630"/>
                <a:gd name="connsiteY4" fmla="*/ 39583 h 144296"/>
                <a:gd name="connsiteX5" fmla="*/ 158891 w 158630"/>
                <a:gd name="connsiteY5" fmla="*/ 21107 h 144296"/>
                <a:gd name="connsiteX6" fmla="*/ 129267 w 158630"/>
                <a:gd name="connsiteY6" fmla="*/ 84 h 144296"/>
                <a:gd name="connsiteX7" fmla="*/ 95821 w 158630"/>
                <a:gd name="connsiteY7" fmla="*/ 24293 h 144296"/>
                <a:gd name="connsiteX8" fmla="*/ 61419 w 158630"/>
                <a:gd name="connsiteY8" fmla="*/ 84 h 144296"/>
                <a:gd name="connsiteX9" fmla="*/ 10135 w 158630"/>
                <a:gd name="connsiteY9" fmla="*/ 49139 h 144296"/>
                <a:gd name="connsiteX10" fmla="*/ 13957 w 158630"/>
                <a:gd name="connsiteY10" fmla="*/ 52324 h 144296"/>
                <a:gd name="connsiteX11" fmla="*/ 18098 w 158630"/>
                <a:gd name="connsiteY11" fmla="*/ 48820 h 144296"/>
                <a:gd name="connsiteX12" fmla="*/ 60782 w 158630"/>
                <a:gd name="connsiteY12" fmla="*/ 7092 h 144296"/>
                <a:gd name="connsiteX13" fmla="*/ 77983 w 158630"/>
                <a:gd name="connsiteY13" fmla="*/ 28434 h 144296"/>
                <a:gd name="connsiteX14" fmla="*/ 60782 w 158630"/>
                <a:gd name="connsiteY14" fmla="*/ 104245 h 144296"/>
                <a:gd name="connsiteX15" fmla="*/ 30521 w 158630"/>
                <a:gd name="connsiteY15" fmla="*/ 137373 h 144296"/>
                <a:gd name="connsiteX16" fmla="*/ 14595 w 158630"/>
                <a:gd name="connsiteY16" fmla="*/ 133232 h 144296"/>
                <a:gd name="connsiteX17" fmla="*/ 29566 w 158630"/>
                <a:gd name="connsiteY17" fmla="*/ 116031 h 144296"/>
                <a:gd name="connsiteX18" fmla="*/ 17780 w 158630"/>
                <a:gd name="connsiteY18" fmla="*/ 104882 h 144296"/>
                <a:gd name="connsiteX19" fmla="*/ 260 w 158630"/>
                <a:gd name="connsiteY19" fmla="*/ 123357 h 144296"/>
                <a:gd name="connsiteX20" fmla="*/ 30203 w 158630"/>
                <a:gd name="connsiteY20" fmla="*/ 144381 h 144296"/>
                <a:gd name="connsiteX21" fmla="*/ 63649 w 158630"/>
                <a:gd name="connsiteY21" fmla="*/ 120172 h 144296"/>
                <a:gd name="connsiteX22" fmla="*/ 98051 w 158630"/>
                <a:gd name="connsiteY22" fmla="*/ 144381 h 144296"/>
                <a:gd name="connsiteX23" fmla="*/ 149017 w 158630"/>
                <a:gd name="connsiteY23" fmla="*/ 95326 h 144296"/>
                <a:gd name="connsiteX24" fmla="*/ 145194 w 158630"/>
                <a:gd name="connsiteY24" fmla="*/ 92141 h 144296"/>
                <a:gd name="connsiteX25" fmla="*/ 141053 w 158630"/>
                <a:gd name="connsiteY25" fmla="*/ 95645 h 144296"/>
                <a:gd name="connsiteX26" fmla="*/ 98688 w 158630"/>
                <a:gd name="connsiteY26" fmla="*/ 137373 h 144296"/>
                <a:gd name="connsiteX27" fmla="*/ 81169 w 158630"/>
                <a:gd name="connsiteY27" fmla="*/ 116350 h 144296"/>
                <a:gd name="connsiteX28" fmla="*/ 86584 w 158630"/>
                <a:gd name="connsiteY28" fmla="*/ 88318 h 144296"/>
                <a:gd name="connsiteX29" fmla="*/ 97414 w 158630"/>
                <a:gd name="connsiteY29" fmla="*/ 44679 h 1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8630" h="144296">
                  <a:moveTo>
                    <a:pt x="97414" y="44679"/>
                  </a:moveTo>
                  <a:cubicBezTo>
                    <a:pt x="99325" y="36397"/>
                    <a:pt x="106651" y="7092"/>
                    <a:pt x="128949" y="7092"/>
                  </a:cubicBezTo>
                  <a:cubicBezTo>
                    <a:pt x="130542" y="7092"/>
                    <a:pt x="138186" y="7092"/>
                    <a:pt x="144876" y="11233"/>
                  </a:cubicBezTo>
                  <a:cubicBezTo>
                    <a:pt x="135957" y="12826"/>
                    <a:pt x="129586" y="20789"/>
                    <a:pt x="129586" y="28434"/>
                  </a:cubicBezTo>
                  <a:cubicBezTo>
                    <a:pt x="129586" y="33530"/>
                    <a:pt x="133090" y="39583"/>
                    <a:pt x="141690" y="39583"/>
                  </a:cubicBezTo>
                  <a:cubicBezTo>
                    <a:pt x="148698" y="39583"/>
                    <a:pt x="158891" y="33849"/>
                    <a:pt x="158891" y="21107"/>
                  </a:cubicBezTo>
                  <a:cubicBezTo>
                    <a:pt x="158891" y="4544"/>
                    <a:pt x="140098" y="84"/>
                    <a:pt x="129267" y="84"/>
                  </a:cubicBezTo>
                  <a:cubicBezTo>
                    <a:pt x="110792" y="84"/>
                    <a:pt x="99644" y="16966"/>
                    <a:pt x="95821" y="24293"/>
                  </a:cubicBezTo>
                  <a:cubicBezTo>
                    <a:pt x="87858" y="3269"/>
                    <a:pt x="70657" y="84"/>
                    <a:pt x="61419" y="84"/>
                  </a:cubicBezTo>
                  <a:cubicBezTo>
                    <a:pt x="28292" y="84"/>
                    <a:pt x="10135" y="41175"/>
                    <a:pt x="10135" y="49139"/>
                  </a:cubicBezTo>
                  <a:cubicBezTo>
                    <a:pt x="10135" y="52324"/>
                    <a:pt x="13320" y="52324"/>
                    <a:pt x="13957" y="52324"/>
                  </a:cubicBezTo>
                  <a:cubicBezTo>
                    <a:pt x="16506" y="52324"/>
                    <a:pt x="17461" y="51687"/>
                    <a:pt x="18098" y="48820"/>
                  </a:cubicBezTo>
                  <a:cubicBezTo>
                    <a:pt x="28929" y="15055"/>
                    <a:pt x="49952" y="7092"/>
                    <a:pt x="60782" y="7092"/>
                  </a:cubicBezTo>
                  <a:cubicBezTo>
                    <a:pt x="66834" y="7092"/>
                    <a:pt x="77983" y="9959"/>
                    <a:pt x="77983" y="28434"/>
                  </a:cubicBezTo>
                  <a:cubicBezTo>
                    <a:pt x="77983" y="38308"/>
                    <a:pt x="72568" y="59650"/>
                    <a:pt x="60782" y="104245"/>
                  </a:cubicBezTo>
                  <a:cubicBezTo>
                    <a:pt x="55686" y="123994"/>
                    <a:pt x="44537" y="137373"/>
                    <a:pt x="30521" y="137373"/>
                  </a:cubicBezTo>
                  <a:cubicBezTo>
                    <a:pt x="28610" y="137373"/>
                    <a:pt x="21284" y="137373"/>
                    <a:pt x="14595" y="133232"/>
                  </a:cubicBezTo>
                  <a:cubicBezTo>
                    <a:pt x="22558" y="131639"/>
                    <a:pt x="29566" y="124950"/>
                    <a:pt x="29566" y="116031"/>
                  </a:cubicBezTo>
                  <a:cubicBezTo>
                    <a:pt x="29566" y="107431"/>
                    <a:pt x="22558" y="104882"/>
                    <a:pt x="17780" y="104882"/>
                  </a:cubicBezTo>
                  <a:cubicBezTo>
                    <a:pt x="8224" y="104882"/>
                    <a:pt x="260" y="113164"/>
                    <a:pt x="260" y="123357"/>
                  </a:cubicBezTo>
                  <a:cubicBezTo>
                    <a:pt x="260" y="138010"/>
                    <a:pt x="16187" y="144381"/>
                    <a:pt x="30203" y="144381"/>
                  </a:cubicBezTo>
                  <a:cubicBezTo>
                    <a:pt x="51226" y="144381"/>
                    <a:pt x="62693" y="122083"/>
                    <a:pt x="63649" y="120172"/>
                  </a:cubicBezTo>
                  <a:cubicBezTo>
                    <a:pt x="67471" y="131958"/>
                    <a:pt x="78939" y="144381"/>
                    <a:pt x="98051" y="144381"/>
                  </a:cubicBezTo>
                  <a:cubicBezTo>
                    <a:pt x="130860" y="144381"/>
                    <a:pt x="149017" y="103290"/>
                    <a:pt x="149017" y="95326"/>
                  </a:cubicBezTo>
                  <a:cubicBezTo>
                    <a:pt x="149017" y="92141"/>
                    <a:pt x="146150" y="92141"/>
                    <a:pt x="145194" y="92141"/>
                  </a:cubicBezTo>
                  <a:cubicBezTo>
                    <a:pt x="142327" y="92141"/>
                    <a:pt x="141690" y="93415"/>
                    <a:pt x="141053" y="95645"/>
                  </a:cubicBezTo>
                  <a:cubicBezTo>
                    <a:pt x="130542" y="129728"/>
                    <a:pt x="108881" y="137373"/>
                    <a:pt x="98688" y="137373"/>
                  </a:cubicBezTo>
                  <a:cubicBezTo>
                    <a:pt x="86265" y="137373"/>
                    <a:pt x="81169" y="127180"/>
                    <a:pt x="81169" y="116350"/>
                  </a:cubicBezTo>
                  <a:cubicBezTo>
                    <a:pt x="81169" y="109342"/>
                    <a:pt x="83080" y="102334"/>
                    <a:pt x="86584" y="88318"/>
                  </a:cubicBezTo>
                  <a:lnTo>
                    <a:pt x="97414" y="44679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82" name="任意形状 2081">
              <a:extLst>
                <a:ext uri="{FF2B5EF4-FFF2-40B4-BE49-F238E27FC236}">
                  <a16:creationId xmlns:a16="http://schemas.microsoft.com/office/drawing/2014/main" id="{6F452F16-9530-D8E5-9018-5CBC76A82D00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3770318" y="6117838"/>
              <a:ext cx="98554" cy="148055"/>
            </a:xfrm>
            <a:custGeom>
              <a:avLst/>
              <a:gdLst>
                <a:gd name="connsiteX0" fmla="*/ 98821 w 98554"/>
                <a:gd name="connsiteY0" fmla="*/ 107560 h 148055"/>
                <a:gd name="connsiteX1" fmla="*/ 91240 w 98554"/>
                <a:gd name="connsiteY1" fmla="*/ 107560 h 148055"/>
                <a:gd name="connsiteX2" fmla="*/ 85443 w 98554"/>
                <a:gd name="connsiteY2" fmla="*/ 127850 h 148055"/>
                <a:gd name="connsiteX3" fmla="*/ 63368 w 98554"/>
                <a:gd name="connsiteY3" fmla="*/ 129188 h 148055"/>
                <a:gd name="connsiteX4" fmla="*/ 22341 w 98554"/>
                <a:gd name="connsiteY4" fmla="*/ 129188 h 148055"/>
                <a:gd name="connsiteX5" fmla="*/ 66936 w 98554"/>
                <a:gd name="connsiteY5" fmla="*/ 91728 h 148055"/>
                <a:gd name="connsiteX6" fmla="*/ 98821 w 98554"/>
                <a:gd name="connsiteY6" fmla="*/ 43566 h 148055"/>
                <a:gd name="connsiteX7" fmla="*/ 46645 w 98554"/>
                <a:gd name="connsiteY7" fmla="*/ 86 h 148055"/>
                <a:gd name="connsiteX8" fmla="*/ 266 w 98554"/>
                <a:gd name="connsiteY8" fmla="*/ 39998 h 148055"/>
                <a:gd name="connsiteX9" fmla="*/ 12084 w 98554"/>
                <a:gd name="connsiteY9" fmla="*/ 52485 h 148055"/>
                <a:gd name="connsiteX10" fmla="*/ 23902 w 98554"/>
                <a:gd name="connsiteY10" fmla="*/ 40667 h 148055"/>
                <a:gd name="connsiteX11" fmla="*/ 10746 w 98554"/>
                <a:gd name="connsiteY11" fmla="*/ 28849 h 148055"/>
                <a:gd name="connsiteX12" fmla="*/ 43300 w 98554"/>
                <a:gd name="connsiteY12" fmla="*/ 8113 h 148055"/>
                <a:gd name="connsiteX13" fmla="*/ 77193 w 98554"/>
                <a:gd name="connsiteY13" fmla="*/ 43566 h 148055"/>
                <a:gd name="connsiteX14" fmla="*/ 56233 w 98554"/>
                <a:gd name="connsiteY14" fmla="*/ 86377 h 148055"/>
                <a:gd name="connsiteX15" fmla="*/ 2496 w 98554"/>
                <a:gd name="connsiteY15" fmla="*/ 139445 h 148055"/>
                <a:gd name="connsiteX16" fmla="*/ 266 w 98554"/>
                <a:gd name="connsiteY16" fmla="*/ 148141 h 148055"/>
                <a:gd name="connsiteX17" fmla="*/ 92132 w 98554"/>
                <a:gd name="connsiteY17" fmla="*/ 148141 h 148055"/>
                <a:gd name="connsiteX18" fmla="*/ 98821 w 98554"/>
                <a:gd name="connsiteY18" fmla="*/ 107560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8554" h="148055">
                  <a:moveTo>
                    <a:pt x="98821" y="107560"/>
                  </a:moveTo>
                  <a:lnTo>
                    <a:pt x="91240" y="107560"/>
                  </a:lnTo>
                  <a:cubicBezTo>
                    <a:pt x="90571" y="112465"/>
                    <a:pt x="88341" y="125620"/>
                    <a:pt x="85443" y="127850"/>
                  </a:cubicBezTo>
                  <a:cubicBezTo>
                    <a:pt x="83659" y="129188"/>
                    <a:pt x="66490" y="129188"/>
                    <a:pt x="63368" y="129188"/>
                  </a:cubicBezTo>
                  <a:lnTo>
                    <a:pt x="22341" y="129188"/>
                  </a:lnTo>
                  <a:cubicBezTo>
                    <a:pt x="45753" y="108451"/>
                    <a:pt x="53557" y="102208"/>
                    <a:pt x="66936" y="91728"/>
                  </a:cubicBezTo>
                  <a:cubicBezTo>
                    <a:pt x="83436" y="78573"/>
                    <a:pt x="98821" y="64748"/>
                    <a:pt x="98821" y="43566"/>
                  </a:cubicBezTo>
                  <a:cubicBezTo>
                    <a:pt x="98821" y="16586"/>
                    <a:pt x="75186" y="86"/>
                    <a:pt x="46645" y="86"/>
                  </a:cubicBezTo>
                  <a:cubicBezTo>
                    <a:pt x="18996" y="86"/>
                    <a:pt x="266" y="19484"/>
                    <a:pt x="266" y="39998"/>
                  </a:cubicBezTo>
                  <a:cubicBezTo>
                    <a:pt x="266" y="51370"/>
                    <a:pt x="9854" y="52485"/>
                    <a:pt x="12084" y="52485"/>
                  </a:cubicBezTo>
                  <a:cubicBezTo>
                    <a:pt x="17435" y="52485"/>
                    <a:pt x="23902" y="48694"/>
                    <a:pt x="23902" y="40667"/>
                  </a:cubicBezTo>
                  <a:cubicBezTo>
                    <a:pt x="23902" y="36653"/>
                    <a:pt x="22341" y="28849"/>
                    <a:pt x="10746" y="28849"/>
                  </a:cubicBezTo>
                  <a:cubicBezTo>
                    <a:pt x="17658" y="13018"/>
                    <a:pt x="32821" y="8113"/>
                    <a:pt x="43300" y="8113"/>
                  </a:cubicBezTo>
                  <a:cubicBezTo>
                    <a:pt x="65598" y="8113"/>
                    <a:pt x="77193" y="25505"/>
                    <a:pt x="77193" y="43566"/>
                  </a:cubicBezTo>
                  <a:cubicBezTo>
                    <a:pt x="77193" y="62965"/>
                    <a:pt x="63368" y="78350"/>
                    <a:pt x="56233" y="86377"/>
                  </a:cubicBezTo>
                  <a:lnTo>
                    <a:pt x="2496" y="139445"/>
                  </a:lnTo>
                  <a:cubicBezTo>
                    <a:pt x="266" y="141452"/>
                    <a:pt x="266" y="141898"/>
                    <a:pt x="266" y="148141"/>
                  </a:cubicBezTo>
                  <a:lnTo>
                    <a:pt x="92132" y="148141"/>
                  </a:lnTo>
                  <a:lnTo>
                    <a:pt x="98821" y="107560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83" name="任意形状 2082">
              <a:extLst>
                <a:ext uri="{FF2B5EF4-FFF2-40B4-BE49-F238E27FC236}">
                  <a16:creationId xmlns:a16="http://schemas.microsoft.com/office/drawing/2014/main" id="{4F974D09-5231-5A33-5CE1-0D02F82B6186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3896845" y="6111149"/>
              <a:ext cx="114609" cy="156974"/>
            </a:xfrm>
            <a:custGeom>
              <a:avLst/>
              <a:gdLst>
                <a:gd name="connsiteX0" fmla="*/ 113987 w 114609"/>
                <a:gd name="connsiteY0" fmla="*/ 6775 h 156974"/>
                <a:gd name="connsiteX1" fmla="*/ 114879 w 114609"/>
                <a:gd name="connsiteY1" fmla="*/ 3207 h 156974"/>
                <a:gd name="connsiteX2" fmla="*/ 111312 w 114609"/>
                <a:gd name="connsiteY2" fmla="*/ 86 h 156974"/>
                <a:gd name="connsiteX3" fmla="*/ 82771 w 114609"/>
                <a:gd name="connsiteY3" fmla="*/ 2315 h 156974"/>
                <a:gd name="connsiteX4" fmla="*/ 77865 w 114609"/>
                <a:gd name="connsiteY4" fmla="*/ 7444 h 156974"/>
                <a:gd name="connsiteX5" fmla="*/ 83663 w 114609"/>
                <a:gd name="connsiteY5" fmla="*/ 10565 h 156974"/>
                <a:gd name="connsiteX6" fmla="*/ 94366 w 114609"/>
                <a:gd name="connsiteY6" fmla="*/ 13910 h 156974"/>
                <a:gd name="connsiteX7" fmla="*/ 93474 w 114609"/>
                <a:gd name="connsiteY7" fmla="*/ 18816 h 156974"/>
                <a:gd name="connsiteX8" fmla="*/ 80764 w 114609"/>
                <a:gd name="connsiteY8" fmla="*/ 69654 h 156974"/>
                <a:gd name="connsiteX9" fmla="*/ 57798 w 114609"/>
                <a:gd name="connsiteY9" fmla="*/ 56498 h 156974"/>
                <a:gd name="connsiteX10" fmla="*/ 270 w 114609"/>
                <a:gd name="connsiteY10" fmla="*/ 120046 h 156974"/>
                <a:gd name="connsiteX11" fmla="*/ 33939 w 114609"/>
                <a:gd name="connsiteY11" fmla="*/ 157060 h 156974"/>
                <a:gd name="connsiteX12" fmla="*/ 65602 w 114609"/>
                <a:gd name="connsiteY12" fmla="*/ 141452 h 156974"/>
                <a:gd name="connsiteX13" fmla="*/ 88568 w 114609"/>
                <a:gd name="connsiteY13" fmla="*/ 157060 h 156974"/>
                <a:gd name="connsiteX14" fmla="*/ 106183 w 114609"/>
                <a:gd name="connsiteY14" fmla="*/ 145242 h 156974"/>
                <a:gd name="connsiteX15" fmla="*/ 113987 w 114609"/>
                <a:gd name="connsiteY15" fmla="*/ 122945 h 156974"/>
                <a:gd name="connsiteX16" fmla="*/ 110420 w 114609"/>
                <a:gd name="connsiteY16" fmla="*/ 120046 h 156974"/>
                <a:gd name="connsiteX17" fmla="*/ 105514 w 114609"/>
                <a:gd name="connsiteY17" fmla="*/ 126958 h 156974"/>
                <a:gd name="connsiteX18" fmla="*/ 89237 w 114609"/>
                <a:gd name="connsiteY18" fmla="*/ 150817 h 156974"/>
                <a:gd name="connsiteX19" fmla="*/ 81879 w 114609"/>
                <a:gd name="connsiteY19" fmla="*/ 139891 h 156974"/>
                <a:gd name="connsiteX20" fmla="*/ 82994 w 114609"/>
                <a:gd name="connsiteY20" fmla="*/ 130749 h 156974"/>
                <a:gd name="connsiteX21" fmla="*/ 113987 w 114609"/>
                <a:gd name="connsiteY21" fmla="*/ 6775 h 156974"/>
                <a:gd name="connsiteX22" fmla="*/ 66494 w 114609"/>
                <a:gd name="connsiteY22" fmla="*/ 126958 h 156974"/>
                <a:gd name="connsiteX23" fmla="*/ 55122 w 114609"/>
                <a:gd name="connsiteY23" fmla="*/ 141898 h 156974"/>
                <a:gd name="connsiteX24" fmla="*/ 34608 w 114609"/>
                <a:gd name="connsiteY24" fmla="*/ 150817 h 156974"/>
                <a:gd name="connsiteX25" fmla="*/ 18331 w 114609"/>
                <a:gd name="connsiteY25" fmla="*/ 129188 h 156974"/>
                <a:gd name="connsiteX26" fmla="*/ 29926 w 114609"/>
                <a:gd name="connsiteY26" fmla="*/ 83924 h 156974"/>
                <a:gd name="connsiteX27" fmla="*/ 57798 w 114609"/>
                <a:gd name="connsiteY27" fmla="*/ 62742 h 156974"/>
                <a:gd name="connsiteX28" fmla="*/ 77642 w 114609"/>
                <a:gd name="connsiteY28" fmla="*/ 82140 h 156974"/>
                <a:gd name="connsiteX29" fmla="*/ 76974 w 114609"/>
                <a:gd name="connsiteY29" fmla="*/ 85262 h 156974"/>
                <a:gd name="connsiteX30" fmla="*/ 66494 w 114609"/>
                <a:gd name="connsiteY30" fmla="*/ 126958 h 1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4609" h="156974">
                  <a:moveTo>
                    <a:pt x="113987" y="6775"/>
                  </a:moveTo>
                  <a:cubicBezTo>
                    <a:pt x="114210" y="6329"/>
                    <a:pt x="114879" y="3430"/>
                    <a:pt x="114879" y="3207"/>
                  </a:cubicBezTo>
                  <a:cubicBezTo>
                    <a:pt x="114879" y="2092"/>
                    <a:pt x="113987" y="86"/>
                    <a:pt x="111312" y="86"/>
                  </a:cubicBezTo>
                  <a:cubicBezTo>
                    <a:pt x="106852" y="86"/>
                    <a:pt x="88345" y="1869"/>
                    <a:pt x="82771" y="2315"/>
                  </a:cubicBezTo>
                  <a:cubicBezTo>
                    <a:pt x="80987" y="2538"/>
                    <a:pt x="77865" y="2761"/>
                    <a:pt x="77865" y="7444"/>
                  </a:cubicBezTo>
                  <a:cubicBezTo>
                    <a:pt x="77865" y="10565"/>
                    <a:pt x="80987" y="10565"/>
                    <a:pt x="83663" y="10565"/>
                  </a:cubicBezTo>
                  <a:cubicBezTo>
                    <a:pt x="94366" y="10565"/>
                    <a:pt x="94366" y="12126"/>
                    <a:pt x="94366" y="13910"/>
                  </a:cubicBezTo>
                  <a:cubicBezTo>
                    <a:pt x="94366" y="15471"/>
                    <a:pt x="93920" y="16809"/>
                    <a:pt x="93474" y="18816"/>
                  </a:cubicBezTo>
                  <a:lnTo>
                    <a:pt x="80764" y="69654"/>
                  </a:lnTo>
                  <a:cubicBezTo>
                    <a:pt x="76082" y="62296"/>
                    <a:pt x="68500" y="56498"/>
                    <a:pt x="57798" y="56498"/>
                  </a:cubicBezTo>
                  <a:cubicBezTo>
                    <a:pt x="29257" y="56498"/>
                    <a:pt x="270" y="87938"/>
                    <a:pt x="270" y="120046"/>
                  </a:cubicBezTo>
                  <a:cubicBezTo>
                    <a:pt x="270" y="141675"/>
                    <a:pt x="14764" y="157060"/>
                    <a:pt x="33939" y="157060"/>
                  </a:cubicBezTo>
                  <a:cubicBezTo>
                    <a:pt x="45980" y="157060"/>
                    <a:pt x="56683" y="150148"/>
                    <a:pt x="65602" y="141452"/>
                  </a:cubicBezTo>
                  <a:cubicBezTo>
                    <a:pt x="69838" y="154830"/>
                    <a:pt x="82771" y="157060"/>
                    <a:pt x="88568" y="157060"/>
                  </a:cubicBezTo>
                  <a:cubicBezTo>
                    <a:pt x="96595" y="157060"/>
                    <a:pt x="102170" y="152155"/>
                    <a:pt x="106183" y="145242"/>
                  </a:cubicBezTo>
                  <a:cubicBezTo>
                    <a:pt x="111089" y="136546"/>
                    <a:pt x="113987" y="123837"/>
                    <a:pt x="113987" y="122945"/>
                  </a:cubicBezTo>
                  <a:cubicBezTo>
                    <a:pt x="113987" y="120046"/>
                    <a:pt x="111089" y="120046"/>
                    <a:pt x="110420" y="120046"/>
                  </a:cubicBezTo>
                  <a:cubicBezTo>
                    <a:pt x="107298" y="120046"/>
                    <a:pt x="107075" y="120938"/>
                    <a:pt x="105514" y="126958"/>
                  </a:cubicBezTo>
                  <a:cubicBezTo>
                    <a:pt x="102839" y="137661"/>
                    <a:pt x="98602" y="150817"/>
                    <a:pt x="89237" y="150817"/>
                  </a:cubicBezTo>
                  <a:cubicBezTo>
                    <a:pt x="83440" y="150817"/>
                    <a:pt x="81879" y="145911"/>
                    <a:pt x="81879" y="139891"/>
                  </a:cubicBezTo>
                  <a:cubicBezTo>
                    <a:pt x="81879" y="135654"/>
                    <a:pt x="82325" y="133648"/>
                    <a:pt x="82994" y="130749"/>
                  </a:cubicBezTo>
                  <a:lnTo>
                    <a:pt x="113987" y="6775"/>
                  </a:lnTo>
                  <a:close/>
                  <a:moveTo>
                    <a:pt x="66494" y="126958"/>
                  </a:moveTo>
                  <a:cubicBezTo>
                    <a:pt x="64933" y="133202"/>
                    <a:pt x="60027" y="137661"/>
                    <a:pt x="55122" y="141898"/>
                  </a:cubicBezTo>
                  <a:cubicBezTo>
                    <a:pt x="53115" y="143681"/>
                    <a:pt x="44196" y="150817"/>
                    <a:pt x="34608" y="150817"/>
                  </a:cubicBezTo>
                  <a:cubicBezTo>
                    <a:pt x="26358" y="150817"/>
                    <a:pt x="18331" y="145019"/>
                    <a:pt x="18331" y="129188"/>
                  </a:cubicBezTo>
                  <a:cubicBezTo>
                    <a:pt x="18331" y="117370"/>
                    <a:pt x="24797" y="92843"/>
                    <a:pt x="29926" y="83924"/>
                  </a:cubicBezTo>
                  <a:cubicBezTo>
                    <a:pt x="40183" y="66086"/>
                    <a:pt x="51554" y="62742"/>
                    <a:pt x="57798" y="62742"/>
                  </a:cubicBezTo>
                  <a:cubicBezTo>
                    <a:pt x="73406" y="62742"/>
                    <a:pt x="77642" y="79688"/>
                    <a:pt x="77642" y="82140"/>
                  </a:cubicBezTo>
                  <a:cubicBezTo>
                    <a:pt x="77642" y="83032"/>
                    <a:pt x="77196" y="84593"/>
                    <a:pt x="76974" y="85262"/>
                  </a:cubicBezTo>
                  <a:lnTo>
                    <a:pt x="66494" y="126958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84" name="任意形状 2083">
              <a:extLst>
                <a:ext uri="{FF2B5EF4-FFF2-40B4-BE49-F238E27FC236}">
                  <a16:creationId xmlns:a16="http://schemas.microsoft.com/office/drawing/2014/main" id="{9FCC67C5-23EE-E1F0-2003-71439A81AA0B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2181434" y="6523767"/>
              <a:ext cx="33764" cy="33764"/>
            </a:xfrm>
            <a:custGeom>
              <a:avLst/>
              <a:gdLst>
                <a:gd name="connsiteX0" fmla="*/ 33981 w 33764"/>
                <a:gd name="connsiteY0" fmla="*/ 16977 h 33764"/>
                <a:gd name="connsiteX1" fmla="*/ 17098 w 33764"/>
                <a:gd name="connsiteY1" fmla="*/ 95 h 33764"/>
                <a:gd name="connsiteX2" fmla="*/ 216 w 33764"/>
                <a:gd name="connsiteY2" fmla="*/ 16977 h 33764"/>
                <a:gd name="connsiteX3" fmla="*/ 17098 w 33764"/>
                <a:gd name="connsiteY3" fmla="*/ 33859 h 33764"/>
                <a:gd name="connsiteX4" fmla="*/ 33981 w 33764"/>
                <a:gd name="connsiteY4" fmla="*/ 16977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64" h="33764">
                  <a:moveTo>
                    <a:pt x="33981" y="16977"/>
                  </a:moveTo>
                  <a:cubicBezTo>
                    <a:pt x="33981" y="7740"/>
                    <a:pt x="26336" y="95"/>
                    <a:pt x="17098" y="95"/>
                  </a:cubicBezTo>
                  <a:cubicBezTo>
                    <a:pt x="7861" y="95"/>
                    <a:pt x="216" y="7740"/>
                    <a:pt x="216" y="16977"/>
                  </a:cubicBezTo>
                  <a:cubicBezTo>
                    <a:pt x="216" y="26215"/>
                    <a:pt x="7861" y="33859"/>
                    <a:pt x="17098" y="33859"/>
                  </a:cubicBezTo>
                  <a:cubicBezTo>
                    <a:pt x="26336" y="33859"/>
                    <a:pt x="33981" y="26215"/>
                    <a:pt x="33981" y="16977"/>
                  </a:cubicBez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85" name="任意形状 2084">
              <a:extLst>
                <a:ext uri="{FF2B5EF4-FFF2-40B4-BE49-F238E27FC236}">
                  <a16:creationId xmlns:a16="http://schemas.microsoft.com/office/drawing/2014/main" id="{91269AF4-E099-1CD2-B95F-B27ACD9537B8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2181434" y="6651181"/>
              <a:ext cx="33764" cy="33764"/>
            </a:xfrm>
            <a:custGeom>
              <a:avLst/>
              <a:gdLst>
                <a:gd name="connsiteX0" fmla="*/ 33981 w 33764"/>
                <a:gd name="connsiteY0" fmla="*/ 16981 h 33764"/>
                <a:gd name="connsiteX1" fmla="*/ 17098 w 33764"/>
                <a:gd name="connsiteY1" fmla="*/ 99 h 33764"/>
                <a:gd name="connsiteX2" fmla="*/ 216 w 33764"/>
                <a:gd name="connsiteY2" fmla="*/ 16981 h 33764"/>
                <a:gd name="connsiteX3" fmla="*/ 17098 w 33764"/>
                <a:gd name="connsiteY3" fmla="*/ 33863 h 33764"/>
                <a:gd name="connsiteX4" fmla="*/ 33981 w 33764"/>
                <a:gd name="connsiteY4" fmla="*/ 16981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64" h="33764">
                  <a:moveTo>
                    <a:pt x="33981" y="16981"/>
                  </a:moveTo>
                  <a:cubicBezTo>
                    <a:pt x="33981" y="7744"/>
                    <a:pt x="26336" y="99"/>
                    <a:pt x="17098" y="99"/>
                  </a:cubicBezTo>
                  <a:cubicBezTo>
                    <a:pt x="7861" y="99"/>
                    <a:pt x="216" y="7744"/>
                    <a:pt x="216" y="16981"/>
                  </a:cubicBezTo>
                  <a:cubicBezTo>
                    <a:pt x="216" y="26219"/>
                    <a:pt x="7861" y="33863"/>
                    <a:pt x="17098" y="33863"/>
                  </a:cubicBezTo>
                  <a:cubicBezTo>
                    <a:pt x="26336" y="33863"/>
                    <a:pt x="33981" y="26219"/>
                    <a:pt x="33981" y="16981"/>
                  </a:cubicBez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86" name="任意形状 2085">
              <a:extLst>
                <a:ext uri="{FF2B5EF4-FFF2-40B4-BE49-F238E27FC236}">
                  <a16:creationId xmlns:a16="http://schemas.microsoft.com/office/drawing/2014/main" id="{349501E2-C1AC-0E34-7393-C0C70020AEAE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2181434" y="6778595"/>
              <a:ext cx="33764" cy="33764"/>
            </a:xfrm>
            <a:custGeom>
              <a:avLst/>
              <a:gdLst>
                <a:gd name="connsiteX0" fmla="*/ 33981 w 33764"/>
                <a:gd name="connsiteY0" fmla="*/ 16985 h 33764"/>
                <a:gd name="connsiteX1" fmla="*/ 17098 w 33764"/>
                <a:gd name="connsiteY1" fmla="*/ 103 h 33764"/>
                <a:gd name="connsiteX2" fmla="*/ 216 w 33764"/>
                <a:gd name="connsiteY2" fmla="*/ 16985 h 33764"/>
                <a:gd name="connsiteX3" fmla="*/ 17098 w 33764"/>
                <a:gd name="connsiteY3" fmla="*/ 33867 h 33764"/>
                <a:gd name="connsiteX4" fmla="*/ 33981 w 33764"/>
                <a:gd name="connsiteY4" fmla="*/ 16985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64" h="33764">
                  <a:moveTo>
                    <a:pt x="33981" y="16985"/>
                  </a:moveTo>
                  <a:cubicBezTo>
                    <a:pt x="33981" y="7748"/>
                    <a:pt x="26336" y="103"/>
                    <a:pt x="17098" y="103"/>
                  </a:cubicBezTo>
                  <a:cubicBezTo>
                    <a:pt x="7861" y="103"/>
                    <a:pt x="216" y="7748"/>
                    <a:pt x="216" y="16985"/>
                  </a:cubicBezTo>
                  <a:cubicBezTo>
                    <a:pt x="216" y="26223"/>
                    <a:pt x="7861" y="33867"/>
                    <a:pt x="17098" y="33867"/>
                  </a:cubicBezTo>
                  <a:cubicBezTo>
                    <a:pt x="26336" y="33867"/>
                    <a:pt x="33981" y="26223"/>
                    <a:pt x="33981" y="16985"/>
                  </a:cubicBez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87" name="任意形状 2086">
              <a:extLst>
                <a:ext uri="{FF2B5EF4-FFF2-40B4-BE49-F238E27FC236}">
                  <a16:creationId xmlns:a16="http://schemas.microsoft.com/office/drawing/2014/main" id="{72512E0F-3B34-0B45-DB79-C7E52A780ED1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2982384" y="6523767"/>
              <a:ext cx="33764" cy="33764"/>
            </a:xfrm>
            <a:custGeom>
              <a:avLst/>
              <a:gdLst>
                <a:gd name="connsiteX0" fmla="*/ 34006 w 33764"/>
                <a:gd name="connsiteY0" fmla="*/ 16977 h 33764"/>
                <a:gd name="connsiteX1" fmla="*/ 17123 w 33764"/>
                <a:gd name="connsiteY1" fmla="*/ 95 h 33764"/>
                <a:gd name="connsiteX2" fmla="*/ 241 w 33764"/>
                <a:gd name="connsiteY2" fmla="*/ 16977 h 33764"/>
                <a:gd name="connsiteX3" fmla="*/ 17123 w 33764"/>
                <a:gd name="connsiteY3" fmla="*/ 33859 h 33764"/>
                <a:gd name="connsiteX4" fmla="*/ 34006 w 33764"/>
                <a:gd name="connsiteY4" fmla="*/ 16977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64" h="33764">
                  <a:moveTo>
                    <a:pt x="34006" y="16977"/>
                  </a:moveTo>
                  <a:cubicBezTo>
                    <a:pt x="34006" y="7740"/>
                    <a:pt x="26361" y="95"/>
                    <a:pt x="17123" y="95"/>
                  </a:cubicBezTo>
                  <a:cubicBezTo>
                    <a:pt x="7886" y="95"/>
                    <a:pt x="241" y="7740"/>
                    <a:pt x="241" y="16977"/>
                  </a:cubicBezTo>
                  <a:cubicBezTo>
                    <a:pt x="241" y="26215"/>
                    <a:pt x="7886" y="33859"/>
                    <a:pt x="17123" y="33859"/>
                  </a:cubicBezTo>
                  <a:cubicBezTo>
                    <a:pt x="26361" y="33859"/>
                    <a:pt x="34006" y="26215"/>
                    <a:pt x="34006" y="16977"/>
                  </a:cubicBez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88" name="任意形状 2087">
              <a:extLst>
                <a:ext uri="{FF2B5EF4-FFF2-40B4-BE49-F238E27FC236}">
                  <a16:creationId xmlns:a16="http://schemas.microsoft.com/office/drawing/2014/main" id="{D1FBA35F-F04F-82A9-6739-C8FBF16898F7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2982384" y="6651181"/>
              <a:ext cx="33764" cy="33764"/>
            </a:xfrm>
            <a:custGeom>
              <a:avLst/>
              <a:gdLst>
                <a:gd name="connsiteX0" fmla="*/ 34006 w 33764"/>
                <a:gd name="connsiteY0" fmla="*/ 16981 h 33764"/>
                <a:gd name="connsiteX1" fmla="*/ 17123 w 33764"/>
                <a:gd name="connsiteY1" fmla="*/ 99 h 33764"/>
                <a:gd name="connsiteX2" fmla="*/ 241 w 33764"/>
                <a:gd name="connsiteY2" fmla="*/ 16981 h 33764"/>
                <a:gd name="connsiteX3" fmla="*/ 17123 w 33764"/>
                <a:gd name="connsiteY3" fmla="*/ 33863 h 33764"/>
                <a:gd name="connsiteX4" fmla="*/ 34006 w 33764"/>
                <a:gd name="connsiteY4" fmla="*/ 16981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64" h="33764">
                  <a:moveTo>
                    <a:pt x="34006" y="16981"/>
                  </a:moveTo>
                  <a:cubicBezTo>
                    <a:pt x="34006" y="7744"/>
                    <a:pt x="26361" y="99"/>
                    <a:pt x="17123" y="99"/>
                  </a:cubicBezTo>
                  <a:cubicBezTo>
                    <a:pt x="7886" y="99"/>
                    <a:pt x="241" y="7744"/>
                    <a:pt x="241" y="16981"/>
                  </a:cubicBezTo>
                  <a:cubicBezTo>
                    <a:pt x="241" y="26219"/>
                    <a:pt x="7886" y="33863"/>
                    <a:pt x="17123" y="33863"/>
                  </a:cubicBezTo>
                  <a:cubicBezTo>
                    <a:pt x="26361" y="33863"/>
                    <a:pt x="34006" y="26219"/>
                    <a:pt x="34006" y="16981"/>
                  </a:cubicBez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89" name="任意形状 2088">
              <a:extLst>
                <a:ext uri="{FF2B5EF4-FFF2-40B4-BE49-F238E27FC236}">
                  <a16:creationId xmlns:a16="http://schemas.microsoft.com/office/drawing/2014/main" id="{D2A6EC16-EC80-DA82-F064-D2F43B766D02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2982384" y="6778595"/>
              <a:ext cx="33764" cy="33764"/>
            </a:xfrm>
            <a:custGeom>
              <a:avLst/>
              <a:gdLst>
                <a:gd name="connsiteX0" fmla="*/ 34006 w 33764"/>
                <a:gd name="connsiteY0" fmla="*/ 16985 h 33764"/>
                <a:gd name="connsiteX1" fmla="*/ 17123 w 33764"/>
                <a:gd name="connsiteY1" fmla="*/ 103 h 33764"/>
                <a:gd name="connsiteX2" fmla="*/ 241 w 33764"/>
                <a:gd name="connsiteY2" fmla="*/ 16985 h 33764"/>
                <a:gd name="connsiteX3" fmla="*/ 17123 w 33764"/>
                <a:gd name="connsiteY3" fmla="*/ 33867 h 33764"/>
                <a:gd name="connsiteX4" fmla="*/ 34006 w 33764"/>
                <a:gd name="connsiteY4" fmla="*/ 16985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64" h="33764">
                  <a:moveTo>
                    <a:pt x="34006" y="16985"/>
                  </a:moveTo>
                  <a:cubicBezTo>
                    <a:pt x="34006" y="7748"/>
                    <a:pt x="26361" y="103"/>
                    <a:pt x="17123" y="103"/>
                  </a:cubicBezTo>
                  <a:cubicBezTo>
                    <a:pt x="7886" y="103"/>
                    <a:pt x="241" y="7748"/>
                    <a:pt x="241" y="16985"/>
                  </a:cubicBezTo>
                  <a:cubicBezTo>
                    <a:pt x="241" y="26223"/>
                    <a:pt x="7886" y="33867"/>
                    <a:pt x="17123" y="33867"/>
                  </a:cubicBezTo>
                  <a:cubicBezTo>
                    <a:pt x="26361" y="33867"/>
                    <a:pt x="34006" y="26223"/>
                    <a:pt x="34006" y="16985"/>
                  </a:cubicBez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90" name="任意形状 2089">
              <a:extLst>
                <a:ext uri="{FF2B5EF4-FFF2-40B4-BE49-F238E27FC236}">
                  <a16:creationId xmlns:a16="http://schemas.microsoft.com/office/drawing/2014/main" id="{9D77DDAA-962A-8810-86D5-86EB69C34BDD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3786148" y="6523767"/>
              <a:ext cx="33764" cy="33764"/>
            </a:xfrm>
            <a:custGeom>
              <a:avLst/>
              <a:gdLst>
                <a:gd name="connsiteX0" fmla="*/ 34031 w 33764"/>
                <a:gd name="connsiteY0" fmla="*/ 16977 h 33764"/>
                <a:gd name="connsiteX1" fmla="*/ 17149 w 33764"/>
                <a:gd name="connsiteY1" fmla="*/ 95 h 33764"/>
                <a:gd name="connsiteX2" fmla="*/ 266 w 33764"/>
                <a:gd name="connsiteY2" fmla="*/ 16977 h 33764"/>
                <a:gd name="connsiteX3" fmla="*/ 17149 w 33764"/>
                <a:gd name="connsiteY3" fmla="*/ 33859 h 33764"/>
                <a:gd name="connsiteX4" fmla="*/ 34031 w 33764"/>
                <a:gd name="connsiteY4" fmla="*/ 16977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64" h="33764">
                  <a:moveTo>
                    <a:pt x="34031" y="16977"/>
                  </a:moveTo>
                  <a:cubicBezTo>
                    <a:pt x="34031" y="7740"/>
                    <a:pt x="26386" y="95"/>
                    <a:pt x="17149" y="95"/>
                  </a:cubicBezTo>
                  <a:cubicBezTo>
                    <a:pt x="7911" y="95"/>
                    <a:pt x="266" y="7740"/>
                    <a:pt x="266" y="16977"/>
                  </a:cubicBezTo>
                  <a:cubicBezTo>
                    <a:pt x="266" y="26215"/>
                    <a:pt x="7911" y="33859"/>
                    <a:pt x="17149" y="33859"/>
                  </a:cubicBezTo>
                  <a:cubicBezTo>
                    <a:pt x="26386" y="33859"/>
                    <a:pt x="34031" y="26215"/>
                    <a:pt x="34031" y="16977"/>
                  </a:cubicBez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91" name="任意形状 2090">
              <a:extLst>
                <a:ext uri="{FF2B5EF4-FFF2-40B4-BE49-F238E27FC236}">
                  <a16:creationId xmlns:a16="http://schemas.microsoft.com/office/drawing/2014/main" id="{42D2F094-B8A8-2EFF-AB62-CE597BD958B7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3786148" y="6651181"/>
              <a:ext cx="33764" cy="33764"/>
            </a:xfrm>
            <a:custGeom>
              <a:avLst/>
              <a:gdLst>
                <a:gd name="connsiteX0" fmla="*/ 34031 w 33764"/>
                <a:gd name="connsiteY0" fmla="*/ 16981 h 33764"/>
                <a:gd name="connsiteX1" fmla="*/ 17149 w 33764"/>
                <a:gd name="connsiteY1" fmla="*/ 99 h 33764"/>
                <a:gd name="connsiteX2" fmla="*/ 266 w 33764"/>
                <a:gd name="connsiteY2" fmla="*/ 16981 h 33764"/>
                <a:gd name="connsiteX3" fmla="*/ 17149 w 33764"/>
                <a:gd name="connsiteY3" fmla="*/ 33863 h 33764"/>
                <a:gd name="connsiteX4" fmla="*/ 34031 w 33764"/>
                <a:gd name="connsiteY4" fmla="*/ 16981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64" h="33764">
                  <a:moveTo>
                    <a:pt x="34031" y="16981"/>
                  </a:moveTo>
                  <a:cubicBezTo>
                    <a:pt x="34031" y="7744"/>
                    <a:pt x="26386" y="99"/>
                    <a:pt x="17149" y="99"/>
                  </a:cubicBezTo>
                  <a:cubicBezTo>
                    <a:pt x="7911" y="99"/>
                    <a:pt x="266" y="7744"/>
                    <a:pt x="266" y="16981"/>
                  </a:cubicBezTo>
                  <a:cubicBezTo>
                    <a:pt x="266" y="26219"/>
                    <a:pt x="7911" y="33863"/>
                    <a:pt x="17149" y="33863"/>
                  </a:cubicBezTo>
                  <a:cubicBezTo>
                    <a:pt x="26386" y="33863"/>
                    <a:pt x="34031" y="26219"/>
                    <a:pt x="34031" y="16981"/>
                  </a:cubicBez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92" name="任意形状 2091">
              <a:extLst>
                <a:ext uri="{FF2B5EF4-FFF2-40B4-BE49-F238E27FC236}">
                  <a16:creationId xmlns:a16="http://schemas.microsoft.com/office/drawing/2014/main" id="{45056C03-F068-5BE1-2A6C-889C939173A1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3786148" y="6778595"/>
              <a:ext cx="33764" cy="33764"/>
            </a:xfrm>
            <a:custGeom>
              <a:avLst/>
              <a:gdLst>
                <a:gd name="connsiteX0" fmla="*/ 34031 w 33764"/>
                <a:gd name="connsiteY0" fmla="*/ 16985 h 33764"/>
                <a:gd name="connsiteX1" fmla="*/ 17149 w 33764"/>
                <a:gd name="connsiteY1" fmla="*/ 103 h 33764"/>
                <a:gd name="connsiteX2" fmla="*/ 266 w 33764"/>
                <a:gd name="connsiteY2" fmla="*/ 16985 h 33764"/>
                <a:gd name="connsiteX3" fmla="*/ 17149 w 33764"/>
                <a:gd name="connsiteY3" fmla="*/ 33867 h 33764"/>
                <a:gd name="connsiteX4" fmla="*/ 34031 w 33764"/>
                <a:gd name="connsiteY4" fmla="*/ 16985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64" h="33764">
                  <a:moveTo>
                    <a:pt x="34031" y="16985"/>
                  </a:moveTo>
                  <a:cubicBezTo>
                    <a:pt x="34031" y="7748"/>
                    <a:pt x="26386" y="103"/>
                    <a:pt x="17149" y="103"/>
                  </a:cubicBezTo>
                  <a:cubicBezTo>
                    <a:pt x="7911" y="103"/>
                    <a:pt x="266" y="7748"/>
                    <a:pt x="266" y="16985"/>
                  </a:cubicBezTo>
                  <a:cubicBezTo>
                    <a:pt x="266" y="26223"/>
                    <a:pt x="7911" y="33867"/>
                    <a:pt x="17149" y="33867"/>
                  </a:cubicBezTo>
                  <a:cubicBezTo>
                    <a:pt x="26386" y="33867"/>
                    <a:pt x="34031" y="26223"/>
                    <a:pt x="34031" y="16985"/>
                  </a:cubicBez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93" name="任意形状 2092">
              <a:extLst>
                <a:ext uri="{FF2B5EF4-FFF2-40B4-BE49-F238E27FC236}">
                  <a16:creationId xmlns:a16="http://schemas.microsoft.com/office/drawing/2014/main" id="{48902F48-46AF-CA76-661C-DE68C80CD1AF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1966312" y="7053810"/>
              <a:ext cx="158630" cy="144296"/>
            </a:xfrm>
            <a:custGeom>
              <a:avLst/>
              <a:gdLst>
                <a:gd name="connsiteX0" fmla="*/ 97363 w 158630"/>
                <a:gd name="connsiteY0" fmla="*/ 44710 h 144296"/>
                <a:gd name="connsiteX1" fmla="*/ 128898 w 158630"/>
                <a:gd name="connsiteY1" fmla="*/ 7122 h 144296"/>
                <a:gd name="connsiteX2" fmla="*/ 144825 w 158630"/>
                <a:gd name="connsiteY2" fmla="*/ 11263 h 144296"/>
                <a:gd name="connsiteX3" fmla="*/ 129535 w 158630"/>
                <a:gd name="connsiteY3" fmla="*/ 28464 h 144296"/>
                <a:gd name="connsiteX4" fmla="*/ 141640 w 158630"/>
                <a:gd name="connsiteY4" fmla="*/ 39613 h 144296"/>
                <a:gd name="connsiteX5" fmla="*/ 158841 w 158630"/>
                <a:gd name="connsiteY5" fmla="*/ 21138 h 144296"/>
                <a:gd name="connsiteX6" fmla="*/ 129217 w 158630"/>
                <a:gd name="connsiteY6" fmla="*/ 115 h 144296"/>
                <a:gd name="connsiteX7" fmla="*/ 95771 w 158630"/>
                <a:gd name="connsiteY7" fmla="*/ 24323 h 144296"/>
                <a:gd name="connsiteX8" fmla="*/ 61369 w 158630"/>
                <a:gd name="connsiteY8" fmla="*/ 115 h 144296"/>
                <a:gd name="connsiteX9" fmla="*/ 10084 w 158630"/>
                <a:gd name="connsiteY9" fmla="*/ 49169 h 144296"/>
                <a:gd name="connsiteX10" fmla="*/ 13907 w 158630"/>
                <a:gd name="connsiteY10" fmla="*/ 52354 h 144296"/>
                <a:gd name="connsiteX11" fmla="*/ 18048 w 158630"/>
                <a:gd name="connsiteY11" fmla="*/ 48851 h 144296"/>
                <a:gd name="connsiteX12" fmla="*/ 60732 w 158630"/>
                <a:gd name="connsiteY12" fmla="*/ 7122 h 144296"/>
                <a:gd name="connsiteX13" fmla="*/ 77933 w 158630"/>
                <a:gd name="connsiteY13" fmla="*/ 28464 h 144296"/>
                <a:gd name="connsiteX14" fmla="*/ 60732 w 158630"/>
                <a:gd name="connsiteY14" fmla="*/ 104276 h 144296"/>
                <a:gd name="connsiteX15" fmla="*/ 30471 w 158630"/>
                <a:gd name="connsiteY15" fmla="*/ 137404 h 144296"/>
                <a:gd name="connsiteX16" fmla="*/ 14544 w 158630"/>
                <a:gd name="connsiteY16" fmla="*/ 133263 h 144296"/>
                <a:gd name="connsiteX17" fmla="*/ 29515 w 158630"/>
                <a:gd name="connsiteY17" fmla="*/ 116062 h 144296"/>
                <a:gd name="connsiteX18" fmla="*/ 17729 w 158630"/>
                <a:gd name="connsiteY18" fmla="*/ 104913 h 144296"/>
                <a:gd name="connsiteX19" fmla="*/ 210 w 158630"/>
                <a:gd name="connsiteY19" fmla="*/ 123388 h 144296"/>
                <a:gd name="connsiteX20" fmla="*/ 30152 w 158630"/>
                <a:gd name="connsiteY20" fmla="*/ 144411 h 144296"/>
                <a:gd name="connsiteX21" fmla="*/ 63598 w 158630"/>
                <a:gd name="connsiteY21" fmla="*/ 120203 h 144296"/>
                <a:gd name="connsiteX22" fmla="*/ 98000 w 158630"/>
                <a:gd name="connsiteY22" fmla="*/ 144411 h 144296"/>
                <a:gd name="connsiteX23" fmla="*/ 148966 w 158630"/>
                <a:gd name="connsiteY23" fmla="*/ 95357 h 144296"/>
                <a:gd name="connsiteX24" fmla="*/ 145144 w 158630"/>
                <a:gd name="connsiteY24" fmla="*/ 92171 h 144296"/>
                <a:gd name="connsiteX25" fmla="*/ 141003 w 158630"/>
                <a:gd name="connsiteY25" fmla="*/ 95675 h 144296"/>
                <a:gd name="connsiteX26" fmla="*/ 98637 w 158630"/>
                <a:gd name="connsiteY26" fmla="*/ 137404 h 144296"/>
                <a:gd name="connsiteX27" fmla="*/ 81118 w 158630"/>
                <a:gd name="connsiteY27" fmla="*/ 116380 h 144296"/>
                <a:gd name="connsiteX28" fmla="*/ 86533 w 158630"/>
                <a:gd name="connsiteY28" fmla="*/ 88349 h 144296"/>
                <a:gd name="connsiteX29" fmla="*/ 97363 w 158630"/>
                <a:gd name="connsiteY29" fmla="*/ 44710 h 1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8630" h="144296">
                  <a:moveTo>
                    <a:pt x="97363" y="44710"/>
                  </a:moveTo>
                  <a:cubicBezTo>
                    <a:pt x="99274" y="36428"/>
                    <a:pt x="106601" y="7122"/>
                    <a:pt x="128898" y="7122"/>
                  </a:cubicBezTo>
                  <a:cubicBezTo>
                    <a:pt x="130491" y="7122"/>
                    <a:pt x="138136" y="7122"/>
                    <a:pt x="144825" y="11263"/>
                  </a:cubicBezTo>
                  <a:cubicBezTo>
                    <a:pt x="135906" y="12856"/>
                    <a:pt x="129535" y="20819"/>
                    <a:pt x="129535" y="28464"/>
                  </a:cubicBezTo>
                  <a:cubicBezTo>
                    <a:pt x="129535" y="33561"/>
                    <a:pt x="133039" y="39613"/>
                    <a:pt x="141640" y="39613"/>
                  </a:cubicBezTo>
                  <a:cubicBezTo>
                    <a:pt x="148648" y="39613"/>
                    <a:pt x="158841" y="33879"/>
                    <a:pt x="158841" y="21138"/>
                  </a:cubicBezTo>
                  <a:cubicBezTo>
                    <a:pt x="158841" y="4574"/>
                    <a:pt x="140047" y="115"/>
                    <a:pt x="129217" y="115"/>
                  </a:cubicBezTo>
                  <a:cubicBezTo>
                    <a:pt x="110742" y="115"/>
                    <a:pt x="99593" y="16997"/>
                    <a:pt x="95771" y="24323"/>
                  </a:cubicBezTo>
                  <a:cubicBezTo>
                    <a:pt x="87807" y="3300"/>
                    <a:pt x="70606" y="115"/>
                    <a:pt x="61369" y="115"/>
                  </a:cubicBezTo>
                  <a:cubicBezTo>
                    <a:pt x="28241" y="115"/>
                    <a:pt x="10084" y="41206"/>
                    <a:pt x="10084" y="49169"/>
                  </a:cubicBezTo>
                  <a:cubicBezTo>
                    <a:pt x="10084" y="52354"/>
                    <a:pt x="13270" y="52354"/>
                    <a:pt x="13907" y="52354"/>
                  </a:cubicBezTo>
                  <a:cubicBezTo>
                    <a:pt x="16455" y="52354"/>
                    <a:pt x="17411" y="51717"/>
                    <a:pt x="18048" y="48851"/>
                  </a:cubicBezTo>
                  <a:cubicBezTo>
                    <a:pt x="28878" y="15086"/>
                    <a:pt x="49901" y="7122"/>
                    <a:pt x="60732" y="7122"/>
                  </a:cubicBezTo>
                  <a:cubicBezTo>
                    <a:pt x="66784" y="7122"/>
                    <a:pt x="77933" y="9989"/>
                    <a:pt x="77933" y="28464"/>
                  </a:cubicBezTo>
                  <a:cubicBezTo>
                    <a:pt x="77933" y="38339"/>
                    <a:pt x="72517" y="59681"/>
                    <a:pt x="60732" y="104276"/>
                  </a:cubicBezTo>
                  <a:cubicBezTo>
                    <a:pt x="55635" y="124025"/>
                    <a:pt x="44486" y="137404"/>
                    <a:pt x="30471" y="137404"/>
                  </a:cubicBezTo>
                  <a:cubicBezTo>
                    <a:pt x="28560" y="137404"/>
                    <a:pt x="21233" y="137404"/>
                    <a:pt x="14544" y="133263"/>
                  </a:cubicBezTo>
                  <a:cubicBezTo>
                    <a:pt x="22507" y="131670"/>
                    <a:pt x="29515" y="124981"/>
                    <a:pt x="29515" y="116062"/>
                  </a:cubicBezTo>
                  <a:cubicBezTo>
                    <a:pt x="29515" y="107461"/>
                    <a:pt x="22507" y="104913"/>
                    <a:pt x="17729" y="104913"/>
                  </a:cubicBezTo>
                  <a:cubicBezTo>
                    <a:pt x="8173" y="104913"/>
                    <a:pt x="210" y="113195"/>
                    <a:pt x="210" y="123388"/>
                  </a:cubicBezTo>
                  <a:cubicBezTo>
                    <a:pt x="210" y="138041"/>
                    <a:pt x="16137" y="144411"/>
                    <a:pt x="30152" y="144411"/>
                  </a:cubicBezTo>
                  <a:cubicBezTo>
                    <a:pt x="51176" y="144411"/>
                    <a:pt x="62643" y="122114"/>
                    <a:pt x="63598" y="120203"/>
                  </a:cubicBezTo>
                  <a:cubicBezTo>
                    <a:pt x="67421" y="131988"/>
                    <a:pt x="78888" y="144411"/>
                    <a:pt x="98000" y="144411"/>
                  </a:cubicBezTo>
                  <a:cubicBezTo>
                    <a:pt x="130810" y="144411"/>
                    <a:pt x="148966" y="103320"/>
                    <a:pt x="148966" y="95357"/>
                  </a:cubicBezTo>
                  <a:cubicBezTo>
                    <a:pt x="148966" y="92171"/>
                    <a:pt x="146099" y="92171"/>
                    <a:pt x="145144" y="92171"/>
                  </a:cubicBezTo>
                  <a:cubicBezTo>
                    <a:pt x="142277" y="92171"/>
                    <a:pt x="141640" y="93446"/>
                    <a:pt x="141003" y="95675"/>
                  </a:cubicBezTo>
                  <a:cubicBezTo>
                    <a:pt x="130491" y="129759"/>
                    <a:pt x="108831" y="137404"/>
                    <a:pt x="98637" y="137404"/>
                  </a:cubicBezTo>
                  <a:cubicBezTo>
                    <a:pt x="86214" y="137404"/>
                    <a:pt x="81118" y="127210"/>
                    <a:pt x="81118" y="116380"/>
                  </a:cubicBezTo>
                  <a:cubicBezTo>
                    <a:pt x="81118" y="109372"/>
                    <a:pt x="83029" y="102365"/>
                    <a:pt x="86533" y="88349"/>
                  </a:cubicBezTo>
                  <a:lnTo>
                    <a:pt x="97363" y="44710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94" name="任意形状 2093">
              <a:extLst>
                <a:ext uri="{FF2B5EF4-FFF2-40B4-BE49-F238E27FC236}">
                  <a16:creationId xmlns:a16="http://schemas.microsoft.com/office/drawing/2014/main" id="{A3EC5AAD-F956-7F63-CBEF-1EB998C3628F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2149607" y="7144051"/>
              <a:ext cx="136237" cy="100561"/>
            </a:xfrm>
            <a:custGeom>
              <a:avLst/>
              <a:gdLst>
                <a:gd name="connsiteX0" fmla="*/ 16939 w 136237"/>
                <a:gd name="connsiteY0" fmla="*/ 84401 h 100561"/>
                <a:gd name="connsiteX1" fmla="*/ 14709 w 136237"/>
                <a:gd name="connsiteY1" fmla="*/ 93543 h 100561"/>
                <a:gd name="connsiteX2" fmla="*/ 22290 w 136237"/>
                <a:gd name="connsiteY2" fmla="*/ 100678 h 100561"/>
                <a:gd name="connsiteX3" fmla="*/ 30986 w 136237"/>
                <a:gd name="connsiteY3" fmla="*/ 95772 h 100561"/>
                <a:gd name="connsiteX4" fmla="*/ 35000 w 136237"/>
                <a:gd name="connsiteY4" fmla="*/ 81948 h 100561"/>
                <a:gd name="connsiteX5" fmla="*/ 39905 w 136237"/>
                <a:gd name="connsiteY5" fmla="*/ 61880 h 100561"/>
                <a:gd name="connsiteX6" fmla="*/ 43696 w 136237"/>
                <a:gd name="connsiteY6" fmla="*/ 46941 h 100561"/>
                <a:gd name="connsiteX7" fmla="*/ 53061 w 136237"/>
                <a:gd name="connsiteY7" fmla="*/ 26873 h 100561"/>
                <a:gd name="connsiteX8" fmla="*/ 86507 w 136237"/>
                <a:gd name="connsiteY8" fmla="*/ 6359 h 100561"/>
                <a:gd name="connsiteX9" fmla="*/ 99662 w 136237"/>
                <a:gd name="connsiteY9" fmla="*/ 21968 h 100561"/>
                <a:gd name="connsiteX10" fmla="*/ 86507 w 136237"/>
                <a:gd name="connsiteY10" fmla="*/ 69461 h 100561"/>
                <a:gd name="connsiteX11" fmla="*/ 83162 w 136237"/>
                <a:gd name="connsiteY11" fmla="*/ 81502 h 100561"/>
                <a:gd name="connsiteX12" fmla="*/ 104345 w 136237"/>
                <a:gd name="connsiteY12" fmla="*/ 100678 h 100561"/>
                <a:gd name="connsiteX13" fmla="*/ 136453 w 136237"/>
                <a:gd name="connsiteY13" fmla="*/ 66563 h 100561"/>
                <a:gd name="connsiteX14" fmla="*/ 132886 w 136237"/>
                <a:gd name="connsiteY14" fmla="*/ 63664 h 100561"/>
                <a:gd name="connsiteX15" fmla="*/ 128649 w 136237"/>
                <a:gd name="connsiteY15" fmla="*/ 67455 h 100561"/>
                <a:gd name="connsiteX16" fmla="*/ 105014 w 136237"/>
                <a:gd name="connsiteY16" fmla="*/ 94435 h 100561"/>
                <a:gd name="connsiteX17" fmla="*/ 99439 w 136237"/>
                <a:gd name="connsiteY17" fmla="*/ 86630 h 100561"/>
                <a:gd name="connsiteX18" fmla="*/ 104568 w 136237"/>
                <a:gd name="connsiteY18" fmla="*/ 68569 h 100561"/>
                <a:gd name="connsiteX19" fmla="*/ 116386 w 136237"/>
                <a:gd name="connsiteY19" fmla="*/ 25535 h 100561"/>
                <a:gd name="connsiteX20" fmla="*/ 87399 w 136237"/>
                <a:gd name="connsiteY20" fmla="*/ 116 h 100561"/>
                <a:gd name="connsiteX21" fmla="*/ 49716 w 136237"/>
                <a:gd name="connsiteY21" fmla="*/ 20407 h 100561"/>
                <a:gd name="connsiteX22" fmla="*/ 25858 w 136237"/>
                <a:gd name="connsiteY22" fmla="*/ 116 h 100561"/>
                <a:gd name="connsiteX23" fmla="*/ 8243 w 136237"/>
                <a:gd name="connsiteY23" fmla="*/ 12157 h 100561"/>
                <a:gd name="connsiteX24" fmla="*/ 216 w 136237"/>
                <a:gd name="connsiteY24" fmla="*/ 34231 h 100561"/>
                <a:gd name="connsiteX25" fmla="*/ 4006 w 136237"/>
                <a:gd name="connsiteY25" fmla="*/ 37130 h 100561"/>
                <a:gd name="connsiteX26" fmla="*/ 8912 w 136237"/>
                <a:gd name="connsiteY26" fmla="*/ 30441 h 100561"/>
                <a:gd name="connsiteX27" fmla="*/ 25189 w 136237"/>
                <a:gd name="connsiteY27" fmla="*/ 6359 h 100561"/>
                <a:gd name="connsiteX28" fmla="*/ 32547 w 136237"/>
                <a:gd name="connsiteY28" fmla="*/ 17285 h 100561"/>
                <a:gd name="connsiteX29" fmla="*/ 28979 w 136237"/>
                <a:gd name="connsiteY29" fmla="*/ 35792 h 100561"/>
                <a:gd name="connsiteX30" fmla="*/ 24074 w 136237"/>
                <a:gd name="connsiteY30" fmla="*/ 55860 h 100561"/>
                <a:gd name="connsiteX31" fmla="*/ 16939 w 136237"/>
                <a:gd name="connsiteY31" fmla="*/ 84401 h 100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6237" h="100561">
                  <a:moveTo>
                    <a:pt x="16939" y="84401"/>
                  </a:moveTo>
                  <a:cubicBezTo>
                    <a:pt x="16047" y="87299"/>
                    <a:pt x="14709" y="92874"/>
                    <a:pt x="14709" y="93543"/>
                  </a:cubicBezTo>
                  <a:cubicBezTo>
                    <a:pt x="14709" y="98448"/>
                    <a:pt x="18722" y="100678"/>
                    <a:pt x="22290" y="100678"/>
                  </a:cubicBezTo>
                  <a:cubicBezTo>
                    <a:pt x="26304" y="100678"/>
                    <a:pt x="29871" y="97779"/>
                    <a:pt x="30986" y="95772"/>
                  </a:cubicBezTo>
                  <a:cubicBezTo>
                    <a:pt x="32101" y="93766"/>
                    <a:pt x="33885" y="86630"/>
                    <a:pt x="35000" y="81948"/>
                  </a:cubicBezTo>
                  <a:cubicBezTo>
                    <a:pt x="36115" y="77711"/>
                    <a:pt x="38567" y="67455"/>
                    <a:pt x="39905" y="61880"/>
                  </a:cubicBezTo>
                  <a:cubicBezTo>
                    <a:pt x="41243" y="56975"/>
                    <a:pt x="42581" y="52069"/>
                    <a:pt x="43696" y="46941"/>
                  </a:cubicBezTo>
                  <a:cubicBezTo>
                    <a:pt x="46148" y="37799"/>
                    <a:pt x="46594" y="36015"/>
                    <a:pt x="53061" y="26873"/>
                  </a:cubicBezTo>
                  <a:cubicBezTo>
                    <a:pt x="59304" y="17954"/>
                    <a:pt x="69784" y="6359"/>
                    <a:pt x="86507" y="6359"/>
                  </a:cubicBezTo>
                  <a:cubicBezTo>
                    <a:pt x="99439" y="6359"/>
                    <a:pt x="99662" y="17731"/>
                    <a:pt x="99662" y="21968"/>
                  </a:cubicBezTo>
                  <a:cubicBezTo>
                    <a:pt x="99662" y="35346"/>
                    <a:pt x="90075" y="60096"/>
                    <a:pt x="86507" y="69461"/>
                  </a:cubicBezTo>
                  <a:cubicBezTo>
                    <a:pt x="84054" y="75705"/>
                    <a:pt x="83162" y="77711"/>
                    <a:pt x="83162" y="81502"/>
                  </a:cubicBezTo>
                  <a:cubicBezTo>
                    <a:pt x="83162" y="93320"/>
                    <a:pt x="92973" y="100678"/>
                    <a:pt x="104345" y="100678"/>
                  </a:cubicBezTo>
                  <a:cubicBezTo>
                    <a:pt x="126642" y="100678"/>
                    <a:pt x="136453" y="69907"/>
                    <a:pt x="136453" y="66563"/>
                  </a:cubicBezTo>
                  <a:cubicBezTo>
                    <a:pt x="136453" y="63664"/>
                    <a:pt x="133555" y="63664"/>
                    <a:pt x="132886" y="63664"/>
                  </a:cubicBezTo>
                  <a:cubicBezTo>
                    <a:pt x="129764" y="63664"/>
                    <a:pt x="129541" y="65002"/>
                    <a:pt x="128649" y="67455"/>
                  </a:cubicBezTo>
                  <a:cubicBezTo>
                    <a:pt x="123521" y="85293"/>
                    <a:pt x="113933" y="94435"/>
                    <a:pt x="105014" y="94435"/>
                  </a:cubicBezTo>
                  <a:cubicBezTo>
                    <a:pt x="100331" y="94435"/>
                    <a:pt x="99439" y="91313"/>
                    <a:pt x="99439" y="86630"/>
                  </a:cubicBezTo>
                  <a:cubicBezTo>
                    <a:pt x="99439" y="81502"/>
                    <a:pt x="100554" y="78603"/>
                    <a:pt x="104568" y="68569"/>
                  </a:cubicBezTo>
                  <a:cubicBezTo>
                    <a:pt x="107244" y="61657"/>
                    <a:pt x="116386" y="38022"/>
                    <a:pt x="116386" y="25535"/>
                  </a:cubicBezTo>
                  <a:cubicBezTo>
                    <a:pt x="116386" y="3907"/>
                    <a:pt x="99216" y="116"/>
                    <a:pt x="87399" y="116"/>
                  </a:cubicBezTo>
                  <a:cubicBezTo>
                    <a:pt x="68892" y="116"/>
                    <a:pt x="56405" y="11488"/>
                    <a:pt x="49716" y="20407"/>
                  </a:cubicBezTo>
                  <a:cubicBezTo>
                    <a:pt x="48155" y="5022"/>
                    <a:pt x="35000" y="116"/>
                    <a:pt x="25858" y="116"/>
                  </a:cubicBezTo>
                  <a:cubicBezTo>
                    <a:pt x="16270" y="116"/>
                    <a:pt x="11141" y="7028"/>
                    <a:pt x="8243" y="12157"/>
                  </a:cubicBezTo>
                  <a:cubicBezTo>
                    <a:pt x="3337" y="20407"/>
                    <a:pt x="216" y="33116"/>
                    <a:pt x="216" y="34231"/>
                  </a:cubicBezTo>
                  <a:cubicBezTo>
                    <a:pt x="216" y="37130"/>
                    <a:pt x="3337" y="37130"/>
                    <a:pt x="4006" y="37130"/>
                  </a:cubicBezTo>
                  <a:cubicBezTo>
                    <a:pt x="7128" y="37130"/>
                    <a:pt x="7351" y="36461"/>
                    <a:pt x="8912" y="30441"/>
                  </a:cubicBezTo>
                  <a:cubicBezTo>
                    <a:pt x="12256" y="17285"/>
                    <a:pt x="16493" y="6359"/>
                    <a:pt x="25189" y="6359"/>
                  </a:cubicBezTo>
                  <a:cubicBezTo>
                    <a:pt x="30986" y="6359"/>
                    <a:pt x="32547" y="11265"/>
                    <a:pt x="32547" y="17285"/>
                  </a:cubicBezTo>
                  <a:cubicBezTo>
                    <a:pt x="32547" y="21522"/>
                    <a:pt x="30540" y="29772"/>
                    <a:pt x="28979" y="35792"/>
                  </a:cubicBezTo>
                  <a:cubicBezTo>
                    <a:pt x="27419" y="41812"/>
                    <a:pt x="25189" y="50954"/>
                    <a:pt x="24074" y="55860"/>
                  </a:cubicBezTo>
                  <a:lnTo>
                    <a:pt x="16939" y="84401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95" name="任意形状 2094">
              <a:extLst>
                <a:ext uri="{FF2B5EF4-FFF2-40B4-BE49-F238E27FC236}">
                  <a16:creationId xmlns:a16="http://schemas.microsoft.com/office/drawing/2014/main" id="{6A0A05F6-B9AB-CDF2-20F5-4B2C49345027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2320894" y="7094327"/>
              <a:ext cx="81162" cy="148055"/>
            </a:xfrm>
            <a:custGeom>
              <a:avLst/>
              <a:gdLst>
                <a:gd name="connsiteX0" fmla="*/ 50613 w 81162"/>
                <a:gd name="connsiteY0" fmla="*/ 6359 h 148055"/>
                <a:gd name="connsiteX1" fmla="*/ 43924 w 81162"/>
                <a:gd name="connsiteY1" fmla="*/ 116 h 148055"/>
                <a:gd name="connsiteX2" fmla="*/ 221 w 81162"/>
                <a:gd name="connsiteY2" fmla="*/ 14387 h 148055"/>
                <a:gd name="connsiteX3" fmla="*/ 221 w 81162"/>
                <a:gd name="connsiteY3" fmla="*/ 22414 h 148055"/>
                <a:gd name="connsiteX4" fmla="*/ 32552 w 81162"/>
                <a:gd name="connsiteY4" fmla="*/ 16170 h 148055"/>
                <a:gd name="connsiteX5" fmla="*/ 32552 w 81162"/>
                <a:gd name="connsiteY5" fmla="*/ 129888 h 148055"/>
                <a:gd name="connsiteX6" fmla="*/ 10254 w 81162"/>
                <a:gd name="connsiteY6" fmla="*/ 140144 h 148055"/>
                <a:gd name="connsiteX7" fmla="*/ 1781 w 81162"/>
                <a:gd name="connsiteY7" fmla="*/ 140144 h 148055"/>
                <a:gd name="connsiteX8" fmla="*/ 1781 w 81162"/>
                <a:gd name="connsiteY8" fmla="*/ 148171 h 148055"/>
                <a:gd name="connsiteX9" fmla="*/ 41471 w 81162"/>
                <a:gd name="connsiteY9" fmla="*/ 147280 h 148055"/>
                <a:gd name="connsiteX10" fmla="*/ 81383 w 81162"/>
                <a:gd name="connsiteY10" fmla="*/ 148171 h 148055"/>
                <a:gd name="connsiteX11" fmla="*/ 81383 w 81162"/>
                <a:gd name="connsiteY11" fmla="*/ 140144 h 148055"/>
                <a:gd name="connsiteX12" fmla="*/ 72910 w 81162"/>
                <a:gd name="connsiteY12" fmla="*/ 140144 h 148055"/>
                <a:gd name="connsiteX13" fmla="*/ 50613 w 81162"/>
                <a:gd name="connsiteY13" fmla="*/ 129888 h 148055"/>
                <a:gd name="connsiteX14" fmla="*/ 50613 w 81162"/>
                <a:gd name="connsiteY14" fmla="*/ 6359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162" h="148055">
                  <a:moveTo>
                    <a:pt x="50613" y="6359"/>
                  </a:moveTo>
                  <a:cubicBezTo>
                    <a:pt x="50613" y="339"/>
                    <a:pt x="50167" y="116"/>
                    <a:pt x="43924" y="116"/>
                  </a:cubicBezTo>
                  <a:cubicBezTo>
                    <a:pt x="29653" y="14164"/>
                    <a:pt x="9362" y="14387"/>
                    <a:pt x="221" y="14387"/>
                  </a:cubicBezTo>
                  <a:lnTo>
                    <a:pt x="221" y="22414"/>
                  </a:lnTo>
                  <a:cubicBezTo>
                    <a:pt x="5572" y="22414"/>
                    <a:pt x="20288" y="22414"/>
                    <a:pt x="32552" y="16170"/>
                  </a:cubicBezTo>
                  <a:lnTo>
                    <a:pt x="32552" y="129888"/>
                  </a:lnTo>
                  <a:cubicBezTo>
                    <a:pt x="32552" y="137246"/>
                    <a:pt x="32552" y="140144"/>
                    <a:pt x="10254" y="140144"/>
                  </a:cubicBezTo>
                  <a:lnTo>
                    <a:pt x="1781" y="140144"/>
                  </a:lnTo>
                  <a:lnTo>
                    <a:pt x="1781" y="148171"/>
                  </a:lnTo>
                  <a:cubicBezTo>
                    <a:pt x="5795" y="147949"/>
                    <a:pt x="33221" y="147280"/>
                    <a:pt x="41471" y="147280"/>
                  </a:cubicBezTo>
                  <a:cubicBezTo>
                    <a:pt x="48383" y="147280"/>
                    <a:pt x="76478" y="147949"/>
                    <a:pt x="81383" y="148171"/>
                  </a:cubicBezTo>
                  <a:lnTo>
                    <a:pt x="81383" y="140144"/>
                  </a:lnTo>
                  <a:lnTo>
                    <a:pt x="72910" y="140144"/>
                  </a:lnTo>
                  <a:cubicBezTo>
                    <a:pt x="50613" y="140144"/>
                    <a:pt x="50613" y="137246"/>
                    <a:pt x="50613" y="129888"/>
                  </a:cubicBezTo>
                  <a:lnTo>
                    <a:pt x="50613" y="6359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96" name="任意形状 2095">
              <a:extLst>
                <a:ext uri="{FF2B5EF4-FFF2-40B4-BE49-F238E27FC236}">
                  <a16:creationId xmlns:a16="http://schemas.microsoft.com/office/drawing/2014/main" id="{383AB473-56AE-8DE5-C92C-3BB829A12D19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2767262" y="7053810"/>
              <a:ext cx="158630" cy="144296"/>
            </a:xfrm>
            <a:custGeom>
              <a:avLst/>
              <a:gdLst>
                <a:gd name="connsiteX0" fmla="*/ 97388 w 158630"/>
                <a:gd name="connsiteY0" fmla="*/ 44710 h 144296"/>
                <a:gd name="connsiteX1" fmla="*/ 128923 w 158630"/>
                <a:gd name="connsiteY1" fmla="*/ 7122 h 144296"/>
                <a:gd name="connsiteX2" fmla="*/ 144850 w 158630"/>
                <a:gd name="connsiteY2" fmla="*/ 11263 h 144296"/>
                <a:gd name="connsiteX3" fmla="*/ 129560 w 158630"/>
                <a:gd name="connsiteY3" fmla="*/ 28464 h 144296"/>
                <a:gd name="connsiteX4" fmla="*/ 141665 w 158630"/>
                <a:gd name="connsiteY4" fmla="*/ 39613 h 144296"/>
                <a:gd name="connsiteX5" fmla="*/ 158866 w 158630"/>
                <a:gd name="connsiteY5" fmla="*/ 21138 h 144296"/>
                <a:gd name="connsiteX6" fmla="*/ 129242 w 158630"/>
                <a:gd name="connsiteY6" fmla="*/ 115 h 144296"/>
                <a:gd name="connsiteX7" fmla="*/ 95796 w 158630"/>
                <a:gd name="connsiteY7" fmla="*/ 24323 h 144296"/>
                <a:gd name="connsiteX8" fmla="*/ 61394 w 158630"/>
                <a:gd name="connsiteY8" fmla="*/ 115 h 144296"/>
                <a:gd name="connsiteX9" fmla="*/ 10110 w 158630"/>
                <a:gd name="connsiteY9" fmla="*/ 49169 h 144296"/>
                <a:gd name="connsiteX10" fmla="*/ 13932 w 158630"/>
                <a:gd name="connsiteY10" fmla="*/ 52354 h 144296"/>
                <a:gd name="connsiteX11" fmla="*/ 18073 w 158630"/>
                <a:gd name="connsiteY11" fmla="*/ 48851 h 144296"/>
                <a:gd name="connsiteX12" fmla="*/ 60757 w 158630"/>
                <a:gd name="connsiteY12" fmla="*/ 7122 h 144296"/>
                <a:gd name="connsiteX13" fmla="*/ 77958 w 158630"/>
                <a:gd name="connsiteY13" fmla="*/ 28464 h 144296"/>
                <a:gd name="connsiteX14" fmla="*/ 60757 w 158630"/>
                <a:gd name="connsiteY14" fmla="*/ 104276 h 144296"/>
                <a:gd name="connsiteX15" fmla="*/ 30496 w 158630"/>
                <a:gd name="connsiteY15" fmla="*/ 137404 h 144296"/>
                <a:gd name="connsiteX16" fmla="*/ 14569 w 158630"/>
                <a:gd name="connsiteY16" fmla="*/ 133263 h 144296"/>
                <a:gd name="connsiteX17" fmla="*/ 29540 w 158630"/>
                <a:gd name="connsiteY17" fmla="*/ 116062 h 144296"/>
                <a:gd name="connsiteX18" fmla="*/ 17754 w 158630"/>
                <a:gd name="connsiteY18" fmla="*/ 104913 h 144296"/>
                <a:gd name="connsiteX19" fmla="*/ 235 w 158630"/>
                <a:gd name="connsiteY19" fmla="*/ 123388 h 144296"/>
                <a:gd name="connsiteX20" fmla="*/ 30177 w 158630"/>
                <a:gd name="connsiteY20" fmla="*/ 144411 h 144296"/>
                <a:gd name="connsiteX21" fmla="*/ 63624 w 158630"/>
                <a:gd name="connsiteY21" fmla="*/ 120203 h 144296"/>
                <a:gd name="connsiteX22" fmla="*/ 98025 w 158630"/>
                <a:gd name="connsiteY22" fmla="*/ 144411 h 144296"/>
                <a:gd name="connsiteX23" fmla="*/ 148991 w 158630"/>
                <a:gd name="connsiteY23" fmla="*/ 95357 h 144296"/>
                <a:gd name="connsiteX24" fmla="*/ 145169 w 158630"/>
                <a:gd name="connsiteY24" fmla="*/ 92171 h 144296"/>
                <a:gd name="connsiteX25" fmla="*/ 141028 w 158630"/>
                <a:gd name="connsiteY25" fmla="*/ 95675 h 144296"/>
                <a:gd name="connsiteX26" fmla="*/ 98662 w 158630"/>
                <a:gd name="connsiteY26" fmla="*/ 137404 h 144296"/>
                <a:gd name="connsiteX27" fmla="*/ 81143 w 158630"/>
                <a:gd name="connsiteY27" fmla="*/ 116380 h 144296"/>
                <a:gd name="connsiteX28" fmla="*/ 86558 w 158630"/>
                <a:gd name="connsiteY28" fmla="*/ 88349 h 144296"/>
                <a:gd name="connsiteX29" fmla="*/ 97388 w 158630"/>
                <a:gd name="connsiteY29" fmla="*/ 44710 h 1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8630" h="144296">
                  <a:moveTo>
                    <a:pt x="97388" y="44710"/>
                  </a:moveTo>
                  <a:cubicBezTo>
                    <a:pt x="99300" y="36428"/>
                    <a:pt x="106626" y="7122"/>
                    <a:pt x="128923" y="7122"/>
                  </a:cubicBezTo>
                  <a:cubicBezTo>
                    <a:pt x="130516" y="7122"/>
                    <a:pt x="138161" y="7122"/>
                    <a:pt x="144850" y="11263"/>
                  </a:cubicBezTo>
                  <a:cubicBezTo>
                    <a:pt x="135931" y="12856"/>
                    <a:pt x="129560" y="20819"/>
                    <a:pt x="129560" y="28464"/>
                  </a:cubicBezTo>
                  <a:cubicBezTo>
                    <a:pt x="129560" y="33561"/>
                    <a:pt x="133064" y="39613"/>
                    <a:pt x="141665" y="39613"/>
                  </a:cubicBezTo>
                  <a:cubicBezTo>
                    <a:pt x="148673" y="39613"/>
                    <a:pt x="158866" y="33879"/>
                    <a:pt x="158866" y="21138"/>
                  </a:cubicBezTo>
                  <a:cubicBezTo>
                    <a:pt x="158866" y="4574"/>
                    <a:pt x="140072" y="115"/>
                    <a:pt x="129242" y="115"/>
                  </a:cubicBezTo>
                  <a:cubicBezTo>
                    <a:pt x="110767" y="115"/>
                    <a:pt x="99618" y="16997"/>
                    <a:pt x="95796" y="24323"/>
                  </a:cubicBezTo>
                  <a:cubicBezTo>
                    <a:pt x="87832" y="3300"/>
                    <a:pt x="70631" y="115"/>
                    <a:pt x="61394" y="115"/>
                  </a:cubicBezTo>
                  <a:cubicBezTo>
                    <a:pt x="28266" y="115"/>
                    <a:pt x="10110" y="41206"/>
                    <a:pt x="10110" y="49169"/>
                  </a:cubicBezTo>
                  <a:cubicBezTo>
                    <a:pt x="10110" y="52354"/>
                    <a:pt x="13295" y="52354"/>
                    <a:pt x="13932" y="52354"/>
                  </a:cubicBezTo>
                  <a:cubicBezTo>
                    <a:pt x="16480" y="52354"/>
                    <a:pt x="17436" y="51717"/>
                    <a:pt x="18073" y="48851"/>
                  </a:cubicBezTo>
                  <a:cubicBezTo>
                    <a:pt x="28903" y="15086"/>
                    <a:pt x="49926" y="7122"/>
                    <a:pt x="60757" y="7122"/>
                  </a:cubicBezTo>
                  <a:cubicBezTo>
                    <a:pt x="66809" y="7122"/>
                    <a:pt x="77958" y="9989"/>
                    <a:pt x="77958" y="28464"/>
                  </a:cubicBezTo>
                  <a:cubicBezTo>
                    <a:pt x="77958" y="38339"/>
                    <a:pt x="72543" y="59681"/>
                    <a:pt x="60757" y="104276"/>
                  </a:cubicBezTo>
                  <a:cubicBezTo>
                    <a:pt x="55660" y="124025"/>
                    <a:pt x="44511" y="137404"/>
                    <a:pt x="30496" y="137404"/>
                  </a:cubicBezTo>
                  <a:cubicBezTo>
                    <a:pt x="28585" y="137404"/>
                    <a:pt x="21258" y="137404"/>
                    <a:pt x="14569" y="133263"/>
                  </a:cubicBezTo>
                  <a:cubicBezTo>
                    <a:pt x="22532" y="131670"/>
                    <a:pt x="29540" y="124981"/>
                    <a:pt x="29540" y="116062"/>
                  </a:cubicBezTo>
                  <a:cubicBezTo>
                    <a:pt x="29540" y="107461"/>
                    <a:pt x="22532" y="104913"/>
                    <a:pt x="17754" y="104913"/>
                  </a:cubicBezTo>
                  <a:cubicBezTo>
                    <a:pt x="8198" y="104913"/>
                    <a:pt x="235" y="113195"/>
                    <a:pt x="235" y="123388"/>
                  </a:cubicBezTo>
                  <a:cubicBezTo>
                    <a:pt x="235" y="138041"/>
                    <a:pt x="16162" y="144411"/>
                    <a:pt x="30177" y="144411"/>
                  </a:cubicBezTo>
                  <a:cubicBezTo>
                    <a:pt x="51201" y="144411"/>
                    <a:pt x="62668" y="122114"/>
                    <a:pt x="63624" y="120203"/>
                  </a:cubicBezTo>
                  <a:cubicBezTo>
                    <a:pt x="67446" y="131988"/>
                    <a:pt x="78913" y="144411"/>
                    <a:pt x="98025" y="144411"/>
                  </a:cubicBezTo>
                  <a:cubicBezTo>
                    <a:pt x="130835" y="144411"/>
                    <a:pt x="148991" y="103320"/>
                    <a:pt x="148991" y="95357"/>
                  </a:cubicBezTo>
                  <a:cubicBezTo>
                    <a:pt x="148991" y="92171"/>
                    <a:pt x="146124" y="92171"/>
                    <a:pt x="145169" y="92171"/>
                  </a:cubicBezTo>
                  <a:cubicBezTo>
                    <a:pt x="142302" y="92171"/>
                    <a:pt x="141665" y="93446"/>
                    <a:pt x="141028" y="95675"/>
                  </a:cubicBezTo>
                  <a:cubicBezTo>
                    <a:pt x="130516" y="129759"/>
                    <a:pt x="108856" y="137404"/>
                    <a:pt x="98662" y="137404"/>
                  </a:cubicBezTo>
                  <a:cubicBezTo>
                    <a:pt x="86240" y="137404"/>
                    <a:pt x="81143" y="127210"/>
                    <a:pt x="81143" y="116380"/>
                  </a:cubicBezTo>
                  <a:cubicBezTo>
                    <a:pt x="81143" y="109372"/>
                    <a:pt x="83054" y="102365"/>
                    <a:pt x="86558" y="88349"/>
                  </a:cubicBezTo>
                  <a:lnTo>
                    <a:pt x="97388" y="44710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97" name="任意形状 2096">
              <a:extLst>
                <a:ext uri="{FF2B5EF4-FFF2-40B4-BE49-F238E27FC236}">
                  <a16:creationId xmlns:a16="http://schemas.microsoft.com/office/drawing/2014/main" id="{2D69D198-2E76-27D1-4F06-8B5B1A1C048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2950556" y="7144051"/>
              <a:ext cx="136237" cy="100561"/>
            </a:xfrm>
            <a:custGeom>
              <a:avLst/>
              <a:gdLst>
                <a:gd name="connsiteX0" fmla="*/ 16964 w 136237"/>
                <a:gd name="connsiteY0" fmla="*/ 84401 h 100561"/>
                <a:gd name="connsiteX1" fmla="*/ 14734 w 136237"/>
                <a:gd name="connsiteY1" fmla="*/ 93543 h 100561"/>
                <a:gd name="connsiteX2" fmla="*/ 22315 w 136237"/>
                <a:gd name="connsiteY2" fmla="*/ 100678 h 100561"/>
                <a:gd name="connsiteX3" fmla="*/ 31011 w 136237"/>
                <a:gd name="connsiteY3" fmla="*/ 95772 h 100561"/>
                <a:gd name="connsiteX4" fmla="*/ 35025 w 136237"/>
                <a:gd name="connsiteY4" fmla="*/ 81948 h 100561"/>
                <a:gd name="connsiteX5" fmla="*/ 39930 w 136237"/>
                <a:gd name="connsiteY5" fmla="*/ 61880 h 100561"/>
                <a:gd name="connsiteX6" fmla="*/ 43721 w 136237"/>
                <a:gd name="connsiteY6" fmla="*/ 46941 h 100561"/>
                <a:gd name="connsiteX7" fmla="*/ 53086 w 136237"/>
                <a:gd name="connsiteY7" fmla="*/ 26873 h 100561"/>
                <a:gd name="connsiteX8" fmla="*/ 86532 w 136237"/>
                <a:gd name="connsiteY8" fmla="*/ 6359 h 100561"/>
                <a:gd name="connsiteX9" fmla="*/ 99687 w 136237"/>
                <a:gd name="connsiteY9" fmla="*/ 21968 h 100561"/>
                <a:gd name="connsiteX10" fmla="*/ 86532 w 136237"/>
                <a:gd name="connsiteY10" fmla="*/ 69461 h 100561"/>
                <a:gd name="connsiteX11" fmla="*/ 83187 w 136237"/>
                <a:gd name="connsiteY11" fmla="*/ 81502 h 100561"/>
                <a:gd name="connsiteX12" fmla="*/ 104370 w 136237"/>
                <a:gd name="connsiteY12" fmla="*/ 100678 h 100561"/>
                <a:gd name="connsiteX13" fmla="*/ 136478 w 136237"/>
                <a:gd name="connsiteY13" fmla="*/ 66563 h 100561"/>
                <a:gd name="connsiteX14" fmla="*/ 132911 w 136237"/>
                <a:gd name="connsiteY14" fmla="*/ 63664 h 100561"/>
                <a:gd name="connsiteX15" fmla="*/ 128674 w 136237"/>
                <a:gd name="connsiteY15" fmla="*/ 67455 h 100561"/>
                <a:gd name="connsiteX16" fmla="*/ 105039 w 136237"/>
                <a:gd name="connsiteY16" fmla="*/ 94435 h 100561"/>
                <a:gd name="connsiteX17" fmla="*/ 99464 w 136237"/>
                <a:gd name="connsiteY17" fmla="*/ 86630 h 100561"/>
                <a:gd name="connsiteX18" fmla="*/ 104593 w 136237"/>
                <a:gd name="connsiteY18" fmla="*/ 68569 h 100561"/>
                <a:gd name="connsiteX19" fmla="*/ 116411 w 136237"/>
                <a:gd name="connsiteY19" fmla="*/ 25535 h 100561"/>
                <a:gd name="connsiteX20" fmla="*/ 87424 w 136237"/>
                <a:gd name="connsiteY20" fmla="*/ 116 h 100561"/>
                <a:gd name="connsiteX21" fmla="*/ 49741 w 136237"/>
                <a:gd name="connsiteY21" fmla="*/ 20407 h 100561"/>
                <a:gd name="connsiteX22" fmla="*/ 25883 w 136237"/>
                <a:gd name="connsiteY22" fmla="*/ 116 h 100561"/>
                <a:gd name="connsiteX23" fmla="*/ 8268 w 136237"/>
                <a:gd name="connsiteY23" fmla="*/ 12157 h 100561"/>
                <a:gd name="connsiteX24" fmla="*/ 241 w 136237"/>
                <a:gd name="connsiteY24" fmla="*/ 34231 h 100561"/>
                <a:gd name="connsiteX25" fmla="*/ 4031 w 136237"/>
                <a:gd name="connsiteY25" fmla="*/ 37130 h 100561"/>
                <a:gd name="connsiteX26" fmla="*/ 8937 w 136237"/>
                <a:gd name="connsiteY26" fmla="*/ 30441 h 100561"/>
                <a:gd name="connsiteX27" fmla="*/ 25214 w 136237"/>
                <a:gd name="connsiteY27" fmla="*/ 6359 h 100561"/>
                <a:gd name="connsiteX28" fmla="*/ 32572 w 136237"/>
                <a:gd name="connsiteY28" fmla="*/ 17285 h 100561"/>
                <a:gd name="connsiteX29" fmla="*/ 29004 w 136237"/>
                <a:gd name="connsiteY29" fmla="*/ 35792 h 100561"/>
                <a:gd name="connsiteX30" fmla="*/ 24099 w 136237"/>
                <a:gd name="connsiteY30" fmla="*/ 55860 h 100561"/>
                <a:gd name="connsiteX31" fmla="*/ 16964 w 136237"/>
                <a:gd name="connsiteY31" fmla="*/ 84401 h 100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6237" h="100561">
                  <a:moveTo>
                    <a:pt x="16964" y="84401"/>
                  </a:moveTo>
                  <a:cubicBezTo>
                    <a:pt x="16072" y="87299"/>
                    <a:pt x="14734" y="92874"/>
                    <a:pt x="14734" y="93543"/>
                  </a:cubicBezTo>
                  <a:cubicBezTo>
                    <a:pt x="14734" y="98448"/>
                    <a:pt x="18748" y="100678"/>
                    <a:pt x="22315" y="100678"/>
                  </a:cubicBezTo>
                  <a:cubicBezTo>
                    <a:pt x="26329" y="100678"/>
                    <a:pt x="29896" y="97779"/>
                    <a:pt x="31011" y="95772"/>
                  </a:cubicBezTo>
                  <a:cubicBezTo>
                    <a:pt x="32126" y="93766"/>
                    <a:pt x="33910" y="86630"/>
                    <a:pt x="35025" y="81948"/>
                  </a:cubicBezTo>
                  <a:cubicBezTo>
                    <a:pt x="36140" y="77711"/>
                    <a:pt x="38592" y="67455"/>
                    <a:pt x="39930" y="61880"/>
                  </a:cubicBezTo>
                  <a:cubicBezTo>
                    <a:pt x="41268" y="56975"/>
                    <a:pt x="42606" y="52069"/>
                    <a:pt x="43721" y="46941"/>
                  </a:cubicBezTo>
                  <a:cubicBezTo>
                    <a:pt x="46173" y="37799"/>
                    <a:pt x="46619" y="36015"/>
                    <a:pt x="53086" y="26873"/>
                  </a:cubicBezTo>
                  <a:cubicBezTo>
                    <a:pt x="59329" y="17954"/>
                    <a:pt x="69809" y="6359"/>
                    <a:pt x="86532" y="6359"/>
                  </a:cubicBezTo>
                  <a:cubicBezTo>
                    <a:pt x="99464" y="6359"/>
                    <a:pt x="99687" y="17731"/>
                    <a:pt x="99687" y="21968"/>
                  </a:cubicBezTo>
                  <a:cubicBezTo>
                    <a:pt x="99687" y="35346"/>
                    <a:pt x="90100" y="60096"/>
                    <a:pt x="86532" y="69461"/>
                  </a:cubicBezTo>
                  <a:cubicBezTo>
                    <a:pt x="84079" y="75705"/>
                    <a:pt x="83187" y="77711"/>
                    <a:pt x="83187" y="81502"/>
                  </a:cubicBezTo>
                  <a:cubicBezTo>
                    <a:pt x="83187" y="93320"/>
                    <a:pt x="92998" y="100678"/>
                    <a:pt x="104370" y="100678"/>
                  </a:cubicBezTo>
                  <a:cubicBezTo>
                    <a:pt x="126667" y="100678"/>
                    <a:pt x="136478" y="69907"/>
                    <a:pt x="136478" y="66563"/>
                  </a:cubicBezTo>
                  <a:cubicBezTo>
                    <a:pt x="136478" y="63664"/>
                    <a:pt x="133580" y="63664"/>
                    <a:pt x="132911" y="63664"/>
                  </a:cubicBezTo>
                  <a:cubicBezTo>
                    <a:pt x="129789" y="63664"/>
                    <a:pt x="129566" y="65002"/>
                    <a:pt x="128674" y="67455"/>
                  </a:cubicBezTo>
                  <a:cubicBezTo>
                    <a:pt x="123546" y="85293"/>
                    <a:pt x="113958" y="94435"/>
                    <a:pt x="105039" y="94435"/>
                  </a:cubicBezTo>
                  <a:cubicBezTo>
                    <a:pt x="100356" y="94435"/>
                    <a:pt x="99464" y="91313"/>
                    <a:pt x="99464" y="86630"/>
                  </a:cubicBezTo>
                  <a:cubicBezTo>
                    <a:pt x="99464" y="81502"/>
                    <a:pt x="100579" y="78603"/>
                    <a:pt x="104593" y="68569"/>
                  </a:cubicBezTo>
                  <a:cubicBezTo>
                    <a:pt x="107269" y="61657"/>
                    <a:pt x="116411" y="38022"/>
                    <a:pt x="116411" y="25535"/>
                  </a:cubicBezTo>
                  <a:cubicBezTo>
                    <a:pt x="116411" y="3907"/>
                    <a:pt x="99242" y="116"/>
                    <a:pt x="87424" y="116"/>
                  </a:cubicBezTo>
                  <a:cubicBezTo>
                    <a:pt x="68917" y="116"/>
                    <a:pt x="56430" y="11488"/>
                    <a:pt x="49741" y="20407"/>
                  </a:cubicBezTo>
                  <a:cubicBezTo>
                    <a:pt x="48180" y="5022"/>
                    <a:pt x="35025" y="116"/>
                    <a:pt x="25883" y="116"/>
                  </a:cubicBezTo>
                  <a:cubicBezTo>
                    <a:pt x="16295" y="116"/>
                    <a:pt x="11166" y="7028"/>
                    <a:pt x="8268" y="12157"/>
                  </a:cubicBezTo>
                  <a:cubicBezTo>
                    <a:pt x="3362" y="20407"/>
                    <a:pt x="241" y="33116"/>
                    <a:pt x="241" y="34231"/>
                  </a:cubicBezTo>
                  <a:cubicBezTo>
                    <a:pt x="241" y="37130"/>
                    <a:pt x="3362" y="37130"/>
                    <a:pt x="4031" y="37130"/>
                  </a:cubicBezTo>
                  <a:cubicBezTo>
                    <a:pt x="7153" y="37130"/>
                    <a:pt x="7376" y="36461"/>
                    <a:pt x="8937" y="30441"/>
                  </a:cubicBezTo>
                  <a:cubicBezTo>
                    <a:pt x="12281" y="17285"/>
                    <a:pt x="16518" y="6359"/>
                    <a:pt x="25214" y="6359"/>
                  </a:cubicBezTo>
                  <a:cubicBezTo>
                    <a:pt x="31011" y="6359"/>
                    <a:pt x="32572" y="11265"/>
                    <a:pt x="32572" y="17285"/>
                  </a:cubicBezTo>
                  <a:cubicBezTo>
                    <a:pt x="32572" y="21522"/>
                    <a:pt x="30565" y="29772"/>
                    <a:pt x="29004" y="35792"/>
                  </a:cubicBezTo>
                  <a:cubicBezTo>
                    <a:pt x="27444" y="41812"/>
                    <a:pt x="25214" y="50954"/>
                    <a:pt x="24099" y="55860"/>
                  </a:cubicBezTo>
                  <a:lnTo>
                    <a:pt x="16964" y="84401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98" name="任意形状 2097">
              <a:extLst>
                <a:ext uri="{FF2B5EF4-FFF2-40B4-BE49-F238E27FC236}">
                  <a16:creationId xmlns:a16="http://schemas.microsoft.com/office/drawing/2014/main" id="{B1ADAA9F-B5D4-3DA6-4831-9E5553A55717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3111586" y="7094327"/>
              <a:ext cx="98554" cy="148055"/>
            </a:xfrm>
            <a:custGeom>
              <a:avLst/>
              <a:gdLst>
                <a:gd name="connsiteX0" fmla="*/ 98801 w 98554"/>
                <a:gd name="connsiteY0" fmla="*/ 107590 h 148055"/>
                <a:gd name="connsiteX1" fmla="*/ 91219 w 98554"/>
                <a:gd name="connsiteY1" fmla="*/ 107590 h 148055"/>
                <a:gd name="connsiteX2" fmla="*/ 85422 w 98554"/>
                <a:gd name="connsiteY2" fmla="*/ 127881 h 148055"/>
                <a:gd name="connsiteX3" fmla="*/ 63347 w 98554"/>
                <a:gd name="connsiteY3" fmla="*/ 129219 h 148055"/>
                <a:gd name="connsiteX4" fmla="*/ 22320 w 98554"/>
                <a:gd name="connsiteY4" fmla="*/ 129219 h 148055"/>
                <a:gd name="connsiteX5" fmla="*/ 66915 w 98554"/>
                <a:gd name="connsiteY5" fmla="*/ 91759 h 148055"/>
                <a:gd name="connsiteX6" fmla="*/ 98801 w 98554"/>
                <a:gd name="connsiteY6" fmla="*/ 43596 h 148055"/>
                <a:gd name="connsiteX7" fmla="*/ 46624 w 98554"/>
                <a:gd name="connsiteY7" fmla="*/ 116 h 148055"/>
                <a:gd name="connsiteX8" fmla="*/ 246 w 98554"/>
                <a:gd name="connsiteY8" fmla="*/ 40029 h 148055"/>
                <a:gd name="connsiteX9" fmla="*/ 12063 w 98554"/>
                <a:gd name="connsiteY9" fmla="*/ 52515 h 148055"/>
                <a:gd name="connsiteX10" fmla="*/ 23881 w 98554"/>
                <a:gd name="connsiteY10" fmla="*/ 40698 h 148055"/>
                <a:gd name="connsiteX11" fmla="*/ 10725 w 98554"/>
                <a:gd name="connsiteY11" fmla="*/ 28880 h 148055"/>
                <a:gd name="connsiteX12" fmla="*/ 43280 w 98554"/>
                <a:gd name="connsiteY12" fmla="*/ 8143 h 148055"/>
                <a:gd name="connsiteX13" fmla="*/ 77172 w 98554"/>
                <a:gd name="connsiteY13" fmla="*/ 43596 h 148055"/>
                <a:gd name="connsiteX14" fmla="*/ 56212 w 98554"/>
                <a:gd name="connsiteY14" fmla="*/ 86407 h 148055"/>
                <a:gd name="connsiteX15" fmla="*/ 2475 w 98554"/>
                <a:gd name="connsiteY15" fmla="*/ 139475 h 148055"/>
                <a:gd name="connsiteX16" fmla="*/ 246 w 98554"/>
                <a:gd name="connsiteY16" fmla="*/ 148171 h 148055"/>
                <a:gd name="connsiteX17" fmla="*/ 92111 w 98554"/>
                <a:gd name="connsiteY17" fmla="*/ 148171 h 148055"/>
                <a:gd name="connsiteX18" fmla="*/ 98801 w 98554"/>
                <a:gd name="connsiteY18" fmla="*/ 107590 h 14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8554" h="148055">
                  <a:moveTo>
                    <a:pt x="98801" y="107590"/>
                  </a:moveTo>
                  <a:lnTo>
                    <a:pt x="91219" y="107590"/>
                  </a:lnTo>
                  <a:cubicBezTo>
                    <a:pt x="90550" y="112495"/>
                    <a:pt x="88321" y="125651"/>
                    <a:pt x="85422" y="127881"/>
                  </a:cubicBezTo>
                  <a:cubicBezTo>
                    <a:pt x="83638" y="129219"/>
                    <a:pt x="66469" y="129219"/>
                    <a:pt x="63347" y="129219"/>
                  </a:cubicBezTo>
                  <a:lnTo>
                    <a:pt x="22320" y="129219"/>
                  </a:lnTo>
                  <a:cubicBezTo>
                    <a:pt x="45732" y="108482"/>
                    <a:pt x="53537" y="102239"/>
                    <a:pt x="66915" y="91759"/>
                  </a:cubicBezTo>
                  <a:cubicBezTo>
                    <a:pt x="83415" y="78603"/>
                    <a:pt x="98801" y="64779"/>
                    <a:pt x="98801" y="43596"/>
                  </a:cubicBezTo>
                  <a:cubicBezTo>
                    <a:pt x="98801" y="16616"/>
                    <a:pt x="75165" y="116"/>
                    <a:pt x="46624" y="116"/>
                  </a:cubicBezTo>
                  <a:cubicBezTo>
                    <a:pt x="18975" y="116"/>
                    <a:pt x="246" y="19515"/>
                    <a:pt x="246" y="40029"/>
                  </a:cubicBezTo>
                  <a:cubicBezTo>
                    <a:pt x="246" y="51400"/>
                    <a:pt x="9833" y="52515"/>
                    <a:pt x="12063" y="52515"/>
                  </a:cubicBezTo>
                  <a:cubicBezTo>
                    <a:pt x="17415" y="52515"/>
                    <a:pt x="23881" y="48725"/>
                    <a:pt x="23881" y="40698"/>
                  </a:cubicBezTo>
                  <a:cubicBezTo>
                    <a:pt x="23881" y="36684"/>
                    <a:pt x="22320" y="28880"/>
                    <a:pt x="10725" y="28880"/>
                  </a:cubicBezTo>
                  <a:cubicBezTo>
                    <a:pt x="17638" y="13049"/>
                    <a:pt x="32800" y="8143"/>
                    <a:pt x="43280" y="8143"/>
                  </a:cubicBezTo>
                  <a:cubicBezTo>
                    <a:pt x="65577" y="8143"/>
                    <a:pt x="77172" y="25535"/>
                    <a:pt x="77172" y="43596"/>
                  </a:cubicBezTo>
                  <a:cubicBezTo>
                    <a:pt x="77172" y="62995"/>
                    <a:pt x="63347" y="78380"/>
                    <a:pt x="56212" y="86407"/>
                  </a:cubicBezTo>
                  <a:lnTo>
                    <a:pt x="2475" y="139475"/>
                  </a:lnTo>
                  <a:cubicBezTo>
                    <a:pt x="246" y="141482"/>
                    <a:pt x="246" y="141928"/>
                    <a:pt x="246" y="148171"/>
                  </a:cubicBezTo>
                  <a:lnTo>
                    <a:pt x="92111" y="148171"/>
                  </a:lnTo>
                  <a:lnTo>
                    <a:pt x="98801" y="107590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99" name="任意形状 2098">
              <a:extLst>
                <a:ext uri="{FF2B5EF4-FFF2-40B4-BE49-F238E27FC236}">
                  <a16:creationId xmlns:a16="http://schemas.microsoft.com/office/drawing/2014/main" id="{C99D0D1C-8429-39D7-33D7-F10805C45816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3568211" y="7053810"/>
              <a:ext cx="158630" cy="144296"/>
            </a:xfrm>
            <a:custGeom>
              <a:avLst/>
              <a:gdLst>
                <a:gd name="connsiteX0" fmla="*/ 97413 w 158630"/>
                <a:gd name="connsiteY0" fmla="*/ 44710 h 144296"/>
                <a:gd name="connsiteX1" fmla="*/ 128948 w 158630"/>
                <a:gd name="connsiteY1" fmla="*/ 7122 h 144296"/>
                <a:gd name="connsiteX2" fmla="*/ 144875 w 158630"/>
                <a:gd name="connsiteY2" fmla="*/ 11263 h 144296"/>
                <a:gd name="connsiteX3" fmla="*/ 129585 w 158630"/>
                <a:gd name="connsiteY3" fmla="*/ 28464 h 144296"/>
                <a:gd name="connsiteX4" fmla="*/ 141690 w 158630"/>
                <a:gd name="connsiteY4" fmla="*/ 39613 h 144296"/>
                <a:gd name="connsiteX5" fmla="*/ 158891 w 158630"/>
                <a:gd name="connsiteY5" fmla="*/ 21138 h 144296"/>
                <a:gd name="connsiteX6" fmla="*/ 129267 w 158630"/>
                <a:gd name="connsiteY6" fmla="*/ 115 h 144296"/>
                <a:gd name="connsiteX7" fmla="*/ 95821 w 158630"/>
                <a:gd name="connsiteY7" fmla="*/ 24323 h 144296"/>
                <a:gd name="connsiteX8" fmla="*/ 61419 w 158630"/>
                <a:gd name="connsiteY8" fmla="*/ 115 h 144296"/>
                <a:gd name="connsiteX9" fmla="*/ 10135 w 158630"/>
                <a:gd name="connsiteY9" fmla="*/ 49169 h 144296"/>
                <a:gd name="connsiteX10" fmla="*/ 13957 w 158630"/>
                <a:gd name="connsiteY10" fmla="*/ 52354 h 144296"/>
                <a:gd name="connsiteX11" fmla="*/ 18098 w 158630"/>
                <a:gd name="connsiteY11" fmla="*/ 48851 h 144296"/>
                <a:gd name="connsiteX12" fmla="*/ 60782 w 158630"/>
                <a:gd name="connsiteY12" fmla="*/ 7122 h 144296"/>
                <a:gd name="connsiteX13" fmla="*/ 77983 w 158630"/>
                <a:gd name="connsiteY13" fmla="*/ 28464 h 144296"/>
                <a:gd name="connsiteX14" fmla="*/ 60782 w 158630"/>
                <a:gd name="connsiteY14" fmla="*/ 104276 h 144296"/>
                <a:gd name="connsiteX15" fmla="*/ 30521 w 158630"/>
                <a:gd name="connsiteY15" fmla="*/ 137404 h 144296"/>
                <a:gd name="connsiteX16" fmla="*/ 14594 w 158630"/>
                <a:gd name="connsiteY16" fmla="*/ 133263 h 144296"/>
                <a:gd name="connsiteX17" fmla="*/ 29565 w 158630"/>
                <a:gd name="connsiteY17" fmla="*/ 116062 h 144296"/>
                <a:gd name="connsiteX18" fmla="*/ 17779 w 158630"/>
                <a:gd name="connsiteY18" fmla="*/ 104913 h 144296"/>
                <a:gd name="connsiteX19" fmla="*/ 260 w 158630"/>
                <a:gd name="connsiteY19" fmla="*/ 123388 h 144296"/>
                <a:gd name="connsiteX20" fmla="*/ 30202 w 158630"/>
                <a:gd name="connsiteY20" fmla="*/ 144411 h 144296"/>
                <a:gd name="connsiteX21" fmla="*/ 63649 w 158630"/>
                <a:gd name="connsiteY21" fmla="*/ 120203 h 144296"/>
                <a:gd name="connsiteX22" fmla="*/ 98050 w 158630"/>
                <a:gd name="connsiteY22" fmla="*/ 144411 h 144296"/>
                <a:gd name="connsiteX23" fmla="*/ 149016 w 158630"/>
                <a:gd name="connsiteY23" fmla="*/ 95357 h 144296"/>
                <a:gd name="connsiteX24" fmla="*/ 145194 w 158630"/>
                <a:gd name="connsiteY24" fmla="*/ 92171 h 144296"/>
                <a:gd name="connsiteX25" fmla="*/ 141053 w 158630"/>
                <a:gd name="connsiteY25" fmla="*/ 95675 h 144296"/>
                <a:gd name="connsiteX26" fmla="*/ 98687 w 158630"/>
                <a:gd name="connsiteY26" fmla="*/ 137404 h 144296"/>
                <a:gd name="connsiteX27" fmla="*/ 81168 w 158630"/>
                <a:gd name="connsiteY27" fmla="*/ 116380 h 144296"/>
                <a:gd name="connsiteX28" fmla="*/ 86583 w 158630"/>
                <a:gd name="connsiteY28" fmla="*/ 88349 h 144296"/>
                <a:gd name="connsiteX29" fmla="*/ 97413 w 158630"/>
                <a:gd name="connsiteY29" fmla="*/ 44710 h 1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8630" h="144296">
                  <a:moveTo>
                    <a:pt x="97413" y="44710"/>
                  </a:moveTo>
                  <a:cubicBezTo>
                    <a:pt x="99325" y="36428"/>
                    <a:pt x="106651" y="7122"/>
                    <a:pt x="128948" y="7122"/>
                  </a:cubicBezTo>
                  <a:cubicBezTo>
                    <a:pt x="130541" y="7122"/>
                    <a:pt x="138186" y="7122"/>
                    <a:pt x="144875" y="11263"/>
                  </a:cubicBezTo>
                  <a:cubicBezTo>
                    <a:pt x="135956" y="12856"/>
                    <a:pt x="129585" y="20819"/>
                    <a:pt x="129585" y="28464"/>
                  </a:cubicBezTo>
                  <a:cubicBezTo>
                    <a:pt x="129585" y="33561"/>
                    <a:pt x="133089" y="39613"/>
                    <a:pt x="141690" y="39613"/>
                  </a:cubicBezTo>
                  <a:cubicBezTo>
                    <a:pt x="148698" y="39613"/>
                    <a:pt x="158891" y="33879"/>
                    <a:pt x="158891" y="21138"/>
                  </a:cubicBezTo>
                  <a:cubicBezTo>
                    <a:pt x="158891" y="4574"/>
                    <a:pt x="140097" y="115"/>
                    <a:pt x="129267" y="115"/>
                  </a:cubicBezTo>
                  <a:cubicBezTo>
                    <a:pt x="110792" y="115"/>
                    <a:pt x="99643" y="16997"/>
                    <a:pt x="95821" y="24323"/>
                  </a:cubicBezTo>
                  <a:cubicBezTo>
                    <a:pt x="87857" y="3300"/>
                    <a:pt x="70656" y="115"/>
                    <a:pt x="61419" y="115"/>
                  </a:cubicBezTo>
                  <a:cubicBezTo>
                    <a:pt x="28291" y="115"/>
                    <a:pt x="10135" y="41206"/>
                    <a:pt x="10135" y="49169"/>
                  </a:cubicBezTo>
                  <a:cubicBezTo>
                    <a:pt x="10135" y="52354"/>
                    <a:pt x="13320" y="52354"/>
                    <a:pt x="13957" y="52354"/>
                  </a:cubicBezTo>
                  <a:cubicBezTo>
                    <a:pt x="16505" y="52354"/>
                    <a:pt x="17461" y="51717"/>
                    <a:pt x="18098" y="48851"/>
                  </a:cubicBezTo>
                  <a:cubicBezTo>
                    <a:pt x="28928" y="15086"/>
                    <a:pt x="49952" y="7122"/>
                    <a:pt x="60782" y="7122"/>
                  </a:cubicBezTo>
                  <a:cubicBezTo>
                    <a:pt x="66834" y="7122"/>
                    <a:pt x="77983" y="9989"/>
                    <a:pt x="77983" y="28464"/>
                  </a:cubicBezTo>
                  <a:cubicBezTo>
                    <a:pt x="77983" y="38339"/>
                    <a:pt x="72568" y="59681"/>
                    <a:pt x="60782" y="104276"/>
                  </a:cubicBezTo>
                  <a:cubicBezTo>
                    <a:pt x="55685" y="124025"/>
                    <a:pt x="44536" y="137404"/>
                    <a:pt x="30521" y="137404"/>
                  </a:cubicBezTo>
                  <a:cubicBezTo>
                    <a:pt x="28610" y="137404"/>
                    <a:pt x="21283" y="137404"/>
                    <a:pt x="14594" y="133263"/>
                  </a:cubicBezTo>
                  <a:cubicBezTo>
                    <a:pt x="22557" y="131670"/>
                    <a:pt x="29565" y="124981"/>
                    <a:pt x="29565" y="116062"/>
                  </a:cubicBezTo>
                  <a:cubicBezTo>
                    <a:pt x="29565" y="107461"/>
                    <a:pt x="22557" y="104913"/>
                    <a:pt x="17779" y="104913"/>
                  </a:cubicBezTo>
                  <a:cubicBezTo>
                    <a:pt x="8223" y="104913"/>
                    <a:pt x="260" y="113195"/>
                    <a:pt x="260" y="123388"/>
                  </a:cubicBezTo>
                  <a:cubicBezTo>
                    <a:pt x="260" y="138041"/>
                    <a:pt x="16187" y="144411"/>
                    <a:pt x="30202" y="144411"/>
                  </a:cubicBezTo>
                  <a:cubicBezTo>
                    <a:pt x="51226" y="144411"/>
                    <a:pt x="62693" y="122114"/>
                    <a:pt x="63649" y="120203"/>
                  </a:cubicBezTo>
                  <a:cubicBezTo>
                    <a:pt x="67471" y="131988"/>
                    <a:pt x="78938" y="144411"/>
                    <a:pt x="98050" y="144411"/>
                  </a:cubicBezTo>
                  <a:cubicBezTo>
                    <a:pt x="130860" y="144411"/>
                    <a:pt x="149016" y="103320"/>
                    <a:pt x="149016" y="95357"/>
                  </a:cubicBezTo>
                  <a:cubicBezTo>
                    <a:pt x="149016" y="92171"/>
                    <a:pt x="146149" y="92171"/>
                    <a:pt x="145194" y="92171"/>
                  </a:cubicBezTo>
                  <a:cubicBezTo>
                    <a:pt x="142327" y="92171"/>
                    <a:pt x="141690" y="93446"/>
                    <a:pt x="141053" y="95675"/>
                  </a:cubicBezTo>
                  <a:cubicBezTo>
                    <a:pt x="130541" y="129759"/>
                    <a:pt x="108881" y="137404"/>
                    <a:pt x="98687" y="137404"/>
                  </a:cubicBezTo>
                  <a:cubicBezTo>
                    <a:pt x="86265" y="137404"/>
                    <a:pt x="81168" y="127210"/>
                    <a:pt x="81168" y="116380"/>
                  </a:cubicBezTo>
                  <a:cubicBezTo>
                    <a:pt x="81168" y="109372"/>
                    <a:pt x="83079" y="102365"/>
                    <a:pt x="86583" y="88349"/>
                  </a:cubicBezTo>
                  <a:lnTo>
                    <a:pt x="97413" y="44710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100" name="任意形状 2099">
              <a:extLst>
                <a:ext uri="{FF2B5EF4-FFF2-40B4-BE49-F238E27FC236}">
                  <a16:creationId xmlns:a16="http://schemas.microsoft.com/office/drawing/2014/main" id="{F66B06CA-8593-53A8-EB6A-4A36C2666600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3751506" y="7144051"/>
              <a:ext cx="136237" cy="100561"/>
            </a:xfrm>
            <a:custGeom>
              <a:avLst/>
              <a:gdLst>
                <a:gd name="connsiteX0" fmla="*/ 16989 w 136237"/>
                <a:gd name="connsiteY0" fmla="*/ 84401 h 100561"/>
                <a:gd name="connsiteX1" fmla="*/ 14759 w 136237"/>
                <a:gd name="connsiteY1" fmla="*/ 93543 h 100561"/>
                <a:gd name="connsiteX2" fmla="*/ 22340 w 136237"/>
                <a:gd name="connsiteY2" fmla="*/ 100678 h 100561"/>
                <a:gd name="connsiteX3" fmla="*/ 31036 w 136237"/>
                <a:gd name="connsiteY3" fmla="*/ 95772 h 100561"/>
                <a:gd name="connsiteX4" fmla="*/ 35050 w 136237"/>
                <a:gd name="connsiteY4" fmla="*/ 81948 h 100561"/>
                <a:gd name="connsiteX5" fmla="*/ 39955 w 136237"/>
                <a:gd name="connsiteY5" fmla="*/ 61880 h 100561"/>
                <a:gd name="connsiteX6" fmla="*/ 43746 w 136237"/>
                <a:gd name="connsiteY6" fmla="*/ 46941 h 100561"/>
                <a:gd name="connsiteX7" fmla="*/ 53111 w 136237"/>
                <a:gd name="connsiteY7" fmla="*/ 26873 h 100561"/>
                <a:gd name="connsiteX8" fmla="*/ 86557 w 136237"/>
                <a:gd name="connsiteY8" fmla="*/ 6359 h 100561"/>
                <a:gd name="connsiteX9" fmla="*/ 99713 w 136237"/>
                <a:gd name="connsiteY9" fmla="*/ 21968 h 100561"/>
                <a:gd name="connsiteX10" fmla="*/ 86557 w 136237"/>
                <a:gd name="connsiteY10" fmla="*/ 69461 h 100561"/>
                <a:gd name="connsiteX11" fmla="*/ 83212 w 136237"/>
                <a:gd name="connsiteY11" fmla="*/ 81502 h 100561"/>
                <a:gd name="connsiteX12" fmla="*/ 104395 w 136237"/>
                <a:gd name="connsiteY12" fmla="*/ 100678 h 100561"/>
                <a:gd name="connsiteX13" fmla="*/ 136503 w 136237"/>
                <a:gd name="connsiteY13" fmla="*/ 66563 h 100561"/>
                <a:gd name="connsiteX14" fmla="*/ 132936 w 136237"/>
                <a:gd name="connsiteY14" fmla="*/ 63664 h 100561"/>
                <a:gd name="connsiteX15" fmla="*/ 128699 w 136237"/>
                <a:gd name="connsiteY15" fmla="*/ 67455 h 100561"/>
                <a:gd name="connsiteX16" fmla="*/ 105064 w 136237"/>
                <a:gd name="connsiteY16" fmla="*/ 94435 h 100561"/>
                <a:gd name="connsiteX17" fmla="*/ 99490 w 136237"/>
                <a:gd name="connsiteY17" fmla="*/ 86630 h 100561"/>
                <a:gd name="connsiteX18" fmla="*/ 104618 w 136237"/>
                <a:gd name="connsiteY18" fmla="*/ 68569 h 100561"/>
                <a:gd name="connsiteX19" fmla="*/ 116436 w 136237"/>
                <a:gd name="connsiteY19" fmla="*/ 25535 h 100561"/>
                <a:gd name="connsiteX20" fmla="*/ 87449 w 136237"/>
                <a:gd name="connsiteY20" fmla="*/ 116 h 100561"/>
                <a:gd name="connsiteX21" fmla="*/ 49766 w 136237"/>
                <a:gd name="connsiteY21" fmla="*/ 20407 h 100561"/>
                <a:gd name="connsiteX22" fmla="*/ 25908 w 136237"/>
                <a:gd name="connsiteY22" fmla="*/ 116 h 100561"/>
                <a:gd name="connsiteX23" fmla="*/ 8293 w 136237"/>
                <a:gd name="connsiteY23" fmla="*/ 12157 h 100561"/>
                <a:gd name="connsiteX24" fmla="*/ 266 w 136237"/>
                <a:gd name="connsiteY24" fmla="*/ 34231 h 100561"/>
                <a:gd name="connsiteX25" fmla="*/ 4056 w 136237"/>
                <a:gd name="connsiteY25" fmla="*/ 37130 h 100561"/>
                <a:gd name="connsiteX26" fmla="*/ 8962 w 136237"/>
                <a:gd name="connsiteY26" fmla="*/ 30441 h 100561"/>
                <a:gd name="connsiteX27" fmla="*/ 25239 w 136237"/>
                <a:gd name="connsiteY27" fmla="*/ 6359 h 100561"/>
                <a:gd name="connsiteX28" fmla="*/ 32597 w 136237"/>
                <a:gd name="connsiteY28" fmla="*/ 17285 h 100561"/>
                <a:gd name="connsiteX29" fmla="*/ 29029 w 136237"/>
                <a:gd name="connsiteY29" fmla="*/ 35792 h 100561"/>
                <a:gd name="connsiteX30" fmla="*/ 24124 w 136237"/>
                <a:gd name="connsiteY30" fmla="*/ 55860 h 100561"/>
                <a:gd name="connsiteX31" fmla="*/ 16989 w 136237"/>
                <a:gd name="connsiteY31" fmla="*/ 84401 h 100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6237" h="100561">
                  <a:moveTo>
                    <a:pt x="16989" y="84401"/>
                  </a:moveTo>
                  <a:cubicBezTo>
                    <a:pt x="16097" y="87299"/>
                    <a:pt x="14759" y="92874"/>
                    <a:pt x="14759" y="93543"/>
                  </a:cubicBezTo>
                  <a:cubicBezTo>
                    <a:pt x="14759" y="98448"/>
                    <a:pt x="18773" y="100678"/>
                    <a:pt x="22340" y="100678"/>
                  </a:cubicBezTo>
                  <a:cubicBezTo>
                    <a:pt x="26354" y="100678"/>
                    <a:pt x="29921" y="97779"/>
                    <a:pt x="31036" y="95772"/>
                  </a:cubicBezTo>
                  <a:cubicBezTo>
                    <a:pt x="32151" y="93766"/>
                    <a:pt x="33935" y="86630"/>
                    <a:pt x="35050" y="81948"/>
                  </a:cubicBezTo>
                  <a:cubicBezTo>
                    <a:pt x="36165" y="77711"/>
                    <a:pt x="38617" y="67455"/>
                    <a:pt x="39955" y="61880"/>
                  </a:cubicBezTo>
                  <a:cubicBezTo>
                    <a:pt x="41293" y="56975"/>
                    <a:pt x="42631" y="52069"/>
                    <a:pt x="43746" y="46941"/>
                  </a:cubicBezTo>
                  <a:cubicBezTo>
                    <a:pt x="46199" y="37799"/>
                    <a:pt x="46644" y="36015"/>
                    <a:pt x="53111" y="26873"/>
                  </a:cubicBezTo>
                  <a:cubicBezTo>
                    <a:pt x="59354" y="17954"/>
                    <a:pt x="69834" y="6359"/>
                    <a:pt x="86557" y="6359"/>
                  </a:cubicBezTo>
                  <a:cubicBezTo>
                    <a:pt x="99490" y="6359"/>
                    <a:pt x="99713" y="17731"/>
                    <a:pt x="99713" y="21968"/>
                  </a:cubicBezTo>
                  <a:cubicBezTo>
                    <a:pt x="99713" y="35346"/>
                    <a:pt x="90125" y="60096"/>
                    <a:pt x="86557" y="69461"/>
                  </a:cubicBezTo>
                  <a:cubicBezTo>
                    <a:pt x="84104" y="75705"/>
                    <a:pt x="83212" y="77711"/>
                    <a:pt x="83212" y="81502"/>
                  </a:cubicBezTo>
                  <a:cubicBezTo>
                    <a:pt x="83212" y="93320"/>
                    <a:pt x="93023" y="100678"/>
                    <a:pt x="104395" y="100678"/>
                  </a:cubicBezTo>
                  <a:cubicBezTo>
                    <a:pt x="126692" y="100678"/>
                    <a:pt x="136503" y="69907"/>
                    <a:pt x="136503" y="66563"/>
                  </a:cubicBezTo>
                  <a:cubicBezTo>
                    <a:pt x="136503" y="63664"/>
                    <a:pt x="133605" y="63664"/>
                    <a:pt x="132936" y="63664"/>
                  </a:cubicBezTo>
                  <a:cubicBezTo>
                    <a:pt x="129814" y="63664"/>
                    <a:pt x="129591" y="65002"/>
                    <a:pt x="128699" y="67455"/>
                  </a:cubicBezTo>
                  <a:cubicBezTo>
                    <a:pt x="123571" y="85293"/>
                    <a:pt x="113983" y="94435"/>
                    <a:pt x="105064" y="94435"/>
                  </a:cubicBezTo>
                  <a:cubicBezTo>
                    <a:pt x="100381" y="94435"/>
                    <a:pt x="99490" y="91313"/>
                    <a:pt x="99490" y="86630"/>
                  </a:cubicBezTo>
                  <a:cubicBezTo>
                    <a:pt x="99490" y="81502"/>
                    <a:pt x="100604" y="78603"/>
                    <a:pt x="104618" y="68569"/>
                  </a:cubicBezTo>
                  <a:cubicBezTo>
                    <a:pt x="107294" y="61657"/>
                    <a:pt x="116436" y="38022"/>
                    <a:pt x="116436" y="25535"/>
                  </a:cubicBezTo>
                  <a:cubicBezTo>
                    <a:pt x="116436" y="3907"/>
                    <a:pt x="99267" y="116"/>
                    <a:pt x="87449" y="116"/>
                  </a:cubicBezTo>
                  <a:cubicBezTo>
                    <a:pt x="68942" y="116"/>
                    <a:pt x="56455" y="11488"/>
                    <a:pt x="49766" y="20407"/>
                  </a:cubicBezTo>
                  <a:cubicBezTo>
                    <a:pt x="48205" y="5022"/>
                    <a:pt x="35050" y="116"/>
                    <a:pt x="25908" y="116"/>
                  </a:cubicBezTo>
                  <a:cubicBezTo>
                    <a:pt x="16320" y="116"/>
                    <a:pt x="11191" y="7028"/>
                    <a:pt x="8293" y="12157"/>
                  </a:cubicBezTo>
                  <a:cubicBezTo>
                    <a:pt x="3387" y="20407"/>
                    <a:pt x="266" y="33116"/>
                    <a:pt x="266" y="34231"/>
                  </a:cubicBezTo>
                  <a:cubicBezTo>
                    <a:pt x="266" y="37130"/>
                    <a:pt x="3387" y="37130"/>
                    <a:pt x="4056" y="37130"/>
                  </a:cubicBezTo>
                  <a:cubicBezTo>
                    <a:pt x="7178" y="37130"/>
                    <a:pt x="7401" y="36461"/>
                    <a:pt x="8962" y="30441"/>
                  </a:cubicBezTo>
                  <a:cubicBezTo>
                    <a:pt x="12306" y="17285"/>
                    <a:pt x="16543" y="6359"/>
                    <a:pt x="25239" y="6359"/>
                  </a:cubicBezTo>
                  <a:cubicBezTo>
                    <a:pt x="31036" y="6359"/>
                    <a:pt x="32597" y="11265"/>
                    <a:pt x="32597" y="17285"/>
                  </a:cubicBezTo>
                  <a:cubicBezTo>
                    <a:pt x="32597" y="21522"/>
                    <a:pt x="30590" y="29772"/>
                    <a:pt x="29029" y="35792"/>
                  </a:cubicBezTo>
                  <a:cubicBezTo>
                    <a:pt x="27469" y="41812"/>
                    <a:pt x="25239" y="50954"/>
                    <a:pt x="24124" y="55860"/>
                  </a:cubicBezTo>
                  <a:lnTo>
                    <a:pt x="16989" y="84401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101" name="任意形状 2100">
              <a:extLst>
                <a:ext uri="{FF2B5EF4-FFF2-40B4-BE49-F238E27FC236}">
                  <a16:creationId xmlns:a16="http://schemas.microsoft.com/office/drawing/2014/main" id="{73844C2F-BDB7-29C0-29DF-CFBA11217250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3912090" y="7087638"/>
              <a:ext cx="114609" cy="156974"/>
            </a:xfrm>
            <a:custGeom>
              <a:avLst/>
              <a:gdLst>
                <a:gd name="connsiteX0" fmla="*/ 113988 w 114609"/>
                <a:gd name="connsiteY0" fmla="*/ 6805 h 156974"/>
                <a:gd name="connsiteX1" fmla="*/ 114880 w 114609"/>
                <a:gd name="connsiteY1" fmla="*/ 3238 h 156974"/>
                <a:gd name="connsiteX2" fmla="*/ 111312 w 114609"/>
                <a:gd name="connsiteY2" fmla="*/ 116 h 156974"/>
                <a:gd name="connsiteX3" fmla="*/ 82771 w 114609"/>
                <a:gd name="connsiteY3" fmla="*/ 2346 h 156974"/>
                <a:gd name="connsiteX4" fmla="*/ 77866 w 114609"/>
                <a:gd name="connsiteY4" fmla="*/ 7474 h 156974"/>
                <a:gd name="connsiteX5" fmla="*/ 83663 w 114609"/>
                <a:gd name="connsiteY5" fmla="*/ 10596 h 156974"/>
                <a:gd name="connsiteX6" fmla="*/ 94366 w 114609"/>
                <a:gd name="connsiteY6" fmla="*/ 13941 h 156974"/>
                <a:gd name="connsiteX7" fmla="*/ 93474 w 114609"/>
                <a:gd name="connsiteY7" fmla="*/ 18846 h 156974"/>
                <a:gd name="connsiteX8" fmla="*/ 80765 w 114609"/>
                <a:gd name="connsiteY8" fmla="*/ 69684 h 156974"/>
                <a:gd name="connsiteX9" fmla="*/ 57798 w 114609"/>
                <a:gd name="connsiteY9" fmla="*/ 56529 h 156974"/>
                <a:gd name="connsiteX10" fmla="*/ 271 w 114609"/>
                <a:gd name="connsiteY10" fmla="*/ 120077 h 156974"/>
                <a:gd name="connsiteX11" fmla="*/ 33940 w 114609"/>
                <a:gd name="connsiteY11" fmla="*/ 157091 h 156974"/>
                <a:gd name="connsiteX12" fmla="*/ 65602 w 114609"/>
                <a:gd name="connsiteY12" fmla="*/ 141482 h 156974"/>
                <a:gd name="connsiteX13" fmla="*/ 88569 w 114609"/>
                <a:gd name="connsiteY13" fmla="*/ 157091 h 156974"/>
                <a:gd name="connsiteX14" fmla="*/ 106184 w 114609"/>
                <a:gd name="connsiteY14" fmla="*/ 145273 h 156974"/>
                <a:gd name="connsiteX15" fmla="*/ 113988 w 114609"/>
                <a:gd name="connsiteY15" fmla="*/ 122975 h 156974"/>
                <a:gd name="connsiteX16" fmla="*/ 110420 w 114609"/>
                <a:gd name="connsiteY16" fmla="*/ 120077 h 156974"/>
                <a:gd name="connsiteX17" fmla="*/ 105515 w 114609"/>
                <a:gd name="connsiteY17" fmla="*/ 126989 h 156974"/>
                <a:gd name="connsiteX18" fmla="*/ 89238 w 114609"/>
                <a:gd name="connsiteY18" fmla="*/ 150847 h 156974"/>
                <a:gd name="connsiteX19" fmla="*/ 81879 w 114609"/>
                <a:gd name="connsiteY19" fmla="*/ 139921 h 156974"/>
                <a:gd name="connsiteX20" fmla="*/ 82994 w 114609"/>
                <a:gd name="connsiteY20" fmla="*/ 130779 h 156974"/>
                <a:gd name="connsiteX21" fmla="*/ 113988 w 114609"/>
                <a:gd name="connsiteY21" fmla="*/ 6805 h 156974"/>
                <a:gd name="connsiteX22" fmla="*/ 66494 w 114609"/>
                <a:gd name="connsiteY22" fmla="*/ 126989 h 156974"/>
                <a:gd name="connsiteX23" fmla="*/ 55122 w 114609"/>
                <a:gd name="connsiteY23" fmla="*/ 141928 h 156974"/>
                <a:gd name="connsiteX24" fmla="*/ 34609 w 114609"/>
                <a:gd name="connsiteY24" fmla="*/ 150847 h 156974"/>
                <a:gd name="connsiteX25" fmla="*/ 18332 w 114609"/>
                <a:gd name="connsiteY25" fmla="*/ 129219 h 156974"/>
                <a:gd name="connsiteX26" fmla="*/ 29926 w 114609"/>
                <a:gd name="connsiteY26" fmla="*/ 83955 h 156974"/>
                <a:gd name="connsiteX27" fmla="*/ 57798 w 114609"/>
                <a:gd name="connsiteY27" fmla="*/ 62772 h 156974"/>
                <a:gd name="connsiteX28" fmla="*/ 77643 w 114609"/>
                <a:gd name="connsiteY28" fmla="*/ 82171 h 156974"/>
                <a:gd name="connsiteX29" fmla="*/ 76974 w 114609"/>
                <a:gd name="connsiteY29" fmla="*/ 85293 h 156974"/>
                <a:gd name="connsiteX30" fmla="*/ 66494 w 114609"/>
                <a:gd name="connsiteY30" fmla="*/ 126989 h 1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4609" h="156974">
                  <a:moveTo>
                    <a:pt x="113988" y="6805"/>
                  </a:moveTo>
                  <a:cubicBezTo>
                    <a:pt x="114211" y="6359"/>
                    <a:pt x="114880" y="3461"/>
                    <a:pt x="114880" y="3238"/>
                  </a:cubicBezTo>
                  <a:cubicBezTo>
                    <a:pt x="114880" y="2123"/>
                    <a:pt x="113988" y="116"/>
                    <a:pt x="111312" y="116"/>
                  </a:cubicBezTo>
                  <a:cubicBezTo>
                    <a:pt x="106853" y="116"/>
                    <a:pt x="88346" y="1900"/>
                    <a:pt x="82771" y="2346"/>
                  </a:cubicBezTo>
                  <a:cubicBezTo>
                    <a:pt x="80988" y="2569"/>
                    <a:pt x="77866" y="2792"/>
                    <a:pt x="77866" y="7474"/>
                  </a:cubicBezTo>
                  <a:cubicBezTo>
                    <a:pt x="77866" y="10596"/>
                    <a:pt x="80988" y="10596"/>
                    <a:pt x="83663" y="10596"/>
                  </a:cubicBezTo>
                  <a:cubicBezTo>
                    <a:pt x="94366" y="10596"/>
                    <a:pt x="94366" y="12157"/>
                    <a:pt x="94366" y="13941"/>
                  </a:cubicBezTo>
                  <a:cubicBezTo>
                    <a:pt x="94366" y="15501"/>
                    <a:pt x="93920" y="16839"/>
                    <a:pt x="93474" y="18846"/>
                  </a:cubicBezTo>
                  <a:lnTo>
                    <a:pt x="80765" y="69684"/>
                  </a:lnTo>
                  <a:cubicBezTo>
                    <a:pt x="76082" y="62326"/>
                    <a:pt x="68501" y="56529"/>
                    <a:pt x="57798" y="56529"/>
                  </a:cubicBezTo>
                  <a:cubicBezTo>
                    <a:pt x="29257" y="56529"/>
                    <a:pt x="271" y="87968"/>
                    <a:pt x="271" y="120077"/>
                  </a:cubicBezTo>
                  <a:cubicBezTo>
                    <a:pt x="271" y="141705"/>
                    <a:pt x="14764" y="157091"/>
                    <a:pt x="33940" y="157091"/>
                  </a:cubicBezTo>
                  <a:cubicBezTo>
                    <a:pt x="45980" y="157091"/>
                    <a:pt x="56683" y="150178"/>
                    <a:pt x="65602" y="141482"/>
                  </a:cubicBezTo>
                  <a:cubicBezTo>
                    <a:pt x="69839" y="154861"/>
                    <a:pt x="82771" y="157091"/>
                    <a:pt x="88569" y="157091"/>
                  </a:cubicBezTo>
                  <a:cubicBezTo>
                    <a:pt x="96596" y="157091"/>
                    <a:pt x="102170" y="152185"/>
                    <a:pt x="106184" y="145273"/>
                  </a:cubicBezTo>
                  <a:cubicBezTo>
                    <a:pt x="111089" y="136577"/>
                    <a:pt x="113988" y="123867"/>
                    <a:pt x="113988" y="122975"/>
                  </a:cubicBezTo>
                  <a:cubicBezTo>
                    <a:pt x="113988" y="120077"/>
                    <a:pt x="111089" y="120077"/>
                    <a:pt x="110420" y="120077"/>
                  </a:cubicBezTo>
                  <a:cubicBezTo>
                    <a:pt x="107299" y="120077"/>
                    <a:pt x="107076" y="120969"/>
                    <a:pt x="105515" y="126989"/>
                  </a:cubicBezTo>
                  <a:cubicBezTo>
                    <a:pt x="102839" y="137692"/>
                    <a:pt x="98603" y="150847"/>
                    <a:pt x="89238" y="150847"/>
                  </a:cubicBezTo>
                  <a:cubicBezTo>
                    <a:pt x="83440" y="150847"/>
                    <a:pt x="81879" y="145942"/>
                    <a:pt x="81879" y="139921"/>
                  </a:cubicBezTo>
                  <a:cubicBezTo>
                    <a:pt x="81879" y="135685"/>
                    <a:pt x="82325" y="133678"/>
                    <a:pt x="82994" y="130779"/>
                  </a:cubicBezTo>
                  <a:lnTo>
                    <a:pt x="113988" y="6805"/>
                  </a:lnTo>
                  <a:close/>
                  <a:moveTo>
                    <a:pt x="66494" y="126989"/>
                  </a:moveTo>
                  <a:cubicBezTo>
                    <a:pt x="64933" y="133232"/>
                    <a:pt x="60028" y="137692"/>
                    <a:pt x="55122" y="141928"/>
                  </a:cubicBezTo>
                  <a:cubicBezTo>
                    <a:pt x="53116" y="143712"/>
                    <a:pt x="44197" y="150847"/>
                    <a:pt x="34609" y="150847"/>
                  </a:cubicBezTo>
                  <a:cubicBezTo>
                    <a:pt x="26359" y="150847"/>
                    <a:pt x="18332" y="145050"/>
                    <a:pt x="18332" y="129219"/>
                  </a:cubicBezTo>
                  <a:cubicBezTo>
                    <a:pt x="18332" y="117401"/>
                    <a:pt x="24798" y="92874"/>
                    <a:pt x="29926" y="83955"/>
                  </a:cubicBezTo>
                  <a:cubicBezTo>
                    <a:pt x="40183" y="66117"/>
                    <a:pt x="51555" y="62772"/>
                    <a:pt x="57798" y="62772"/>
                  </a:cubicBezTo>
                  <a:cubicBezTo>
                    <a:pt x="73406" y="62772"/>
                    <a:pt x="77643" y="79718"/>
                    <a:pt x="77643" y="82171"/>
                  </a:cubicBezTo>
                  <a:cubicBezTo>
                    <a:pt x="77643" y="83063"/>
                    <a:pt x="77197" y="84624"/>
                    <a:pt x="76974" y="85293"/>
                  </a:cubicBezTo>
                  <a:lnTo>
                    <a:pt x="66494" y="126989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102" name="任意形状 2101">
              <a:extLst>
                <a:ext uri="{FF2B5EF4-FFF2-40B4-BE49-F238E27FC236}">
                  <a16:creationId xmlns:a16="http://schemas.microsoft.com/office/drawing/2014/main" id="{76CDFE66-5CC8-029C-52F1-12C50D90F7FA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4049247" y="5579053"/>
              <a:ext cx="106072" cy="573045"/>
            </a:xfrm>
            <a:custGeom>
              <a:avLst/>
              <a:gdLst>
                <a:gd name="connsiteX0" fmla="*/ 84369 w 106072"/>
                <a:gd name="connsiteY0" fmla="*/ 573110 h 573045"/>
                <a:gd name="connsiteX1" fmla="*/ 106348 w 106072"/>
                <a:gd name="connsiteY1" fmla="*/ 573110 h 573045"/>
                <a:gd name="connsiteX2" fmla="*/ 106348 w 106072"/>
                <a:gd name="connsiteY2" fmla="*/ 64 h 573045"/>
                <a:gd name="connsiteX3" fmla="*/ 275 w 106072"/>
                <a:gd name="connsiteY3" fmla="*/ 64 h 573045"/>
                <a:gd name="connsiteX4" fmla="*/ 275 w 106072"/>
                <a:gd name="connsiteY4" fmla="*/ 22043 h 573045"/>
                <a:gd name="connsiteX5" fmla="*/ 84369 w 106072"/>
                <a:gd name="connsiteY5" fmla="*/ 22043 h 573045"/>
                <a:gd name="connsiteX6" fmla="*/ 84369 w 106072"/>
                <a:gd name="connsiteY6" fmla="*/ 573110 h 57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072" h="573045">
                  <a:moveTo>
                    <a:pt x="84369" y="573110"/>
                  </a:moveTo>
                  <a:lnTo>
                    <a:pt x="106348" y="573110"/>
                  </a:lnTo>
                  <a:lnTo>
                    <a:pt x="106348" y="64"/>
                  </a:lnTo>
                  <a:lnTo>
                    <a:pt x="275" y="64"/>
                  </a:lnTo>
                  <a:lnTo>
                    <a:pt x="275" y="22043"/>
                  </a:lnTo>
                  <a:lnTo>
                    <a:pt x="84369" y="22043"/>
                  </a:lnTo>
                  <a:lnTo>
                    <a:pt x="84369" y="573110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103" name="任意形状 2102">
              <a:extLst>
                <a:ext uri="{FF2B5EF4-FFF2-40B4-BE49-F238E27FC236}">
                  <a16:creationId xmlns:a16="http://schemas.microsoft.com/office/drawing/2014/main" id="{94E7C6BF-C7A4-4289-F963-90A1217162D9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4133340" y="6151786"/>
              <a:ext cx="21978" cy="191758"/>
            </a:xfrm>
            <a:custGeom>
              <a:avLst/>
              <a:gdLst>
                <a:gd name="connsiteX0" fmla="*/ 275 w 21978"/>
                <a:gd name="connsiteY0" fmla="*/ 191841 h 191758"/>
                <a:gd name="connsiteX1" fmla="*/ 22254 w 21978"/>
                <a:gd name="connsiteY1" fmla="*/ 191841 h 191758"/>
                <a:gd name="connsiteX2" fmla="*/ 22254 w 21978"/>
                <a:gd name="connsiteY2" fmla="*/ 82 h 191758"/>
                <a:gd name="connsiteX3" fmla="*/ 275 w 21978"/>
                <a:gd name="connsiteY3" fmla="*/ 82 h 191758"/>
                <a:gd name="connsiteX4" fmla="*/ 275 w 21978"/>
                <a:gd name="connsiteY4" fmla="*/ 191841 h 191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78" h="191758">
                  <a:moveTo>
                    <a:pt x="275" y="191841"/>
                  </a:moveTo>
                  <a:lnTo>
                    <a:pt x="22254" y="191841"/>
                  </a:lnTo>
                  <a:lnTo>
                    <a:pt x="22254" y="82"/>
                  </a:lnTo>
                  <a:lnTo>
                    <a:pt x="275" y="82"/>
                  </a:lnTo>
                  <a:lnTo>
                    <a:pt x="275" y="191841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104" name="任意形状 2103">
              <a:extLst>
                <a:ext uri="{FF2B5EF4-FFF2-40B4-BE49-F238E27FC236}">
                  <a16:creationId xmlns:a16="http://schemas.microsoft.com/office/drawing/2014/main" id="{47812378-9D54-C3EF-7C02-9CEB8C2250D1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4133340" y="6342909"/>
              <a:ext cx="21978" cy="191758"/>
            </a:xfrm>
            <a:custGeom>
              <a:avLst/>
              <a:gdLst>
                <a:gd name="connsiteX0" fmla="*/ 275 w 21978"/>
                <a:gd name="connsiteY0" fmla="*/ 191847 h 191758"/>
                <a:gd name="connsiteX1" fmla="*/ 22254 w 21978"/>
                <a:gd name="connsiteY1" fmla="*/ 191847 h 191758"/>
                <a:gd name="connsiteX2" fmla="*/ 22254 w 21978"/>
                <a:gd name="connsiteY2" fmla="*/ 88 h 191758"/>
                <a:gd name="connsiteX3" fmla="*/ 275 w 21978"/>
                <a:gd name="connsiteY3" fmla="*/ 88 h 191758"/>
                <a:gd name="connsiteX4" fmla="*/ 275 w 21978"/>
                <a:gd name="connsiteY4" fmla="*/ 191847 h 191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78" h="191758">
                  <a:moveTo>
                    <a:pt x="275" y="191847"/>
                  </a:moveTo>
                  <a:lnTo>
                    <a:pt x="22254" y="191847"/>
                  </a:lnTo>
                  <a:lnTo>
                    <a:pt x="22254" y="88"/>
                  </a:lnTo>
                  <a:lnTo>
                    <a:pt x="275" y="88"/>
                  </a:lnTo>
                  <a:lnTo>
                    <a:pt x="275" y="191847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105" name="任意形状 2104">
              <a:extLst>
                <a:ext uri="{FF2B5EF4-FFF2-40B4-BE49-F238E27FC236}">
                  <a16:creationId xmlns:a16="http://schemas.microsoft.com/office/drawing/2014/main" id="{3C107264-036B-3294-C412-972697038CDD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4133340" y="6534033"/>
              <a:ext cx="21978" cy="191758"/>
            </a:xfrm>
            <a:custGeom>
              <a:avLst/>
              <a:gdLst>
                <a:gd name="connsiteX0" fmla="*/ 275 w 21978"/>
                <a:gd name="connsiteY0" fmla="*/ 191852 h 191758"/>
                <a:gd name="connsiteX1" fmla="*/ 22254 w 21978"/>
                <a:gd name="connsiteY1" fmla="*/ 191852 h 191758"/>
                <a:gd name="connsiteX2" fmla="*/ 22254 w 21978"/>
                <a:gd name="connsiteY2" fmla="*/ 94 h 191758"/>
                <a:gd name="connsiteX3" fmla="*/ 275 w 21978"/>
                <a:gd name="connsiteY3" fmla="*/ 94 h 191758"/>
                <a:gd name="connsiteX4" fmla="*/ 275 w 21978"/>
                <a:gd name="connsiteY4" fmla="*/ 191852 h 191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78" h="191758">
                  <a:moveTo>
                    <a:pt x="275" y="191852"/>
                  </a:moveTo>
                  <a:lnTo>
                    <a:pt x="22254" y="191852"/>
                  </a:lnTo>
                  <a:lnTo>
                    <a:pt x="22254" y="94"/>
                  </a:lnTo>
                  <a:lnTo>
                    <a:pt x="275" y="94"/>
                  </a:lnTo>
                  <a:lnTo>
                    <a:pt x="275" y="191852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106" name="任意形状 2105">
              <a:extLst>
                <a:ext uri="{FF2B5EF4-FFF2-40B4-BE49-F238E27FC236}">
                  <a16:creationId xmlns:a16="http://schemas.microsoft.com/office/drawing/2014/main" id="{46276A5D-FC2C-D321-1530-B102F14171DC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4049247" y="6725474"/>
              <a:ext cx="106072" cy="573045"/>
            </a:xfrm>
            <a:custGeom>
              <a:avLst/>
              <a:gdLst>
                <a:gd name="connsiteX0" fmla="*/ 84369 w 106072"/>
                <a:gd name="connsiteY0" fmla="*/ 551167 h 573045"/>
                <a:gd name="connsiteX1" fmla="*/ 275 w 106072"/>
                <a:gd name="connsiteY1" fmla="*/ 551167 h 573045"/>
                <a:gd name="connsiteX2" fmla="*/ 275 w 106072"/>
                <a:gd name="connsiteY2" fmla="*/ 573146 h 573045"/>
                <a:gd name="connsiteX3" fmla="*/ 106348 w 106072"/>
                <a:gd name="connsiteY3" fmla="*/ 573146 h 573045"/>
                <a:gd name="connsiteX4" fmla="*/ 106348 w 106072"/>
                <a:gd name="connsiteY4" fmla="*/ 100 h 573045"/>
                <a:gd name="connsiteX5" fmla="*/ 84369 w 106072"/>
                <a:gd name="connsiteY5" fmla="*/ 100 h 573045"/>
                <a:gd name="connsiteX6" fmla="*/ 84369 w 106072"/>
                <a:gd name="connsiteY6" fmla="*/ 551167 h 57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072" h="573045">
                  <a:moveTo>
                    <a:pt x="84369" y="551167"/>
                  </a:moveTo>
                  <a:lnTo>
                    <a:pt x="275" y="551167"/>
                  </a:lnTo>
                  <a:lnTo>
                    <a:pt x="275" y="573146"/>
                  </a:lnTo>
                  <a:lnTo>
                    <a:pt x="106348" y="573146"/>
                  </a:lnTo>
                  <a:lnTo>
                    <a:pt x="106348" y="100"/>
                  </a:lnTo>
                  <a:lnTo>
                    <a:pt x="84369" y="100"/>
                  </a:lnTo>
                  <a:lnTo>
                    <a:pt x="84369" y="551167"/>
                  </a:ln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107" name="任意形状 2106">
              <a:extLst>
                <a:ext uri="{FF2B5EF4-FFF2-40B4-BE49-F238E27FC236}">
                  <a16:creationId xmlns:a16="http://schemas.microsoft.com/office/drawing/2014/main" id="{A7AB14F8-0249-B228-381F-67ABC7CF20DD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4339857" y="6484659"/>
              <a:ext cx="33764" cy="33764"/>
            </a:xfrm>
            <a:custGeom>
              <a:avLst/>
              <a:gdLst>
                <a:gd name="connsiteX0" fmla="*/ 34048 w 33764"/>
                <a:gd name="connsiteY0" fmla="*/ 16976 h 33764"/>
                <a:gd name="connsiteX1" fmla="*/ 17166 w 33764"/>
                <a:gd name="connsiteY1" fmla="*/ 93 h 33764"/>
                <a:gd name="connsiteX2" fmla="*/ 284 w 33764"/>
                <a:gd name="connsiteY2" fmla="*/ 16976 h 33764"/>
                <a:gd name="connsiteX3" fmla="*/ 17166 w 33764"/>
                <a:gd name="connsiteY3" fmla="*/ 33858 h 33764"/>
                <a:gd name="connsiteX4" fmla="*/ 34048 w 33764"/>
                <a:gd name="connsiteY4" fmla="*/ 16976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64" h="33764">
                  <a:moveTo>
                    <a:pt x="34048" y="16976"/>
                  </a:moveTo>
                  <a:cubicBezTo>
                    <a:pt x="34048" y="7738"/>
                    <a:pt x="26403" y="93"/>
                    <a:pt x="17166" y="93"/>
                  </a:cubicBezTo>
                  <a:cubicBezTo>
                    <a:pt x="7928" y="93"/>
                    <a:pt x="284" y="7738"/>
                    <a:pt x="284" y="16976"/>
                  </a:cubicBezTo>
                  <a:cubicBezTo>
                    <a:pt x="284" y="26213"/>
                    <a:pt x="7928" y="33858"/>
                    <a:pt x="17166" y="33858"/>
                  </a:cubicBezTo>
                  <a:cubicBezTo>
                    <a:pt x="26403" y="33858"/>
                    <a:pt x="34048" y="26213"/>
                    <a:pt x="34048" y="16976"/>
                  </a:cubicBezTo>
                  <a:close/>
                </a:path>
              </a:pathLst>
            </a:custGeom>
            <a:solidFill>
              <a:srgbClr val="000000"/>
            </a:solidFill>
            <a:ln w="17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55" name="矩形 2054">
                <a:extLst>
                  <a:ext uri="{FF2B5EF4-FFF2-40B4-BE49-F238E27FC236}">
                    <a16:creationId xmlns:a16="http://schemas.microsoft.com/office/drawing/2014/main" id="{7D7F8AF8-6CD2-3301-ACDF-118372DA2B20}"/>
                  </a:ext>
                </a:extLst>
              </p:cNvPr>
              <p:cNvSpPr/>
              <p:nvPr/>
            </p:nvSpPr>
            <p:spPr>
              <a:xfrm>
                <a:off x="5443685" y="5511827"/>
                <a:ext cx="3135391" cy="73752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550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800" b="1" i="0" dirty="0">
                    <a:solidFill>
                      <a:srgbClr val="C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多个样本点组成的数据集可以用一个矩阵 </a:t>
                </a:r>
                <a14:m>
                  <m:oMath xmlns:m="http://schemas.openxmlformats.org/officeDocument/2006/math">
                    <m:r>
                      <a:rPr lang="en-US" altLang="zh-CN" sz="18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18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1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1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1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𝒅</m:t>
                        </m:r>
                      </m:sup>
                    </m:sSup>
                  </m:oMath>
                </a14:m>
                <a:r>
                  <a:rPr lang="zh-CN" altLang="en-US" sz="1800" b="1" i="0" dirty="0">
                    <a:solidFill>
                      <a:srgbClr val="C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表示</a:t>
                </a:r>
              </a:p>
            </p:txBody>
          </p:sp>
        </mc:Choice>
        <mc:Fallback xmlns="">
          <p:sp>
            <p:nvSpPr>
              <p:cNvPr id="2055" name="矩形 2054">
                <a:extLst>
                  <a:ext uri="{FF2B5EF4-FFF2-40B4-BE49-F238E27FC236}">
                    <a16:creationId xmlns:a16="http://schemas.microsoft.com/office/drawing/2014/main" id="{7D7F8AF8-6CD2-3301-ACDF-118372DA2B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685" y="5511827"/>
                <a:ext cx="3135391" cy="737524"/>
              </a:xfrm>
              <a:prstGeom prst="rect">
                <a:avLst/>
              </a:prstGeom>
              <a:blipFill>
                <a:blip r:embed="rId58"/>
                <a:stretch>
                  <a:fillRect l="-806" r="-806" b="-6667"/>
                </a:stretch>
              </a:blipFill>
              <a:ln w="550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2151EF07-18D6-681A-3329-D5C9A14B9C87}"/>
              </a:ext>
            </a:extLst>
          </p:cNvPr>
          <p:cNvSpPr txBox="1"/>
          <p:nvPr/>
        </p:nvSpPr>
        <p:spPr>
          <a:xfrm>
            <a:off x="131018" y="6428510"/>
            <a:ext cx="95189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bg1"/>
                </a:solidFill>
              </a:rPr>
              <a:t>图片来源：</a:t>
            </a:r>
            <a:r>
              <a:rPr kumimoji="1" lang="en-US" altLang="zh-CN" sz="1400" dirty="0">
                <a:solidFill>
                  <a:schemeClr val="bg1"/>
                </a:solidFill>
              </a:rPr>
              <a:t>MNIST</a:t>
            </a:r>
            <a:r>
              <a:rPr kumimoji="1" lang="zh-CN" altLang="en-US" sz="1400" dirty="0">
                <a:solidFill>
                  <a:schemeClr val="bg1"/>
                </a:solidFill>
              </a:rPr>
              <a:t>、</a:t>
            </a:r>
            <a:r>
              <a:rPr kumimoji="1" lang="en" altLang="zh-CN" sz="1400" dirty="0">
                <a:solidFill>
                  <a:schemeClr val="bg1"/>
                </a:solidFill>
              </a:rPr>
              <a:t>https://</a:t>
            </a:r>
            <a:r>
              <a:rPr kumimoji="1" lang="en" altLang="zh-CN" sz="1400" dirty="0" err="1">
                <a:solidFill>
                  <a:schemeClr val="bg1"/>
                </a:solidFill>
              </a:rPr>
              <a:t>community.deeplearning.ai</a:t>
            </a:r>
            <a:r>
              <a:rPr kumimoji="1" lang="en" altLang="zh-CN" sz="1400" dirty="0">
                <a:solidFill>
                  <a:schemeClr val="bg1"/>
                </a:solidFill>
              </a:rPr>
              <a:t>/t/question-regarding-matrix-linear-transformation/623006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6AF831C-91D7-1C7C-B6B9-7F2719B18BC9}"/>
              </a:ext>
            </a:extLst>
          </p:cNvPr>
          <p:cNvSpPr txBox="1"/>
          <p:nvPr/>
        </p:nvSpPr>
        <p:spPr>
          <a:xfrm>
            <a:off x="-127322" y="1180618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96361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E8F56-26A8-FA0F-D71B-A0FA34A5B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5851007-2072-650F-9792-BDE51B1EE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矩阵乘法</a:t>
            </a:r>
            <a:r>
              <a:rPr lang="en-US" altLang="zh-CN" dirty="0"/>
              <a:t>(matrix multiplication)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5CA619F-492D-5E22-5F6B-5C79ACE2979E}"/>
                  </a:ext>
                </a:extLst>
              </p:cNvPr>
              <p:cNvSpPr txBox="1"/>
              <p:nvPr/>
            </p:nvSpPr>
            <p:spPr>
              <a:xfrm>
                <a:off x="381243" y="4506665"/>
                <a:ext cx="33372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p"/>
                </a:pP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结合律：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𝑨𝑩</m:t>
                        </m:r>
                      </m:e>
                    </m:d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𝑪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𝑨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𝑩𝑪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)</m:t>
                    </m:r>
                  </m:oMath>
                </a14:m>
                <a:endParaRPr kumimoji="1" lang="en-US" altLang="zh-CN" sz="20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5CA619F-492D-5E22-5F6B-5C79ACE29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3" y="4506665"/>
                <a:ext cx="3337260" cy="400110"/>
              </a:xfrm>
              <a:prstGeom prst="rect">
                <a:avLst/>
              </a:prstGeom>
              <a:blipFill>
                <a:blip r:embed="rId2"/>
                <a:stretch>
                  <a:fillRect l="-1901" t="-6061" r="-380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6DC3A01-D4DE-0C2F-14AB-1ED8192A2050}"/>
                  </a:ext>
                </a:extLst>
              </p:cNvPr>
              <p:cNvSpPr txBox="1"/>
              <p:nvPr/>
            </p:nvSpPr>
            <p:spPr>
              <a:xfrm>
                <a:off x="381243" y="5041377"/>
                <a:ext cx="40253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p"/>
                </a:pP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分配律：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𝑨</m:t>
                    </m:r>
                    <m:d>
                      <m:dPr>
                        <m:ctrlPr>
                          <a:rPr kumimoji="1"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𝑩</m:t>
                        </m:r>
                        <m:r>
                          <a:rPr kumimoji="1"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</m:t>
                        </m:r>
                        <m:r>
                          <a:rPr kumimoji="1"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𝑪</m:t>
                        </m:r>
                      </m:e>
                    </m:d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𝑨𝑩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+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𝑨𝑪</m:t>
                    </m:r>
                  </m:oMath>
                </a14:m>
                <a:endParaRPr kumimoji="1" lang="en-US" altLang="zh-CN" sz="20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6DC3A01-D4DE-0C2F-14AB-1ED8192A2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3" y="5041377"/>
                <a:ext cx="4025333" cy="400110"/>
              </a:xfrm>
              <a:prstGeom prst="rect">
                <a:avLst/>
              </a:prstGeom>
              <a:blipFill>
                <a:blip r:embed="rId3"/>
                <a:stretch>
                  <a:fillRect l="-1572" t="-6061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69F90FB-B4E5-DEB2-2C70-2CE3109B5634}"/>
                  </a:ext>
                </a:extLst>
              </p:cNvPr>
              <p:cNvSpPr txBox="1"/>
              <p:nvPr/>
            </p:nvSpPr>
            <p:spPr>
              <a:xfrm>
                <a:off x="381242" y="5553067"/>
                <a:ext cx="388580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p"/>
                </a:pP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一般不满足交换律：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𝑨𝑩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≠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𝑩𝑨</m:t>
                    </m:r>
                  </m:oMath>
                </a14:m>
                <a:endParaRPr kumimoji="1" lang="en-US" altLang="zh-CN" sz="20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69F90FB-B4E5-DEB2-2C70-2CE3109B5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5553067"/>
                <a:ext cx="3885807" cy="400110"/>
              </a:xfrm>
              <a:prstGeom prst="rect">
                <a:avLst/>
              </a:prstGeom>
              <a:blipFill>
                <a:blip r:embed="rId4"/>
                <a:stretch>
                  <a:fillRect l="-1634" t="-9375" b="-28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DC72303-A2D1-1227-290F-5F6FD93D023F}"/>
                  </a:ext>
                </a:extLst>
              </p:cNvPr>
              <p:cNvSpPr txBox="1"/>
              <p:nvPr/>
            </p:nvSpPr>
            <p:spPr>
              <a:xfrm>
                <a:off x="381243" y="1037257"/>
                <a:ext cx="93664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p"/>
                </a:pP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矩阵向量乘法：</a:t>
                </a:r>
                <a14:m>
                  <m:oMath xmlns:m="http://schemas.openxmlformats.org/officeDocument/2006/math">
                    <m:r>
                      <a:rPr kumimoji="1"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𝑨</m:t>
                    </m:r>
                    <m:r>
                      <a:rPr kumimoji="1"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𝒎</m:t>
                        </m:r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×</m:t>
                        </m:r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𝒏</m:t>
                        </m:r>
                      </m:sup>
                    </m:sSup>
                    <m:r>
                      <a:rPr kumimoji="1"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r>
                      <a:rPr kumimoji="1"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𝒙</m:t>
                    </m:r>
                    <m:r>
                      <a:rPr kumimoji="1"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𝒏</m:t>
                        </m:r>
                      </m:sup>
                    </m:sSup>
                  </m:oMath>
                </a14:m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，记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𝒚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:=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𝑨𝒙</m:t>
                    </m:r>
                  </m:oMath>
                </a14:m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𝒚</m:t>
                    </m:r>
                  </m:oMath>
                </a14:m>
                <a:r>
                  <a:rPr kumimoji="1"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的第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𝒊</m:t>
                    </m:r>
                  </m:oMath>
                </a14:m>
                <a:r>
                  <a:rPr kumimoji="1"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个分量计算为：</a:t>
                </a:r>
                <a:endParaRPr kumimoji="1" lang="en-US" altLang="zh-CN" sz="20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DC72303-A2D1-1227-290F-5F6FD93D0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3" y="1037257"/>
                <a:ext cx="9366410" cy="400110"/>
              </a:xfrm>
              <a:prstGeom prst="rect">
                <a:avLst/>
              </a:prstGeom>
              <a:blipFill>
                <a:blip r:embed="rId5"/>
                <a:stretch>
                  <a:fillRect l="-678" t="-6061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14CD7F2-FA90-E34E-E7FF-621C60D7817E}"/>
                  </a:ext>
                </a:extLst>
              </p:cNvPr>
              <p:cNvSpPr txBox="1"/>
              <p:nvPr/>
            </p:nvSpPr>
            <p:spPr>
              <a:xfrm>
                <a:off x="1728228" y="1549637"/>
                <a:ext cx="51734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14CD7F2-FA90-E34E-E7FF-621C60D78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228" y="1549637"/>
                <a:ext cx="5173468" cy="523220"/>
              </a:xfrm>
              <a:prstGeom prst="rect">
                <a:avLst/>
              </a:prstGeom>
              <a:blipFill>
                <a:blip r:embed="rId6"/>
                <a:stretch>
                  <a:fillRect b="-93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图片 16">
            <a:extLst>
              <a:ext uri="{FF2B5EF4-FFF2-40B4-BE49-F238E27FC236}">
                <a16:creationId xmlns:a16="http://schemas.microsoft.com/office/drawing/2014/main" id="{AE6E8128-934B-0D48-50B7-82DE736375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6938" y="1387097"/>
            <a:ext cx="3425062" cy="986467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6B3E72B1-51AF-09F6-0872-513CE40FA6DB}"/>
              </a:ext>
            </a:extLst>
          </p:cNvPr>
          <p:cNvSpPr txBox="1"/>
          <p:nvPr/>
        </p:nvSpPr>
        <p:spPr>
          <a:xfrm>
            <a:off x="9961212" y="1112392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矩阵向量乘法例子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11AB03B-DC19-2227-6981-E8F53F895A4A}"/>
                  </a:ext>
                </a:extLst>
              </p:cNvPr>
              <p:cNvSpPr txBox="1"/>
              <p:nvPr/>
            </p:nvSpPr>
            <p:spPr>
              <a:xfrm>
                <a:off x="381242" y="2667044"/>
                <a:ext cx="113966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p"/>
                </a:pP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矩阵矩阵乘法：</a:t>
                </a:r>
                <a14:m>
                  <m:oMath xmlns:m="http://schemas.openxmlformats.org/officeDocument/2006/math">
                    <m:r>
                      <a:rPr kumimoji="1"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𝑨</m:t>
                    </m:r>
                    <m:r>
                      <a:rPr kumimoji="1"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𝒎</m:t>
                        </m:r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×</m:t>
                        </m:r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𝒑</m:t>
                        </m:r>
                      </m:sup>
                    </m:sSup>
                    <m:r>
                      <a:rPr kumimoji="1"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r>
                      <a:rPr kumimoji="1"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𝑩</m:t>
                    </m:r>
                    <m:r>
                      <a:rPr kumimoji="1"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𝒑</m:t>
                        </m:r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×</m:t>
                        </m:r>
                        <m:r>
                          <a:rPr kumimoji="1"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𝒏</m:t>
                        </m:r>
                      </m:sup>
                    </m:sSup>
                  </m:oMath>
                </a14:m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，记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𝑪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:=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𝑨𝑩</m:t>
                    </m:r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kumimoji="1"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kumimoji="1"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𝒎</m:t>
                        </m:r>
                        <m:r>
                          <a:rPr kumimoji="1"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×</m:t>
                        </m:r>
                        <m:r>
                          <a:rPr kumimoji="1"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𝒏</m:t>
                        </m:r>
                      </m:sup>
                    </m:sSup>
                  </m:oMath>
                </a14:m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𝑪</m:t>
                    </m:r>
                  </m:oMath>
                </a14:m>
                <a:r>
                  <a:rPr kumimoji="1"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的第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𝒊</m:t>
                    </m:r>
                  </m:oMath>
                </a14:m>
                <a:r>
                  <a:rPr kumimoji="1"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行第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𝒋</m:t>
                    </m:r>
                  </m:oMath>
                </a14:m>
                <a:r>
                  <a:rPr kumimoji="1"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列元素计算为：</a:t>
                </a:r>
                <a:endParaRPr kumimoji="1" lang="en-US" altLang="zh-CN" sz="20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11AB03B-DC19-2227-6981-E8F53F895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2667044"/>
                <a:ext cx="11396646" cy="400110"/>
              </a:xfrm>
              <a:prstGeom prst="rect">
                <a:avLst/>
              </a:prstGeom>
              <a:blipFill>
                <a:blip r:embed="rId8"/>
                <a:stretch>
                  <a:fillRect l="-557" t="-9375" b="-28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6D64B14-A52E-98F4-7F2F-516CE457A9A5}"/>
                  </a:ext>
                </a:extLst>
              </p:cNvPr>
              <p:cNvSpPr txBox="1"/>
              <p:nvPr/>
            </p:nvSpPr>
            <p:spPr>
              <a:xfrm>
                <a:off x="1876216" y="2993179"/>
                <a:ext cx="8024183" cy="1268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𝑘𝑗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𝑖𝑝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𝑝𝑗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6D64B14-A52E-98F4-7F2F-516CE457A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216" y="2993179"/>
                <a:ext cx="8024183" cy="1268552"/>
              </a:xfrm>
              <a:prstGeom prst="rect">
                <a:avLst/>
              </a:prstGeom>
              <a:blipFill>
                <a:blip r:embed="rId9"/>
                <a:stretch>
                  <a:fillRect l="-2212" t="-105941" b="-1623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图片 21">
            <a:extLst>
              <a:ext uri="{FF2B5EF4-FFF2-40B4-BE49-F238E27FC236}">
                <a16:creationId xmlns:a16="http://schemas.microsoft.com/office/drawing/2014/main" id="{A212D3B0-187E-3FB1-9005-7B1403CFF2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3917" y="4484437"/>
            <a:ext cx="4892107" cy="947653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6A1553F8-CE86-D4C5-1FBA-6C6C1793C256}"/>
              </a:ext>
            </a:extLst>
          </p:cNvPr>
          <p:cNvSpPr txBox="1"/>
          <p:nvPr/>
        </p:nvSpPr>
        <p:spPr>
          <a:xfrm>
            <a:off x="10035231" y="4065307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矩阵矩阵乘法例子</a:t>
            </a:r>
          </a:p>
        </p:txBody>
      </p:sp>
    </p:spTree>
    <p:extLst>
      <p:ext uri="{BB962C8B-B14F-4D97-AF65-F5344CB8AC3E}">
        <p14:creationId xmlns:p14="http://schemas.microsoft.com/office/powerpoint/2010/main" val="1226102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B49C4-520A-0EB4-5419-8AB84CA53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7001B4C-4B11-E328-BD79-E7C941502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特殊的矩阵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9176919-7084-1436-CC70-F944F5C3059E}"/>
                  </a:ext>
                </a:extLst>
              </p:cNvPr>
              <p:cNvSpPr txBox="1"/>
              <p:nvPr/>
            </p:nvSpPr>
            <p:spPr>
              <a:xfrm>
                <a:off x="116773" y="2395445"/>
                <a:ext cx="5410201" cy="1011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对角矩阵：除对角线外其他元素均为</a:t>
                </a:r>
                <a:r>
                  <a:rPr lang="en-US" altLang="zh-CN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 </m:t>
                    </m:r>
                    <m:r>
                      <m:rPr>
                        <m:sty m:val="p"/>
                      </m:rP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when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𝑗</m:t>
                    </m:r>
                  </m:oMath>
                </a14:m>
                <a:endParaRPr lang="zh-CN" altLang="en-US" sz="2000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9176919-7084-1436-CC70-F944F5C30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73" y="2395445"/>
                <a:ext cx="5410201" cy="1011174"/>
              </a:xfrm>
              <a:prstGeom prst="rect">
                <a:avLst/>
              </a:prstGeom>
              <a:blipFill>
                <a:blip r:embed="rId2"/>
                <a:stretch>
                  <a:fillRect l="-937" b="-3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5AC51B8D-AC38-C108-2711-C887AE7065DC}"/>
                  </a:ext>
                </a:extLst>
              </p:cNvPr>
              <p:cNvSpPr txBox="1"/>
              <p:nvPr/>
            </p:nvSpPr>
            <p:spPr>
              <a:xfrm>
                <a:off x="116773" y="4001608"/>
                <a:ext cx="4793300" cy="8988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 algn="l">
                  <a:buFont typeface="Wingdings" pitchFamily="2" charset="2"/>
                  <a:buChar char="p"/>
                </a:pP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下三角矩阵：对角线以上的元素全为</a:t>
                </a:r>
                <a:r>
                  <a:rPr kumimoji="1"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 </m:t>
                      </m:r>
                      <m:r>
                        <m:rPr>
                          <m:sty m:val="p"/>
                        </m:rPr>
                        <a:rPr lang="en-US" altLang="zh-CN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for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𝑗</m:t>
                      </m:r>
                    </m:oMath>
                  </m:oMathPara>
                </a14:m>
                <a:endParaRPr kumimoji="1" lang="zh-CN" altLang="en-US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5AC51B8D-AC38-C108-2711-C887AE706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73" y="4001608"/>
                <a:ext cx="4793300" cy="898836"/>
              </a:xfrm>
              <a:prstGeom prst="rect">
                <a:avLst/>
              </a:prstGeom>
              <a:blipFill>
                <a:blip r:embed="rId3"/>
                <a:stretch>
                  <a:fillRect l="-1058" t="-2778" r="-265" b="-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0504D6AC-C236-8A50-0ECB-91424E2203E0}"/>
              </a:ext>
            </a:extLst>
          </p:cNvPr>
          <p:cNvSpPr txBox="1"/>
          <p:nvPr/>
        </p:nvSpPr>
        <p:spPr>
          <a:xfrm>
            <a:off x="-157088" y="2681172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zh-CN" altLang="en-US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DB40FAF-D1FC-0DB2-7CF7-6EFC82993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6104" y="2308319"/>
            <a:ext cx="5486400" cy="1473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29682A0-BA70-C1BD-597E-D6E19C48C986}"/>
                  </a:ext>
                </a:extLst>
              </p:cNvPr>
              <p:cNvSpPr txBox="1"/>
              <p:nvPr/>
            </p:nvSpPr>
            <p:spPr>
              <a:xfrm>
                <a:off x="131018" y="5149566"/>
                <a:ext cx="4793300" cy="10527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 algn="l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上三角矩阵：对角线以下的元素全为</a:t>
                </a:r>
                <a:r>
                  <a:rPr kumimoji="1"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 </m:t>
                      </m:r>
                      <m:r>
                        <m:rPr>
                          <m:sty m:val="p"/>
                        </m:rP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for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&gt;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𝑗</m:t>
                      </m:r>
                    </m:oMath>
                  </m:oMathPara>
                </a14:m>
                <a:endParaRPr kumimoji="1" lang="zh-CN" altLang="en-US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29682A0-BA70-C1BD-597E-D6E19C48C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18" y="5149566"/>
                <a:ext cx="4793300" cy="1052724"/>
              </a:xfrm>
              <a:prstGeom prst="rect">
                <a:avLst/>
              </a:prstGeom>
              <a:blipFill>
                <a:blip r:embed="rId5"/>
                <a:stretch>
                  <a:fillRect l="-1058" r="-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6B383800-3B86-EC31-4C7B-8C89A279BD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8344" y="4879057"/>
            <a:ext cx="2446321" cy="133537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C386092-0B46-E179-4E9F-1B56913959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2129" y="3781519"/>
            <a:ext cx="1766382" cy="8731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030F02D-C6ED-2D04-4F62-27F4A4A8421F}"/>
                  </a:ext>
                </a:extLst>
              </p:cNvPr>
              <p:cNvSpPr txBox="1"/>
              <p:nvPr/>
            </p:nvSpPr>
            <p:spPr>
              <a:xfrm>
                <a:off x="131018" y="973902"/>
                <a:ext cx="6211167" cy="1011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单位矩阵：对角线元素全为</a:t>
                </a:r>
                <a:r>
                  <a:rPr lang="en-US" altLang="zh-CN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，其他元素均为</a:t>
                </a:r>
                <a:r>
                  <a:rPr lang="en-US" altLang="zh-CN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:r>
                  <a:rPr lang="en-US" altLang="zh-CN" sz="2000" dirty="0">
                    <a:solidFill>
                      <a:schemeClr val="bg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𝒊𝒊</m:t>
                            </m:r>
                          </m:sub>
                        </m:s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 </m:t>
                    </m:r>
                    <m:r>
                      <m:rPr>
                        <m:sty m:val="p"/>
                      </m:rP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when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𝑗</m:t>
                    </m:r>
                  </m:oMath>
                </a14:m>
                <a:endParaRPr lang="zh-CN" altLang="en-US" sz="2000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030F02D-C6ED-2D04-4F62-27F4A4A84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18" y="973902"/>
                <a:ext cx="6211167" cy="1011174"/>
              </a:xfrm>
              <a:prstGeom prst="rect">
                <a:avLst/>
              </a:prstGeom>
              <a:blipFill>
                <a:blip r:embed="rId8"/>
                <a:stretch>
                  <a:fillRect l="-816" r="-408" b="-3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图片 16">
            <a:extLst>
              <a:ext uri="{FF2B5EF4-FFF2-40B4-BE49-F238E27FC236}">
                <a16:creationId xmlns:a16="http://schemas.microsoft.com/office/drawing/2014/main" id="{08F30B39-CB3A-4E01-5ABC-6BF1C14F06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7615" y="863539"/>
            <a:ext cx="13716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128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48C6F-633F-547F-9EEE-46821DBD6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8ABA913-C3E7-3B1E-C7EA-49B217B0C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矩阵的逆 </a:t>
            </a:r>
            <a:r>
              <a:rPr lang="en-US" altLang="zh-CN" dirty="0"/>
              <a:t>(inverse)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739BE29-0201-E66B-130E-A06396C83DB5}"/>
                  </a:ext>
                </a:extLst>
              </p:cNvPr>
              <p:cNvSpPr txBox="1"/>
              <p:nvPr/>
            </p:nvSpPr>
            <p:spPr>
              <a:xfrm>
                <a:off x="146539" y="894891"/>
                <a:ext cx="11664219" cy="1454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对于一个方阵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ℝ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，如果存在一个矩阵 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  <m:r>
                      <a:rPr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ℝ</m:t>
                        </m:r>
                      </m:e>
                      <m:sup>
                        <m:r>
                          <a:rPr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  <m:r>
                          <a:rPr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r>
                          <a:rPr lang="en-US" altLang="zh-CN" sz="20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使得</a:t>
                </a:r>
                <a:endParaRPr lang="en-US" altLang="zh-CN" sz="20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𝑨𝑩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𝑩𝑨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𝑰</m:t>
                      </m:r>
                    </m:oMath>
                  </m:oMathPara>
                </a14:m>
                <a:endParaRPr lang="en-US" altLang="zh-CN" sz="20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   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则称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</m:oMath>
                </a14:m>
                <a:r>
                  <a:rPr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的逆，记为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≔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</m:oMath>
                </a14:m>
                <a:endParaRPr lang="zh-CN" altLang="en-US" sz="20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739BE29-0201-E66B-130E-A06396C83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39" y="894891"/>
                <a:ext cx="11664219" cy="1454309"/>
              </a:xfrm>
              <a:prstGeom prst="rect">
                <a:avLst/>
              </a:prstGeom>
              <a:blipFill>
                <a:blip r:embed="rId2"/>
                <a:stretch>
                  <a:fillRect l="-435" b="-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AB1D1854-8516-81EE-218E-BEFDB81832E0}"/>
              </a:ext>
            </a:extLst>
          </p:cNvPr>
          <p:cNvSpPr txBox="1"/>
          <p:nvPr/>
        </p:nvSpPr>
        <p:spPr>
          <a:xfrm>
            <a:off x="-127322" y="1180618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FF0253A-D183-31B5-86AE-1BA5E087483B}"/>
                  </a:ext>
                </a:extLst>
              </p:cNvPr>
              <p:cNvSpPr txBox="1"/>
              <p:nvPr/>
            </p:nvSpPr>
            <p:spPr>
              <a:xfrm>
                <a:off x="131018" y="2482112"/>
                <a:ext cx="5410201" cy="506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单位矩阵的逆：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𝑰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</m:oMath>
                </a14:m>
                <a:endParaRPr lang="zh-CN" altLang="en-US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FF0253A-D183-31B5-86AE-1BA5E0874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18" y="2482112"/>
                <a:ext cx="5410201" cy="506677"/>
              </a:xfrm>
              <a:prstGeom prst="rect">
                <a:avLst/>
              </a:prstGeom>
              <a:blipFill>
                <a:blip r:embed="rId3"/>
                <a:stretch>
                  <a:fillRect l="-937" b="-21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13939A1-93D2-3017-49EA-834BBD83036D}"/>
                  </a:ext>
                </a:extLst>
              </p:cNvPr>
              <p:cNvSpPr txBox="1"/>
              <p:nvPr/>
            </p:nvSpPr>
            <p:spPr>
              <a:xfrm>
                <a:off x="146539" y="3121701"/>
                <a:ext cx="6887307" cy="506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正交矩阵（定义为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⊤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⊤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</m:oMath>
                </a14:m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）的逆：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⊤</m:t>
                        </m:r>
                      </m:sup>
                    </m:sSup>
                  </m:oMath>
                </a14:m>
                <a:endParaRPr lang="zh-CN" altLang="en-US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13939A1-93D2-3017-49EA-834BBD830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39" y="3121701"/>
                <a:ext cx="6887307" cy="506677"/>
              </a:xfrm>
              <a:prstGeom prst="rect">
                <a:avLst/>
              </a:prstGeom>
              <a:blipFill>
                <a:blip r:embed="rId4"/>
                <a:stretch>
                  <a:fillRect l="-737" b="-21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535D7926-CC65-715E-3237-C73B2FBB75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2554" y="5252877"/>
            <a:ext cx="4970584" cy="107208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AF8721E-7BBD-E36E-CCA6-1F782CA71F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888" y="3730428"/>
            <a:ext cx="3739174" cy="111086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9F25E6B-CFEB-D6C2-352F-F76487E6C8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1696" y="2880781"/>
            <a:ext cx="1981808" cy="17369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DC089FC-37A7-A9B0-3D4C-241CD176BDA0}"/>
                  </a:ext>
                </a:extLst>
              </p:cNvPr>
              <p:cNvSpPr txBox="1"/>
              <p:nvPr/>
            </p:nvSpPr>
            <p:spPr>
              <a:xfrm>
                <a:off x="146539" y="4789924"/>
                <a:ext cx="8223738" cy="499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en-US" altLang="zh-CN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2x2 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矩阵可逆当且仅当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𝟏𝟐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，此时求逆公式为：</a:t>
                </a: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DC089FC-37A7-A9B0-3D4C-241CD176B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39" y="4789924"/>
                <a:ext cx="8223738" cy="499560"/>
              </a:xfrm>
              <a:prstGeom prst="rect">
                <a:avLst/>
              </a:prstGeom>
              <a:blipFill>
                <a:blip r:embed="rId8"/>
                <a:stretch>
                  <a:fillRect l="-616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E6DEA735-71A7-AC9B-DEA4-4FCE6DC164E1}"/>
              </a:ext>
            </a:extLst>
          </p:cNvPr>
          <p:cNvSpPr txBox="1"/>
          <p:nvPr/>
        </p:nvSpPr>
        <p:spPr>
          <a:xfrm>
            <a:off x="132000" y="404828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正交矩阵例子</a:t>
            </a:r>
          </a:p>
        </p:txBody>
      </p:sp>
    </p:spTree>
    <p:extLst>
      <p:ext uri="{BB962C8B-B14F-4D97-AF65-F5344CB8AC3E}">
        <p14:creationId xmlns:p14="http://schemas.microsoft.com/office/powerpoint/2010/main" val="913284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A3572-4877-A026-B689-318B3A0B4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79B571A-917E-7360-9B25-FE133249B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矩阵的行列式 </a:t>
            </a:r>
            <a:r>
              <a:rPr lang="en-US" altLang="zh-CN" dirty="0"/>
              <a:t>(determinant)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ACE458-C5F5-00AC-1BEB-25ECB4A4D6A3}"/>
              </a:ext>
            </a:extLst>
          </p:cNvPr>
          <p:cNvSpPr txBox="1"/>
          <p:nvPr/>
        </p:nvSpPr>
        <p:spPr>
          <a:xfrm>
            <a:off x="-157088" y="2681172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2EBCD25-EAA0-D3E2-707C-EE69CEAE703F}"/>
                  </a:ext>
                </a:extLst>
              </p:cNvPr>
              <p:cNvSpPr txBox="1"/>
              <p:nvPr/>
            </p:nvSpPr>
            <p:spPr>
              <a:xfrm>
                <a:off x="131018" y="973902"/>
                <a:ext cx="10923844" cy="1045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ℝ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\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\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𝒋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ℝ</m:t>
                        </m:r>
                      </m:e>
                      <m:sup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𝒏</m:t>
                            </m:r>
                            <m:r>
                              <a:rPr lang="en-US" altLang="zh-CN" sz="2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2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e>
                        </m:d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𝒏</m:t>
                            </m:r>
                            <m:r>
                              <a:rPr lang="en-US" altLang="zh-CN" sz="2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2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是去掉第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𝒊</m:t>
                    </m:r>
                  </m:oMath>
                </a14:m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行和第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𝒋</m:t>
                    </m:r>
                  </m:oMath>
                </a14:m>
                <a:r>
                  <a:rPr lang="en-US" altLang="zh-CN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列之后的矩阵</a:t>
                </a:r>
                <a:endParaRPr lang="en-US" altLang="zh-CN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b="1" dirty="0">
                    <a:solidFill>
                      <a:srgbClr val="000000"/>
                    </a:solidFill>
                    <a:ea typeface="微软雅黑" panose="020B0503020204020204" pitchFamily="34" charset="-122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en-US" altLang="zh-CN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的行列式可如下递归地定义：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2EBCD25-EAA0-D3E2-707C-EE69CEAE7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18" y="973902"/>
                <a:ext cx="10923844" cy="1045864"/>
              </a:xfrm>
              <a:prstGeom prst="rect">
                <a:avLst/>
              </a:prstGeom>
              <a:blipFill>
                <a:blip r:embed="rId2"/>
                <a:stretch>
                  <a:fillRect l="-465" b="-10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6F9271F-9412-F35C-3E17-2CB2273DB047}"/>
                  </a:ext>
                </a:extLst>
              </p:cNvPr>
              <p:cNvSpPr txBox="1"/>
              <p:nvPr/>
            </p:nvSpPr>
            <p:spPr>
              <a:xfrm>
                <a:off x="2379785" y="2231689"/>
                <a:ext cx="6886309" cy="967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det</m:t>
                      </m:r>
                      <m:d>
                        <m:d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:=</m:t>
                      </m:r>
                      <m:r>
                        <m:rPr>
                          <m:lit/>
                        </m:rP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kumimoji="1" lang="en-US" altLang="zh-CN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m:rPr>
                          <m:lit/>
                        </m:rP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1" lang="en-US" altLang="zh-CN" sz="2000" b="1" i="1" smtClean="0">
                                  <a:latin typeface="Cambria Math" panose="02040503050406030204" pitchFamily="18" charset="0"/>
                                </a:rPr>
                                <m:t>\</m:t>
                              </m:r>
                              <m:r>
                                <a:rPr kumimoji="1" lang="en-US" altLang="zh-CN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kumimoji="1" lang="en-US" altLang="zh-CN" sz="2000" b="1" i="1" smtClean="0">
                                  <a:latin typeface="Cambria Math" panose="02040503050406030204" pitchFamily="18" charset="0"/>
                                </a:rPr>
                                <m:t>, \</m:t>
                              </m:r>
                              <m:r>
                                <a:rPr kumimoji="1" lang="en-US" altLang="zh-CN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0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sSub>
                            <m:sSubPr>
                              <m:ctrlP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1" lang="en-US" altLang="zh-CN" sz="2000" b="1" i="1">
                                  <a:latin typeface="Cambria Math" panose="02040503050406030204" pitchFamily="18" charset="0"/>
                                </a:rPr>
                                <m:t>\</m:t>
                              </m:r>
                              <m:r>
                                <a:rPr kumimoji="1" lang="en-US" altLang="zh-CN" sz="2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kumimoji="1" lang="en-US" altLang="zh-CN" sz="2000" b="1" i="1">
                                  <a:latin typeface="Cambria Math" panose="02040503050406030204" pitchFamily="18" charset="0"/>
                                </a:rPr>
                                <m:t>, \</m:t>
                              </m:r>
                              <m:r>
                                <a:rPr kumimoji="1" lang="en-US" altLang="zh-CN" sz="20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6F9271F-9412-F35C-3E17-2CB2273DB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785" y="2231689"/>
                <a:ext cx="6886309" cy="967444"/>
              </a:xfrm>
              <a:prstGeom prst="rect">
                <a:avLst/>
              </a:prstGeom>
              <a:blipFill>
                <a:blip r:embed="rId3"/>
                <a:stretch>
                  <a:fillRect t="-98718" b="-1448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C318F75-0EFC-E32E-0F8C-992A4F79A4CD}"/>
                  </a:ext>
                </a:extLst>
              </p:cNvPr>
              <p:cNvSpPr txBox="1"/>
              <p:nvPr/>
            </p:nvSpPr>
            <p:spPr>
              <a:xfrm>
                <a:off x="447314" y="3161276"/>
                <a:ext cx="5410201" cy="499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 </a:t>
                </a:r>
                <a:r>
                  <a:rPr lang="en-US" altLang="zh-CN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1x1 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的矩阵行列式定义为：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000" b="1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  <m:r>
                      <a:rPr lang="en-US" altLang="zh-CN" sz="2000" b="1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  <m:r>
                      <a:rPr lang="en-US" altLang="zh-CN" sz="2000" b="1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𝟏𝟏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</m:oMath>
                </a14:m>
                <a:endParaRPr lang="zh-CN" altLang="en-US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C318F75-0EFC-E32E-0F8C-992A4F79A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14" y="3161276"/>
                <a:ext cx="5410201" cy="499560"/>
              </a:xfrm>
              <a:prstGeom prst="rect">
                <a:avLst/>
              </a:prstGeom>
              <a:blipFill>
                <a:blip r:embed="rId4"/>
                <a:stretch>
                  <a:fillRect l="-1171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5CAD63FE-A553-CF43-2DA9-AE43090D28B8}"/>
              </a:ext>
            </a:extLst>
          </p:cNvPr>
          <p:cNvSpPr txBox="1"/>
          <p:nvPr/>
        </p:nvSpPr>
        <p:spPr>
          <a:xfrm>
            <a:off x="182739" y="4064481"/>
            <a:ext cx="9230892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sz="2000" b="1" dirty="0">
                <a:solidFill>
                  <a:srgbClr val="000000"/>
                </a:solidFill>
                <a:ea typeface="微软雅黑" panose="020B0503020204020204" pitchFamily="34" charset="-122"/>
              </a:rPr>
              <a:t>行列式的几何含义：</a:t>
            </a:r>
            <a:r>
              <a:rPr lang="zh-CN" altLang="en-US" sz="2000" b="1" dirty="0">
                <a:solidFill>
                  <a:srgbClr val="B61516"/>
                </a:solidFill>
                <a:ea typeface="微软雅黑" panose="020B0503020204020204" pitchFamily="34" charset="-122"/>
              </a:rPr>
              <a:t>有向面积或体积的概念在一般的欧几里得空间中的推广</a:t>
            </a:r>
            <a:endParaRPr lang="zh-CN" altLang="en-US" sz="2000" b="1" dirty="0">
              <a:solidFill>
                <a:srgbClr val="B615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07C5275-089C-A797-259B-76F37849433A}"/>
                  </a:ext>
                </a:extLst>
              </p:cNvPr>
              <p:cNvSpPr txBox="1"/>
              <p:nvPr/>
            </p:nvSpPr>
            <p:spPr>
              <a:xfrm>
                <a:off x="2520462" y="4632492"/>
                <a:ext cx="8651343" cy="9326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zh-CN" altLang="en-US" sz="2000" i="1">
                          <a:latin typeface="Cambria Math" panose="02040503050406030204" pitchFamily="18" charset="0"/>
                        </a:rPr>
                        <m:t>其中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000" i="1">
                          <a:latin typeface="Cambria Math" panose="02040503050406030204" pitchFamily="18" charset="0"/>
                        </a:rPr>
                        <m:t>代表</m:t>
                      </m:r>
                      <m:r>
                        <a:rPr kumimoji="1" lang="zh-CN" alt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zh-CN" altLang="en-US" sz="2000" i="1">
                          <a:latin typeface="Cambria Math" panose="02040503050406030204" pitchFamily="18" charset="0"/>
                        </a:rPr>
                        <m:t>的</m:t>
                      </m:r>
                      <m:r>
                        <a:rPr kumimoji="1" lang="zh-CN" altLang="en-US" sz="2000" i="1" smtClean="0">
                          <a:latin typeface="Cambria Math" panose="02040503050406030204" pitchFamily="18" charset="0"/>
                        </a:rPr>
                        <m:t>第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zh-CN" altLang="en-US" sz="2000" i="1">
                          <a:latin typeface="Cambria Math" panose="02040503050406030204" pitchFamily="18" charset="0"/>
                        </a:rPr>
                        <m:t>列</m:t>
                      </m:r>
                      <m:r>
                        <a:rPr kumimoji="1" lang="zh-CN" altLang="en-US" sz="2000" b="0" i="1" smtClean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kumimoji="1" lang="zh-CN" alt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0, 1</m:t>
                          </m:r>
                        </m:e>
                      </m:d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=1,2, ⋯,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07C5275-089C-A797-259B-76F378494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462" y="4632492"/>
                <a:ext cx="8651343" cy="932628"/>
              </a:xfrm>
              <a:prstGeom prst="rect">
                <a:avLst/>
              </a:prstGeom>
              <a:blipFill>
                <a:blip r:embed="rId5"/>
                <a:stretch>
                  <a:fillRect t="-101333" b="-154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2D9AC5F-5B9C-933D-D9FF-EBA93A2EB8B3}"/>
                  </a:ext>
                </a:extLst>
              </p:cNvPr>
              <p:cNvSpPr txBox="1"/>
              <p:nvPr/>
            </p:nvSpPr>
            <p:spPr>
              <a:xfrm>
                <a:off x="564545" y="5611804"/>
                <a:ext cx="435087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kumimoji="1"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的行列式代表了集合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kumimoji="1" lang="en-US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的“体积”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2D9AC5F-5B9C-933D-D9FF-EBA93A2EB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45" y="5611804"/>
                <a:ext cx="4350871" cy="400110"/>
              </a:xfrm>
              <a:prstGeom prst="rect">
                <a:avLst/>
              </a:prstGeom>
              <a:blipFill>
                <a:blip r:embed="rId6"/>
                <a:stretch>
                  <a:fillRect t="-9375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>
            <a:extLst>
              <a:ext uri="{FF2B5EF4-FFF2-40B4-BE49-F238E27FC236}">
                <a16:creationId xmlns:a16="http://schemas.microsoft.com/office/drawing/2014/main" id="{E045E2B5-9936-AABC-982F-CC4199CADF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2215" y="2531240"/>
            <a:ext cx="2126670" cy="210125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0F569D3-18D2-C560-9710-06DBD55AFD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2215" y="1368432"/>
            <a:ext cx="1880537" cy="96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889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4C385-0C04-9164-4EB4-0F30CACE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A7BDC8F-E80D-0A2D-743C-570FFF9EE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矩阵的特征值（</a:t>
            </a:r>
            <a:r>
              <a:rPr lang="en-US" altLang="zh-CN" dirty="0"/>
              <a:t>eigenvalue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A1FBB84-0E12-B439-02C0-0E17C1AB8BA7}"/>
                  </a:ext>
                </a:extLst>
              </p:cNvPr>
              <p:cNvSpPr txBox="1"/>
              <p:nvPr/>
            </p:nvSpPr>
            <p:spPr>
              <a:xfrm>
                <a:off x="131018" y="2681172"/>
                <a:ext cx="11779628" cy="15652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是一个特征向量，那么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𝛼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也是一个特征向量，特征向量代表矩阵作用下的不变方向</a:t>
                </a:r>
                <a:endParaRPr lang="en-US" altLang="zh-CN" sz="2000" dirty="0">
                  <a:solidFill>
                    <a:srgbClr val="B615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如何得到特征值和特征向量？</a:t>
                </a:r>
                <a:endPara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𝑰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 </m:t>
                    </m:r>
                    <m:groupChr>
                      <m:groupChrPr>
                        <m:chr m:val="⇒"/>
                        <m:vertJc m:val="bot"/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groupCh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𝜆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是</m:t>
                    </m:r>
                    <m:r>
                      <a:rPr lang="zh-CN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奇异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的</m:t>
                    </m:r>
                    <m:r>
                      <a:rPr lang="zh-CN" alt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groupChr>
                      <m:groupChrPr>
                        <m:chr m:val="⇒"/>
                        <m:pos m:val="top"/>
                        <m:ctrlPr>
                          <a:rPr lang="zh-CN" alt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zh-CN" alt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groupChr>
                    <m:r>
                      <a:rPr lang="zh-CN" alt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行列式</m:t>
                    </m:r>
                    <m:r>
                      <a:rPr lang="zh-CN" alt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𝑰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A1FBB84-0E12-B439-02C0-0E17C1AB8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18" y="2681172"/>
                <a:ext cx="11779628" cy="1565237"/>
              </a:xfrm>
              <a:prstGeom prst="rect">
                <a:avLst/>
              </a:prstGeom>
              <a:blipFill>
                <a:blip r:embed="rId2"/>
                <a:stretch>
                  <a:fillRect l="-431" b="-137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B5C69FE1-2A39-C3D9-2025-98F68E33D46D}"/>
              </a:ext>
            </a:extLst>
          </p:cNvPr>
          <p:cNvSpPr txBox="1"/>
          <p:nvPr/>
        </p:nvSpPr>
        <p:spPr>
          <a:xfrm>
            <a:off x="-157088" y="2681172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C0E2CC2-3CB0-61EC-8A4C-DBBB92624FDD}"/>
                  </a:ext>
                </a:extLst>
              </p:cNvPr>
              <p:cNvSpPr txBox="1"/>
              <p:nvPr/>
            </p:nvSpPr>
            <p:spPr>
              <a:xfrm>
                <a:off x="131018" y="973902"/>
                <a:ext cx="10114951" cy="1607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设方阵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ℝ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，称 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  <m:r>
                      <a:rPr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的一个</a:t>
                </a:r>
                <a:r>
                  <a:rPr lang="zh-CN" altLang="en-US" sz="2000" b="1" dirty="0">
                    <a:solidFill>
                      <a:srgbClr val="B6151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特征向量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，如果存在一个实数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𝜆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使得</a:t>
                </a:r>
                <a:endPara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𝑨𝒙</m:t>
                      </m:r>
                      <m:r>
                        <a:rPr lang="en-US" altLang="zh-CN" sz="2800" b="0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800" b="0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𝜆</m:t>
                      </m:r>
                      <m:r>
                        <a:rPr lang="en-US" altLang="zh-CN" sz="2800" b="1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𝒙</m:t>
                      </m:r>
                    </m:oMath>
                  </m:oMathPara>
                </a14:m>
                <a:endParaRPr lang="en-US" altLang="zh-CN" sz="2800" b="1" dirty="0">
                  <a:solidFill>
                    <a:srgbClr val="B615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这里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𝜆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称为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sz="2000" b="1" dirty="0">
                    <a:solidFill>
                      <a:srgbClr val="B6151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特征值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C0E2CC2-3CB0-61EC-8A4C-DBBB92624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18" y="973902"/>
                <a:ext cx="10114951" cy="1607556"/>
              </a:xfrm>
              <a:prstGeom prst="rect">
                <a:avLst/>
              </a:prstGeom>
              <a:blipFill>
                <a:blip r:embed="rId3"/>
                <a:stretch>
                  <a:fillRect l="-502" b="-54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F381525F-B44D-F668-7FCC-6D94D9E2F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159" y="5169877"/>
            <a:ext cx="5366861" cy="7142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471874F-8CD0-AC53-47A6-495881E5814C}"/>
                  </a:ext>
                </a:extLst>
              </p:cNvPr>
              <p:cNvSpPr txBox="1"/>
              <p:nvPr/>
            </p:nvSpPr>
            <p:spPr>
              <a:xfrm>
                <a:off x="6799385" y="4947138"/>
                <a:ext cx="10852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=4  </m:t>
                      </m:r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471874F-8CD0-AC53-47A6-495881E58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385" y="4947138"/>
                <a:ext cx="1085233" cy="400110"/>
              </a:xfrm>
              <a:prstGeom prst="rect">
                <a:avLst/>
              </a:prstGeom>
              <a:blipFill>
                <a:blip r:embed="rId5"/>
                <a:stretch>
                  <a:fillRect r="-1163" b="-1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81D425D-33E4-4B02-08B5-858A2382161B}"/>
                  </a:ext>
                </a:extLst>
              </p:cNvPr>
              <p:cNvSpPr txBox="1"/>
              <p:nvPr/>
            </p:nvSpPr>
            <p:spPr>
              <a:xfrm>
                <a:off x="6623388" y="5649760"/>
                <a:ext cx="15565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1, 2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81D425D-33E4-4B02-08B5-858A23821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388" y="5649760"/>
                <a:ext cx="1556580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2EC25B5-3864-8B2A-4C83-354C01459A25}"/>
                  </a:ext>
                </a:extLst>
              </p:cNvPr>
              <p:cNvSpPr txBox="1"/>
              <p:nvPr/>
            </p:nvSpPr>
            <p:spPr>
              <a:xfrm>
                <a:off x="9379962" y="5684043"/>
                <a:ext cx="17489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−1, 2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2EC25B5-3864-8B2A-4C83-354C01459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9962" y="5684043"/>
                <a:ext cx="1748940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8513F7A-96C7-57BC-38D1-66636EA10BEF}"/>
                  </a:ext>
                </a:extLst>
              </p:cNvPr>
              <p:cNvSpPr txBox="1"/>
              <p:nvPr/>
            </p:nvSpPr>
            <p:spPr>
              <a:xfrm>
                <a:off x="9648092" y="4947138"/>
                <a:ext cx="97898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8513F7A-96C7-57BC-38D1-66636EA10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8092" y="4947138"/>
                <a:ext cx="978986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33A8F90A-868B-4DB3-B82B-95A9E614AC15}"/>
              </a:ext>
            </a:extLst>
          </p:cNvPr>
          <p:cNvSpPr txBox="1"/>
          <p:nvPr/>
        </p:nvSpPr>
        <p:spPr>
          <a:xfrm>
            <a:off x="381242" y="4508088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例子</a:t>
            </a:r>
          </a:p>
        </p:txBody>
      </p:sp>
    </p:spTree>
    <p:extLst>
      <p:ext uri="{BB962C8B-B14F-4D97-AF65-F5344CB8AC3E}">
        <p14:creationId xmlns:p14="http://schemas.microsoft.com/office/powerpoint/2010/main" val="4267190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CC258-361A-836F-3ACF-91068D8DC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FA94870B-F1E8-3A59-F761-EA72DD4A9C50}"/>
              </a:ext>
            </a:extLst>
          </p:cNvPr>
          <p:cNvGrpSpPr/>
          <p:nvPr/>
        </p:nvGrpSpPr>
        <p:grpSpPr>
          <a:xfrm>
            <a:off x="1390408" y="2641696"/>
            <a:ext cx="8685581" cy="2875506"/>
            <a:chOff x="1889858" y="4136786"/>
            <a:chExt cx="7834434" cy="2593720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D53C1133-0137-13AB-D2C2-809CCB574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51892" y="4136786"/>
              <a:ext cx="7772400" cy="2593720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6EAE0DF-B903-E8A1-0AC7-E0ECDE62E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9858" y="4136786"/>
              <a:ext cx="1155700" cy="685800"/>
            </a:xfrm>
            <a:prstGeom prst="rect">
              <a:avLst/>
            </a:prstGeom>
          </p:spPr>
        </p:pic>
      </p:grpSp>
      <p:sp>
        <p:nvSpPr>
          <p:cNvPr id="3" name="标题 2">
            <a:extLst>
              <a:ext uri="{FF2B5EF4-FFF2-40B4-BE49-F238E27FC236}">
                <a16:creationId xmlns:a16="http://schemas.microsoft.com/office/drawing/2014/main" id="{D7226CCE-B04E-6DA3-B6AB-1B38F6B12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矩阵的奇异值分解（</a:t>
            </a:r>
            <a:r>
              <a:rPr lang="en-US" altLang="zh-CN" dirty="0"/>
              <a:t>SVD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41849F5-74B1-9E88-89AB-504105C1A71B}"/>
                  </a:ext>
                </a:extLst>
              </p:cNvPr>
              <p:cNvSpPr txBox="1"/>
              <p:nvPr/>
            </p:nvSpPr>
            <p:spPr>
              <a:xfrm>
                <a:off x="131018" y="973902"/>
                <a:ext cx="11158305" cy="1641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设矩阵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ℝ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𝐴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的奇异值分解为</a:t>
                </a:r>
                <a:endPara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800" b="1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28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  <m:r>
                          <a:rPr lang="en-US" altLang="zh-CN" sz="28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r>
                          <a:rPr lang="en-US" altLang="zh-CN" sz="28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r>
                      <a:rPr lang="en-US" altLang="zh-CN" sz="2800" b="0" i="1" dirty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8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𝑈</m:t>
                        </m:r>
                      </m:e>
                      <m:sub>
                        <m:r>
                          <a:rPr lang="en-US" altLang="zh-CN" sz="28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  <m:r>
                          <a:rPr lang="en-US" altLang="zh-CN" sz="28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r>
                          <a:rPr lang="en-US" altLang="zh-CN" sz="28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altLang="zh-CN" sz="28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Σ</m:t>
                        </m:r>
                      </m:e>
                      <m:sub>
                        <m:r>
                          <a:rPr lang="en-US" altLang="zh-CN" sz="28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  <m:r>
                          <a:rPr lang="en-US" altLang="zh-CN" sz="28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r>
                          <a:rPr lang="en-US" altLang="zh-CN" sz="28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sSubSup>
                      <m:sSubSupPr>
                        <m:ctrlPr>
                          <a:rPr lang="en-US" altLang="zh-CN" sz="28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28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a:rPr lang="en-US" altLang="zh-CN" sz="28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8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r>
                          <a:rPr lang="en-US" altLang="zh-CN" sz="28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  <m:sup>
                        <m:r>
                          <a:rPr lang="en-US" altLang="zh-CN" sz="28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⊤</m:t>
                        </m:r>
                      </m:sup>
                    </m:sSubSup>
                    <m:r>
                      <a:rPr lang="en-US" altLang="zh-CN" sz="2800" b="0" i="1" dirty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8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28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28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800" b="0" i="1" dirty="0" smtClean="0">
                                <a:solidFill>
                                  <a:srgbClr val="B61516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dirty="0" smtClean="0">
                                <a:solidFill>
                                  <a:srgbClr val="B61516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800" b="0" i="1" dirty="0" smtClean="0">
                                <a:solidFill>
                                  <a:srgbClr val="B61516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b="0" i="1" dirty="0" smtClean="0">
                                <a:solidFill>
                                  <a:srgbClr val="B61516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 smtClean="0">
                                <a:solidFill>
                                  <a:srgbClr val="B61516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𝒖</m:t>
                            </m:r>
                          </m:e>
                          <m:sub>
                            <m:r>
                              <a:rPr lang="en-US" altLang="zh-CN" sz="2800" b="0" i="1" dirty="0" smtClean="0">
                                <a:solidFill>
                                  <a:srgbClr val="B61516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CN" sz="2800" b="0" i="1" dirty="0" smtClean="0">
                                <a:solidFill>
                                  <a:srgbClr val="B61516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2800" b="1" i="1" dirty="0" smtClean="0">
                                <a:solidFill>
                                  <a:srgbClr val="B61516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800" b="0" i="1" dirty="0" smtClean="0">
                                <a:solidFill>
                                  <a:srgbClr val="B61516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800" b="0" i="1" dirty="0" smtClean="0">
                                <a:solidFill>
                                  <a:srgbClr val="B61516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⊤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zh-CN" altLang="en-US" sz="2800" b="1" dirty="0">
                    <a:solidFill>
                      <a:srgbClr val="B6151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2800" b="1" dirty="0">
                  <a:solidFill>
                    <a:srgbClr val="B6151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𝑼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𝑽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是正交矩阵，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是对角矩阵。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𝜎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称为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的奇异值，可由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⊤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的特征值开根号得到。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41849F5-74B1-9E88-89AB-504105C1A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18" y="973902"/>
                <a:ext cx="11158305" cy="1641155"/>
              </a:xfrm>
              <a:prstGeom prst="rect">
                <a:avLst/>
              </a:prstGeom>
              <a:blipFill>
                <a:blip r:embed="rId4"/>
                <a:stretch>
                  <a:fillRect l="-455" t="-3077" r="-2844" b="-3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A09B218-897E-E2F5-D66C-4139A5441DDB}"/>
                  </a:ext>
                </a:extLst>
              </p:cNvPr>
              <p:cNvSpPr txBox="1"/>
              <p:nvPr/>
            </p:nvSpPr>
            <p:spPr>
              <a:xfrm>
                <a:off x="131018" y="5517202"/>
                <a:ext cx="10560348" cy="4991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Reduced SVD: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𝑼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</m:sub>
                    </m:sSub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𝑽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⊤</m:t>
                        </m:r>
                      </m:sup>
                    </m:sSup>
                  </m:oMath>
                </a14:m>
                <a:r>
                  <a:rPr lang="en-US" altLang="zh-CN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𝑼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ℝ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𝒎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ℝ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</m:sup>
                    </m:sSup>
                  </m:oMath>
                </a14:m>
                <a:endParaRPr lang="en-US" altLang="zh-CN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A09B218-897E-E2F5-D66C-4139A5441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18" y="5517202"/>
                <a:ext cx="10560348" cy="499111"/>
              </a:xfrm>
              <a:prstGeom prst="rect">
                <a:avLst/>
              </a:prstGeom>
              <a:blipFill>
                <a:blip r:embed="rId5"/>
                <a:stretch>
                  <a:fillRect l="-481" b="-2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7BEEE11-ABBD-7FAF-464E-AA6B348E970D}"/>
                  </a:ext>
                </a:extLst>
              </p:cNvPr>
              <p:cNvSpPr txBox="1"/>
              <p:nvPr/>
            </p:nvSpPr>
            <p:spPr>
              <a:xfrm>
                <a:off x="505487" y="2782689"/>
                <a:ext cx="17698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kumimoji="1" lang="en-US" altLang="zh-CN" sz="20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kumimoji="1" lang="en-US" altLang="zh-CN" sz="2000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kumimoji="1" lang="en-US" altLang="zh-CN" sz="2000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000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情况：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7BEEE11-ABBD-7FAF-464E-AA6B348E9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487" y="2782689"/>
                <a:ext cx="1769843" cy="400110"/>
              </a:xfrm>
              <a:prstGeom prst="rect">
                <a:avLst/>
              </a:prstGeom>
              <a:blipFill>
                <a:blip r:embed="rId6"/>
                <a:stretch>
                  <a:fillRect t="-6061" r="-2128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6608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ED67A-CA9F-6A42-3109-692D38397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D0A7394-AD7B-BB84-FA44-8C72BFC14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向量和矩阵在神经网络中的应用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2" name="文本框 2161">
                <a:extLst>
                  <a:ext uri="{FF2B5EF4-FFF2-40B4-BE49-F238E27FC236}">
                    <a16:creationId xmlns:a16="http://schemas.microsoft.com/office/drawing/2014/main" id="{6F18289C-027E-C3CD-32BD-35BF52272C8D}"/>
                  </a:ext>
                </a:extLst>
              </p:cNvPr>
              <p:cNvSpPr txBox="1"/>
              <p:nvPr/>
            </p:nvSpPr>
            <p:spPr>
              <a:xfrm>
                <a:off x="274214" y="926122"/>
                <a:ext cx="11429517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kumimoji="1"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图像处理：将一张 </a:t>
                </a:r>
                <a:r>
                  <a:rPr kumimoji="1"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28×28 </a:t>
                </a:r>
                <a:r>
                  <a:rPr kumimoji="1"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的灰度图像展平表示为一个 </a:t>
                </a:r>
                <a:r>
                  <a:rPr kumimoji="1"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784</a:t>
                </a:r>
                <a:r>
                  <a:rPr kumimoji="1"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维的向量</a:t>
                </a:r>
              </a:p>
              <a:p>
                <a:pPr algn="l">
                  <a:lnSpc>
                    <a:spcPct val="150000"/>
                  </a:lnSpc>
                </a:pPr>
                <a:r>
                  <a:rPr kumimoji="1"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神经网络中前向传播：输入向量 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784</m:t>
                        </m:r>
                      </m:sup>
                    </m:sSup>
                  </m:oMath>
                </a14:m>
                <a:r>
                  <a:rPr kumimoji="1" lang="en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kumimoji="1"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通过权重矩阵 </a:t>
                </a:r>
                <a:r>
                  <a:rPr kumimoji="1" lang="en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W </a:t>
                </a:r>
                <a:r>
                  <a:rPr kumimoji="1"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和偏置向量 </a:t>
                </a:r>
                <a:r>
                  <a:rPr kumimoji="1" lang="en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 </a:t>
                </a:r>
                <a:r>
                  <a:rPr kumimoji="1"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计算输出</a:t>
                </a:r>
                <a:endParaRPr kumimoji="1" lang="en-US" altLang="zh-CN" sz="24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kumimoji="1" lang="zh-CN" alt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kumimoji="1" lang="zh-CN" alt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kumimoji="1"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kumimoji="1"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kumimoji="1" lang="zh-CN" alt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kumimoji="1" lang="en" altLang="zh-CN" sz="24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, </a:t>
                </a:r>
                <a:r>
                  <a:rPr kumimoji="1"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𝜎</m:t>
                    </m:r>
                  </m:oMath>
                </a14:m>
                <a:r>
                  <a:rPr kumimoji="1" lang="en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</a:t>
                </a:r>
                <a:r>
                  <a:rPr kumimoji="1"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一个非线性函数，逐分量作用，例如</a:t>
                </a:r>
                <a:endParaRPr kumimoji="1" lang="en" altLang="zh-CN" sz="24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62" name="文本框 2161">
                <a:extLst>
                  <a:ext uri="{FF2B5EF4-FFF2-40B4-BE49-F238E27FC236}">
                    <a16:creationId xmlns:a16="http://schemas.microsoft.com/office/drawing/2014/main" id="{6F18289C-027E-C3CD-32BD-35BF52272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214" y="926122"/>
                <a:ext cx="11429517" cy="1754326"/>
              </a:xfrm>
              <a:prstGeom prst="rect">
                <a:avLst/>
              </a:prstGeom>
              <a:blipFill>
                <a:blip r:embed="rId2"/>
                <a:stretch>
                  <a:fillRect l="-888" b="-3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63" name="Picture 4" descr="machine learning - What image format are MNIST images? - Stack Overflow">
            <a:extLst>
              <a:ext uri="{FF2B5EF4-FFF2-40B4-BE49-F238E27FC236}">
                <a16:creationId xmlns:a16="http://schemas.microsoft.com/office/drawing/2014/main" id="{91ACA4D0-7A56-2000-1CD8-E885F2957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95" y="3105493"/>
            <a:ext cx="2316075" cy="2397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5" name="Picture 4" descr="Neural Networks | SpringerLink">
            <a:extLst>
              <a:ext uri="{FF2B5EF4-FFF2-40B4-BE49-F238E27FC236}">
                <a16:creationId xmlns:a16="http://schemas.microsoft.com/office/drawing/2014/main" id="{3E004FE3-A109-6737-98A0-75E7181549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43" t="5291"/>
          <a:stretch/>
        </p:blipFill>
        <p:spPr bwMode="auto">
          <a:xfrm flipH="1">
            <a:off x="5178800" y="3008926"/>
            <a:ext cx="551873" cy="2793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66" name="文本框 2165">
                <a:extLst>
                  <a:ext uri="{FF2B5EF4-FFF2-40B4-BE49-F238E27FC236}">
                    <a16:creationId xmlns:a16="http://schemas.microsoft.com/office/drawing/2014/main" id="{CF521527-5A2C-01CC-A05C-8BC2F8E3079A}"/>
                  </a:ext>
                </a:extLst>
              </p:cNvPr>
              <p:cNvSpPr txBox="1"/>
              <p:nvPr/>
            </p:nvSpPr>
            <p:spPr>
              <a:xfrm>
                <a:off x="4984446" y="5836421"/>
                <a:ext cx="1237069" cy="407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kumimoji="1"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𝟕𝟖𝟒</m:t>
                          </m:r>
                        </m:sup>
                      </m:sSup>
                    </m:oMath>
                  </m:oMathPara>
                </a14:m>
                <a:endParaRPr kumimoji="1" lang="zh-CN" altLang="en-US" sz="2000" b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166" name="文本框 2165">
                <a:extLst>
                  <a:ext uri="{FF2B5EF4-FFF2-40B4-BE49-F238E27FC236}">
                    <a16:creationId xmlns:a16="http://schemas.microsoft.com/office/drawing/2014/main" id="{CF521527-5A2C-01CC-A05C-8BC2F8E30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446" y="5836421"/>
                <a:ext cx="1237069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67" name="Picture 6" descr="Demystifying Machine Learning, Part 5 – Stories from a Software Tester">
            <a:extLst>
              <a:ext uri="{FF2B5EF4-FFF2-40B4-BE49-F238E27FC236}">
                <a16:creationId xmlns:a16="http://schemas.microsoft.com/office/drawing/2014/main" id="{04274B69-FFE6-B6B7-2C8C-721D8D9CE5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19" t="22305" b="6962"/>
          <a:stretch/>
        </p:blipFill>
        <p:spPr bwMode="auto">
          <a:xfrm>
            <a:off x="7866741" y="3105493"/>
            <a:ext cx="3596664" cy="2793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68" name="右箭头 2167">
            <a:extLst>
              <a:ext uri="{FF2B5EF4-FFF2-40B4-BE49-F238E27FC236}">
                <a16:creationId xmlns:a16="http://schemas.microsoft.com/office/drawing/2014/main" id="{A4F7443B-B1A0-193E-3D7E-A96DAAE3BEB4}"/>
              </a:ext>
            </a:extLst>
          </p:cNvPr>
          <p:cNvSpPr/>
          <p:nvPr/>
        </p:nvSpPr>
        <p:spPr>
          <a:xfrm>
            <a:off x="3396343" y="4048600"/>
            <a:ext cx="1306286" cy="525076"/>
          </a:xfrm>
          <a:prstGeom prst="rightArrow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69" name="右箭头 2168">
            <a:extLst>
              <a:ext uri="{FF2B5EF4-FFF2-40B4-BE49-F238E27FC236}">
                <a16:creationId xmlns:a16="http://schemas.microsoft.com/office/drawing/2014/main" id="{BBE9EC03-7BF8-CC25-31F3-20E591DA1996}"/>
              </a:ext>
            </a:extLst>
          </p:cNvPr>
          <p:cNvSpPr/>
          <p:nvPr/>
        </p:nvSpPr>
        <p:spPr>
          <a:xfrm>
            <a:off x="6185554" y="4041864"/>
            <a:ext cx="1306286" cy="525076"/>
          </a:xfrm>
          <a:prstGeom prst="rightArrow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70" name="文本框 2169">
            <a:extLst>
              <a:ext uri="{FF2B5EF4-FFF2-40B4-BE49-F238E27FC236}">
                <a16:creationId xmlns:a16="http://schemas.microsoft.com/office/drawing/2014/main" id="{5FAE3E63-947C-205D-CBC1-45605F3EF226}"/>
              </a:ext>
            </a:extLst>
          </p:cNvPr>
          <p:cNvSpPr txBox="1"/>
          <p:nvPr/>
        </p:nvSpPr>
        <p:spPr>
          <a:xfrm>
            <a:off x="3556000" y="468979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展平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72" name="文本框 2171">
                <a:extLst>
                  <a:ext uri="{FF2B5EF4-FFF2-40B4-BE49-F238E27FC236}">
                    <a16:creationId xmlns:a16="http://schemas.microsoft.com/office/drawing/2014/main" id="{F8B67DA9-0840-40BE-D52F-74EDADE3B702}"/>
                  </a:ext>
                </a:extLst>
              </p:cNvPr>
              <p:cNvSpPr txBox="1"/>
              <p:nvPr/>
            </p:nvSpPr>
            <p:spPr>
              <a:xfrm>
                <a:off x="8380676" y="2665292"/>
                <a:ext cx="2055096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1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sz="1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1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kumimoji="1" lang="en-US" altLang="zh-CN" sz="1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1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" altLang="zh-CN" sz="18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72" name="文本框 2171">
                <a:extLst>
                  <a:ext uri="{FF2B5EF4-FFF2-40B4-BE49-F238E27FC236}">
                    <a16:creationId xmlns:a16="http://schemas.microsoft.com/office/drawing/2014/main" id="{F8B67DA9-0840-40BE-D52F-74EDADE3B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0676" y="2665292"/>
                <a:ext cx="2055096" cy="507831"/>
              </a:xfrm>
              <a:prstGeom prst="rect">
                <a:avLst/>
              </a:prstGeom>
              <a:blipFill>
                <a:blip r:embed="rId7"/>
                <a:stretch>
                  <a:fillRect r="-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3" name="文本框 2172">
                <a:extLst>
                  <a:ext uri="{FF2B5EF4-FFF2-40B4-BE49-F238E27FC236}">
                    <a16:creationId xmlns:a16="http://schemas.microsoft.com/office/drawing/2014/main" id="{0C644D8E-4439-950A-50DC-41F2B578DE01}"/>
                  </a:ext>
                </a:extLst>
              </p:cNvPr>
              <p:cNvSpPr txBox="1"/>
              <p:nvPr/>
            </p:nvSpPr>
            <p:spPr>
              <a:xfrm>
                <a:off x="9891422" y="4995481"/>
                <a:ext cx="2182654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1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sz="1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1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kumimoji="1" lang="en-US" altLang="zh-CN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1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" altLang="zh-CN" sz="18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73" name="文本框 2172">
                <a:extLst>
                  <a:ext uri="{FF2B5EF4-FFF2-40B4-BE49-F238E27FC236}">
                    <a16:creationId xmlns:a16="http://schemas.microsoft.com/office/drawing/2014/main" id="{0C644D8E-4439-950A-50DC-41F2B578D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1422" y="4995481"/>
                <a:ext cx="2182654" cy="507831"/>
              </a:xfrm>
              <a:prstGeom prst="rect">
                <a:avLst/>
              </a:prstGeom>
              <a:blipFill>
                <a:blip r:embed="rId8"/>
                <a:stretch>
                  <a:fillRect r="-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4" name="文本框 2173">
            <a:extLst>
              <a:ext uri="{FF2B5EF4-FFF2-40B4-BE49-F238E27FC236}">
                <a16:creationId xmlns:a16="http://schemas.microsoft.com/office/drawing/2014/main" id="{079BBA96-F4F8-706E-441E-F7C4AAB35D33}"/>
              </a:ext>
            </a:extLst>
          </p:cNvPr>
          <p:cNvSpPr txBox="1"/>
          <p:nvPr/>
        </p:nvSpPr>
        <p:spPr>
          <a:xfrm>
            <a:off x="6206844" y="468979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作为输入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0ED4C4E-09BB-804A-AF32-16A72226BF0F}"/>
              </a:ext>
            </a:extLst>
          </p:cNvPr>
          <p:cNvSpPr txBox="1"/>
          <p:nvPr/>
        </p:nvSpPr>
        <p:spPr>
          <a:xfrm>
            <a:off x="180549" y="6458649"/>
            <a:ext cx="60986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200" dirty="0">
                <a:solidFill>
                  <a:schemeClr val="bg1"/>
                </a:solidFill>
              </a:rPr>
              <a:t>图片来源：</a:t>
            </a:r>
            <a:r>
              <a:rPr kumimoji="1" lang="en-US" altLang="zh-CN" sz="1200" dirty="0">
                <a:solidFill>
                  <a:schemeClr val="bg1"/>
                </a:solidFill>
              </a:rPr>
              <a:t>MNIST</a:t>
            </a:r>
            <a:endParaRPr lang="zh-CN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2744CFC-9C7E-10E7-F2DC-B2D1F131B058}"/>
                  </a:ext>
                </a:extLst>
              </p:cNvPr>
              <p:cNvSpPr txBox="1"/>
              <p:nvPr/>
            </p:nvSpPr>
            <p:spPr>
              <a:xfrm>
                <a:off x="9962918" y="2045558"/>
                <a:ext cx="2039661" cy="6415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ReLU</m:t>
                      </m:r>
                      <m:d>
                        <m:dPr>
                          <m:ctrlP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2744CFC-9C7E-10E7-F2DC-B2D1F131B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2918" y="2045558"/>
                <a:ext cx="2039661" cy="641586"/>
              </a:xfrm>
              <a:prstGeom prst="rect">
                <a:avLst/>
              </a:prstGeom>
              <a:blipFill>
                <a:blip r:embed="rId9"/>
                <a:stretch>
                  <a:fillRect t="-186275" r="-4938" b="-26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6217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05665-707A-F129-2084-05A8A0E9E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F029B9-F567-EAE1-D176-6CB912FF4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0D2174-9119-872C-F4DD-44E8B86292E1}"/>
              </a:ext>
            </a:extLst>
          </p:cNvPr>
          <p:cNvSpPr txBox="1"/>
          <p:nvPr/>
        </p:nvSpPr>
        <p:spPr>
          <a:xfrm>
            <a:off x="3855154" y="1399967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一、矩阵与向量基础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5476D58-2199-2269-6C01-EFCB3578396B}"/>
              </a:ext>
            </a:extLst>
          </p:cNvPr>
          <p:cNvSpPr txBox="1"/>
          <p:nvPr/>
        </p:nvSpPr>
        <p:spPr>
          <a:xfrm>
            <a:off x="3855154" y="236207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二、概率统计基础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A7645B5-05A6-FF6D-CAA1-9A28F5F37C1A}"/>
              </a:ext>
            </a:extLst>
          </p:cNvPr>
          <p:cNvSpPr txBox="1"/>
          <p:nvPr/>
        </p:nvSpPr>
        <p:spPr>
          <a:xfrm>
            <a:off x="3855154" y="3324179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三、优化算法基础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9142691-7B1B-015F-B7A9-5D1DE7098872}"/>
              </a:ext>
            </a:extLst>
          </p:cNvPr>
          <p:cNvSpPr txBox="1"/>
          <p:nvPr/>
        </p:nvSpPr>
        <p:spPr>
          <a:xfrm>
            <a:off x="3855153" y="4286286"/>
            <a:ext cx="2427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四、内容小结</a:t>
            </a:r>
          </a:p>
        </p:txBody>
      </p:sp>
    </p:spTree>
    <p:extLst>
      <p:ext uri="{BB962C8B-B14F-4D97-AF65-F5344CB8AC3E}">
        <p14:creationId xmlns:p14="http://schemas.microsoft.com/office/powerpoint/2010/main" val="10172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5C12C-63F4-83E9-05D2-46ADEB0A7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FAA3B93-EC8E-B916-76F4-37DC93023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概率分布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844222D-9947-7CEF-73D8-EB26E73D65B3}"/>
              </a:ext>
            </a:extLst>
          </p:cNvPr>
          <p:cNvSpPr txBox="1"/>
          <p:nvPr/>
        </p:nvSpPr>
        <p:spPr>
          <a:xfrm>
            <a:off x="346073" y="945732"/>
            <a:ext cx="4628190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概率分布描述随机变量可能取值的概率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离散分布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：如伯努利分布、二项分布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连续分布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：如正态分布、均匀分布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ACDF755-A43D-7AF7-871A-DB1A21E1CD8D}"/>
                  </a:ext>
                </a:extLst>
              </p:cNvPr>
              <p:cNvSpPr txBox="1"/>
              <p:nvPr/>
            </p:nvSpPr>
            <p:spPr>
              <a:xfrm>
                <a:off x="381242" y="2360592"/>
                <a:ext cx="7000378" cy="8735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1" i="0" dirty="0">
                    <a:solidFill>
                      <a:srgbClr val="000000"/>
                    </a:solidFill>
                    <a:effectLst/>
                    <a:latin typeface="Noto Sans" panose="020B0502040504020204" pitchFamily="34" charset="0"/>
                  </a:rPr>
                  <a:t>数学期望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Noto Sans" panose="020B0502040504020204" pitchFamily="34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Noto Sans" panose="020B0502040504020204" pitchFamily="34" charset="0"/>
                  </a:rPr>
                  <a:t> 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Noto Sans" panose="020B0502040504020204" pitchFamily="34" charset="0"/>
                  </a:rPr>
                  <a:t>或 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=∫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CN" altLang="en" sz="2000" b="0" i="0" dirty="0">
                  <a:solidFill>
                    <a:srgbClr val="000000"/>
                  </a:solidFill>
                  <a:effectLst/>
                  <a:latin typeface="Noto Sans" panose="020B0502040504020204" pitchFamily="34" charset="0"/>
                </a:endParaRPr>
              </a:p>
              <a:p>
                <a:pPr marL="342900" indent="-34290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1" i="0" dirty="0">
                    <a:solidFill>
                      <a:srgbClr val="000000"/>
                    </a:solidFill>
                    <a:effectLst/>
                    <a:latin typeface="Noto Sans" panose="020B0502040504020204" pitchFamily="34" charset="0"/>
                  </a:rPr>
                  <a:t>方差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Noto Sans" panose="020B0502040504020204" pitchFamily="34" charset="0"/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0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" sz="2000" b="0" i="0" dirty="0">
                  <a:solidFill>
                    <a:srgbClr val="000000"/>
                  </a:solidFill>
                  <a:effectLst/>
                  <a:latin typeface="Noto Sans" panose="020B0502040504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ACDF755-A43D-7AF7-871A-DB1A21E1C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2360592"/>
                <a:ext cx="7000378" cy="873509"/>
              </a:xfrm>
              <a:prstGeom prst="rect">
                <a:avLst/>
              </a:prstGeom>
              <a:blipFill>
                <a:blip r:embed="rId2"/>
                <a:stretch>
                  <a:fillRect l="-906" t="-51429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9E3A899-3892-AB06-831E-1152C873DFCF}"/>
                  </a:ext>
                </a:extLst>
              </p:cNvPr>
              <p:cNvSpPr txBox="1"/>
              <p:nvPr/>
            </p:nvSpPr>
            <p:spPr>
              <a:xfrm>
                <a:off x="346073" y="3752853"/>
                <a:ext cx="6303708" cy="2246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图像分类任务中，类别是离散的（如“猫”、“狗”、“鸟”等）</a:t>
                </a:r>
              </a:p>
              <a:p>
                <a:pPr marL="342900" indent="-34290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模型的输出是一个离散概率分布，表示每个类别的可能性</a:t>
                </a:r>
              </a:p>
              <a:p>
                <a:pPr marL="342900" indent="-34290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对于 </a:t>
                </a:r>
                <a:r>
                  <a:rPr lang="en" altLang="zh-CN" sz="2000" b="0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K </a:t>
                </a:r>
                <a:r>
                  <a:rPr lang="zh-CN" altLang="en-US" sz="2000" b="0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个类别，概率分布可以表示为一个向量：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2000" b="0" i="1" dirty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zh-CN" sz="20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dirty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dirty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20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rgbClr val="B61516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zh-CN" sz="2000" b="0" i="1" dirty="0" smtClean="0">
                        <a:solidFill>
                          <a:srgbClr val="B61516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" altLang="zh-CN" sz="2000" b="0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,</a:t>
                </a:r>
                <a:r>
                  <a:rPr lang="en" altLang="zh-CN" sz="2000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其中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B61516"/>
                        </a:solidFill>
                        <a:effectLst/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altLang="zh-CN" sz="2000" b="0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且 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000" b="0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B61516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B61516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B61516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zh-CN" altLang="en" sz="2000" b="0" i="0" dirty="0">
                  <a:solidFill>
                    <a:srgbClr val="B61516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9E3A899-3892-AB06-831E-1152C873D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73" y="3752853"/>
                <a:ext cx="6303708" cy="2246962"/>
              </a:xfrm>
              <a:prstGeom prst="rect">
                <a:avLst/>
              </a:prstGeom>
              <a:blipFill>
                <a:blip r:embed="rId3"/>
                <a:stretch>
                  <a:fillRect l="-805" t="-1685" b="-314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00" name="Picture 4" descr="What is Probability Distribution | Function, Formula, Table">
            <a:extLst>
              <a:ext uri="{FF2B5EF4-FFF2-40B4-BE49-F238E27FC236}">
                <a16:creationId xmlns:a16="http://schemas.microsoft.com/office/drawing/2014/main" id="{8D71B059-0E43-E08D-DDC6-47CC614596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14"/>
          <a:stretch/>
        </p:blipFill>
        <p:spPr bwMode="auto">
          <a:xfrm>
            <a:off x="7784739" y="890580"/>
            <a:ext cx="4026019" cy="2604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CEFF5B9-84B8-26A1-9706-9EE3E110AACF}"/>
              </a:ext>
            </a:extLst>
          </p:cNvPr>
          <p:cNvSpPr txBox="1"/>
          <p:nvPr/>
        </p:nvSpPr>
        <p:spPr>
          <a:xfrm>
            <a:off x="96982" y="6428509"/>
            <a:ext cx="9915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bg1"/>
                </a:solidFill>
              </a:rPr>
              <a:t>图片来源：</a:t>
            </a:r>
            <a:r>
              <a:rPr kumimoji="1" lang="en" altLang="zh-CN" sz="1400" dirty="0">
                <a:solidFill>
                  <a:schemeClr val="bg1"/>
                </a:solidFill>
              </a:rPr>
              <a:t>https://</a:t>
            </a:r>
            <a:r>
              <a:rPr kumimoji="1" lang="en" altLang="zh-CN" sz="1400" dirty="0" err="1">
                <a:solidFill>
                  <a:schemeClr val="bg1"/>
                </a:solidFill>
              </a:rPr>
              <a:t>www.geeksforgeeks.org</a:t>
            </a:r>
            <a:r>
              <a:rPr kumimoji="1" lang="en" altLang="zh-CN" sz="1400" dirty="0">
                <a:solidFill>
                  <a:schemeClr val="bg1"/>
                </a:solidFill>
              </a:rPr>
              <a:t>/probability-distribution/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Google Sans"/>
              </a:rPr>
              <a:t>、</a:t>
            </a:r>
            <a:r>
              <a:rPr lang="en" altLang="zh-CN" sz="1400" b="0" i="0" dirty="0">
                <a:solidFill>
                  <a:schemeClr val="bg1"/>
                </a:solidFill>
                <a:effectLst/>
                <a:latin typeface="Google Sans"/>
              </a:rPr>
              <a:t>https://</a:t>
            </a:r>
            <a:r>
              <a:rPr lang="en" altLang="zh-CN" sz="1400" b="0" i="0" dirty="0" err="1">
                <a:solidFill>
                  <a:schemeClr val="bg1"/>
                </a:solidFill>
                <a:effectLst/>
                <a:latin typeface="Google Sans"/>
              </a:rPr>
              <a:t>cloud.tencent.com</a:t>
            </a:r>
            <a:r>
              <a:rPr lang="en" altLang="zh-CN" sz="1400" b="0" i="0" dirty="0">
                <a:solidFill>
                  <a:schemeClr val="bg1"/>
                </a:solidFill>
                <a:effectLst/>
                <a:latin typeface="Google Sans"/>
              </a:rPr>
              <a:t>/developer/article/2200162</a:t>
            </a:r>
            <a:endParaRPr kumimoji="1" lang="zh-CN" altLang="en-US" sz="1400" dirty="0">
              <a:solidFill>
                <a:schemeClr val="bg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617FE4B-46E8-7699-235D-76122759A3D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0" y="3826920"/>
            <a:ext cx="5579220" cy="189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03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BA991-5737-6887-1813-441337B3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87D6B48-3063-EF2C-3CDE-1DD7C7933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概率分布的建模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C41F594-E7C6-691D-ED8A-DF61AB287F8C}"/>
                  </a:ext>
                </a:extLst>
              </p:cNvPr>
              <p:cNvSpPr txBox="1"/>
              <p:nvPr/>
            </p:nvSpPr>
            <p:spPr>
              <a:xfrm>
                <a:off x="274026" y="846021"/>
                <a:ext cx="11536732" cy="3062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>
                  <a:lnSpc>
                    <a:spcPct val="150000"/>
                  </a:lnSpc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在图像分类任务中，深度学习模型的最后一层通常是一个全连接层，输出一个长度为 </a:t>
                </a:r>
                <a:r>
                  <a:rPr lang="en" altLang="zh-CN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的向量 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, 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这 </a:t>
                </a:r>
                <a:r>
                  <a:rPr lang="en" altLang="zh-CN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个值没有限制，可以是正数、负数或零</a:t>
                </a:r>
              </a:p>
              <a:p>
                <a:pPr marL="285750" indent="-285750" algn="l">
                  <a:lnSpc>
                    <a:spcPct val="150000"/>
                  </a:lnSpc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为了将模型的输出转化为概率分布，常用的激活函数是 </a:t>
                </a:r>
                <a:r>
                  <a:rPr lang="en" altLang="zh-CN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Softmax</a:t>
                </a:r>
                <a:r>
                  <a:rPr lang="zh-CN" altLang="e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定义为：</a:t>
                </a:r>
                <a:endParaRPr lang="en-US" altLang="zh-CN" sz="20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=1, 2, ⋯, 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" altLang="zh-CN" sz="20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285750" indent="-285750" algn="l">
                  <a:lnSpc>
                    <a:spcPct val="150000"/>
                  </a:lnSpc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Softmax 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的结果 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zh-CN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,</a:t>
                </a:r>
                <a:r>
                  <a:rPr lang="en" altLang="zh-CN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其中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且 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一个概率分布</a:t>
                </a:r>
                <a:endParaRPr lang="zh-CN" altLang="en" sz="20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C41F594-E7C6-691D-ED8A-DF61AB287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26" y="846021"/>
                <a:ext cx="11536732" cy="3062120"/>
              </a:xfrm>
              <a:prstGeom prst="rect">
                <a:avLst/>
              </a:prstGeom>
              <a:blipFill>
                <a:blip r:embed="rId2"/>
                <a:stretch>
                  <a:fillRect l="-440" b="-23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Understanding the Softmax Activation Function: A Comprehensive Guide">
            <a:extLst>
              <a:ext uri="{FF2B5EF4-FFF2-40B4-BE49-F238E27FC236}">
                <a16:creationId xmlns:a16="http://schemas.microsoft.com/office/drawing/2014/main" id="{D9A7C30B-DA62-8F88-27CC-5CAB9F69D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8164" y="3908141"/>
            <a:ext cx="3906350" cy="238043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65222CB-35C1-86A1-C0F5-451F42F18354}"/>
              </a:ext>
            </a:extLst>
          </p:cNvPr>
          <p:cNvSpPr txBox="1"/>
          <p:nvPr/>
        </p:nvSpPr>
        <p:spPr>
          <a:xfrm>
            <a:off x="2261096" y="4898303"/>
            <a:ext cx="1491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b="1" dirty="0"/>
              <a:t>计算示例：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577D715-8F92-4077-4832-FCB722440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458" y="4054038"/>
            <a:ext cx="4296228" cy="42621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508527B-9BD7-CD86-58B4-E294142AEA42}"/>
              </a:ext>
            </a:extLst>
          </p:cNvPr>
          <p:cNvSpPr txBox="1"/>
          <p:nvPr/>
        </p:nvSpPr>
        <p:spPr>
          <a:xfrm>
            <a:off x="3561016" y="4128932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00000"/>
                </a:solidFill>
              </a:rPr>
              <a:t>最后一层输出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0CF55A6-6A8C-4764-513F-20E531C91E31}"/>
              </a:ext>
            </a:extLst>
          </p:cNvPr>
          <p:cNvSpPr txBox="1"/>
          <p:nvPr/>
        </p:nvSpPr>
        <p:spPr>
          <a:xfrm>
            <a:off x="6672412" y="4136328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00000"/>
                </a:solidFill>
              </a:rPr>
              <a:t>输出概率分布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211722-EE1C-8A85-014B-A7A2AA2A130C}"/>
              </a:ext>
            </a:extLst>
          </p:cNvPr>
          <p:cNvSpPr txBox="1"/>
          <p:nvPr/>
        </p:nvSpPr>
        <p:spPr>
          <a:xfrm>
            <a:off x="5128736" y="4143447"/>
            <a:ext cx="1266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00000"/>
                </a:solidFill>
              </a:rPr>
              <a:t>经过 </a:t>
            </a:r>
            <a:r>
              <a:rPr kumimoji="1" lang="en-US" altLang="zh-CN" sz="1400" dirty="0" err="1">
                <a:solidFill>
                  <a:srgbClr val="000000"/>
                </a:solidFill>
              </a:rPr>
              <a:t>softmax</a:t>
            </a:r>
            <a:endParaRPr kumimoji="1" lang="zh-CN" altLang="en-US" sz="1400" dirty="0">
              <a:solidFill>
                <a:srgbClr val="00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46252D-F8D0-6781-6065-8A4F70266AA8}"/>
              </a:ext>
            </a:extLst>
          </p:cNvPr>
          <p:cNvSpPr/>
          <p:nvPr/>
        </p:nvSpPr>
        <p:spPr>
          <a:xfrm>
            <a:off x="8174624" y="2707186"/>
            <a:ext cx="3833226" cy="323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C00000"/>
                </a:solidFill>
              </a:rPr>
              <a:t>思考：这种形式有什么好处？</a:t>
            </a:r>
          </a:p>
        </p:txBody>
      </p:sp>
    </p:spTree>
    <p:extLst>
      <p:ext uri="{BB962C8B-B14F-4D97-AF65-F5344CB8AC3E}">
        <p14:creationId xmlns:p14="http://schemas.microsoft.com/office/powerpoint/2010/main" val="3216332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A70E3-EA22-56A8-875E-E1BA75DF0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4AD538B-9DE3-C0EC-EF7A-97B61388C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概率分布的建模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471BC28-D474-6312-6288-DF9D6F85B76D}"/>
                  </a:ext>
                </a:extLst>
              </p:cNvPr>
              <p:cNvSpPr txBox="1"/>
              <p:nvPr/>
            </p:nvSpPr>
            <p:spPr>
              <a:xfrm>
                <a:off x="381242" y="1044657"/>
                <a:ext cx="11201159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spcBef>
                    <a:spcPts val="1800"/>
                  </a:spcBef>
                  <a:spcAft>
                    <a:spcPts val="1200"/>
                  </a:spcAft>
                </a:pPr>
                <a:r>
                  <a:rPr lang="zh-CN" altLang="en-US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真实标签的概率分布</a:t>
                </a:r>
              </a:p>
              <a:p>
                <a:pPr marL="342900" indent="-34290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在训练分类模型的时候，真实标签通常也用概率分布表示</a:t>
                </a:r>
                <a:endParaRPr lang="en-US" altLang="zh-CN" sz="20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假设有 </a:t>
                </a:r>
                <a:r>
                  <a:rPr lang="en" altLang="zh-CN" sz="2000" i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个类别，真实标签 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y 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是类别 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</a:t>
                </a:r>
                <a:r>
                  <a:rPr lang="zh-CN" altLang="e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则真实标签的概率分布 </a:t>
                </a:r>
                <a:r>
                  <a:rPr lang="en" altLang="zh-CN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q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是一个 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one-hot 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向量：</a:t>
                </a:r>
                <a:endParaRPr lang="en-US" altLang="zh-CN" sz="20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algn="l"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zh-CN" alt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</m:t>
                    </m:r>
                    <m:r>
                      <a:rPr lang="en-US" altLang="zh-C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zh-CN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  <m:r>
                      <a:rPr lang="zh-CN" altLang="en-US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其中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𝑞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𝑐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=1</m:t>
                    </m:r>
                  </m:oMath>
                </a14:m>
                <a:r>
                  <a:rPr lang="zh-CN" altLang="e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其他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𝑞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=0</m:t>
                    </m:r>
                  </m:oMath>
                </a14:m>
                <a:endParaRPr lang="zh-CN" altLang="en" sz="20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471BC28-D474-6312-6288-DF9D6F85B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1044657"/>
                <a:ext cx="11201159" cy="1785104"/>
              </a:xfrm>
              <a:prstGeom prst="rect">
                <a:avLst/>
              </a:prstGeom>
              <a:blipFill>
                <a:blip r:embed="rId24"/>
                <a:stretch>
                  <a:fillRect l="-680" t="-2128" b="-49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Understanding the Softmax Activation Function: A Comprehensive Guide">
            <a:extLst>
              <a:ext uri="{FF2B5EF4-FFF2-40B4-BE49-F238E27FC236}">
                <a16:creationId xmlns:a16="http://schemas.microsoft.com/office/drawing/2014/main" id="{648A1263-2364-FE2E-E307-65967578C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8" y="3206987"/>
            <a:ext cx="4651578" cy="283455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FD40755-75AF-CF77-4F3C-C68DBFCE2A3A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997" y="3641944"/>
            <a:ext cx="6027485" cy="2050730"/>
          </a:xfrm>
          <a:prstGeom prst="rect">
            <a:avLst/>
          </a:prstGeom>
        </p:spPr>
      </p:pic>
      <p:grpSp>
        <p:nvGrpSpPr>
          <p:cNvPr id="32" name="组合 31" descr="\documentclass{article}&#10;\usepackage{amsmath}&#10;\pagestyle{empty}&#10;\begin{document}&#10;&#10;$$&#10;\left[\begin{array}{l}&#10;1 \\&#10;0 \\&#10;0 \\&#10;\vdots \\&#10;0&#10;\end{array}\right]&#10;$$&#10;&#10;\end{document}" title="IguanaTex Vector Display">
            <a:extLst>
              <a:ext uri="{FF2B5EF4-FFF2-40B4-BE49-F238E27FC236}">
                <a16:creationId xmlns:a16="http://schemas.microsoft.com/office/drawing/2014/main" id="{3E9BDCF0-77ED-C96D-7808-80CA6B7820B3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891315" y="3960552"/>
            <a:ext cx="595082" cy="1800535"/>
            <a:chOff x="6500636" y="3679646"/>
            <a:chExt cx="386275" cy="1168749"/>
          </a:xfrm>
        </p:grpSpPr>
        <p:sp>
          <p:nvSpPr>
            <p:cNvPr id="11" name="任意形状 10">
              <a:extLst>
                <a:ext uri="{FF2B5EF4-FFF2-40B4-BE49-F238E27FC236}">
                  <a16:creationId xmlns:a16="http://schemas.microsoft.com/office/drawing/2014/main" id="{2F5AF982-02D4-4F4A-2A39-19AD202CD608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6500636" y="3679646"/>
              <a:ext cx="58986" cy="318667"/>
            </a:xfrm>
            <a:custGeom>
              <a:avLst/>
              <a:gdLst>
                <a:gd name="connsiteX0" fmla="*/ 220 w 58986"/>
                <a:gd name="connsiteY0" fmla="*/ 318732 h 318667"/>
                <a:gd name="connsiteX1" fmla="*/ 12442 w 58986"/>
                <a:gd name="connsiteY1" fmla="*/ 318732 h 318667"/>
                <a:gd name="connsiteX2" fmla="*/ 12442 w 58986"/>
                <a:gd name="connsiteY2" fmla="*/ 12287 h 318667"/>
                <a:gd name="connsiteX3" fmla="*/ 59206 w 58986"/>
                <a:gd name="connsiteY3" fmla="*/ 12287 h 318667"/>
                <a:gd name="connsiteX4" fmla="*/ 59206 w 58986"/>
                <a:gd name="connsiteY4" fmla="*/ 64 h 318667"/>
                <a:gd name="connsiteX5" fmla="*/ 220 w 58986"/>
                <a:gd name="connsiteY5" fmla="*/ 64 h 318667"/>
                <a:gd name="connsiteX6" fmla="*/ 220 w 58986"/>
                <a:gd name="connsiteY6" fmla="*/ 318732 h 31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986" h="318667">
                  <a:moveTo>
                    <a:pt x="220" y="318732"/>
                  </a:moveTo>
                  <a:lnTo>
                    <a:pt x="12442" y="318732"/>
                  </a:lnTo>
                  <a:lnTo>
                    <a:pt x="12442" y="12287"/>
                  </a:lnTo>
                  <a:lnTo>
                    <a:pt x="59206" y="12287"/>
                  </a:lnTo>
                  <a:lnTo>
                    <a:pt x="59206" y="64"/>
                  </a:lnTo>
                  <a:lnTo>
                    <a:pt x="220" y="64"/>
                  </a:lnTo>
                  <a:lnTo>
                    <a:pt x="220" y="318732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形状 11">
              <a:extLst>
                <a:ext uri="{FF2B5EF4-FFF2-40B4-BE49-F238E27FC236}">
                  <a16:creationId xmlns:a16="http://schemas.microsoft.com/office/drawing/2014/main" id="{8B1BBD7E-C5C8-4175-8628-3E70DE5E45A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500636" y="3998139"/>
              <a:ext cx="12222" cy="106635"/>
            </a:xfrm>
            <a:custGeom>
              <a:avLst/>
              <a:gdLst>
                <a:gd name="connsiteX0" fmla="*/ 220 w 12222"/>
                <a:gd name="connsiteY0" fmla="*/ 106718 h 106635"/>
                <a:gd name="connsiteX1" fmla="*/ 12442 w 12222"/>
                <a:gd name="connsiteY1" fmla="*/ 106718 h 106635"/>
                <a:gd name="connsiteX2" fmla="*/ 12442 w 12222"/>
                <a:gd name="connsiteY2" fmla="*/ 82 h 106635"/>
                <a:gd name="connsiteX3" fmla="*/ 220 w 12222"/>
                <a:gd name="connsiteY3" fmla="*/ 82 h 106635"/>
                <a:gd name="connsiteX4" fmla="*/ 220 w 12222"/>
                <a:gd name="connsiteY4" fmla="*/ 106718 h 10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22" h="106635">
                  <a:moveTo>
                    <a:pt x="220" y="106718"/>
                  </a:moveTo>
                  <a:lnTo>
                    <a:pt x="12442" y="106718"/>
                  </a:lnTo>
                  <a:lnTo>
                    <a:pt x="12442" y="82"/>
                  </a:lnTo>
                  <a:lnTo>
                    <a:pt x="220" y="82"/>
                  </a:lnTo>
                  <a:lnTo>
                    <a:pt x="220" y="106718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形状 12">
              <a:extLst>
                <a:ext uri="{FF2B5EF4-FFF2-40B4-BE49-F238E27FC236}">
                  <a16:creationId xmlns:a16="http://schemas.microsoft.com/office/drawing/2014/main" id="{B0246FC6-100A-1E26-1086-70DAF173A31F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500636" y="4104422"/>
              <a:ext cx="12222" cy="106635"/>
            </a:xfrm>
            <a:custGeom>
              <a:avLst/>
              <a:gdLst>
                <a:gd name="connsiteX0" fmla="*/ 220 w 12222"/>
                <a:gd name="connsiteY0" fmla="*/ 106724 h 106635"/>
                <a:gd name="connsiteX1" fmla="*/ 12442 w 12222"/>
                <a:gd name="connsiteY1" fmla="*/ 106724 h 106635"/>
                <a:gd name="connsiteX2" fmla="*/ 12442 w 12222"/>
                <a:gd name="connsiteY2" fmla="*/ 88 h 106635"/>
                <a:gd name="connsiteX3" fmla="*/ 220 w 12222"/>
                <a:gd name="connsiteY3" fmla="*/ 88 h 106635"/>
                <a:gd name="connsiteX4" fmla="*/ 220 w 12222"/>
                <a:gd name="connsiteY4" fmla="*/ 106724 h 10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22" h="106635">
                  <a:moveTo>
                    <a:pt x="220" y="106724"/>
                  </a:moveTo>
                  <a:lnTo>
                    <a:pt x="12442" y="106724"/>
                  </a:lnTo>
                  <a:lnTo>
                    <a:pt x="12442" y="88"/>
                  </a:lnTo>
                  <a:lnTo>
                    <a:pt x="220" y="88"/>
                  </a:lnTo>
                  <a:lnTo>
                    <a:pt x="220" y="106724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形状 13">
              <a:extLst>
                <a:ext uri="{FF2B5EF4-FFF2-40B4-BE49-F238E27FC236}">
                  <a16:creationId xmlns:a16="http://schemas.microsoft.com/office/drawing/2014/main" id="{F69A72BA-6F10-7D8E-4EB4-34A617590814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500636" y="4210704"/>
              <a:ext cx="12222" cy="106635"/>
            </a:xfrm>
            <a:custGeom>
              <a:avLst/>
              <a:gdLst>
                <a:gd name="connsiteX0" fmla="*/ 220 w 12222"/>
                <a:gd name="connsiteY0" fmla="*/ 106730 h 106635"/>
                <a:gd name="connsiteX1" fmla="*/ 12442 w 12222"/>
                <a:gd name="connsiteY1" fmla="*/ 106730 h 106635"/>
                <a:gd name="connsiteX2" fmla="*/ 12442 w 12222"/>
                <a:gd name="connsiteY2" fmla="*/ 94 h 106635"/>
                <a:gd name="connsiteX3" fmla="*/ 220 w 12222"/>
                <a:gd name="connsiteY3" fmla="*/ 94 h 106635"/>
                <a:gd name="connsiteX4" fmla="*/ 220 w 12222"/>
                <a:gd name="connsiteY4" fmla="*/ 106730 h 10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22" h="106635">
                  <a:moveTo>
                    <a:pt x="220" y="106730"/>
                  </a:moveTo>
                  <a:lnTo>
                    <a:pt x="12442" y="106730"/>
                  </a:lnTo>
                  <a:lnTo>
                    <a:pt x="12442" y="94"/>
                  </a:lnTo>
                  <a:lnTo>
                    <a:pt x="220" y="94"/>
                  </a:lnTo>
                  <a:lnTo>
                    <a:pt x="220" y="106730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形状 14">
              <a:extLst>
                <a:ext uri="{FF2B5EF4-FFF2-40B4-BE49-F238E27FC236}">
                  <a16:creationId xmlns:a16="http://schemas.microsoft.com/office/drawing/2014/main" id="{4FB2A77C-7EDB-F4EA-12EF-A8A0ED1B83F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500636" y="4316987"/>
              <a:ext cx="12222" cy="106635"/>
            </a:xfrm>
            <a:custGeom>
              <a:avLst/>
              <a:gdLst>
                <a:gd name="connsiteX0" fmla="*/ 220 w 12222"/>
                <a:gd name="connsiteY0" fmla="*/ 106736 h 106635"/>
                <a:gd name="connsiteX1" fmla="*/ 12442 w 12222"/>
                <a:gd name="connsiteY1" fmla="*/ 106736 h 106635"/>
                <a:gd name="connsiteX2" fmla="*/ 12442 w 12222"/>
                <a:gd name="connsiteY2" fmla="*/ 100 h 106635"/>
                <a:gd name="connsiteX3" fmla="*/ 220 w 12222"/>
                <a:gd name="connsiteY3" fmla="*/ 100 h 106635"/>
                <a:gd name="connsiteX4" fmla="*/ 220 w 12222"/>
                <a:gd name="connsiteY4" fmla="*/ 106736 h 10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22" h="106635">
                  <a:moveTo>
                    <a:pt x="220" y="106736"/>
                  </a:moveTo>
                  <a:lnTo>
                    <a:pt x="12442" y="106736"/>
                  </a:lnTo>
                  <a:lnTo>
                    <a:pt x="12442" y="100"/>
                  </a:lnTo>
                  <a:lnTo>
                    <a:pt x="220" y="100"/>
                  </a:lnTo>
                  <a:lnTo>
                    <a:pt x="220" y="106736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形状 15">
              <a:extLst>
                <a:ext uri="{FF2B5EF4-FFF2-40B4-BE49-F238E27FC236}">
                  <a16:creationId xmlns:a16="http://schemas.microsoft.com/office/drawing/2014/main" id="{14293AD9-FD9A-EE10-FE98-C67B88FAB11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500636" y="4423269"/>
              <a:ext cx="12222" cy="106635"/>
            </a:xfrm>
            <a:custGeom>
              <a:avLst/>
              <a:gdLst>
                <a:gd name="connsiteX0" fmla="*/ 220 w 12222"/>
                <a:gd name="connsiteY0" fmla="*/ 106742 h 106635"/>
                <a:gd name="connsiteX1" fmla="*/ 12442 w 12222"/>
                <a:gd name="connsiteY1" fmla="*/ 106742 h 106635"/>
                <a:gd name="connsiteX2" fmla="*/ 12442 w 12222"/>
                <a:gd name="connsiteY2" fmla="*/ 106 h 106635"/>
                <a:gd name="connsiteX3" fmla="*/ 220 w 12222"/>
                <a:gd name="connsiteY3" fmla="*/ 106 h 106635"/>
                <a:gd name="connsiteX4" fmla="*/ 220 w 12222"/>
                <a:gd name="connsiteY4" fmla="*/ 106742 h 10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22" h="106635">
                  <a:moveTo>
                    <a:pt x="220" y="106742"/>
                  </a:moveTo>
                  <a:lnTo>
                    <a:pt x="12442" y="106742"/>
                  </a:lnTo>
                  <a:lnTo>
                    <a:pt x="12442" y="106"/>
                  </a:lnTo>
                  <a:lnTo>
                    <a:pt x="220" y="106"/>
                  </a:lnTo>
                  <a:lnTo>
                    <a:pt x="220" y="106742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形状 16">
              <a:extLst>
                <a:ext uri="{FF2B5EF4-FFF2-40B4-BE49-F238E27FC236}">
                  <a16:creationId xmlns:a16="http://schemas.microsoft.com/office/drawing/2014/main" id="{43BEE781-18ED-1EE8-B873-B25DB58C0F8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500636" y="4529728"/>
              <a:ext cx="58986" cy="318667"/>
            </a:xfrm>
            <a:custGeom>
              <a:avLst/>
              <a:gdLst>
                <a:gd name="connsiteX0" fmla="*/ 220 w 58986"/>
                <a:gd name="connsiteY0" fmla="*/ 318780 h 318667"/>
                <a:gd name="connsiteX1" fmla="*/ 59206 w 58986"/>
                <a:gd name="connsiteY1" fmla="*/ 318780 h 318667"/>
                <a:gd name="connsiteX2" fmla="*/ 59206 w 58986"/>
                <a:gd name="connsiteY2" fmla="*/ 306557 h 318667"/>
                <a:gd name="connsiteX3" fmla="*/ 12442 w 58986"/>
                <a:gd name="connsiteY3" fmla="*/ 306557 h 318667"/>
                <a:gd name="connsiteX4" fmla="*/ 12442 w 58986"/>
                <a:gd name="connsiteY4" fmla="*/ 112 h 318667"/>
                <a:gd name="connsiteX5" fmla="*/ 220 w 58986"/>
                <a:gd name="connsiteY5" fmla="*/ 112 h 318667"/>
                <a:gd name="connsiteX6" fmla="*/ 220 w 58986"/>
                <a:gd name="connsiteY6" fmla="*/ 318780 h 31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986" h="318667">
                  <a:moveTo>
                    <a:pt x="220" y="318780"/>
                  </a:moveTo>
                  <a:lnTo>
                    <a:pt x="59206" y="318780"/>
                  </a:lnTo>
                  <a:lnTo>
                    <a:pt x="59206" y="306557"/>
                  </a:lnTo>
                  <a:lnTo>
                    <a:pt x="12442" y="306557"/>
                  </a:lnTo>
                  <a:lnTo>
                    <a:pt x="12442" y="112"/>
                  </a:lnTo>
                  <a:lnTo>
                    <a:pt x="220" y="112"/>
                  </a:lnTo>
                  <a:lnTo>
                    <a:pt x="220" y="318780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形状 17">
              <a:extLst>
                <a:ext uri="{FF2B5EF4-FFF2-40B4-BE49-F238E27FC236}">
                  <a16:creationId xmlns:a16="http://schemas.microsoft.com/office/drawing/2014/main" id="{7144CFEB-32E0-81ED-791B-CDC0241FE67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665314" y="3704489"/>
              <a:ext cx="58454" cy="117972"/>
            </a:xfrm>
            <a:custGeom>
              <a:avLst/>
              <a:gdLst>
                <a:gd name="connsiteX0" fmla="*/ 36544 w 58454"/>
                <a:gd name="connsiteY0" fmla="*/ 4678 h 117972"/>
                <a:gd name="connsiteX1" fmla="*/ 32470 w 58454"/>
                <a:gd name="connsiteY1" fmla="*/ 72 h 117972"/>
                <a:gd name="connsiteX2" fmla="*/ 231 w 58454"/>
                <a:gd name="connsiteY2" fmla="*/ 11409 h 117972"/>
                <a:gd name="connsiteX3" fmla="*/ 231 w 58454"/>
                <a:gd name="connsiteY3" fmla="*/ 16900 h 117972"/>
                <a:gd name="connsiteX4" fmla="*/ 23436 w 58454"/>
                <a:gd name="connsiteY4" fmla="*/ 12294 h 117972"/>
                <a:gd name="connsiteX5" fmla="*/ 23436 w 58454"/>
                <a:gd name="connsiteY5" fmla="*/ 104051 h 117972"/>
                <a:gd name="connsiteX6" fmla="*/ 6962 w 58454"/>
                <a:gd name="connsiteY6" fmla="*/ 112553 h 117972"/>
                <a:gd name="connsiteX7" fmla="*/ 1294 w 58454"/>
                <a:gd name="connsiteY7" fmla="*/ 112553 h 117972"/>
                <a:gd name="connsiteX8" fmla="*/ 1294 w 58454"/>
                <a:gd name="connsiteY8" fmla="*/ 118045 h 117972"/>
                <a:gd name="connsiteX9" fmla="*/ 29990 w 58454"/>
                <a:gd name="connsiteY9" fmla="*/ 117513 h 117972"/>
                <a:gd name="connsiteX10" fmla="*/ 58686 w 58454"/>
                <a:gd name="connsiteY10" fmla="*/ 118045 h 117972"/>
                <a:gd name="connsiteX11" fmla="*/ 58686 w 58454"/>
                <a:gd name="connsiteY11" fmla="*/ 112553 h 117972"/>
                <a:gd name="connsiteX12" fmla="*/ 53018 w 58454"/>
                <a:gd name="connsiteY12" fmla="*/ 112553 h 117972"/>
                <a:gd name="connsiteX13" fmla="*/ 36544 w 58454"/>
                <a:gd name="connsiteY13" fmla="*/ 104051 h 117972"/>
                <a:gd name="connsiteX14" fmla="*/ 36544 w 58454"/>
                <a:gd name="connsiteY14" fmla="*/ 4678 h 117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454" h="117972">
                  <a:moveTo>
                    <a:pt x="36544" y="4678"/>
                  </a:moveTo>
                  <a:cubicBezTo>
                    <a:pt x="36544" y="426"/>
                    <a:pt x="36544" y="72"/>
                    <a:pt x="32470" y="72"/>
                  </a:cubicBezTo>
                  <a:cubicBezTo>
                    <a:pt x="21487" y="11409"/>
                    <a:pt x="5899" y="11409"/>
                    <a:pt x="231" y="11409"/>
                  </a:cubicBezTo>
                  <a:lnTo>
                    <a:pt x="231" y="16900"/>
                  </a:lnTo>
                  <a:cubicBezTo>
                    <a:pt x="3774" y="16900"/>
                    <a:pt x="14225" y="16900"/>
                    <a:pt x="23436" y="12294"/>
                  </a:cubicBezTo>
                  <a:lnTo>
                    <a:pt x="23436" y="104051"/>
                  </a:lnTo>
                  <a:cubicBezTo>
                    <a:pt x="23436" y="110428"/>
                    <a:pt x="22905" y="112553"/>
                    <a:pt x="6962" y="112553"/>
                  </a:cubicBezTo>
                  <a:lnTo>
                    <a:pt x="1294" y="112553"/>
                  </a:lnTo>
                  <a:lnTo>
                    <a:pt x="1294" y="118045"/>
                  </a:lnTo>
                  <a:cubicBezTo>
                    <a:pt x="7494" y="117513"/>
                    <a:pt x="22905" y="117513"/>
                    <a:pt x="29990" y="117513"/>
                  </a:cubicBezTo>
                  <a:cubicBezTo>
                    <a:pt x="37075" y="117513"/>
                    <a:pt x="52486" y="117513"/>
                    <a:pt x="58686" y="118045"/>
                  </a:cubicBezTo>
                  <a:lnTo>
                    <a:pt x="58686" y="112553"/>
                  </a:lnTo>
                  <a:lnTo>
                    <a:pt x="53018" y="112553"/>
                  </a:lnTo>
                  <a:cubicBezTo>
                    <a:pt x="37075" y="112553"/>
                    <a:pt x="36544" y="110605"/>
                    <a:pt x="36544" y="104051"/>
                  </a:cubicBezTo>
                  <a:lnTo>
                    <a:pt x="36544" y="4678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形状 18">
              <a:extLst>
                <a:ext uri="{FF2B5EF4-FFF2-40B4-BE49-F238E27FC236}">
                  <a16:creationId xmlns:a16="http://schemas.microsoft.com/office/drawing/2014/main" id="{F868F6C0-7C90-2C0F-0244-6C79EBAEA775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656457" y="3917052"/>
              <a:ext cx="74574" cy="121869"/>
            </a:xfrm>
            <a:custGeom>
              <a:avLst/>
              <a:gdLst>
                <a:gd name="connsiteX0" fmla="*/ 74805 w 74574"/>
                <a:gd name="connsiteY0" fmla="*/ 61373 h 121869"/>
                <a:gd name="connsiteX1" fmla="*/ 67720 w 74574"/>
                <a:gd name="connsiteY1" fmla="*/ 19923 h 121869"/>
                <a:gd name="connsiteX2" fmla="*/ 37607 w 74574"/>
                <a:gd name="connsiteY2" fmla="*/ 84 h 121869"/>
                <a:gd name="connsiteX3" fmla="*/ 6785 w 74574"/>
                <a:gd name="connsiteY3" fmla="*/ 21163 h 121869"/>
                <a:gd name="connsiteX4" fmla="*/ 231 w 74574"/>
                <a:gd name="connsiteY4" fmla="*/ 61373 h 121869"/>
                <a:gd name="connsiteX5" fmla="*/ 8202 w 74574"/>
                <a:gd name="connsiteY5" fmla="*/ 104063 h 121869"/>
                <a:gd name="connsiteX6" fmla="*/ 37430 w 74574"/>
                <a:gd name="connsiteY6" fmla="*/ 121953 h 121869"/>
                <a:gd name="connsiteX7" fmla="*/ 68251 w 74574"/>
                <a:gd name="connsiteY7" fmla="*/ 101406 h 121869"/>
                <a:gd name="connsiteX8" fmla="*/ 74805 w 74574"/>
                <a:gd name="connsiteY8" fmla="*/ 61373 h 121869"/>
                <a:gd name="connsiteX9" fmla="*/ 37430 w 74574"/>
                <a:gd name="connsiteY9" fmla="*/ 118056 h 121869"/>
                <a:gd name="connsiteX10" fmla="*/ 16882 w 74574"/>
                <a:gd name="connsiteY10" fmla="*/ 96623 h 121869"/>
                <a:gd name="connsiteX11" fmla="*/ 14933 w 74574"/>
                <a:gd name="connsiteY11" fmla="*/ 59247 h 121869"/>
                <a:gd name="connsiteX12" fmla="*/ 16350 w 74574"/>
                <a:gd name="connsiteY12" fmla="*/ 26654 h 121869"/>
                <a:gd name="connsiteX13" fmla="*/ 37430 w 74574"/>
                <a:gd name="connsiteY13" fmla="*/ 3981 h 121869"/>
                <a:gd name="connsiteX14" fmla="*/ 58332 w 74574"/>
                <a:gd name="connsiteY14" fmla="*/ 24706 h 121869"/>
                <a:gd name="connsiteX15" fmla="*/ 60103 w 74574"/>
                <a:gd name="connsiteY15" fmla="*/ 59247 h 121869"/>
                <a:gd name="connsiteX16" fmla="*/ 58155 w 74574"/>
                <a:gd name="connsiteY16" fmla="*/ 95915 h 121869"/>
                <a:gd name="connsiteX17" fmla="*/ 37430 w 74574"/>
                <a:gd name="connsiteY17" fmla="*/ 118056 h 12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574" h="121869">
                  <a:moveTo>
                    <a:pt x="74805" y="61373"/>
                  </a:moveTo>
                  <a:cubicBezTo>
                    <a:pt x="74805" y="47202"/>
                    <a:pt x="73920" y="33031"/>
                    <a:pt x="67720" y="19923"/>
                  </a:cubicBezTo>
                  <a:cubicBezTo>
                    <a:pt x="59572" y="2918"/>
                    <a:pt x="45046" y="84"/>
                    <a:pt x="37607" y="84"/>
                  </a:cubicBezTo>
                  <a:cubicBezTo>
                    <a:pt x="26979" y="84"/>
                    <a:pt x="14048" y="4690"/>
                    <a:pt x="6785" y="21163"/>
                  </a:cubicBezTo>
                  <a:cubicBezTo>
                    <a:pt x="1117" y="33386"/>
                    <a:pt x="231" y="47202"/>
                    <a:pt x="231" y="61373"/>
                  </a:cubicBezTo>
                  <a:cubicBezTo>
                    <a:pt x="231" y="74658"/>
                    <a:pt x="940" y="90600"/>
                    <a:pt x="8202" y="104063"/>
                  </a:cubicBezTo>
                  <a:cubicBezTo>
                    <a:pt x="15819" y="118411"/>
                    <a:pt x="28750" y="121953"/>
                    <a:pt x="37430" y="121953"/>
                  </a:cubicBezTo>
                  <a:cubicBezTo>
                    <a:pt x="46995" y="121953"/>
                    <a:pt x="60457" y="118234"/>
                    <a:pt x="68251" y="101406"/>
                  </a:cubicBezTo>
                  <a:cubicBezTo>
                    <a:pt x="73920" y="89183"/>
                    <a:pt x="74805" y="75367"/>
                    <a:pt x="74805" y="61373"/>
                  </a:cubicBezTo>
                  <a:close/>
                  <a:moveTo>
                    <a:pt x="37430" y="118056"/>
                  </a:moveTo>
                  <a:cubicBezTo>
                    <a:pt x="30521" y="118056"/>
                    <a:pt x="20070" y="113628"/>
                    <a:pt x="16882" y="96623"/>
                  </a:cubicBezTo>
                  <a:cubicBezTo>
                    <a:pt x="14933" y="85995"/>
                    <a:pt x="14933" y="69698"/>
                    <a:pt x="14933" y="59247"/>
                  </a:cubicBezTo>
                  <a:cubicBezTo>
                    <a:pt x="14933" y="47911"/>
                    <a:pt x="14933" y="36220"/>
                    <a:pt x="16350" y="26654"/>
                  </a:cubicBezTo>
                  <a:cubicBezTo>
                    <a:pt x="19716" y="5575"/>
                    <a:pt x="33001" y="3981"/>
                    <a:pt x="37430" y="3981"/>
                  </a:cubicBezTo>
                  <a:cubicBezTo>
                    <a:pt x="43275" y="3981"/>
                    <a:pt x="54966" y="7170"/>
                    <a:pt x="58332" y="24706"/>
                  </a:cubicBezTo>
                  <a:cubicBezTo>
                    <a:pt x="60103" y="34626"/>
                    <a:pt x="60103" y="48088"/>
                    <a:pt x="60103" y="59247"/>
                  </a:cubicBezTo>
                  <a:cubicBezTo>
                    <a:pt x="60103" y="72533"/>
                    <a:pt x="60103" y="84578"/>
                    <a:pt x="58155" y="95915"/>
                  </a:cubicBezTo>
                  <a:cubicBezTo>
                    <a:pt x="55497" y="112742"/>
                    <a:pt x="45401" y="118056"/>
                    <a:pt x="37430" y="118056"/>
                  </a:cubicBez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形状 19">
              <a:extLst>
                <a:ext uri="{FF2B5EF4-FFF2-40B4-BE49-F238E27FC236}">
                  <a16:creationId xmlns:a16="http://schemas.microsoft.com/office/drawing/2014/main" id="{DBD47D6E-D410-7032-7041-03B4F7DB8EA9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6656457" y="4129615"/>
              <a:ext cx="74574" cy="121869"/>
            </a:xfrm>
            <a:custGeom>
              <a:avLst/>
              <a:gdLst>
                <a:gd name="connsiteX0" fmla="*/ 74805 w 74574"/>
                <a:gd name="connsiteY0" fmla="*/ 61385 h 121869"/>
                <a:gd name="connsiteX1" fmla="*/ 67720 w 74574"/>
                <a:gd name="connsiteY1" fmla="*/ 19935 h 121869"/>
                <a:gd name="connsiteX2" fmla="*/ 37607 w 74574"/>
                <a:gd name="connsiteY2" fmla="*/ 96 h 121869"/>
                <a:gd name="connsiteX3" fmla="*/ 6785 w 74574"/>
                <a:gd name="connsiteY3" fmla="*/ 21175 h 121869"/>
                <a:gd name="connsiteX4" fmla="*/ 231 w 74574"/>
                <a:gd name="connsiteY4" fmla="*/ 61385 h 121869"/>
                <a:gd name="connsiteX5" fmla="*/ 8202 w 74574"/>
                <a:gd name="connsiteY5" fmla="*/ 104075 h 121869"/>
                <a:gd name="connsiteX6" fmla="*/ 37430 w 74574"/>
                <a:gd name="connsiteY6" fmla="*/ 121965 h 121869"/>
                <a:gd name="connsiteX7" fmla="*/ 68251 w 74574"/>
                <a:gd name="connsiteY7" fmla="*/ 101418 h 121869"/>
                <a:gd name="connsiteX8" fmla="*/ 74805 w 74574"/>
                <a:gd name="connsiteY8" fmla="*/ 61385 h 121869"/>
                <a:gd name="connsiteX9" fmla="*/ 37430 w 74574"/>
                <a:gd name="connsiteY9" fmla="*/ 118068 h 121869"/>
                <a:gd name="connsiteX10" fmla="*/ 16882 w 74574"/>
                <a:gd name="connsiteY10" fmla="*/ 96635 h 121869"/>
                <a:gd name="connsiteX11" fmla="*/ 14933 w 74574"/>
                <a:gd name="connsiteY11" fmla="*/ 59259 h 121869"/>
                <a:gd name="connsiteX12" fmla="*/ 16350 w 74574"/>
                <a:gd name="connsiteY12" fmla="*/ 26666 h 121869"/>
                <a:gd name="connsiteX13" fmla="*/ 37430 w 74574"/>
                <a:gd name="connsiteY13" fmla="*/ 3993 h 121869"/>
                <a:gd name="connsiteX14" fmla="*/ 58332 w 74574"/>
                <a:gd name="connsiteY14" fmla="*/ 24718 h 121869"/>
                <a:gd name="connsiteX15" fmla="*/ 60103 w 74574"/>
                <a:gd name="connsiteY15" fmla="*/ 59259 h 121869"/>
                <a:gd name="connsiteX16" fmla="*/ 58155 w 74574"/>
                <a:gd name="connsiteY16" fmla="*/ 95926 h 121869"/>
                <a:gd name="connsiteX17" fmla="*/ 37430 w 74574"/>
                <a:gd name="connsiteY17" fmla="*/ 118068 h 12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574" h="121869">
                  <a:moveTo>
                    <a:pt x="74805" y="61385"/>
                  </a:moveTo>
                  <a:cubicBezTo>
                    <a:pt x="74805" y="47214"/>
                    <a:pt x="73920" y="33043"/>
                    <a:pt x="67720" y="19935"/>
                  </a:cubicBezTo>
                  <a:cubicBezTo>
                    <a:pt x="59572" y="2930"/>
                    <a:pt x="45046" y="96"/>
                    <a:pt x="37607" y="96"/>
                  </a:cubicBezTo>
                  <a:cubicBezTo>
                    <a:pt x="26979" y="96"/>
                    <a:pt x="14048" y="4702"/>
                    <a:pt x="6785" y="21175"/>
                  </a:cubicBezTo>
                  <a:cubicBezTo>
                    <a:pt x="1117" y="33398"/>
                    <a:pt x="231" y="47214"/>
                    <a:pt x="231" y="61385"/>
                  </a:cubicBezTo>
                  <a:cubicBezTo>
                    <a:pt x="231" y="74670"/>
                    <a:pt x="940" y="90612"/>
                    <a:pt x="8202" y="104075"/>
                  </a:cubicBezTo>
                  <a:cubicBezTo>
                    <a:pt x="15819" y="118423"/>
                    <a:pt x="28750" y="121965"/>
                    <a:pt x="37430" y="121965"/>
                  </a:cubicBezTo>
                  <a:cubicBezTo>
                    <a:pt x="46995" y="121965"/>
                    <a:pt x="60457" y="118246"/>
                    <a:pt x="68251" y="101418"/>
                  </a:cubicBezTo>
                  <a:cubicBezTo>
                    <a:pt x="73920" y="89195"/>
                    <a:pt x="74805" y="75379"/>
                    <a:pt x="74805" y="61385"/>
                  </a:cubicBezTo>
                  <a:close/>
                  <a:moveTo>
                    <a:pt x="37430" y="118068"/>
                  </a:moveTo>
                  <a:cubicBezTo>
                    <a:pt x="30521" y="118068"/>
                    <a:pt x="20070" y="113640"/>
                    <a:pt x="16882" y="96635"/>
                  </a:cubicBezTo>
                  <a:cubicBezTo>
                    <a:pt x="14933" y="86007"/>
                    <a:pt x="14933" y="69710"/>
                    <a:pt x="14933" y="59259"/>
                  </a:cubicBezTo>
                  <a:cubicBezTo>
                    <a:pt x="14933" y="47923"/>
                    <a:pt x="14933" y="36232"/>
                    <a:pt x="16350" y="26666"/>
                  </a:cubicBezTo>
                  <a:cubicBezTo>
                    <a:pt x="19716" y="5587"/>
                    <a:pt x="33001" y="3993"/>
                    <a:pt x="37430" y="3993"/>
                  </a:cubicBezTo>
                  <a:cubicBezTo>
                    <a:pt x="43275" y="3993"/>
                    <a:pt x="54966" y="7181"/>
                    <a:pt x="58332" y="24718"/>
                  </a:cubicBezTo>
                  <a:cubicBezTo>
                    <a:pt x="60103" y="34638"/>
                    <a:pt x="60103" y="48100"/>
                    <a:pt x="60103" y="59259"/>
                  </a:cubicBezTo>
                  <a:cubicBezTo>
                    <a:pt x="60103" y="72545"/>
                    <a:pt x="60103" y="84590"/>
                    <a:pt x="58155" y="95926"/>
                  </a:cubicBezTo>
                  <a:cubicBezTo>
                    <a:pt x="55497" y="112754"/>
                    <a:pt x="45401" y="118068"/>
                    <a:pt x="37430" y="118068"/>
                  </a:cubicBez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281912CE-328C-23FC-E699-B8D77B45AA23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664782" y="4417559"/>
              <a:ext cx="18776" cy="18776"/>
            </a:xfrm>
            <a:custGeom>
              <a:avLst/>
              <a:gdLst>
                <a:gd name="connsiteX0" fmla="*/ 19008 w 18776"/>
                <a:gd name="connsiteY0" fmla="*/ 9495 h 18776"/>
                <a:gd name="connsiteX1" fmla="*/ 9619 w 18776"/>
                <a:gd name="connsiteY1" fmla="*/ 107 h 18776"/>
                <a:gd name="connsiteX2" fmla="*/ 231 w 18776"/>
                <a:gd name="connsiteY2" fmla="*/ 9495 h 18776"/>
                <a:gd name="connsiteX3" fmla="*/ 9619 w 18776"/>
                <a:gd name="connsiteY3" fmla="*/ 18883 h 18776"/>
                <a:gd name="connsiteX4" fmla="*/ 19008 w 18776"/>
                <a:gd name="connsiteY4" fmla="*/ 9495 h 1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76" h="18776">
                  <a:moveTo>
                    <a:pt x="19008" y="9495"/>
                  </a:moveTo>
                  <a:cubicBezTo>
                    <a:pt x="19008" y="4358"/>
                    <a:pt x="14756" y="107"/>
                    <a:pt x="9619" y="107"/>
                  </a:cubicBezTo>
                  <a:cubicBezTo>
                    <a:pt x="4482" y="107"/>
                    <a:pt x="231" y="4358"/>
                    <a:pt x="231" y="9495"/>
                  </a:cubicBezTo>
                  <a:cubicBezTo>
                    <a:pt x="231" y="14632"/>
                    <a:pt x="4482" y="18883"/>
                    <a:pt x="9619" y="18883"/>
                  </a:cubicBezTo>
                  <a:cubicBezTo>
                    <a:pt x="14756" y="18883"/>
                    <a:pt x="19008" y="14632"/>
                    <a:pt x="19008" y="9495"/>
                  </a:cubicBez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E13727AF-60AB-360A-4CB9-4BCF9F9D023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664782" y="4488414"/>
              <a:ext cx="18776" cy="18776"/>
            </a:xfrm>
            <a:custGeom>
              <a:avLst/>
              <a:gdLst>
                <a:gd name="connsiteX0" fmla="*/ 19008 w 18776"/>
                <a:gd name="connsiteY0" fmla="*/ 9499 h 18776"/>
                <a:gd name="connsiteX1" fmla="*/ 9619 w 18776"/>
                <a:gd name="connsiteY1" fmla="*/ 111 h 18776"/>
                <a:gd name="connsiteX2" fmla="*/ 231 w 18776"/>
                <a:gd name="connsiteY2" fmla="*/ 9499 h 18776"/>
                <a:gd name="connsiteX3" fmla="*/ 9619 w 18776"/>
                <a:gd name="connsiteY3" fmla="*/ 18887 h 18776"/>
                <a:gd name="connsiteX4" fmla="*/ 19008 w 18776"/>
                <a:gd name="connsiteY4" fmla="*/ 9499 h 1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76" h="18776">
                  <a:moveTo>
                    <a:pt x="19008" y="9499"/>
                  </a:moveTo>
                  <a:cubicBezTo>
                    <a:pt x="19008" y="4362"/>
                    <a:pt x="14756" y="111"/>
                    <a:pt x="9619" y="111"/>
                  </a:cubicBezTo>
                  <a:cubicBezTo>
                    <a:pt x="4482" y="111"/>
                    <a:pt x="231" y="4362"/>
                    <a:pt x="231" y="9499"/>
                  </a:cubicBezTo>
                  <a:cubicBezTo>
                    <a:pt x="231" y="14636"/>
                    <a:pt x="4482" y="18887"/>
                    <a:pt x="9619" y="18887"/>
                  </a:cubicBezTo>
                  <a:cubicBezTo>
                    <a:pt x="14756" y="18887"/>
                    <a:pt x="19008" y="14636"/>
                    <a:pt x="19008" y="9499"/>
                  </a:cubicBez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A8781319-3ACD-A472-3E50-736C2FA80E9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664782" y="4559268"/>
              <a:ext cx="18776" cy="18776"/>
            </a:xfrm>
            <a:custGeom>
              <a:avLst/>
              <a:gdLst>
                <a:gd name="connsiteX0" fmla="*/ 19008 w 18776"/>
                <a:gd name="connsiteY0" fmla="*/ 9503 h 18776"/>
                <a:gd name="connsiteX1" fmla="*/ 9619 w 18776"/>
                <a:gd name="connsiteY1" fmla="*/ 115 h 18776"/>
                <a:gd name="connsiteX2" fmla="*/ 231 w 18776"/>
                <a:gd name="connsiteY2" fmla="*/ 9503 h 18776"/>
                <a:gd name="connsiteX3" fmla="*/ 9619 w 18776"/>
                <a:gd name="connsiteY3" fmla="*/ 18891 h 18776"/>
                <a:gd name="connsiteX4" fmla="*/ 19008 w 18776"/>
                <a:gd name="connsiteY4" fmla="*/ 9503 h 1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76" h="18776">
                  <a:moveTo>
                    <a:pt x="19008" y="9503"/>
                  </a:moveTo>
                  <a:cubicBezTo>
                    <a:pt x="19008" y="4366"/>
                    <a:pt x="14756" y="115"/>
                    <a:pt x="9619" y="115"/>
                  </a:cubicBezTo>
                  <a:cubicBezTo>
                    <a:pt x="4482" y="115"/>
                    <a:pt x="231" y="4366"/>
                    <a:pt x="231" y="9503"/>
                  </a:cubicBezTo>
                  <a:cubicBezTo>
                    <a:pt x="231" y="14640"/>
                    <a:pt x="4482" y="18891"/>
                    <a:pt x="9619" y="18891"/>
                  </a:cubicBezTo>
                  <a:cubicBezTo>
                    <a:pt x="14756" y="18891"/>
                    <a:pt x="19008" y="14640"/>
                    <a:pt x="19008" y="9503"/>
                  </a:cubicBez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形状 23">
              <a:extLst>
                <a:ext uri="{FF2B5EF4-FFF2-40B4-BE49-F238E27FC236}">
                  <a16:creationId xmlns:a16="http://schemas.microsoft.com/office/drawing/2014/main" id="{18612443-A930-703D-4B02-7494B35AB365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656457" y="4672635"/>
              <a:ext cx="74574" cy="121869"/>
            </a:xfrm>
            <a:custGeom>
              <a:avLst/>
              <a:gdLst>
                <a:gd name="connsiteX0" fmla="*/ 74805 w 74574"/>
                <a:gd name="connsiteY0" fmla="*/ 61416 h 121869"/>
                <a:gd name="connsiteX1" fmla="*/ 67720 w 74574"/>
                <a:gd name="connsiteY1" fmla="*/ 19966 h 121869"/>
                <a:gd name="connsiteX2" fmla="*/ 37607 w 74574"/>
                <a:gd name="connsiteY2" fmla="*/ 127 h 121869"/>
                <a:gd name="connsiteX3" fmla="*/ 6785 w 74574"/>
                <a:gd name="connsiteY3" fmla="*/ 21206 h 121869"/>
                <a:gd name="connsiteX4" fmla="*/ 231 w 74574"/>
                <a:gd name="connsiteY4" fmla="*/ 61416 h 121869"/>
                <a:gd name="connsiteX5" fmla="*/ 8202 w 74574"/>
                <a:gd name="connsiteY5" fmla="*/ 104105 h 121869"/>
                <a:gd name="connsiteX6" fmla="*/ 37430 w 74574"/>
                <a:gd name="connsiteY6" fmla="*/ 121996 h 121869"/>
                <a:gd name="connsiteX7" fmla="*/ 68251 w 74574"/>
                <a:gd name="connsiteY7" fmla="*/ 101448 h 121869"/>
                <a:gd name="connsiteX8" fmla="*/ 74805 w 74574"/>
                <a:gd name="connsiteY8" fmla="*/ 61416 h 121869"/>
                <a:gd name="connsiteX9" fmla="*/ 37430 w 74574"/>
                <a:gd name="connsiteY9" fmla="*/ 118099 h 121869"/>
                <a:gd name="connsiteX10" fmla="*/ 16882 w 74574"/>
                <a:gd name="connsiteY10" fmla="*/ 96666 h 121869"/>
                <a:gd name="connsiteX11" fmla="*/ 14933 w 74574"/>
                <a:gd name="connsiteY11" fmla="*/ 59290 h 121869"/>
                <a:gd name="connsiteX12" fmla="*/ 16350 w 74574"/>
                <a:gd name="connsiteY12" fmla="*/ 26697 h 121869"/>
                <a:gd name="connsiteX13" fmla="*/ 37430 w 74574"/>
                <a:gd name="connsiteY13" fmla="*/ 4024 h 121869"/>
                <a:gd name="connsiteX14" fmla="*/ 58332 w 74574"/>
                <a:gd name="connsiteY14" fmla="*/ 24748 h 121869"/>
                <a:gd name="connsiteX15" fmla="*/ 60103 w 74574"/>
                <a:gd name="connsiteY15" fmla="*/ 59290 h 121869"/>
                <a:gd name="connsiteX16" fmla="*/ 58155 w 74574"/>
                <a:gd name="connsiteY16" fmla="*/ 95957 h 121869"/>
                <a:gd name="connsiteX17" fmla="*/ 37430 w 74574"/>
                <a:gd name="connsiteY17" fmla="*/ 118099 h 12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574" h="121869">
                  <a:moveTo>
                    <a:pt x="74805" y="61416"/>
                  </a:moveTo>
                  <a:cubicBezTo>
                    <a:pt x="74805" y="47245"/>
                    <a:pt x="73920" y="33074"/>
                    <a:pt x="67720" y="19966"/>
                  </a:cubicBezTo>
                  <a:cubicBezTo>
                    <a:pt x="59572" y="2961"/>
                    <a:pt x="45046" y="127"/>
                    <a:pt x="37607" y="127"/>
                  </a:cubicBezTo>
                  <a:cubicBezTo>
                    <a:pt x="26979" y="127"/>
                    <a:pt x="14048" y="4732"/>
                    <a:pt x="6785" y="21206"/>
                  </a:cubicBezTo>
                  <a:cubicBezTo>
                    <a:pt x="1117" y="33428"/>
                    <a:pt x="231" y="47245"/>
                    <a:pt x="231" y="61416"/>
                  </a:cubicBezTo>
                  <a:cubicBezTo>
                    <a:pt x="231" y="74701"/>
                    <a:pt x="940" y="90643"/>
                    <a:pt x="8202" y="104105"/>
                  </a:cubicBezTo>
                  <a:cubicBezTo>
                    <a:pt x="15819" y="118453"/>
                    <a:pt x="28750" y="121996"/>
                    <a:pt x="37430" y="121996"/>
                  </a:cubicBezTo>
                  <a:cubicBezTo>
                    <a:pt x="46995" y="121996"/>
                    <a:pt x="60457" y="118276"/>
                    <a:pt x="68251" y="101448"/>
                  </a:cubicBezTo>
                  <a:cubicBezTo>
                    <a:pt x="73920" y="89226"/>
                    <a:pt x="74805" y="75409"/>
                    <a:pt x="74805" y="61416"/>
                  </a:cubicBezTo>
                  <a:close/>
                  <a:moveTo>
                    <a:pt x="37430" y="118099"/>
                  </a:moveTo>
                  <a:cubicBezTo>
                    <a:pt x="30521" y="118099"/>
                    <a:pt x="20070" y="113671"/>
                    <a:pt x="16882" y="96666"/>
                  </a:cubicBezTo>
                  <a:cubicBezTo>
                    <a:pt x="14933" y="86037"/>
                    <a:pt x="14933" y="69741"/>
                    <a:pt x="14933" y="59290"/>
                  </a:cubicBezTo>
                  <a:cubicBezTo>
                    <a:pt x="14933" y="47953"/>
                    <a:pt x="14933" y="36262"/>
                    <a:pt x="16350" y="26697"/>
                  </a:cubicBezTo>
                  <a:cubicBezTo>
                    <a:pt x="19716" y="5618"/>
                    <a:pt x="33001" y="4024"/>
                    <a:pt x="37430" y="4024"/>
                  </a:cubicBezTo>
                  <a:cubicBezTo>
                    <a:pt x="43275" y="4024"/>
                    <a:pt x="54966" y="7212"/>
                    <a:pt x="58332" y="24748"/>
                  </a:cubicBezTo>
                  <a:cubicBezTo>
                    <a:pt x="60103" y="34668"/>
                    <a:pt x="60103" y="48130"/>
                    <a:pt x="60103" y="59290"/>
                  </a:cubicBezTo>
                  <a:cubicBezTo>
                    <a:pt x="60103" y="72575"/>
                    <a:pt x="60103" y="84620"/>
                    <a:pt x="58155" y="95957"/>
                  </a:cubicBezTo>
                  <a:cubicBezTo>
                    <a:pt x="55497" y="112785"/>
                    <a:pt x="45401" y="118099"/>
                    <a:pt x="37430" y="118099"/>
                  </a:cubicBez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形状 24">
              <a:extLst>
                <a:ext uri="{FF2B5EF4-FFF2-40B4-BE49-F238E27FC236}">
                  <a16:creationId xmlns:a16="http://schemas.microsoft.com/office/drawing/2014/main" id="{7F37AA00-DFE8-56A1-EB23-7AD02A430F03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6827925" y="3679646"/>
              <a:ext cx="58986" cy="318667"/>
            </a:xfrm>
            <a:custGeom>
              <a:avLst/>
              <a:gdLst>
                <a:gd name="connsiteX0" fmla="*/ 47005 w 58986"/>
                <a:gd name="connsiteY0" fmla="*/ 318732 h 318667"/>
                <a:gd name="connsiteX1" fmla="*/ 59227 w 58986"/>
                <a:gd name="connsiteY1" fmla="*/ 318732 h 318667"/>
                <a:gd name="connsiteX2" fmla="*/ 59227 w 58986"/>
                <a:gd name="connsiteY2" fmla="*/ 64 h 318667"/>
                <a:gd name="connsiteX3" fmla="*/ 241 w 58986"/>
                <a:gd name="connsiteY3" fmla="*/ 64 h 318667"/>
                <a:gd name="connsiteX4" fmla="*/ 241 w 58986"/>
                <a:gd name="connsiteY4" fmla="*/ 12287 h 318667"/>
                <a:gd name="connsiteX5" fmla="*/ 47005 w 58986"/>
                <a:gd name="connsiteY5" fmla="*/ 12287 h 318667"/>
                <a:gd name="connsiteX6" fmla="*/ 47005 w 58986"/>
                <a:gd name="connsiteY6" fmla="*/ 318732 h 31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986" h="318667">
                  <a:moveTo>
                    <a:pt x="47005" y="318732"/>
                  </a:moveTo>
                  <a:lnTo>
                    <a:pt x="59227" y="318732"/>
                  </a:lnTo>
                  <a:lnTo>
                    <a:pt x="59227" y="64"/>
                  </a:lnTo>
                  <a:lnTo>
                    <a:pt x="241" y="64"/>
                  </a:lnTo>
                  <a:lnTo>
                    <a:pt x="241" y="12287"/>
                  </a:lnTo>
                  <a:lnTo>
                    <a:pt x="47005" y="12287"/>
                  </a:lnTo>
                  <a:lnTo>
                    <a:pt x="47005" y="318732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形状 25">
              <a:extLst>
                <a:ext uri="{FF2B5EF4-FFF2-40B4-BE49-F238E27FC236}">
                  <a16:creationId xmlns:a16="http://schemas.microsoft.com/office/drawing/2014/main" id="{E7E09E7D-FD80-55AB-18CC-6F83AE4E2F8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6874688" y="3998139"/>
              <a:ext cx="12222" cy="106635"/>
            </a:xfrm>
            <a:custGeom>
              <a:avLst/>
              <a:gdLst>
                <a:gd name="connsiteX0" fmla="*/ 241 w 12222"/>
                <a:gd name="connsiteY0" fmla="*/ 106718 h 106635"/>
                <a:gd name="connsiteX1" fmla="*/ 12463 w 12222"/>
                <a:gd name="connsiteY1" fmla="*/ 106718 h 106635"/>
                <a:gd name="connsiteX2" fmla="*/ 12463 w 12222"/>
                <a:gd name="connsiteY2" fmla="*/ 82 h 106635"/>
                <a:gd name="connsiteX3" fmla="*/ 241 w 12222"/>
                <a:gd name="connsiteY3" fmla="*/ 82 h 106635"/>
                <a:gd name="connsiteX4" fmla="*/ 241 w 12222"/>
                <a:gd name="connsiteY4" fmla="*/ 106718 h 10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22" h="106635">
                  <a:moveTo>
                    <a:pt x="241" y="106718"/>
                  </a:moveTo>
                  <a:lnTo>
                    <a:pt x="12463" y="106718"/>
                  </a:lnTo>
                  <a:lnTo>
                    <a:pt x="12463" y="82"/>
                  </a:lnTo>
                  <a:lnTo>
                    <a:pt x="241" y="82"/>
                  </a:lnTo>
                  <a:lnTo>
                    <a:pt x="241" y="106718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形状 26">
              <a:extLst>
                <a:ext uri="{FF2B5EF4-FFF2-40B4-BE49-F238E27FC236}">
                  <a16:creationId xmlns:a16="http://schemas.microsoft.com/office/drawing/2014/main" id="{2A18574B-2334-4F30-39F3-DBAC24628462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874688" y="4104422"/>
              <a:ext cx="12222" cy="106635"/>
            </a:xfrm>
            <a:custGeom>
              <a:avLst/>
              <a:gdLst>
                <a:gd name="connsiteX0" fmla="*/ 241 w 12222"/>
                <a:gd name="connsiteY0" fmla="*/ 106724 h 106635"/>
                <a:gd name="connsiteX1" fmla="*/ 12463 w 12222"/>
                <a:gd name="connsiteY1" fmla="*/ 106724 h 106635"/>
                <a:gd name="connsiteX2" fmla="*/ 12463 w 12222"/>
                <a:gd name="connsiteY2" fmla="*/ 88 h 106635"/>
                <a:gd name="connsiteX3" fmla="*/ 241 w 12222"/>
                <a:gd name="connsiteY3" fmla="*/ 88 h 106635"/>
                <a:gd name="connsiteX4" fmla="*/ 241 w 12222"/>
                <a:gd name="connsiteY4" fmla="*/ 106724 h 10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22" h="106635">
                  <a:moveTo>
                    <a:pt x="241" y="106724"/>
                  </a:moveTo>
                  <a:lnTo>
                    <a:pt x="12463" y="106724"/>
                  </a:lnTo>
                  <a:lnTo>
                    <a:pt x="12463" y="88"/>
                  </a:lnTo>
                  <a:lnTo>
                    <a:pt x="241" y="88"/>
                  </a:lnTo>
                  <a:lnTo>
                    <a:pt x="241" y="106724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形状 27">
              <a:extLst>
                <a:ext uri="{FF2B5EF4-FFF2-40B4-BE49-F238E27FC236}">
                  <a16:creationId xmlns:a16="http://schemas.microsoft.com/office/drawing/2014/main" id="{320F29CA-08AA-1611-741C-80052C1F0F25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6874688" y="4210704"/>
              <a:ext cx="12222" cy="106635"/>
            </a:xfrm>
            <a:custGeom>
              <a:avLst/>
              <a:gdLst>
                <a:gd name="connsiteX0" fmla="*/ 241 w 12222"/>
                <a:gd name="connsiteY0" fmla="*/ 106730 h 106635"/>
                <a:gd name="connsiteX1" fmla="*/ 12463 w 12222"/>
                <a:gd name="connsiteY1" fmla="*/ 106730 h 106635"/>
                <a:gd name="connsiteX2" fmla="*/ 12463 w 12222"/>
                <a:gd name="connsiteY2" fmla="*/ 94 h 106635"/>
                <a:gd name="connsiteX3" fmla="*/ 241 w 12222"/>
                <a:gd name="connsiteY3" fmla="*/ 94 h 106635"/>
                <a:gd name="connsiteX4" fmla="*/ 241 w 12222"/>
                <a:gd name="connsiteY4" fmla="*/ 106730 h 10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22" h="106635">
                  <a:moveTo>
                    <a:pt x="241" y="106730"/>
                  </a:moveTo>
                  <a:lnTo>
                    <a:pt x="12463" y="106730"/>
                  </a:lnTo>
                  <a:lnTo>
                    <a:pt x="12463" y="94"/>
                  </a:lnTo>
                  <a:lnTo>
                    <a:pt x="241" y="94"/>
                  </a:lnTo>
                  <a:lnTo>
                    <a:pt x="241" y="106730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形状 28">
              <a:extLst>
                <a:ext uri="{FF2B5EF4-FFF2-40B4-BE49-F238E27FC236}">
                  <a16:creationId xmlns:a16="http://schemas.microsoft.com/office/drawing/2014/main" id="{F93CB25B-7583-2ECC-D9BC-92D9D1A4730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874688" y="4316987"/>
              <a:ext cx="12222" cy="106635"/>
            </a:xfrm>
            <a:custGeom>
              <a:avLst/>
              <a:gdLst>
                <a:gd name="connsiteX0" fmla="*/ 241 w 12222"/>
                <a:gd name="connsiteY0" fmla="*/ 106736 h 106635"/>
                <a:gd name="connsiteX1" fmla="*/ 12463 w 12222"/>
                <a:gd name="connsiteY1" fmla="*/ 106736 h 106635"/>
                <a:gd name="connsiteX2" fmla="*/ 12463 w 12222"/>
                <a:gd name="connsiteY2" fmla="*/ 100 h 106635"/>
                <a:gd name="connsiteX3" fmla="*/ 241 w 12222"/>
                <a:gd name="connsiteY3" fmla="*/ 100 h 106635"/>
                <a:gd name="connsiteX4" fmla="*/ 241 w 12222"/>
                <a:gd name="connsiteY4" fmla="*/ 106736 h 10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22" h="106635">
                  <a:moveTo>
                    <a:pt x="241" y="106736"/>
                  </a:moveTo>
                  <a:lnTo>
                    <a:pt x="12463" y="106736"/>
                  </a:lnTo>
                  <a:lnTo>
                    <a:pt x="12463" y="100"/>
                  </a:lnTo>
                  <a:lnTo>
                    <a:pt x="241" y="100"/>
                  </a:lnTo>
                  <a:lnTo>
                    <a:pt x="241" y="106736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形状 29">
              <a:extLst>
                <a:ext uri="{FF2B5EF4-FFF2-40B4-BE49-F238E27FC236}">
                  <a16:creationId xmlns:a16="http://schemas.microsoft.com/office/drawing/2014/main" id="{C610F9E9-060E-ABBF-B18B-FC70B57AA1DA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874688" y="4423269"/>
              <a:ext cx="12222" cy="106635"/>
            </a:xfrm>
            <a:custGeom>
              <a:avLst/>
              <a:gdLst>
                <a:gd name="connsiteX0" fmla="*/ 241 w 12222"/>
                <a:gd name="connsiteY0" fmla="*/ 106742 h 106635"/>
                <a:gd name="connsiteX1" fmla="*/ 12463 w 12222"/>
                <a:gd name="connsiteY1" fmla="*/ 106742 h 106635"/>
                <a:gd name="connsiteX2" fmla="*/ 12463 w 12222"/>
                <a:gd name="connsiteY2" fmla="*/ 106 h 106635"/>
                <a:gd name="connsiteX3" fmla="*/ 241 w 12222"/>
                <a:gd name="connsiteY3" fmla="*/ 106 h 106635"/>
                <a:gd name="connsiteX4" fmla="*/ 241 w 12222"/>
                <a:gd name="connsiteY4" fmla="*/ 106742 h 10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22" h="106635">
                  <a:moveTo>
                    <a:pt x="241" y="106742"/>
                  </a:moveTo>
                  <a:lnTo>
                    <a:pt x="12463" y="106742"/>
                  </a:lnTo>
                  <a:lnTo>
                    <a:pt x="12463" y="106"/>
                  </a:lnTo>
                  <a:lnTo>
                    <a:pt x="241" y="106"/>
                  </a:lnTo>
                  <a:lnTo>
                    <a:pt x="241" y="106742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形状 30">
              <a:extLst>
                <a:ext uri="{FF2B5EF4-FFF2-40B4-BE49-F238E27FC236}">
                  <a16:creationId xmlns:a16="http://schemas.microsoft.com/office/drawing/2014/main" id="{32F5438A-5D0D-C399-0CDC-6298872E5486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6827925" y="4529728"/>
              <a:ext cx="58986" cy="318667"/>
            </a:xfrm>
            <a:custGeom>
              <a:avLst/>
              <a:gdLst>
                <a:gd name="connsiteX0" fmla="*/ 47005 w 58986"/>
                <a:gd name="connsiteY0" fmla="*/ 306557 h 318667"/>
                <a:gd name="connsiteX1" fmla="*/ 241 w 58986"/>
                <a:gd name="connsiteY1" fmla="*/ 306557 h 318667"/>
                <a:gd name="connsiteX2" fmla="*/ 241 w 58986"/>
                <a:gd name="connsiteY2" fmla="*/ 318780 h 318667"/>
                <a:gd name="connsiteX3" fmla="*/ 59227 w 58986"/>
                <a:gd name="connsiteY3" fmla="*/ 318780 h 318667"/>
                <a:gd name="connsiteX4" fmla="*/ 59227 w 58986"/>
                <a:gd name="connsiteY4" fmla="*/ 112 h 318667"/>
                <a:gd name="connsiteX5" fmla="*/ 47005 w 58986"/>
                <a:gd name="connsiteY5" fmla="*/ 112 h 318667"/>
                <a:gd name="connsiteX6" fmla="*/ 47005 w 58986"/>
                <a:gd name="connsiteY6" fmla="*/ 306557 h 31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986" h="318667">
                  <a:moveTo>
                    <a:pt x="47005" y="306557"/>
                  </a:moveTo>
                  <a:lnTo>
                    <a:pt x="241" y="306557"/>
                  </a:lnTo>
                  <a:lnTo>
                    <a:pt x="241" y="318780"/>
                  </a:lnTo>
                  <a:lnTo>
                    <a:pt x="59227" y="318780"/>
                  </a:lnTo>
                  <a:lnTo>
                    <a:pt x="59227" y="112"/>
                  </a:lnTo>
                  <a:lnTo>
                    <a:pt x="47005" y="112"/>
                  </a:lnTo>
                  <a:lnTo>
                    <a:pt x="47005" y="306557"/>
                  </a:lnTo>
                  <a:close/>
                </a:path>
              </a:pathLst>
            </a:custGeom>
            <a:solidFill>
              <a:srgbClr val="000000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A1AF5A89-5D49-CC02-D650-7C569AF2F8B4}"/>
              </a:ext>
            </a:extLst>
          </p:cNvPr>
          <p:cNvSpPr txBox="1"/>
          <p:nvPr/>
        </p:nvSpPr>
        <p:spPr>
          <a:xfrm>
            <a:off x="4683096" y="3540921"/>
            <a:ext cx="1281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C00000"/>
                </a:solidFill>
              </a:rPr>
              <a:t>真实概率分布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0DB9D1C5-40E9-E81C-7A11-2E02D8243BC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61258" y="3436998"/>
            <a:ext cx="4296228" cy="426214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472DCE35-8CD5-2116-8AB2-60A54FFDB533}"/>
              </a:ext>
            </a:extLst>
          </p:cNvPr>
          <p:cNvSpPr txBox="1"/>
          <p:nvPr/>
        </p:nvSpPr>
        <p:spPr>
          <a:xfrm>
            <a:off x="135648" y="354092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00000"/>
                </a:solidFill>
              </a:rPr>
              <a:t>最后一层输出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578B6B6-5F82-DA59-AC3E-5A2351B12EC5}"/>
              </a:ext>
            </a:extLst>
          </p:cNvPr>
          <p:cNvSpPr txBox="1"/>
          <p:nvPr/>
        </p:nvSpPr>
        <p:spPr>
          <a:xfrm>
            <a:off x="3392184" y="3548316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00000"/>
                </a:solidFill>
              </a:rPr>
              <a:t>输出概率分布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AA50411-63E3-1B52-915A-57744DE9E8EA}"/>
              </a:ext>
            </a:extLst>
          </p:cNvPr>
          <p:cNvSpPr txBox="1"/>
          <p:nvPr/>
        </p:nvSpPr>
        <p:spPr>
          <a:xfrm>
            <a:off x="1703368" y="3555435"/>
            <a:ext cx="1266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00000"/>
                </a:solidFill>
              </a:rPr>
              <a:t>经过 </a:t>
            </a:r>
            <a:r>
              <a:rPr kumimoji="1" lang="en-US" altLang="zh-CN" sz="1400" dirty="0" err="1">
                <a:solidFill>
                  <a:srgbClr val="000000"/>
                </a:solidFill>
              </a:rPr>
              <a:t>softmax</a:t>
            </a:r>
            <a:endParaRPr kumimoji="1" lang="zh-CN" alt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592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C7089-9A62-CCE9-986E-718E5F4A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6CBAADD-5FE5-51FE-A8BC-A09261F5E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衡量两个概率分布的差异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C71ADF-134C-6882-0123-915656E8A0C2}"/>
              </a:ext>
            </a:extLst>
          </p:cNvPr>
          <p:cNvSpPr txBox="1"/>
          <p:nvPr/>
        </p:nvSpPr>
        <p:spPr>
          <a:xfrm>
            <a:off x="6904383" y="6175512"/>
            <a:ext cx="2160079" cy="412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kumimoji="1" lang="en-US" altLang="zh-CN" dirty="0">
                <a:ea typeface="Microsoft YaHei" panose="020B0503020204020204" pitchFamily="34" charset="-122"/>
              </a:rPr>
              <a:t>Generated by DALL-E</a:t>
            </a:r>
            <a:endParaRPr kumimoji="1" lang="zh-CN" altLang="en-US" dirty="0"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BE9F044-9807-2A45-775E-6333A021F578}"/>
                  </a:ext>
                </a:extLst>
              </p:cNvPr>
              <p:cNvSpPr txBox="1"/>
              <p:nvPr/>
            </p:nvSpPr>
            <p:spPr>
              <a:xfrm>
                <a:off x="175845" y="912533"/>
                <a:ext cx="8546123" cy="47496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>
                  <a:lnSpc>
                    <a:spcPct val="150000"/>
                  </a:lnSpc>
                  <a:spcBef>
                    <a:spcPts val="1800"/>
                  </a:spcBef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为了训练模型，我们需要衡量预测概率分布 </a:t>
                </a:r>
                <a:r>
                  <a:rPr lang="en" altLang="zh-CN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和真实概率分布 </a:t>
                </a:r>
                <a:r>
                  <a:rPr lang="en" altLang="zh-CN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q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的差异。</a:t>
                </a:r>
                <a:endParaRPr lang="en-US" altLang="zh-CN" sz="20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285750" indent="-285750" algn="l">
                  <a:lnSpc>
                    <a:spcPct val="150000"/>
                  </a:lnSpc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en" altLang="zh-CN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KL </a:t>
                </a:r>
                <a:r>
                  <a:rPr lang="zh-CN" altLang="en-US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散度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（</a:t>
                </a:r>
                <a:r>
                  <a:rPr lang="en" altLang="zh-CN" sz="2000" b="0" i="0" dirty="0" err="1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Kullback-Leibler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divergence</a:t>
                </a:r>
                <a:r>
                  <a:rPr lang="zh-CN" altLang="e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）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是衡量两个概率分布之间差异的重要工具。定义为：</a:t>
                </a:r>
                <a:endParaRPr lang="en-US" altLang="zh-CN" sz="2000" b="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D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𝐾𝐿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(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𝒒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𝒑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𝐶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log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𝐶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log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𝐶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log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0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285750" indent="-285750" algn="l">
                  <a:lnSpc>
                    <a:spcPct val="150000"/>
                  </a:lnSpc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KL 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散度的意义在于：</a:t>
                </a:r>
                <a:r>
                  <a:rPr lang="zh-CN" altLang="en-US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它衡量了模型预测分布 </a:t>
                </a:r>
                <a:r>
                  <a:rPr lang="en" altLang="zh-CN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 </a:t>
                </a:r>
                <a:r>
                  <a:rPr lang="zh-CN" altLang="en-US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偏离真实分布 </a:t>
                </a:r>
                <a:r>
                  <a:rPr lang="en" altLang="zh-CN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q </a:t>
                </a:r>
                <a:r>
                  <a:rPr lang="zh-CN" altLang="en-US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的程度。</a:t>
                </a:r>
                <a:endParaRPr lang="en-US" altLang="zh-CN" sz="2000" b="1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后面这项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log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代表真实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分布 </a:t>
                </a:r>
                <a:r>
                  <a:rPr lang="en" altLang="zh-CN" sz="20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q</a:t>
                </a:r>
                <a:r>
                  <a:rPr lang="en" altLang="zh-CN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本身的负熵，与要学习的模型无关</a:t>
                </a:r>
                <a:endParaRPr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BE9F044-9807-2A45-775E-6333A021F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45" y="912533"/>
                <a:ext cx="8546123" cy="4749634"/>
              </a:xfrm>
              <a:prstGeom prst="rect">
                <a:avLst/>
              </a:prstGeom>
              <a:blipFill>
                <a:blip r:embed="rId2"/>
                <a:stretch>
                  <a:fillRect l="-593" r="-742" b="-240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4" descr="KL (Kullback-Leibler) Divergence (Part 2/4): Cross Entropy and KL Divergence">
            <a:extLst>
              <a:ext uri="{FF2B5EF4-FFF2-40B4-BE49-F238E27FC236}">
                <a16:creationId xmlns:a16="http://schemas.microsoft.com/office/drawing/2014/main" id="{7A3560EA-8D67-F7E7-D125-0C62B4FB18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8" t="50000" r="31667" b="9952"/>
          <a:stretch/>
        </p:blipFill>
        <p:spPr bwMode="auto">
          <a:xfrm>
            <a:off x="8307446" y="1991267"/>
            <a:ext cx="3901464" cy="1927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D012E5A-30ED-EC20-BEB1-C4FDC1DA5F2A}"/>
              </a:ext>
            </a:extLst>
          </p:cNvPr>
          <p:cNvSpPr txBox="1"/>
          <p:nvPr/>
        </p:nvSpPr>
        <p:spPr>
          <a:xfrm>
            <a:off x="9116088" y="2165811"/>
            <a:ext cx="1019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B6151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分布 </a:t>
            </a:r>
            <a:r>
              <a:rPr lang="en" altLang="zh-CN" b="1" i="0" dirty="0">
                <a:solidFill>
                  <a:srgbClr val="B6151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B83ACF0-2D76-1CD6-ED41-717B6045AF62}"/>
              </a:ext>
            </a:extLst>
          </p:cNvPr>
          <p:cNvSpPr txBox="1"/>
          <p:nvPr/>
        </p:nvSpPr>
        <p:spPr>
          <a:xfrm>
            <a:off x="10275556" y="2165811"/>
            <a:ext cx="973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B6151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分布 </a:t>
            </a:r>
            <a:r>
              <a:rPr lang="en" altLang="zh-CN" b="1" i="0" dirty="0">
                <a:solidFill>
                  <a:srgbClr val="B6151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q 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38D19B-2D64-CA11-9035-E6DC52B714C1}"/>
              </a:ext>
            </a:extLst>
          </p:cNvPr>
          <p:cNvSpPr/>
          <p:nvPr/>
        </p:nvSpPr>
        <p:spPr>
          <a:xfrm>
            <a:off x="9064462" y="3918857"/>
            <a:ext cx="2591471" cy="323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C00000"/>
                </a:solidFill>
              </a:rPr>
              <a:t>思考：这是距离吗？</a:t>
            </a:r>
          </a:p>
        </p:txBody>
      </p:sp>
    </p:spTree>
    <p:extLst>
      <p:ext uri="{BB962C8B-B14F-4D97-AF65-F5344CB8AC3E}">
        <p14:creationId xmlns:p14="http://schemas.microsoft.com/office/powerpoint/2010/main" val="2730639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71F5D-11B2-ADA4-35CE-0FBC3D6B9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142B45-71C6-3448-F672-445FA3513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衡量两个概率分布的差异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CF7C78E-145B-DC30-3BCC-7558641EFFB6}"/>
                  </a:ext>
                </a:extLst>
              </p:cNvPr>
              <p:cNvSpPr txBox="1"/>
              <p:nvPr/>
            </p:nvSpPr>
            <p:spPr>
              <a:xfrm>
                <a:off x="164124" y="757902"/>
                <a:ext cx="9366738" cy="4078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>
                  <a:lnSpc>
                    <a:spcPct val="150000"/>
                  </a:lnSpc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en" altLang="zh-CN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KL </a:t>
                </a:r>
                <a:r>
                  <a:rPr lang="zh-CN" altLang="en-US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散度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（</a:t>
                </a:r>
                <a:r>
                  <a:rPr lang="en" altLang="zh-CN" sz="2000" b="0" i="0" dirty="0" err="1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Kullback-Leibler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divergence</a:t>
                </a:r>
                <a:r>
                  <a:rPr lang="zh-CN" altLang="e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）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定义为：</a:t>
                </a:r>
                <a:endParaRPr lang="en-US" altLang="zh-CN" sz="2000" b="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Microsoft YaHei" panose="020B0503020204020204" pitchFamily="34" charset="-122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D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𝐾𝐿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(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𝒒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𝒑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𝐶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log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𝐶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log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𝐶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log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285750" indent="-28575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前面这项有一个常用的名字</a:t>
                </a:r>
                <a:r>
                  <a:rPr lang="zh-CN" altLang="en-US" sz="2000" b="1" i="0" dirty="0">
                    <a:solidFill>
                      <a:srgbClr val="C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交叉熵损失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，定义为</a:t>
                </a:r>
                <a:endParaRPr lang="en-US" altLang="zh-CN" sz="20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CrossEntropy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𝒒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 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𝒑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log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对于 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one-hot 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标签，只有</a:t>
                </a:r>
                <a:r>
                  <a:rPr lang="zh-CN" altLang="en-US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真实类别 </a:t>
                </a:r>
                <a:r>
                  <a:rPr lang="en" altLang="zh-CN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 </a:t>
                </a:r>
                <a:r>
                  <a:rPr lang="zh-CN" altLang="en-US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对应的项 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−</m:t>
                    </m:r>
                    <m:r>
                      <a:rPr lang="en-US" altLang="zh-CN" sz="2000" b="1" i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𝐥𝐨𝐠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" altLang="zh-CN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zh-CN" altLang="en-US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不为 </a:t>
                </a:r>
                <a:r>
                  <a:rPr lang="en-US" altLang="zh-CN" sz="2000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，其他项都是 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，交叉熵简化为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CrossEntropy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𝒒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𝒑</m:t>
                        </m:r>
                      </m:e>
                    </m:d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=−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log</m:t>
                        </m:r>
                        <m:r>
                          <a:rPr lang="en-US" altLang="zh-CN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 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𝑐</m:t>
                        </m:r>
                      </m:sub>
                    </m:sSub>
                  </m:oMath>
                </a14:m>
                <a:endParaRPr lang="en-US" altLang="zh-CN" sz="20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CF7C78E-145B-DC30-3BCC-7558641EF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24" y="757902"/>
                <a:ext cx="9366738" cy="4078937"/>
              </a:xfrm>
              <a:prstGeom prst="rect">
                <a:avLst/>
              </a:prstGeom>
              <a:blipFill>
                <a:blip r:embed="rId2"/>
                <a:stretch>
                  <a:fillRect l="-406" t="-8075" r="-3383" b="-105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4" descr="KL (Kullback-Leibler) Divergence (Part 2/4): Cross Entropy and KL Divergence">
            <a:extLst>
              <a:ext uri="{FF2B5EF4-FFF2-40B4-BE49-F238E27FC236}">
                <a16:creationId xmlns:a16="http://schemas.microsoft.com/office/drawing/2014/main" id="{C7D0E8FD-2D61-759B-CA84-AF074AD264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8" t="50000" r="31667" b="9952"/>
          <a:stretch/>
        </p:blipFill>
        <p:spPr bwMode="auto">
          <a:xfrm>
            <a:off x="8072986" y="1991267"/>
            <a:ext cx="3901464" cy="1927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D07A273-FF8B-2B52-252B-D6047B18E3BC}"/>
              </a:ext>
            </a:extLst>
          </p:cNvPr>
          <p:cNvSpPr txBox="1"/>
          <p:nvPr/>
        </p:nvSpPr>
        <p:spPr>
          <a:xfrm>
            <a:off x="9116088" y="2165811"/>
            <a:ext cx="1019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B6151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分布 </a:t>
            </a:r>
            <a:r>
              <a:rPr lang="en" altLang="zh-CN" b="1" i="0" dirty="0">
                <a:solidFill>
                  <a:srgbClr val="B6151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532440-9F3A-160D-47F1-3B19B6D71E56}"/>
              </a:ext>
            </a:extLst>
          </p:cNvPr>
          <p:cNvSpPr txBox="1"/>
          <p:nvPr/>
        </p:nvSpPr>
        <p:spPr>
          <a:xfrm>
            <a:off x="10275556" y="2165811"/>
            <a:ext cx="973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B6151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分布 </a:t>
            </a:r>
            <a:r>
              <a:rPr lang="en" altLang="zh-CN" b="1" i="0" dirty="0">
                <a:solidFill>
                  <a:srgbClr val="B6151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q 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DF9D1197-4FC3-DCCF-A008-6F2F298D712C}"/>
                  </a:ext>
                </a:extLst>
              </p:cNvPr>
              <p:cNvSpPr/>
              <p:nvPr/>
            </p:nvSpPr>
            <p:spPr>
              <a:xfrm>
                <a:off x="264048" y="4901084"/>
                <a:ext cx="10984523" cy="136466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交叉熵损失的直观意义是：</a:t>
                </a:r>
                <a:endParaRPr lang="en-US" altLang="zh-CN" sz="20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742950" lvl="1" indent="-285750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如果模型预测的概率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" altLang="zh-CN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​ </a:t>
                </a:r>
                <a:r>
                  <a:rPr lang="zh-CN" altLang="en-US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越接近 </a:t>
                </a:r>
                <a:r>
                  <a:rPr lang="en-US" altLang="zh-CN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</a:t>
                </a:r>
                <a:r>
                  <a:rPr lang="zh-CN" altLang="en-US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（正确类别的概率越高），损失越小</a:t>
                </a:r>
                <a:r>
                  <a:rPr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；</a:t>
                </a:r>
                <a:endParaRPr lang="en-US" altLang="zh-CN" sz="2000" b="1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742950" lvl="1" indent="-285750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反之，</a:t>
                </a:r>
                <a:r>
                  <a:rPr lang="zh-CN" altLang="en-US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如果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B61516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" altLang="zh-CN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​ </a:t>
                </a:r>
                <a:r>
                  <a:rPr lang="zh-CN" altLang="en-US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越接近 </a:t>
                </a:r>
                <a:r>
                  <a:rPr lang="en-US" altLang="zh-CN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</a:t>
                </a:r>
                <a:r>
                  <a:rPr lang="zh-CN" altLang="en-US" sz="2000" b="1" i="0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，损失越大。</a:t>
                </a:r>
                <a:endParaRPr lang="zh-CN" altLang="en-US" sz="20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DF9D1197-4FC3-DCCF-A008-6F2F298D71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48" y="4901084"/>
                <a:ext cx="10984523" cy="1364669"/>
              </a:xfrm>
              <a:prstGeom prst="roundRect">
                <a:avLst/>
              </a:prstGeom>
              <a:blipFill>
                <a:blip r:embed="rId4"/>
                <a:stretch>
                  <a:fillRect b="-55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7576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7B03B-EFF9-CC9B-54A2-CBE4F89C5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FD1CD1-DB20-BE32-86AF-F200BEBC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B6CB61A-3AB5-AF46-ACFE-DEC32337966F}"/>
              </a:ext>
            </a:extLst>
          </p:cNvPr>
          <p:cNvSpPr txBox="1"/>
          <p:nvPr/>
        </p:nvSpPr>
        <p:spPr>
          <a:xfrm>
            <a:off x="3855154" y="1399967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一、矩阵与向量基础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A67C69D-71DE-82E9-F3BE-1AECE5DF6159}"/>
              </a:ext>
            </a:extLst>
          </p:cNvPr>
          <p:cNvSpPr txBox="1"/>
          <p:nvPr/>
        </p:nvSpPr>
        <p:spPr>
          <a:xfrm>
            <a:off x="3855154" y="236207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二、概率统计基础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3D1B91E-2162-0C97-48B9-3A9A793B7D60}"/>
              </a:ext>
            </a:extLst>
          </p:cNvPr>
          <p:cNvSpPr txBox="1"/>
          <p:nvPr/>
        </p:nvSpPr>
        <p:spPr>
          <a:xfrm>
            <a:off x="3855154" y="3324179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三、优化算法基础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F66B63-1EBF-FB7E-ABDF-1FD418ECEE40}"/>
              </a:ext>
            </a:extLst>
          </p:cNvPr>
          <p:cNvSpPr txBox="1"/>
          <p:nvPr/>
        </p:nvSpPr>
        <p:spPr>
          <a:xfrm>
            <a:off x="3855153" y="4286286"/>
            <a:ext cx="2427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四、内容小结</a:t>
            </a:r>
          </a:p>
        </p:txBody>
      </p:sp>
    </p:spTree>
    <p:extLst>
      <p:ext uri="{BB962C8B-B14F-4D97-AF65-F5344CB8AC3E}">
        <p14:creationId xmlns:p14="http://schemas.microsoft.com/office/powerpoint/2010/main" val="3099912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5610D-9745-FBFE-481A-AE4DADA62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59E5383-E537-E421-39BC-6B6BA46D5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损失函数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D6AD865-7A7A-B71C-CBFC-BCAB5186006A}"/>
                  </a:ext>
                </a:extLst>
              </p:cNvPr>
              <p:cNvSpPr txBox="1"/>
              <p:nvPr/>
            </p:nvSpPr>
            <p:spPr>
              <a:xfrm>
                <a:off x="247870" y="1025299"/>
                <a:ext cx="11009940" cy="55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l">
                  <a:lnSpc>
                    <a:spcPct val="125000"/>
                  </a:lnSpc>
                  <a:buFont typeface="Wingdings" pitchFamily="2" charset="2"/>
                  <a:buChar char="p"/>
                </a:pPr>
                <a:r>
                  <a:rPr kumimoji="1"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𝑥</m:t>
                        </m:r>
                      </m:e>
                    </m:d>
                    <m:r>
                      <a:rPr kumimoji="1" lang="zh-CN" alt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  <m:r>
                      <a:rPr kumimoji="1"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是一个</m:t>
                    </m:r>
                    <m:r>
                      <a:rPr kumimoji="1" lang="zh-CN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机器学习</m:t>
                    </m:r>
                    <m:r>
                      <a:rPr kumimoji="1"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模型</m:t>
                    </m:r>
                    <m:r>
                      <a:rPr kumimoji="1" lang="zh-CN" alt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，</m:t>
                    </m:r>
                    <m:r>
                      <a:rPr kumimoji="1"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𝑆</m:t>
                    </m:r>
                    <m:r>
                      <a:rPr kumimoji="1"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 </m:t>
                    </m:r>
                    <m:r>
                      <m:rPr>
                        <m:lit/>
                      </m:rPr>
                      <a:rPr kumimoji="1"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{</m:t>
                    </m:r>
                    <m:sSub>
                      <m:sSubPr>
                        <m:ctrlP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kumimoji="1"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𝑦</m:t>
                        </m:r>
                      </m:e>
                      <m:sub>
                        <m: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kumimoji="1"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)</m:t>
                    </m:r>
                    <m:sSubSup>
                      <m:sSubSupPr>
                        <m:ctrlP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lit/>
                          </m:rP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}</m:t>
                        </m:r>
                      </m:e>
                      <m:sub>
                        <m: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  <m: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=1</m:t>
                        </m:r>
                      </m:sub>
                      <m:sup>
                        <m:r>
                          <a:rPr kumimoji="1"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kumimoji="1"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  <m:r>
                      <a:rPr kumimoji="1"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是</m:t>
                    </m:r>
                    <m:r>
                      <a:rPr kumimoji="1" lang="zh-CN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采样</m:t>
                    </m:r>
                    <m:r>
                      <a:rPr kumimoji="1"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的</m:t>
                    </m:r>
                  </m:oMath>
                </a14:m>
                <a:r>
                  <a:rPr kumimoji="1"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数据集，常用损失函数如下</a:t>
                </a:r>
                <a:r>
                  <a:rPr kumimoji="1" lang="en-US" altLang="zh-CN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:</a:t>
                </a:r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𝐿</m:t>
                      </m:r>
                      <m:d>
                        <m:dPr>
                          <m:ctrl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𝜃</m:t>
                          </m:r>
                        </m:e>
                      </m:d>
                      <m:r>
                        <a:rPr kumimoji="1"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ℓ(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285750" indent="-285750" algn="l">
                  <a:lnSpc>
                    <a:spcPct val="125000"/>
                  </a:lnSpc>
                  <a:buFont typeface="Wingdings" pitchFamily="2" charset="2"/>
                  <a:buChar char="p"/>
                </a:pPr>
                <a:r>
                  <a:rPr kumimoji="1"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对于回归任务，我们常用</a:t>
                </a:r>
                <a:r>
                  <a:rPr kumimoji="1"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均方误差（</a:t>
                </a:r>
                <a:r>
                  <a:rPr kumimoji="1" lang="en-US" altLang="zh-CN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mean square error</a:t>
                </a:r>
                <a:r>
                  <a:rPr kumimoji="1"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kumimoji="1" lang="en-US" altLang="zh-CN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MSE</a:t>
                </a:r>
                <a:r>
                  <a:rPr kumimoji="1"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）</a:t>
                </a:r>
                <a:r>
                  <a:rPr kumimoji="1"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作为损失函数：</a:t>
                </a:r>
                <a:endParaRPr kumimoji="1"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25000"/>
                  </a:lnSpc>
                </a:pPr>
                <a:endParaRPr kumimoji="1"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𝐿</m:t>
                      </m:r>
                      <m:d>
                        <m:dPr>
                          <m:ctrl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𝜃</m:t>
                          </m:r>
                        </m:e>
                      </m:d>
                      <m:r>
                        <a:rPr kumimoji="1"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ℓ(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)</m:t>
                          </m:r>
                        </m:e>
                      </m:nary>
                      <m:r>
                        <a:rPr kumimoji="1" lang="en-US" altLang="zh-CN" sz="2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kumimoji="1"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1"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Microsoft YaHei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Microsoft YaHei" panose="020B0503020204020204" pitchFamily="34" charset="-122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Microsoft YaHei" panose="020B0503020204020204" pitchFamily="34" charset="-12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1"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lnSpc>
                    <a:spcPct val="125000"/>
                  </a:lnSpc>
                </a:pPr>
                <a:endParaRPr kumimoji="1"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285750" indent="-285750" algn="l">
                  <a:lnSpc>
                    <a:spcPct val="125000"/>
                  </a:lnSpc>
                  <a:buFont typeface="Wingdings" pitchFamily="2" charset="2"/>
                  <a:buChar char="p"/>
                </a:pPr>
                <a:r>
                  <a:rPr kumimoji="1"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对于分类任务（学习一个概率分布），我们常用</a:t>
                </a:r>
                <a:r>
                  <a:rPr kumimoji="1"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交叉熵（</a:t>
                </a:r>
                <a:r>
                  <a:rPr kumimoji="1" lang="en-US" altLang="zh-CN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cross</a:t>
                </a:r>
                <a:r>
                  <a:rPr kumimoji="1"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en-US" altLang="zh-CN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entropy</a:t>
                </a:r>
                <a:r>
                  <a:rPr kumimoji="1"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）</a:t>
                </a:r>
                <a:r>
                  <a:rPr kumimoji="1"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作为损失函数：</a:t>
                </a:r>
                <a:endParaRPr kumimoji="1"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𝐿</m:t>
                      </m:r>
                      <m:d>
                        <m:dPr>
                          <m:ctrlPr>
                            <a:rPr kumimoji="1"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𝜽</m:t>
                          </m:r>
                        </m:e>
                      </m:d>
                      <m:r>
                        <a:rPr kumimoji="1"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ℓ(</m:t>
                          </m:r>
                          <m:sSub>
                            <m:sSubPr>
                              <m:ctrlPr>
                                <a:rPr kumimoji="1"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𝒇</m:t>
                              </m:r>
                            </m:e>
                            <m:sub>
                              <m:r>
                                <a:rPr kumimoji="1"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1"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𝒚</m:t>
                              </m:r>
                            </m:e>
                            <m:sub>
                              <m:r>
                                <a:rPr kumimoji="1"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)</m:t>
                          </m:r>
                        </m:e>
                      </m:nary>
                      <m:r>
                        <a:rPr kumimoji="1" lang="en-US" altLang="zh-CN" sz="2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CrossEntropy</m:t>
                          </m:r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( </m:t>
                          </m:r>
                          <m:sSub>
                            <m:sSubPr>
                              <m:ctrlPr>
                                <a:rPr kumimoji="1"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𝒚</m:t>
                              </m:r>
                            </m:e>
                            <m:sub>
                              <m:r>
                                <a:rPr kumimoji="1"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zh-CN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𝒇</m:t>
                              </m:r>
                            </m:e>
                            <m:sub>
                              <m:r>
                                <a:rPr kumimoji="1" lang="en-US" altLang="zh-CN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zh-CN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kumimoji="1" lang="en-US" altLang="zh-CN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)</m:t>
                          </m:r>
                        </m:e>
                      </m:nary>
                      <m:r>
                        <a:rPr kumimoji="1"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=−</m:t>
                      </m:r>
                      <m:f>
                        <m:fPr>
                          <m:ctrl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𝑐</m:t>
                              </m:r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𝐶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𝑖</m:t>
                                  </m:r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, </m:t>
                                  </m:r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log</m:t>
                          </m:r>
                          <m:sSub>
                            <m:sSubPr>
                              <m:ctrlP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kumimoji="1"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zh-CN" sz="20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Microsoft YaHei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20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Microsoft YaHei" panose="020B0503020204020204" pitchFamily="34" charset="-122"/>
                                            </a:rPr>
                                            <m:t>𝒇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20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Microsoft YaHei" panose="020B0503020204020204" pitchFamily="34" charset="-122"/>
                                            </a:rPr>
                                            <m:t>𝜽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kumimoji="1" lang="en-US" altLang="zh-CN" sz="20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Microsoft YaHei" panose="020B0503020204020204" pitchFamily="34" charset="-122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US" altLang="zh-CN" sz="2000" b="1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Microsoft YaHei" panose="020B0503020204020204" pitchFamily="34" charset="-12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US" altLang="zh-CN" sz="2000" b="1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Microsoft YaHei" panose="020B0503020204020204" pitchFamily="34" charset="-122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US" altLang="zh-CN" sz="2000" b="1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Microsoft YaHei" panose="020B0503020204020204" pitchFamily="34" charset="-122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  <m:sub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 </m:t>
                              </m:r>
                            </m:sub>
                          </m:sSub>
                          <m:r>
                            <a:rPr kumimoji="1"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lnSpc>
                    <a:spcPct val="125000"/>
                  </a:lnSpc>
                </a:pPr>
                <a:endParaRPr kumimoji="1"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D6AD865-7A7A-B71C-CBFC-BCAB51860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70" y="1025299"/>
                <a:ext cx="11009940" cy="5593647"/>
              </a:xfrm>
              <a:prstGeom prst="rect">
                <a:avLst/>
              </a:prstGeom>
              <a:blipFill>
                <a:blip r:embed="rId2"/>
                <a:stretch>
                  <a:fillRect l="-461" t="-6787" b="-18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636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82E3A-9C5E-D75B-4988-CA559429F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3D9FA70C-27E8-C284-3356-E518B2EC2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993" y="1299263"/>
            <a:ext cx="5930343" cy="763985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927CA340-4F48-A90F-4E34-021BF11F0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损失</a:t>
            </a:r>
            <a:r>
              <a:rPr lang="zh-CN" altLang="en-US" dirty="0"/>
              <a:t>函数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900FAA-D382-25C0-07F1-8BF851592F50}"/>
              </a:ext>
            </a:extLst>
          </p:cNvPr>
          <p:cNvSpPr txBox="1"/>
          <p:nvPr/>
        </p:nvSpPr>
        <p:spPr>
          <a:xfrm>
            <a:off x="677770" y="892773"/>
            <a:ext cx="11132988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B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交叉熵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cross-entropy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），常用于分类任务：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7070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537E56E-4172-8F68-7EE0-6CF290A54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513" y="2156382"/>
            <a:ext cx="8278287" cy="413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4747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3007-125B-C41F-A814-071AF641C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6BA0162-2511-A9CA-DB4D-458686FC8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Softmax</a:t>
            </a:r>
            <a:r>
              <a:rPr lang="en-US" altLang="zh-CN" dirty="0"/>
              <a:t>,</a:t>
            </a:r>
            <a:r>
              <a:rPr lang="zh-CN" altLang="en-US" dirty="0"/>
              <a:t>困惑度（</a:t>
            </a:r>
            <a:r>
              <a:rPr lang="en-US" altLang="zh-CN" dirty="0"/>
              <a:t>Perplexity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4E18A90-F2CB-49A4-29A5-8A6EE52CD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257" y="980683"/>
            <a:ext cx="9935633" cy="20998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C0CEDF8-DE1F-F2C2-C89D-C9FA8D4CA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843" y="3382433"/>
            <a:ext cx="9943668" cy="235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030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梯度下降法（</a:t>
            </a:r>
            <a:r>
              <a:rPr lang="en-US" altLang="zh-CN" dirty="0"/>
              <a:t>Gradient Descent, GD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80999" y="1012121"/>
                <a:ext cx="11258551" cy="2797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梯度下降法是最基本的优化算法。其以负梯度方向为搜索方向，以固定的步长（即学习率）来更新参数。具体算法为：</a:t>
                </a:r>
                <a:b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𝑔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∇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𝜃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−1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−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𝜂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𝑔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其中，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70707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𝜂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是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学习率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（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learning rate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，或叫步长，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step size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）。</a:t>
                </a: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" y="1012121"/>
                <a:ext cx="11258551" cy="2797048"/>
              </a:xfrm>
              <a:prstGeom prst="rect">
                <a:avLst/>
              </a:prstGeom>
              <a:blipFill>
                <a:blip r:embed="rId2"/>
                <a:stretch>
                  <a:fillRect l="-788" b="-45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l="32727" r="33814"/>
          <a:stretch>
            <a:fillRect/>
          </a:stretch>
        </p:blipFill>
        <p:spPr>
          <a:xfrm>
            <a:off x="7048500" y="3879019"/>
            <a:ext cx="2540000" cy="239769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514" y="3984041"/>
            <a:ext cx="2351592" cy="228104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25EBB8D-A4E2-2EBE-EAA7-4D09886A61EE}"/>
              </a:ext>
            </a:extLst>
          </p:cNvPr>
          <p:cNvSpPr txBox="1"/>
          <p:nvPr/>
        </p:nvSpPr>
        <p:spPr>
          <a:xfrm>
            <a:off x="8195621" y="2306781"/>
            <a:ext cx="3443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思考：为什么选负梯度方向？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4353A-90AA-E771-4E7C-A26F6CB78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梯度下降法（</a:t>
            </a:r>
            <a:r>
              <a:rPr lang="en-US" altLang="zh-CN" dirty="0"/>
              <a:t>Gradient Descent, GD</a:t>
            </a:r>
            <a:r>
              <a:rPr lang="zh-CN" altLang="en-US" dirty="0"/>
              <a:t>）</a:t>
            </a:r>
          </a:p>
        </p:txBody>
      </p:sp>
      <p:sp>
        <p:nvSpPr>
          <p:cNvPr id="4" name="弧形 3">
            <a:extLst>
              <a:ext uri="{FF2B5EF4-FFF2-40B4-BE49-F238E27FC236}">
                <a16:creationId xmlns:a16="http://schemas.microsoft.com/office/drawing/2014/main" id="{72FBF1FF-AA50-2AF5-5735-BC8A6DBBBD7C}"/>
              </a:ext>
            </a:extLst>
          </p:cNvPr>
          <p:cNvSpPr/>
          <p:nvPr/>
        </p:nvSpPr>
        <p:spPr>
          <a:xfrm rot="7657152">
            <a:off x="394856" y="17398"/>
            <a:ext cx="4296640" cy="1927514"/>
          </a:xfrm>
          <a:prstGeom prst="arc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61616"/>
              </a:solidFill>
              <a:effectLst/>
              <a:uLnTx/>
              <a:uFillTx/>
              <a:latin typeface="Book Antiqua"/>
              <a:ea typeface="黑体"/>
              <a:cs typeface="+mn-cs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61903A6-B522-4499-7632-A12356CF7A16}"/>
              </a:ext>
            </a:extLst>
          </p:cNvPr>
          <p:cNvCxnSpPr/>
          <p:nvPr/>
        </p:nvCxnSpPr>
        <p:spPr>
          <a:xfrm flipV="1">
            <a:off x="1226127" y="1870364"/>
            <a:ext cx="2275609" cy="1231322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08926B80-8250-D4E2-A18C-BCFA917F9E2F}"/>
              </a:ext>
            </a:extLst>
          </p:cNvPr>
          <p:cNvSpPr txBox="1"/>
          <p:nvPr/>
        </p:nvSpPr>
        <p:spPr>
          <a:xfrm>
            <a:off x="3714750" y="1558636"/>
            <a:ext cx="4203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线性化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B91CFAD-2C6B-DBC0-B7FD-DF1237BD9A2E}"/>
                  </a:ext>
                </a:extLst>
              </p:cNvPr>
              <p:cNvSpPr txBox="1"/>
              <p:nvPr/>
            </p:nvSpPr>
            <p:spPr>
              <a:xfrm>
                <a:off x="3501736" y="2403426"/>
                <a:ext cx="561628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</m:d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𝑅</m:t>
                      </m:r>
                      <m:d>
                        <m:dPr>
                          <m:ctrlP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0" lang="en-US" altLang="zh-CN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0" lang="en-US" altLang="zh-CN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∇</m:t>
                      </m:r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0" lang="en-US" altLang="zh-CN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⋅(</m:t>
                      </m:r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𝜃</m:t>
                      </m:r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B91CFAD-2C6B-DBC0-B7FD-DF1237BD9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736" y="2403426"/>
                <a:ext cx="5616287" cy="523220"/>
              </a:xfrm>
              <a:prstGeom prst="rect">
                <a:avLst/>
              </a:prstGeom>
              <a:blipFill>
                <a:blip r:embed="rId2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BA80C41-5F98-6D10-E07C-49B4F6D3DB36}"/>
                  </a:ext>
                </a:extLst>
              </p:cNvPr>
              <p:cNvSpPr txBox="1"/>
              <p:nvPr/>
            </p:nvSpPr>
            <p:spPr>
              <a:xfrm>
                <a:off x="3562782" y="4169125"/>
                <a:ext cx="7140533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C2D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+mn-cs"/>
                  </a:rPr>
                  <a:t>两个向量内积，什么时候最小？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zh-CN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∇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⋅</m:t>
                      </m:r>
                      <m:r>
                        <m:rPr>
                          <m:sty m:val="p"/>
                        </m:rPr>
                        <a:rPr kumimoji="0" lang="en-US" altLang="zh-CN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Δ</m:t>
                      </m:r>
                      <m:r>
                        <a:rPr kumimoji="0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𝜃</m:t>
                      </m:r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BA80C41-5F98-6D10-E07C-49B4F6D3D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782" y="4169125"/>
                <a:ext cx="7140533" cy="1200329"/>
              </a:xfrm>
              <a:prstGeom prst="rect">
                <a:avLst/>
              </a:prstGeom>
              <a:blipFill>
                <a:blip r:embed="rId3"/>
                <a:stretch>
                  <a:fillRect l="-1243" t="-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EDB2CEB-5E46-15CC-8B43-47D1B73592BE}"/>
                  </a:ext>
                </a:extLst>
              </p:cNvPr>
              <p:cNvSpPr txBox="1"/>
              <p:nvPr/>
            </p:nvSpPr>
            <p:spPr>
              <a:xfrm>
                <a:off x="3562781" y="3228875"/>
                <a:ext cx="714053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zh-CN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Δ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𝜃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𝜃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EDB2CEB-5E46-15CC-8B43-47D1B7359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781" y="3228875"/>
                <a:ext cx="7140533" cy="461665"/>
              </a:xfrm>
              <a:prstGeom prst="rect">
                <a:avLst/>
              </a:prstGeom>
              <a:blipFill>
                <a:blip r:embed="rId6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550C6AA2-A37D-DDA1-CA32-8DF7B067796C}"/>
              </a:ext>
            </a:extLst>
          </p:cNvPr>
          <p:cNvSpPr txBox="1"/>
          <p:nvPr/>
        </p:nvSpPr>
        <p:spPr>
          <a:xfrm>
            <a:off x="3647209" y="5393542"/>
            <a:ext cx="4203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方向相反！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B61616"/>
              </a:solidFill>
              <a:effectLst/>
              <a:uLnTx/>
              <a:uFillTx/>
              <a:latin typeface="Book Antiqua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43609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661C4-5CA7-5A68-9936-669801DDB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B24FCC9-6AF8-1AFF-7810-3CC7CCB31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梯度下降优化算法（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Gradient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Descent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GD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D2BBA21-E233-D74F-5743-EF2108BA7231}"/>
                  </a:ext>
                </a:extLst>
              </p:cNvPr>
              <p:cNvSpPr txBox="1"/>
              <p:nvPr/>
            </p:nvSpPr>
            <p:spPr>
              <a:xfrm>
                <a:off x="229442" y="2835466"/>
                <a:ext cx="6096000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1200"/>
                  </a:spcAft>
                </a:pP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公式：</a:t>
                </a:r>
                <a:endParaRPr lang="zh-CN" altLang="en-US" sz="28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b="0" i="0" dirty="0">
                  <a:solidFill>
                    <a:srgbClr val="C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spcAft>
                    <a:spcPts val="1200"/>
                  </a:spcAft>
                </a:pP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其中：</a:t>
                </a:r>
              </a:p>
              <a:p>
                <a:pPr marL="285750" indent="-28575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el-GR" altLang="zh-CN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θ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是需要优化的参数（如</a:t>
                </a:r>
                <a:r>
                  <a:rPr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权重参数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en" altLang="zh-CN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W</a:t>
                </a:r>
                <a:r>
                  <a:rPr lang="en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​</a:t>
                </a:r>
                <a:r>
                  <a:rPr lang="zh-CN" altLang="e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、</a:t>
                </a:r>
                <a:r>
                  <a:rPr lang="en" altLang="zh-CN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</a:t>
                </a:r>
                <a:r>
                  <a:rPr lang="en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​ 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等）</a:t>
                </a:r>
              </a:p>
              <a:p>
                <a:pPr marL="285750" indent="-28575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el-GR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η&gt;0 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是学习率，控制每次更新的步长</a:t>
                </a:r>
              </a:p>
              <a:p>
                <a:pPr marL="285750" indent="-285750">
                  <a:spcAft>
                    <a:spcPts val="1200"/>
                  </a:spcAft>
                  <a:buFont typeface="Wingdings" pitchFamily="2" charset="2"/>
                  <a:buChar char="p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是损失函数对参数 </a:t>
                </a:r>
                <a:r>
                  <a:rPr lang="el-GR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θ 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的梯度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D2BBA21-E233-D74F-5743-EF2108BA7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42" y="2835466"/>
                <a:ext cx="6096000" cy="2677656"/>
              </a:xfrm>
              <a:prstGeom prst="rect">
                <a:avLst/>
              </a:prstGeom>
              <a:blipFill>
                <a:blip r:embed="rId2"/>
                <a:stretch>
                  <a:fillRect l="-1040" t="-948" b="-28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27105C6-7E5A-1BC8-EEFC-7F398BF2F931}"/>
                  </a:ext>
                </a:extLst>
              </p:cNvPr>
              <p:cNvSpPr txBox="1"/>
              <p:nvPr/>
            </p:nvSpPr>
            <p:spPr>
              <a:xfrm>
                <a:off x="229442" y="881617"/>
                <a:ext cx="11733115" cy="1576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l">
                  <a:lnSpc>
                    <a:spcPct val="150000"/>
                  </a:lnSpc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优化的目标是最小化损失函数 </a:t>
                </a:r>
                <a:r>
                  <a:rPr lang="en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L</a:t>
                </a:r>
                <a:r>
                  <a:rPr lang="zh-CN" altLang="e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通过调整模型参数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CN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来实现</a:t>
                </a:r>
              </a:p>
              <a:p>
                <a:pPr marL="342900" indent="-342900" algn="l">
                  <a:lnSpc>
                    <a:spcPct val="150000"/>
                  </a:lnSpc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zh-CN" altLang="en-US" sz="2000" b="1" i="0" dirty="0">
                    <a:solidFill>
                      <a:srgbClr val="C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梯度下降</a:t>
                </a: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的核心思想是沿着损失函数梯度的反方向更新参数，因为梯度的方向是损失函数值增长最快的方向，因此反方向是下降最快的方向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27105C6-7E5A-1BC8-EEFC-7F398BF2F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42" y="881617"/>
                <a:ext cx="11733115" cy="1576778"/>
              </a:xfrm>
              <a:prstGeom prst="rect">
                <a:avLst/>
              </a:prstGeom>
              <a:blipFill>
                <a:blip r:embed="rId3"/>
                <a:stretch>
                  <a:fillRect l="-541" r="-325" b="-64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 descr="Gradient Descent - Gradient descent - Product Manager's Artificial  Intelligence Learning Library">
            <a:extLst>
              <a:ext uri="{FF2B5EF4-FFF2-40B4-BE49-F238E27FC236}">
                <a16:creationId xmlns:a16="http://schemas.microsoft.com/office/drawing/2014/main" id="{47CBD90B-ECF7-72F5-FE66-6F70E2865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789" y="2034301"/>
            <a:ext cx="3511074" cy="196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Setting the learning rate of your neural network.">
            <a:extLst>
              <a:ext uri="{FF2B5EF4-FFF2-40B4-BE49-F238E27FC236}">
                <a16:creationId xmlns:a16="http://schemas.microsoft.com/office/drawing/2014/main" id="{F328555A-43A0-0ADE-FD59-078614A406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883"/>
          <a:stretch/>
        </p:blipFill>
        <p:spPr bwMode="auto">
          <a:xfrm>
            <a:off x="5645426" y="4156226"/>
            <a:ext cx="6165332" cy="1700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71E7091-7BBE-9A94-FC8F-8C0E77506ACF}"/>
              </a:ext>
            </a:extLst>
          </p:cNvPr>
          <p:cNvSpPr/>
          <p:nvPr/>
        </p:nvSpPr>
        <p:spPr>
          <a:xfrm>
            <a:off x="6988499" y="5906044"/>
            <a:ext cx="3833226" cy="323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i="0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学习率</a:t>
            </a:r>
            <a:r>
              <a:rPr lang="zh-CN" altLang="en-US" sz="1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大小</a:t>
            </a:r>
            <a:r>
              <a:rPr lang="zh-CN" altLang="en-US" sz="1600" b="1" i="0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对优化的影响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743E8A3-EEE9-82A1-EDC0-B4962AB4556E}"/>
              </a:ext>
            </a:extLst>
          </p:cNvPr>
          <p:cNvSpPr txBox="1"/>
          <p:nvPr/>
        </p:nvSpPr>
        <p:spPr>
          <a:xfrm>
            <a:off x="235527" y="6414655"/>
            <a:ext cx="9757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chemeClr val="bg1"/>
                </a:solidFill>
              </a:rPr>
              <a:t>图片来源：</a:t>
            </a:r>
            <a:r>
              <a:rPr kumimoji="1" lang="en" altLang="zh-CN" sz="14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https://easyai.tech/en/ai-definition/gradient-descent/</a:t>
            </a:r>
            <a:r>
              <a:rPr kumimoji="1" lang="zh-CN" altLang="en-US" sz="1400" dirty="0">
                <a:solidFill>
                  <a:schemeClr val="bg1"/>
                </a:solidFill>
              </a:rPr>
              <a:t>、</a:t>
            </a:r>
            <a:r>
              <a:rPr kumimoji="1" lang="en" altLang="zh-CN" sz="1400" dirty="0">
                <a:solidFill>
                  <a:schemeClr val="bg1"/>
                </a:solidFill>
              </a:rPr>
              <a:t>https://</a:t>
            </a:r>
            <a:r>
              <a:rPr kumimoji="1" lang="en" altLang="zh-CN" sz="1400" dirty="0" err="1">
                <a:solidFill>
                  <a:schemeClr val="bg1"/>
                </a:solidFill>
              </a:rPr>
              <a:t>www.jeremyjordan.me</a:t>
            </a:r>
            <a:r>
              <a:rPr kumimoji="1" lang="en" altLang="zh-CN" sz="1400" dirty="0">
                <a:solidFill>
                  <a:schemeClr val="bg1"/>
                </a:solidFill>
              </a:rPr>
              <a:t>/</a:t>
            </a:r>
            <a:r>
              <a:rPr kumimoji="1" lang="en" altLang="zh-CN" sz="1400" dirty="0" err="1">
                <a:solidFill>
                  <a:schemeClr val="bg1"/>
                </a:solidFill>
              </a:rPr>
              <a:t>nn</a:t>
            </a:r>
            <a:r>
              <a:rPr kumimoji="1" lang="en" altLang="zh-CN" sz="1400" dirty="0">
                <a:solidFill>
                  <a:schemeClr val="bg1"/>
                </a:solidFill>
              </a:rPr>
              <a:t>-learning-rate/</a:t>
            </a:r>
            <a:endParaRPr kumimoji="1" lang="zh-CN" altLang="en-US" sz="1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A713EE9-CB8D-6513-A356-AF79A3BC0146}"/>
                  </a:ext>
                </a:extLst>
              </p:cNvPr>
              <p:cNvSpPr/>
              <p:nvPr/>
            </p:nvSpPr>
            <p:spPr>
              <a:xfrm>
                <a:off x="4993418" y="2701774"/>
                <a:ext cx="3436113" cy="76313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550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思考：要是样本太多，每次计算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需要很多时间，怎么办？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A713EE9-CB8D-6513-A356-AF79A3BC01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418" y="2701774"/>
                <a:ext cx="3436113" cy="7631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550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8537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295EC-EF71-01D2-6F17-E2ABC9727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04A470B-0CD5-61D0-168C-5783C974C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随机梯度下降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en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Stochastic Gradient Descent</a:t>
            </a:r>
            <a:r>
              <a:rPr kumimoji="1" lang="en-US" altLang="zh-CN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kumimoji="1" lang="en" altLang="zh-CN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SGD</a:t>
            </a:r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AC5BE41-2215-E5D6-9763-87F5A6C2CC7C}"/>
                  </a:ext>
                </a:extLst>
              </p:cNvPr>
              <p:cNvSpPr txBox="1"/>
              <p:nvPr/>
            </p:nvSpPr>
            <p:spPr>
              <a:xfrm>
                <a:off x="381242" y="797659"/>
                <a:ext cx="10597662" cy="26198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kumimoji="1" lang="zh-CN" altLang="en-US" sz="18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在现代深度学习任务中，采样的数据点 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n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可能很大，例如数百万甚至数十亿</a:t>
                </a:r>
                <a:endParaRPr kumimoji="1" lang="en-US" altLang="zh-CN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减少计算梯度开销：</a:t>
                </a:r>
                <a:r>
                  <a:rPr kumimoji="1" lang="zh-CN" altLang="en-US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随机梯度下降（</a:t>
                </a:r>
                <a:r>
                  <a:rPr kumimoji="1" lang="en" altLang="zh-CN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Stochastic Gradient Descent</a:t>
                </a:r>
                <a:r>
                  <a:rPr kumimoji="1" lang="zh-CN" altLang="en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kumimoji="1" lang="en" altLang="zh-CN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SGD</a:t>
                </a:r>
                <a:r>
                  <a:rPr kumimoji="1" lang="zh-CN" altLang="en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）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在每次参数更新时只使用一个样本或随机取一个小批量样本（</a:t>
                </a:r>
                <a:r>
                  <a:rPr kumimoji="1" lang="en" altLang="zh-C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mini-batch</a:t>
                </a:r>
                <a:r>
                  <a:rPr kumimoji="1" lang="zh-CN" altLang="e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）</a:t>
                </a:r>
                <a:endParaRPr kumimoji="1" lang="en-US" altLang="zh-CN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设</a:t>
                </a:r>
                <a:r>
                  <a:rPr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一个批量的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损失函数为</a:t>
                </a:r>
                <a:endParaRPr kumimoji="1" lang="en-US" altLang="zh-CN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𝜃</m:t>
                          </m:r>
                        </m:e>
                      </m:d>
                      <m:r>
                        <a:rPr kumimoji="1"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naryPr>
                        <m:sub>
                          <m: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𝑖</m:t>
                          </m:r>
                          <m: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𝐵</m:t>
                          </m:r>
                        </m:sup>
                        <m:e>
                          <m: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ℓ</m:t>
                          </m:r>
                          <m:d>
                            <m:dPr>
                              <m:ctrlPr>
                                <a:rPr kumimoji="1"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1"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zh-CN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zh-CN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kumimoji="1"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kumimoji="1"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1" lang="en-US" altLang="zh-CN" sz="18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AC5BE41-2215-E5D6-9763-87F5A6C2C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797659"/>
                <a:ext cx="10597662" cy="2619820"/>
              </a:xfrm>
              <a:prstGeom prst="rect">
                <a:avLst/>
              </a:prstGeom>
              <a:blipFill>
                <a:blip r:embed="rId2"/>
                <a:stretch>
                  <a:fillRect l="-479" r="-359" b="-548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5051BEA-680C-BBE1-0A7B-7D7D9FA9EC15}"/>
                  </a:ext>
                </a:extLst>
              </p:cNvPr>
              <p:cNvSpPr txBox="1"/>
              <p:nvPr/>
            </p:nvSpPr>
            <p:spPr>
              <a:xfrm>
                <a:off x="568811" y="3429000"/>
                <a:ext cx="6096000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1200"/>
                  </a:spcAft>
                </a:pP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随机梯度下降：</a:t>
                </a:r>
              </a:p>
              <a:p>
                <a:pPr algn="l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b="0" i="0" dirty="0">
                  <a:solidFill>
                    <a:srgbClr val="C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spcAft>
                    <a:spcPts val="1200"/>
                  </a:spcAft>
                </a:pP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其中：</a:t>
                </a:r>
              </a:p>
              <a:p>
                <a:pPr marL="285750" indent="-28575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el-GR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θ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是需要优化的参数（如</a:t>
                </a:r>
                <a:r>
                  <a:rPr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权重参数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en" altLang="zh-CN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W</a:t>
                </a:r>
                <a:r>
                  <a:rPr lang="en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​</a:t>
                </a:r>
                <a:r>
                  <a:rPr lang="zh-CN" altLang="e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、</a:t>
                </a:r>
                <a:r>
                  <a:rPr lang="en" altLang="zh-CN" b="1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</a:t>
                </a:r>
                <a:r>
                  <a:rPr lang="en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​ 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等）</a:t>
                </a:r>
              </a:p>
              <a:p>
                <a:pPr marL="285750" indent="-285750" algn="l">
                  <a:spcAft>
                    <a:spcPts val="1200"/>
                  </a:spcAft>
                  <a:buFont typeface="Wingdings" pitchFamily="2" charset="2"/>
                  <a:buChar char="p"/>
                </a:pPr>
                <a:r>
                  <a:rPr lang="el-GR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η&gt;0 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是学习率，控制每次更新的步长</a:t>
                </a:r>
              </a:p>
              <a:p>
                <a:pPr marL="285750" indent="-285750">
                  <a:spcAft>
                    <a:spcPts val="1200"/>
                  </a:spcAft>
                  <a:buFont typeface="Wingdings" pitchFamily="2" charset="2"/>
                  <a:buChar char="p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</a:t>
                </a:r>
                <a:r>
                  <a:rPr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一个批量的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损失函数对参数 </a:t>
                </a:r>
                <a:r>
                  <a:rPr lang="el-GR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θ 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的梯度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5051BEA-680C-BBE1-0A7B-7D7D9FA9E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11" y="3429000"/>
                <a:ext cx="6096000" cy="2677656"/>
              </a:xfrm>
              <a:prstGeom prst="rect">
                <a:avLst/>
              </a:prstGeom>
              <a:blipFill>
                <a:blip r:embed="rId3"/>
                <a:stretch>
                  <a:fillRect l="-832" t="-1422" b="-2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 descr="Stochastic Gradient Descent (SGD) | by Ramji Balasubramanian | Analytics  Vidhya | Medium">
            <a:extLst>
              <a:ext uri="{FF2B5EF4-FFF2-40B4-BE49-F238E27FC236}">
                <a16:creationId xmlns:a16="http://schemas.microsoft.com/office/drawing/2014/main" id="{0B2AEC0D-A8B2-F9C4-9236-8738CFC9F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104" y="2899964"/>
            <a:ext cx="4204085" cy="2523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F92341F-9F5B-1910-FBBD-861ED6B9D471}"/>
              </a:ext>
            </a:extLst>
          </p:cNvPr>
          <p:cNvSpPr txBox="1"/>
          <p:nvPr/>
        </p:nvSpPr>
        <p:spPr>
          <a:xfrm>
            <a:off x="0" y="6442364"/>
            <a:ext cx="101040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chemeClr val="bg1"/>
                </a:solidFill>
              </a:rPr>
              <a:t>图片来源：</a:t>
            </a:r>
            <a:r>
              <a:rPr kumimoji="1" lang="en" altLang="zh-CN" sz="1400" dirty="0">
                <a:solidFill>
                  <a:schemeClr val="bg1"/>
                </a:solidFill>
              </a:rPr>
              <a:t>https://</a:t>
            </a:r>
            <a:r>
              <a:rPr kumimoji="1" lang="en" altLang="zh-CN" sz="1400" dirty="0" err="1">
                <a:solidFill>
                  <a:schemeClr val="bg1"/>
                </a:solidFill>
              </a:rPr>
              <a:t>medium.com</a:t>
            </a:r>
            <a:r>
              <a:rPr kumimoji="1" lang="en" altLang="zh-CN" sz="1400" dirty="0">
                <a:solidFill>
                  <a:schemeClr val="bg1"/>
                </a:solidFill>
              </a:rPr>
              <a:t>/nerd-for-tech/linear-regression-from-scratch-pt3-stochastic-gradient-descent-7def4378f729</a:t>
            </a:r>
            <a:endParaRPr kumimoji="1"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096472-9248-3C12-F8F6-5D39FABA7446}"/>
              </a:ext>
            </a:extLst>
          </p:cNvPr>
          <p:cNvSpPr/>
          <p:nvPr/>
        </p:nvSpPr>
        <p:spPr>
          <a:xfrm>
            <a:off x="7604533" y="5609725"/>
            <a:ext cx="3833226" cy="323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随机梯度下降相比梯度下降</a:t>
            </a:r>
            <a:endParaRPr lang="zh-CN" altLang="en-US" sz="1600" b="1" i="0" dirty="0">
              <a:solidFill>
                <a:srgbClr val="C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6239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带动量的梯度下降法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380999" y="1012121"/>
            <a:ext cx="11811001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背景：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809" y="1682596"/>
            <a:ext cx="8640381" cy="221010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070100" y="4128172"/>
            <a:ext cx="34988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>
                <a:solidFill>
                  <a:srgbClr val="07070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当目标函数的等高线呈现出狭长的椭圆形时，梯度下降法容易出现“之字形”的震荡行为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775450" y="4045635"/>
            <a:ext cx="34417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>
                <a:solidFill>
                  <a:srgbClr val="07070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当损失景观中存在大量的局部最优或鞍点时，梯度下降法很容易陷入其中，难以逃离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带动量的梯度下降法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380999" y="1012121"/>
            <a:ext cx="11811001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动量法：每次更新时，不仅考虑当前的梯度方向，还要继承之前更新的方向。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53087"/>
          <a:stretch>
            <a:fillRect/>
          </a:stretch>
        </p:blipFill>
        <p:spPr>
          <a:xfrm>
            <a:off x="1295400" y="2004285"/>
            <a:ext cx="5226050" cy="28494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98475" y="4853715"/>
            <a:ext cx="6819900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红色箭头为带动量的梯度方向，小球即使在局部最小值时也具有梯度，带动量的梯度下降法使得优化过程就有了一定的“惯性”，能够跨越狭长的山谷和局部最优点，朝着更优的方向前进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289800" y="2102771"/>
                <a:ext cx="4349750" cy="2310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参数更新公式：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𝑔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∇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𝜃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𝑅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𝜇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−1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𝑔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−1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−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𝜂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800" y="2102771"/>
                <a:ext cx="4349750" cy="2310184"/>
              </a:xfrm>
              <a:prstGeom prst="rect">
                <a:avLst/>
              </a:prstGeom>
              <a:blipFill rotWithShape="1">
                <a:blip r:embed="rId5"/>
                <a:stretch>
                  <a:fillRect t="-12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自适应优化方法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381000" y="1012121"/>
            <a:ext cx="11429516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自适应优化算法：能够根据数据特征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自动调整学习率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的优化算法。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13398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70" y="2679700"/>
            <a:ext cx="7451262" cy="23534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8147050" y="2604298"/>
                <a:ext cx="3937000" cy="2428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参数更新公式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(Adagrad)</a:t>
                </a:r>
                <a:r>
                  <a: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：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𝑔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∇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𝜃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𝑅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𝑛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𝑛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−1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+</m:t>
                      </m:r>
                      <m:sSubSup>
                        <m:sSub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𝑔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−1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−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𝜂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𝑔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7070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radPr>
                        <m:deg/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𝜖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7070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𝑛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7070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133984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7050" y="2604298"/>
                <a:ext cx="3937000" cy="2428870"/>
              </a:xfrm>
              <a:prstGeom prst="rect">
                <a:avLst/>
              </a:prstGeom>
              <a:blipFill rotWithShape="1">
                <a:blip r:embed="rId5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98878724-0BBC-BD05-8AF7-F6D989F9540A}"/>
              </a:ext>
            </a:extLst>
          </p:cNvPr>
          <p:cNvSpPr txBox="1"/>
          <p:nvPr/>
        </p:nvSpPr>
        <p:spPr>
          <a:xfrm>
            <a:off x="1067457" y="5486399"/>
            <a:ext cx="8299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思考：有动量方法，有自适应学习率，下一步怎么弄？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AA441-0398-A08D-1AED-EAB912864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015D67E-DF7B-0ADB-4C26-5FC2E6F3F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Adam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优化算法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3C4D8A-CAF7-B832-45D0-9E04CAB323D7}"/>
              </a:ext>
            </a:extLst>
          </p:cNvPr>
          <p:cNvSpPr txBox="1"/>
          <p:nvPr/>
        </p:nvSpPr>
        <p:spPr>
          <a:xfrm>
            <a:off x="211015" y="1007628"/>
            <a:ext cx="11312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zh-CN" sz="2000" b="1" i="0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Adam</a:t>
            </a:r>
            <a:r>
              <a:rPr lang="zh-CN" altLang="en" sz="2000" b="1" i="0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" altLang="zh-CN" sz="2000" b="1" i="0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Adaptive Moment Estimation</a:t>
            </a:r>
            <a:r>
              <a:rPr lang="zh-CN" altLang="en" sz="2000" b="1" i="0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是目前深度学习中最常用的优化算法之一，它结合了动量（</a:t>
            </a:r>
            <a:r>
              <a:rPr lang="en" altLang="zh-C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Momentum</a:t>
            </a:r>
            <a:r>
              <a:rPr lang="zh-CN" altLang="e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和自适应学习率调整（</a:t>
            </a:r>
            <a:r>
              <a:rPr lang="en" altLang="zh-C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Adaptive Learning Rate</a:t>
            </a:r>
            <a:r>
              <a:rPr lang="zh-CN" altLang="e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的思想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，可以</a:t>
            </a:r>
            <a:r>
              <a:rPr lang="zh-CN" altLang="en-US" sz="2000" b="1" i="0" dirty="0">
                <a:solidFill>
                  <a:srgbClr val="B6151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加速优化</a:t>
            </a:r>
            <a:endParaRPr kumimoji="1" lang="zh-CN" altLang="en-US" sz="2000" b="1" dirty="0">
              <a:solidFill>
                <a:srgbClr val="B6151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85" name="文本框 9684">
                <a:extLst>
                  <a:ext uri="{FF2B5EF4-FFF2-40B4-BE49-F238E27FC236}">
                    <a16:creationId xmlns:a16="http://schemas.microsoft.com/office/drawing/2014/main" id="{14EE846E-EFC3-379C-398A-9DF8DBC94909}"/>
                  </a:ext>
                </a:extLst>
              </p:cNvPr>
              <p:cNvSpPr txBox="1"/>
              <p:nvPr/>
            </p:nvSpPr>
            <p:spPr>
              <a:xfrm>
                <a:off x="98281" y="4157602"/>
                <a:ext cx="9134424" cy="1969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spcBef>
                    <a:spcPts val="1200"/>
                  </a:spcBef>
                </a:pPr>
                <a:endParaRPr lang="en-US" altLang="zh-CN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 algn="l">
                  <a:spcBef>
                    <a:spcPts val="1200"/>
                  </a:spcBef>
                  <a:spcAft>
                    <a:spcPts val="1200"/>
                  </a:spcAft>
                  <a:buFont typeface="Wingdings" pitchFamily="2" charset="2"/>
                  <a:buChar char="p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是当前梯度</a:t>
                </a:r>
                <a:endParaRPr lang="en-US" altLang="zh-CN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 algn="l">
                  <a:spcBef>
                    <a:spcPts val="1200"/>
                  </a:spcBef>
                  <a:spcAft>
                    <a:spcPts val="1200"/>
                  </a:spcAft>
                  <a:buFont typeface="Wingdings" pitchFamily="2" charset="2"/>
                  <a:buChar char="p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​ 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是一阶动量（梯度的指数加权平均）</a:t>
                </a:r>
                <a:r>
                  <a:rPr lang="en-US" altLang="zh-C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是二阶动量（梯度平方的指数加权平均）</a:t>
                </a:r>
                <a:endParaRPr lang="en-US" altLang="zh-CN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 algn="l">
                  <a:spcBef>
                    <a:spcPts val="1200"/>
                  </a:spcBef>
                  <a:spcAft>
                    <a:spcPts val="1200"/>
                  </a:spcAft>
                  <a:buFont typeface="Wingdings" pitchFamily="2" charset="2"/>
                  <a:buChar char="p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l-GR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​ </a:t>
                </a: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是超参数，通常取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el-GR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=</a:t>
                </a:r>
                <a:r>
                  <a:rPr lang="en-US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el-GR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0.9</a:t>
                </a:r>
                <a:r>
                  <a:rPr lang="zh-CN" altLang="el-GR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el-GR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=</a:t>
                </a:r>
                <a:r>
                  <a:rPr lang="en-US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el-GR" altLang="zh-CN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0.999</a:t>
                </a:r>
                <a:endParaRPr lang="zh-CN" altLang="el-GR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685" name="文本框 9684">
                <a:extLst>
                  <a:ext uri="{FF2B5EF4-FFF2-40B4-BE49-F238E27FC236}">
                    <a16:creationId xmlns:a16="http://schemas.microsoft.com/office/drawing/2014/main" id="{14EE846E-EFC3-379C-398A-9DF8DBC94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1" y="4157602"/>
                <a:ext cx="9134424" cy="1969770"/>
              </a:xfrm>
              <a:prstGeom prst="rect">
                <a:avLst/>
              </a:prstGeom>
              <a:blipFill>
                <a:blip r:embed="rId87"/>
                <a:stretch>
                  <a:fillRect l="-416"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72651F20-428C-3F20-20F2-55DA3935D00F}"/>
              </a:ext>
            </a:extLst>
          </p:cNvPr>
          <p:cNvSpPr txBox="1"/>
          <p:nvPr/>
        </p:nvSpPr>
        <p:spPr>
          <a:xfrm>
            <a:off x="211015" y="6519465"/>
            <a:ext cx="95397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200" dirty="0">
                <a:solidFill>
                  <a:schemeClr val="bg1"/>
                </a:solidFill>
              </a:rPr>
              <a:t>图片来源：</a:t>
            </a:r>
            <a:r>
              <a:rPr kumimoji="1" lang="en" altLang="zh-CN" sz="1200" dirty="0">
                <a:solidFill>
                  <a:schemeClr val="bg1"/>
                </a:solidFill>
              </a:rPr>
              <a:t>https://</a:t>
            </a:r>
            <a:r>
              <a:rPr kumimoji="1" lang="en" altLang="zh-CN" sz="1200" dirty="0" err="1">
                <a:solidFill>
                  <a:schemeClr val="bg1"/>
                </a:solidFill>
              </a:rPr>
              <a:t>stats.stackexchange.com</a:t>
            </a:r>
            <a:r>
              <a:rPr kumimoji="1" lang="en" altLang="zh-CN" sz="1200" dirty="0">
                <a:solidFill>
                  <a:schemeClr val="bg1"/>
                </a:solidFill>
              </a:rPr>
              <a:t>/questions/308835/why-does-momentum-escape-from-a-saddle-point-in-this-famous-image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grpSp>
        <p:nvGrpSpPr>
          <p:cNvPr id="10088" name="组合 10087" descr="\documentclass{article}&#10;\usepackage{amsmath}&#10;\pagestyle{empty}&#10;\begin{document}&#10;&#10;$$&#10;\begin{gathered}&#10;m_t=\beta_1  m_{t-1}+\left(1-\beta_1\right) g_t \\&#10;v_t=\beta_2  v_{t-1}+\left(1-\beta_2\right) g_t^2 \\&#10;\hat{m}_t=m_t /\left(1-\beta_1^t\right) \\&#10;\hat{v}_t=v_t /\left(1-\beta_2^t\right) \\&#10;\theta=\theta-\eta \frac{\hat{m}_t} {\sqrt{\left(\hat{v}_t+\varepsilon\right)}}&#10;\end{gathered}&#10;$$&#10;&#10;\end{document}" title="IguanaTex Vector Display">
            <a:extLst>
              <a:ext uri="{FF2B5EF4-FFF2-40B4-BE49-F238E27FC236}">
                <a16:creationId xmlns:a16="http://schemas.microsoft.com/office/drawing/2014/main" id="{57260D50-D6C5-8821-136E-365EF6060AE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814494" y="1810103"/>
            <a:ext cx="3321948" cy="2591945"/>
            <a:chOff x="6227101" y="3900848"/>
            <a:chExt cx="3601134" cy="2809780"/>
          </a:xfrm>
        </p:grpSpPr>
        <p:sp>
          <p:nvSpPr>
            <p:cNvPr id="10005" name="任意形状 10004">
              <a:extLst>
                <a:ext uri="{FF2B5EF4-FFF2-40B4-BE49-F238E27FC236}">
                  <a16:creationId xmlns:a16="http://schemas.microsoft.com/office/drawing/2014/main" id="{398572A9-FD4A-2794-CA73-FFACE4CA9C45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6227101" y="3998580"/>
              <a:ext cx="257618" cy="143741"/>
            </a:xfrm>
            <a:custGeom>
              <a:avLst/>
              <a:gdLst>
                <a:gd name="connsiteX0" fmla="*/ 18735 w 257618"/>
                <a:gd name="connsiteY0" fmla="*/ 121602 h 143741"/>
                <a:gd name="connsiteX1" fmla="*/ 15904 w 257618"/>
                <a:gd name="connsiteY1" fmla="*/ 135247 h 143741"/>
                <a:gd name="connsiteX2" fmla="*/ 25026 w 257618"/>
                <a:gd name="connsiteY2" fmla="*/ 143814 h 143741"/>
                <a:gd name="connsiteX3" fmla="*/ 36664 w 257618"/>
                <a:gd name="connsiteY3" fmla="*/ 134929 h 143741"/>
                <a:gd name="connsiteX4" fmla="*/ 42641 w 257618"/>
                <a:gd name="connsiteY4" fmla="*/ 111448 h 143741"/>
                <a:gd name="connsiteX5" fmla="*/ 49561 w 257618"/>
                <a:gd name="connsiteY5" fmla="*/ 82890 h 143741"/>
                <a:gd name="connsiteX6" fmla="*/ 54908 w 257618"/>
                <a:gd name="connsiteY6" fmla="*/ 61631 h 143741"/>
                <a:gd name="connsiteX7" fmla="*/ 58997 w 257618"/>
                <a:gd name="connsiteY7" fmla="*/ 45765 h 143741"/>
                <a:gd name="connsiteX8" fmla="*/ 110269 w 257618"/>
                <a:gd name="connsiteY8" fmla="*/ 7053 h 143741"/>
                <a:gd name="connsiteX9" fmla="*/ 127255 w 257618"/>
                <a:gd name="connsiteY9" fmla="*/ 29265 h 143741"/>
                <a:gd name="connsiteX10" fmla="*/ 122537 w 257618"/>
                <a:gd name="connsiteY10" fmla="*/ 55602 h 143741"/>
                <a:gd name="connsiteX11" fmla="*/ 113729 w 257618"/>
                <a:gd name="connsiteY11" fmla="*/ 92410 h 143741"/>
                <a:gd name="connsiteX12" fmla="*/ 107438 w 257618"/>
                <a:gd name="connsiteY12" fmla="*/ 116525 h 143741"/>
                <a:gd name="connsiteX13" fmla="*/ 103349 w 257618"/>
                <a:gd name="connsiteY13" fmla="*/ 135247 h 143741"/>
                <a:gd name="connsiteX14" fmla="*/ 112471 w 257618"/>
                <a:gd name="connsiteY14" fmla="*/ 143814 h 143741"/>
                <a:gd name="connsiteX15" fmla="*/ 126626 w 257618"/>
                <a:gd name="connsiteY15" fmla="*/ 125727 h 143741"/>
                <a:gd name="connsiteX16" fmla="*/ 145499 w 257618"/>
                <a:gd name="connsiteY16" fmla="*/ 49255 h 143741"/>
                <a:gd name="connsiteX17" fmla="*/ 197400 w 257618"/>
                <a:gd name="connsiteY17" fmla="*/ 7053 h 143741"/>
                <a:gd name="connsiteX18" fmla="*/ 214386 w 257618"/>
                <a:gd name="connsiteY18" fmla="*/ 29265 h 143741"/>
                <a:gd name="connsiteX19" fmla="*/ 194884 w 257618"/>
                <a:gd name="connsiteY19" fmla="*/ 100342 h 143741"/>
                <a:gd name="connsiteX20" fmla="*/ 190795 w 257618"/>
                <a:gd name="connsiteY20" fmla="*/ 117795 h 143741"/>
                <a:gd name="connsiteX21" fmla="*/ 216588 w 257618"/>
                <a:gd name="connsiteY21" fmla="*/ 143814 h 143741"/>
                <a:gd name="connsiteX22" fmla="*/ 257794 w 257618"/>
                <a:gd name="connsiteY22" fmla="*/ 94948 h 143741"/>
                <a:gd name="connsiteX23" fmla="*/ 254020 w 257618"/>
                <a:gd name="connsiteY23" fmla="*/ 91775 h 143741"/>
                <a:gd name="connsiteX24" fmla="*/ 249301 w 257618"/>
                <a:gd name="connsiteY24" fmla="*/ 97487 h 143741"/>
                <a:gd name="connsiteX25" fmla="*/ 217217 w 257618"/>
                <a:gd name="connsiteY25" fmla="*/ 136833 h 143741"/>
                <a:gd name="connsiteX26" fmla="*/ 209668 w 257618"/>
                <a:gd name="connsiteY26" fmla="*/ 126362 h 143741"/>
                <a:gd name="connsiteX27" fmla="*/ 215330 w 257618"/>
                <a:gd name="connsiteY27" fmla="*/ 103833 h 143741"/>
                <a:gd name="connsiteX28" fmla="*/ 234517 w 257618"/>
                <a:gd name="connsiteY28" fmla="*/ 34024 h 143741"/>
                <a:gd name="connsiteX29" fmla="*/ 198344 w 257618"/>
                <a:gd name="connsiteY29" fmla="*/ 72 h 143741"/>
                <a:gd name="connsiteX30" fmla="*/ 147072 w 257618"/>
                <a:gd name="connsiteY30" fmla="*/ 30851 h 143741"/>
                <a:gd name="connsiteX31" fmla="*/ 137006 w 257618"/>
                <a:gd name="connsiteY31" fmla="*/ 8322 h 143741"/>
                <a:gd name="connsiteX32" fmla="*/ 111213 w 257618"/>
                <a:gd name="connsiteY32" fmla="*/ 72 h 143741"/>
                <a:gd name="connsiteX33" fmla="*/ 62143 w 257618"/>
                <a:gd name="connsiteY33" fmla="*/ 27678 h 143741"/>
                <a:gd name="connsiteX34" fmla="*/ 33204 w 257618"/>
                <a:gd name="connsiteY34" fmla="*/ 72 h 143741"/>
                <a:gd name="connsiteX35" fmla="*/ 9927 w 257618"/>
                <a:gd name="connsiteY35" fmla="*/ 18159 h 143741"/>
                <a:gd name="connsiteX36" fmla="*/ 176 w 257618"/>
                <a:gd name="connsiteY36" fmla="*/ 48938 h 143741"/>
                <a:gd name="connsiteX37" fmla="*/ 3951 w 257618"/>
                <a:gd name="connsiteY37" fmla="*/ 52111 h 143741"/>
                <a:gd name="connsiteX38" fmla="*/ 9298 w 257618"/>
                <a:gd name="connsiteY38" fmla="*/ 44813 h 143741"/>
                <a:gd name="connsiteX39" fmla="*/ 32260 w 257618"/>
                <a:gd name="connsiteY39" fmla="*/ 7053 h 143741"/>
                <a:gd name="connsiteX40" fmla="*/ 42011 w 257618"/>
                <a:gd name="connsiteY40" fmla="*/ 21649 h 143741"/>
                <a:gd name="connsiteX41" fmla="*/ 36979 w 257618"/>
                <a:gd name="connsiteY41" fmla="*/ 48303 h 143741"/>
                <a:gd name="connsiteX42" fmla="*/ 18735 w 257618"/>
                <a:gd name="connsiteY42" fmla="*/ 121602 h 14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7618" h="143741">
                  <a:moveTo>
                    <a:pt x="18735" y="121602"/>
                  </a:moveTo>
                  <a:cubicBezTo>
                    <a:pt x="17791" y="126362"/>
                    <a:pt x="15904" y="133660"/>
                    <a:pt x="15904" y="135247"/>
                  </a:cubicBezTo>
                  <a:cubicBezTo>
                    <a:pt x="15904" y="140958"/>
                    <a:pt x="20307" y="143814"/>
                    <a:pt x="25026" y="143814"/>
                  </a:cubicBezTo>
                  <a:cubicBezTo>
                    <a:pt x="28800" y="143814"/>
                    <a:pt x="34462" y="141276"/>
                    <a:pt x="36664" y="134929"/>
                  </a:cubicBezTo>
                  <a:cubicBezTo>
                    <a:pt x="36979" y="134295"/>
                    <a:pt x="40753" y="119381"/>
                    <a:pt x="42641" y="111448"/>
                  </a:cubicBezTo>
                  <a:lnTo>
                    <a:pt x="49561" y="82890"/>
                  </a:lnTo>
                  <a:cubicBezTo>
                    <a:pt x="51448" y="75910"/>
                    <a:pt x="53335" y="68929"/>
                    <a:pt x="54908" y="61631"/>
                  </a:cubicBezTo>
                  <a:cubicBezTo>
                    <a:pt x="56166" y="56236"/>
                    <a:pt x="58683" y="47034"/>
                    <a:pt x="58997" y="45765"/>
                  </a:cubicBezTo>
                  <a:cubicBezTo>
                    <a:pt x="63716" y="35928"/>
                    <a:pt x="80387" y="7053"/>
                    <a:pt x="110269" y="7053"/>
                  </a:cubicBezTo>
                  <a:cubicBezTo>
                    <a:pt x="124424" y="7053"/>
                    <a:pt x="127255" y="18794"/>
                    <a:pt x="127255" y="29265"/>
                  </a:cubicBezTo>
                  <a:cubicBezTo>
                    <a:pt x="127255" y="37198"/>
                    <a:pt x="125053" y="46082"/>
                    <a:pt x="122537" y="55602"/>
                  </a:cubicBezTo>
                  <a:lnTo>
                    <a:pt x="113729" y="92410"/>
                  </a:lnTo>
                  <a:lnTo>
                    <a:pt x="107438" y="116525"/>
                  </a:lnTo>
                  <a:cubicBezTo>
                    <a:pt x="106180" y="122872"/>
                    <a:pt x="103349" y="133660"/>
                    <a:pt x="103349" y="135247"/>
                  </a:cubicBezTo>
                  <a:cubicBezTo>
                    <a:pt x="103349" y="140958"/>
                    <a:pt x="107753" y="143814"/>
                    <a:pt x="112471" y="143814"/>
                  </a:cubicBezTo>
                  <a:cubicBezTo>
                    <a:pt x="122222" y="143814"/>
                    <a:pt x="124110" y="135881"/>
                    <a:pt x="126626" y="125727"/>
                  </a:cubicBezTo>
                  <a:cubicBezTo>
                    <a:pt x="131030" y="107958"/>
                    <a:pt x="142668" y="61631"/>
                    <a:pt x="145499" y="49255"/>
                  </a:cubicBezTo>
                  <a:cubicBezTo>
                    <a:pt x="146443" y="45130"/>
                    <a:pt x="163114" y="7053"/>
                    <a:pt x="197400" y="7053"/>
                  </a:cubicBezTo>
                  <a:cubicBezTo>
                    <a:pt x="210926" y="7053"/>
                    <a:pt x="214386" y="17842"/>
                    <a:pt x="214386" y="29265"/>
                  </a:cubicBezTo>
                  <a:cubicBezTo>
                    <a:pt x="214386" y="47351"/>
                    <a:pt x="201175" y="83525"/>
                    <a:pt x="194884" y="100342"/>
                  </a:cubicBezTo>
                  <a:cubicBezTo>
                    <a:pt x="192053" y="107958"/>
                    <a:pt x="190795" y="111448"/>
                    <a:pt x="190795" y="117795"/>
                  </a:cubicBezTo>
                  <a:cubicBezTo>
                    <a:pt x="190795" y="132708"/>
                    <a:pt x="201804" y="143814"/>
                    <a:pt x="216588" y="143814"/>
                  </a:cubicBezTo>
                  <a:cubicBezTo>
                    <a:pt x="246156" y="143814"/>
                    <a:pt x="257794" y="97487"/>
                    <a:pt x="257794" y="94948"/>
                  </a:cubicBezTo>
                  <a:cubicBezTo>
                    <a:pt x="257794" y="91775"/>
                    <a:pt x="254963" y="91775"/>
                    <a:pt x="254020" y="91775"/>
                  </a:cubicBezTo>
                  <a:cubicBezTo>
                    <a:pt x="250874" y="91775"/>
                    <a:pt x="250874" y="92727"/>
                    <a:pt x="249301" y="97487"/>
                  </a:cubicBezTo>
                  <a:cubicBezTo>
                    <a:pt x="244583" y="114304"/>
                    <a:pt x="234517" y="136833"/>
                    <a:pt x="217217" y="136833"/>
                  </a:cubicBezTo>
                  <a:cubicBezTo>
                    <a:pt x="211870" y="136833"/>
                    <a:pt x="209668" y="133660"/>
                    <a:pt x="209668" y="126362"/>
                  </a:cubicBezTo>
                  <a:cubicBezTo>
                    <a:pt x="209668" y="118429"/>
                    <a:pt x="212499" y="110814"/>
                    <a:pt x="215330" y="103833"/>
                  </a:cubicBezTo>
                  <a:cubicBezTo>
                    <a:pt x="221306" y="87333"/>
                    <a:pt x="234517" y="52111"/>
                    <a:pt x="234517" y="34024"/>
                  </a:cubicBezTo>
                  <a:cubicBezTo>
                    <a:pt x="234517" y="13399"/>
                    <a:pt x="221935" y="72"/>
                    <a:pt x="198344" y="72"/>
                  </a:cubicBezTo>
                  <a:cubicBezTo>
                    <a:pt x="174752" y="72"/>
                    <a:pt x="158710" y="14034"/>
                    <a:pt x="147072" y="30851"/>
                  </a:cubicBezTo>
                  <a:cubicBezTo>
                    <a:pt x="146757" y="26726"/>
                    <a:pt x="145814" y="15938"/>
                    <a:pt x="137006" y="8322"/>
                  </a:cubicBezTo>
                  <a:cubicBezTo>
                    <a:pt x="129142" y="1659"/>
                    <a:pt x="119077" y="72"/>
                    <a:pt x="111213" y="72"/>
                  </a:cubicBezTo>
                  <a:cubicBezTo>
                    <a:pt x="82903" y="72"/>
                    <a:pt x="67490" y="20380"/>
                    <a:pt x="62143" y="27678"/>
                  </a:cubicBezTo>
                  <a:cubicBezTo>
                    <a:pt x="60570" y="9591"/>
                    <a:pt x="47359" y="72"/>
                    <a:pt x="33204" y="72"/>
                  </a:cubicBezTo>
                  <a:cubicBezTo>
                    <a:pt x="18735" y="72"/>
                    <a:pt x="12758" y="12447"/>
                    <a:pt x="9927" y="18159"/>
                  </a:cubicBezTo>
                  <a:cubicBezTo>
                    <a:pt x="4265" y="29265"/>
                    <a:pt x="176" y="47986"/>
                    <a:pt x="176" y="48938"/>
                  </a:cubicBezTo>
                  <a:cubicBezTo>
                    <a:pt x="176" y="52111"/>
                    <a:pt x="3322" y="52111"/>
                    <a:pt x="3951" y="52111"/>
                  </a:cubicBezTo>
                  <a:cubicBezTo>
                    <a:pt x="7096" y="52111"/>
                    <a:pt x="7411" y="51794"/>
                    <a:pt x="9298" y="44813"/>
                  </a:cubicBezTo>
                  <a:cubicBezTo>
                    <a:pt x="14645" y="22284"/>
                    <a:pt x="20936" y="7053"/>
                    <a:pt x="32260" y="7053"/>
                  </a:cubicBezTo>
                  <a:cubicBezTo>
                    <a:pt x="37293" y="7053"/>
                    <a:pt x="42011" y="9591"/>
                    <a:pt x="42011" y="21649"/>
                  </a:cubicBezTo>
                  <a:cubicBezTo>
                    <a:pt x="42011" y="28313"/>
                    <a:pt x="41068" y="31803"/>
                    <a:pt x="36979" y="48303"/>
                  </a:cubicBezTo>
                  <a:lnTo>
                    <a:pt x="18735" y="121602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06" name="任意形状 10005">
              <a:extLst>
                <a:ext uri="{FF2B5EF4-FFF2-40B4-BE49-F238E27FC236}">
                  <a16:creationId xmlns:a16="http://schemas.microsoft.com/office/drawing/2014/main" id="{16105B65-4766-015A-0DC7-703F900B20BF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503408" y="4047604"/>
              <a:ext cx="74423" cy="141044"/>
            </a:xfrm>
            <a:custGeom>
              <a:avLst/>
              <a:gdLst>
                <a:gd name="connsiteX0" fmla="*/ 45103 w 74423"/>
                <a:gd name="connsiteY0" fmla="*/ 51161 h 141044"/>
                <a:gd name="connsiteX1" fmla="*/ 67562 w 74423"/>
                <a:gd name="connsiteY1" fmla="*/ 51161 h 141044"/>
                <a:gd name="connsiteX2" fmla="*/ 74608 w 74423"/>
                <a:gd name="connsiteY2" fmla="*/ 46274 h 141044"/>
                <a:gd name="connsiteX3" fmla="*/ 68002 w 74423"/>
                <a:gd name="connsiteY3" fmla="*/ 43164 h 141044"/>
                <a:gd name="connsiteX4" fmla="*/ 47084 w 74423"/>
                <a:gd name="connsiteY4" fmla="*/ 43164 h 141044"/>
                <a:gd name="connsiteX5" fmla="*/ 55231 w 74423"/>
                <a:gd name="connsiteY5" fmla="*/ 10291 h 141044"/>
                <a:gd name="connsiteX6" fmla="*/ 55892 w 74423"/>
                <a:gd name="connsiteY6" fmla="*/ 7181 h 141044"/>
                <a:gd name="connsiteX7" fmla="*/ 48406 w 74423"/>
                <a:gd name="connsiteY7" fmla="*/ 74 h 141044"/>
                <a:gd name="connsiteX8" fmla="*/ 38057 w 74423"/>
                <a:gd name="connsiteY8" fmla="*/ 9625 h 141044"/>
                <a:gd name="connsiteX9" fmla="*/ 29690 w 74423"/>
                <a:gd name="connsiteY9" fmla="*/ 43164 h 141044"/>
                <a:gd name="connsiteX10" fmla="*/ 7231 w 74423"/>
                <a:gd name="connsiteY10" fmla="*/ 43164 h 141044"/>
                <a:gd name="connsiteX11" fmla="*/ 185 w 74423"/>
                <a:gd name="connsiteY11" fmla="*/ 48051 h 141044"/>
                <a:gd name="connsiteX12" fmla="*/ 6790 w 74423"/>
                <a:gd name="connsiteY12" fmla="*/ 51161 h 141044"/>
                <a:gd name="connsiteX13" fmla="*/ 27708 w 74423"/>
                <a:gd name="connsiteY13" fmla="*/ 51161 h 141044"/>
                <a:gd name="connsiteX14" fmla="*/ 14717 w 74423"/>
                <a:gd name="connsiteY14" fmla="*/ 103581 h 141044"/>
                <a:gd name="connsiteX15" fmla="*/ 11414 w 74423"/>
                <a:gd name="connsiteY15" fmla="*/ 120017 h 141044"/>
                <a:gd name="connsiteX16" fmla="*/ 34974 w 74423"/>
                <a:gd name="connsiteY16" fmla="*/ 141118 h 141044"/>
                <a:gd name="connsiteX17" fmla="*/ 73287 w 74423"/>
                <a:gd name="connsiteY17" fmla="*/ 107134 h 141044"/>
                <a:gd name="connsiteX18" fmla="*/ 69764 w 74423"/>
                <a:gd name="connsiteY18" fmla="*/ 104247 h 141044"/>
                <a:gd name="connsiteX19" fmla="*/ 65140 w 74423"/>
                <a:gd name="connsiteY19" fmla="*/ 108467 h 141044"/>
                <a:gd name="connsiteX20" fmla="*/ 35635 w 74423"/>
                <a:gd name="connsiteY20" fmla="*/ 134899 h 141044"/>
                <a:gd name="connsiteX21" fmla="*/ 27928 w 74423"/>
                <a:gd name="connsiteY21" fmla="*/ 124015 h 141044"/>
                <a:gd name="connsiteX22" fmla="*/ 29249 w 74423"/>
                <a:gd name="connsiteY22" fmla="*/ 114909 h 141044"/>
                <a:gd name="connsiteX23" fmla="*/ 45103 w 74423"/>
                <a:gd name="connsiteY23" fmla="*/ 51161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03" y="51161"/>
                  </a:moveTo>
                  <a:lnTo>
                    <a:pt x="67562" y="51161"/>
                  </a:lnTo>
                  <a:cubicBezTo>
                    <a:pt x="71745" y="51161"/>
                    <a:pt x="74608" y="51161"/>
                    <a:pt x="74608" y="46274"/>
                  </a:cubicBezTo>
                  <a:cubicBezTo>
                    <a:pt x="74608" y="43164"/>
                    <a:pt x="71745" y="43164"/>
                    <a:pt x="68002" y="43164"/>
                  </a:cubicBezTo>
                  <a:lnTo>
                    <a:pt x="47084" y="43164"/>
                  </a:lnTo>
                  <a:lnTo>
                    <a:pt x="55231" y="10291"/>
                  </a:lnTo>
                  <a:cubicBezTo>
                    <a:pt x="55452" y="9180"/>
                    <a:pt x="55892" y="8070"/>
                    <a:pt x="55892" y="7181"/>
                  </a:cubicBezTo>
                  <a:cubicBezTo>
                    <a:pt x="55892" y="3183"/>
                    <a:pt x="52809" y="74"/>
                    <a:pt x="48406" y="74"/>
                  </a:cubicBezTo>
                  <a:cubicBezTo>
                    <a:pt x="42901" y="74"/>
                    <a:pt x="39598" y="3850"/>
                    <a:pt x="38057" y="9625"/>
                  </a:cubicBezTo>
                  <a:cubicBezTo>
                    <a:pt x="36516" y="15178"/>
                    <a:pt x="39378" y="4516"/>
                    <a:pt x="29690" y="43164"/>
                  </a:cubicBezTo>
                  <a:lnTo>
                    <a:pt x="7231" y="43164"/>
                  </a:lnTo>
                  <a:cubicBezTo>
                    <a:pt x="3047" y="43164"/>
                    <a:pt x="185" y="43164"/>
                    <a:pt x="185" y="48051"/>
                  </a:cubicBezTo>
                  <a:cubicBezTo>
                    <a:pt x="185" y="51161"/>
                    <a:pt x="2827" y="51161"/>
                    <a:pt x="6790" y="51161"/>
                  </a:cubicBezTo>
                  <a:lnTo>
                    <a:pt x="27708" y="51161"/>
                  </a:lnTo>
                  <a:lnTo>
                    <a:pt x="14717" y="103581"/>
                  </a:lnTo>
                  <a:cubicBezTo>
                    <a:pt x="13396" y="109133"/>
                    <a:pt x="11414" y="117130"/>
                    <a:pt x="11414" y="120017"/>
                  </a:cubicBezTo>
                  <a:cubicBezTo>
                    <a:pt x="11414" y="133122"/>
                    <a:pt x="22424" y="141118"/>
                    <a:pt x="34974" y="141118"/>
                  </a:cubicBezTo>
                  <a:cubicBezTo>
                    <a:pt x="59415" y="141118"/>
                    <a:pt x="73287" y="110022"/>
                    <a:pt x="73287" y="107134"/>
                  </a:cubicBezTo>
                  <a:cubicBezTo>
                    <a:pt x="73287" y="104247"/>
                    <a:pt x="70424" y="104247"/>
                    <a:pt x="69764" y="104247"/>
                  </a:cubicBezTo>
                  <a:cubicBezTo>
                    <a:pt x="67121" y="104247"/>
                    <a:pt x="66901" y="104691"/>
                    <a:pt x="65140" y="108467"/>
                  </a:cubicBezTo>
                  <a:cubicBezTo>
                    <a:pt x="58975" y="122461"/>
                    <a:pt x="47745" y="134899"/>
                    <a:pt x="35635" y="134899"/>
                  </a:cubicBezTo>
                  <a:cubicBezTo>
                    <a:pt x="31011" y="134899"/>
                    <a:pt x="27928" y="132012"/>
                    <a:pt x="27928" y="124015"/>
                  </a:cubicBezTo>
                  <a:cubicBezTo>
                    <a:pt x="27928" y="121794"/>
                    <a:pt x="28809" y="117130"/>
                    <a:pt x="29249" y="114909"/>
                  </a:cubicBezTo>
                  <a:lnTo>
                    <a:pt x="45103" y="51161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07" name="任意形状 10006">
              <a:extLst>
                <a:ext uri="{FF2B5EF4-FFF2-40B4-BE49-F238E27FC236}">
                  <a16:creationId xmlns:a16="http://schemas.microsoft.com/office/drawing/2014/main" id="{C5ED9839-C595-34DC-0FB9-DA24BA538E5C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709898" y="4022378"/>
              <a:ext cx="209177" cy="74250"/>
            </a:xfrm>
            <a:custGeom>
              <a:avLst/>
              <a:gdLst>
                <a:gd name="connsiteX0" fmla="*/ 198673 w 209177"/>
                <a:gd name="connsiteY0" fmla="*/ 12765 h 74250"/>
                <a:gd name="connsiteX1" fmla="*/ 209368 w 209177"/>
                <a:gd name="connsiteY1" fmla="*/ 6418 h 74250"/>
                <a:gd name="connsiteX2" fmla="*/ 198988 w 209177"/>
                <a:gd name="connsiteY2" fmla="*/ 72 h 74250"/>
                <a:gd name="connsiteX3" fmla="*/ 10571 w 209177"/>
                <a:gd name="connsiteY3" fmla="*/ 72 h 74250"/>
                <a:gd name="connsiteX4" fmla="*/ 191 w 209177"/>
                <a:gd name="connsiteY4" fmla="*/ 6418 h 74250"/>
                <a:gd name="connsiteX5" fmla="*/ 10886 w 209177"/>
                <a:gd name="connsiteY5" fmla="*/ 12765 h 74250"/>
                <a:gd name="connsiteX6" fmla="*/ 198673 w 209177"/>
                <a:gd name="connsiteY6" fmla="*/ 12765 h 74250"/>
                <a:gd name="connsiteX7" fmla="*/ 198988 w 209177"/>
                <a:gd name="connsiteY7" fmla="*/ 74323 h 74250"/>
                <a:gd name="connsiteX8" fmla="*/ 209368 w 209177"/>
                <a:gd name="connsiteY8" fmla="*/ 67977 h 74250"/>
                <a:gd name="connsiteX9" fmla="*/ 198673 w 209177"/>
                <a:gd name="connsiteY9" fmla="*/ 61631 h 74250"/>
                <a:gd name="connsiteX10" fmla="*/ 10886 w 209177"/>
                <a:gd name="connsiteY10" fmla="*/ 61631 h 74250"/>
                <a:gd name="connsiteX11" fmla="*/ 191 w 209177"/>
                <a:gd name="connsiteY11" fmla="*/ 67977 h 74250"/>
                <a:gd name="connsiteX12" fmla="*/ 10571 w 209177"/>
                <a:gd name="connsiteY12" fmla="*/ 74323 h 74250"/>
                <a:gd name="connsiteX13" fmla="*/ 198988 w 209177"/>
                <a:gd name="connsiteY13" fmla="*/ 74323 h 7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177" h="74250">
                  <a:moveTo>
                    <a:pt x="198673" y="12765"/>
                  </a:moveTo>
                  <a:cubicBezTo>
                    <a:pt x="203392" y="12765"/>
                    <a:pt x="209368" y="12765"/>
                    <a:pt x="209368" y="6418"/>
                  </a:cubicBezTo>
                  <a:cubicBezTo>
                    <a:pt x="209368" y="72"/>
                    <a:pt x="203392" y="72"/>
                    <a:pt x="198988" y="72"/>
                  </a:cubicBezTo>
                  <a:lnTo>
                    <a:pt x="10571" y="72"/>
                  </a:lnTo>
                  <a:cubicBezTo>
                    <a:pt x="6168" y="72"/>
                    <a:pt x="191" y="72"/>
                    <a:pt x="191" y="6418"/>
                  </a:cubicBezTo>
                  <a:cubicBezTo>
                    <a:pt x="191" y="12765"/>
                    <a:pt x="6168" y="12765"/>
                    <a:pt x="10886" y="12765"/>
                  </a:cubicBezTo>
                  <a:lnTo>
                    <a:pt x="198673" y="12765"/>
                  </a:lnTo>
                  <a:close/>
                  <a:moveTo>
                    <a:pt x="198988" y="74323"/>
                  </a:moveTo>
                  <a:cubicBezTo>
                    <a:pt x="203392" y="74323"/>
                    <a:pt x="209368" y="74323"/>
                    <a:pt x="209368" y="67977"/>
                  </a:cubicBezTo>
                  <a:cubicBezTo>
                    <a:pt x="209368" y="61631"/>
                    <a:pt x="203392" y="61631"/>
                    <a:pt x="198673" y="61631"/>
                  </a:cubicBezTo>
                  <a:lnTo>
                    <a:pt x="10886" y="61631"/>
                  </a:lnTo>
                  <a:cubicBezTo>
                    <a:pt x="6168" y="61631"/>
                    <a:pt x="191" y="61631"/>
                    <a:pt x="191" y="67977"/>
                  </a:cubicBezTo>
                  <a:cubicBezTo>
                    <a:pt x="191" y="74323"/>
                    <a:pt x="6168" y="74323"/>
                    <a:pt x="10571" y="74323"/>
                  </a:cubicBezTo>
                  <a:lnTo>
                    <a:pt x="198988" y="74323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08" name="任意形状 10007">
              <a:extLst>
                <a:ext uri="{FF2B5EF4-FFF2-40B4-BE49-F238E27FC236}">
                  <a16:creationId xmlns:a16="http://schemas.microsoft.com/office/drawing/2014/main" id="{BD4B6E28-E17B-A37D-F18B-F25C95E15BB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7033705" y="3914810"/>
              <a:ext cx="171470" cy="285580"/>
            </a:xfrm>
            <a:custGeom>
              <a:avLst/>
              <a:gdLst>
                <a:gd name="connsiteX0" fmla="*/ 171672 w 171470"/>
                <a:gd name="connsiteY0" fmla="*/ 43544 h 285580"/>
                <a:gd name="connsiteX1" fmla="*/ 128893 w 171470"/>
                <a:gd name="connsiteY1" fmla="*/ 72 h 285580"/>
                <a:gd name="connsiteX2" fmla="*/ 90832 w 171470"/>
                <a:gd name="connsiteY2" fmla="*/ 13399 h 285580"/>
                <a:gd name="connsiteX3" fmla="*/ 50255 w 171470"/>
                <a:gd name="connsiteY3" fmla="*/ 80986 h 285580"/>
                <a:gd name="connsiteX4" fmla="*/ 241 w 171470"/>
                <a:gd name="connsiteY4" fmla="*/ 282479 h 285580"/>
                <a:gd name="connsiteX5" fmla="*/ 4016 w 171470"/>
                <a:gd name="connsiteY5" fmla="*/ 285652 h 285580"/>
                <a:gd name="connsiteX6" fmla="*/ 7791 w 171470"/>
                <a:gd name="connsiteY6" fmla="*/ 284066 h 285580"/>
                <a:gd name="connsiteX7" fmla="*/ 29809 w 171470"/>
                <a:gd name="connsiteY7" fmla="*/ 196488 h 285580"/>
                <a:gd name="connsiteX8" fmla="*/ 72588 w 171470"/>
                <a:gd name="connsiteY8" fmla="*/ 227267 h 285580"/>
                <a:gd name="connsiteX9" fmla="*/ 133297 w 171470"/>
                <a:gd name="connsiteY9" fmla="*/ 202199 h 285580"/>
                <a:gd name="connsiteX10" fmla="*/ 158461 w 171470"/>
                <a:gd name="connsiteY10" fmla="*/ 143814 h 285580"/>
                <a:gd name="connsiteX11" fmla="*/ 135499 w 171470"/>
                <a:gd name="connsiteY11" fmla="*/ 96535 h 285580"/>
                <a:gd name="connsiteX12" fmla="*/ 171672 w 171470"/>
                <a:gd name="connsiteY12" fmla="*/ 43544 h 285580"/>
                <a:gd name="connsiteX13" fmla="*/ 115053 w 171470"/>
                <a:gd name="connsiteY13" fmla="*/ 96217 h 285580"/>
                <a:gd name="connsiteX14" fmla="*/ 99954 w 171470"/>
                <a:gd name="connsiteY14" fmla="*/ 98439 h 285580"/>
                <a:gd name="connsiteX15" fmla="*/ 86114 w 171470"/>
                <a:gd name="connsiteY15" fmla="*/ 97169 h 285580"/>
                <a:gd name="connsiteX16" fmla="*/ 101527 w 171470"/>
                <a:gd name="connsiteY16" fmla="*/ 94631 h 285580"/>
                <a:gd name="connsiteX17" fmla="*/ 115053 w 171470"/>
                <a:gd name="connsiteY17" fmla="*/ 96217 h 285580"/>
                <a:gd name="connsiteX18" fmla="*/ 154057 w 171470"/>
                <a:gd name="connsiteY18" fmla="*/ 36246 h 285580"/>
                <a:gd name="connsiteX19" fmla="*/ 125748 w 171470"/>
                <a:gd name="connsiteY19" fmla="*/ 91140 h 285580"/>
                <a:gd name="connsiteX20" fmla="*/ 101527 w 171470"/>
                <a:gd name="connsiteY20" fmla="*/ 87333 h 285580"/>
                <a:gd name="connsiteX21" fmla="*/ 77307 w 171470"/>
                <a:gd name="connsiteY21" fmla="*/ 97487 h 285580"/>
                <a:gd name="connsiteX22" fmla="*/ 99011 w 171470"/>
                <a:gd name="connsiteY22" fmla="*/ 105419 h 285580"/>
                <a:gd name="connsiteX23" fmla="*/ 124804 w 171470"/>
                <a:gd name="connsiteY23" fmla="*/ 101294 h 285580"/>
                <a:gd name="connsiteX24" fmla="*/ 138644 w 171470"/>
                <a:gd name="connsiteY24" fmla="*/ 137151 h 285580"/>
                <a:gd name="connsiteX25" fmla="*/ 122917 w 171470"/>
                <a:gd name="connsiteY25" fmla="*/ 191728 h 285580"/>
                <a:gd name="connsiteX26" fmla="*/ 71645 w 171470"/>
                <a:gd name="connsiteY26" fmla="*/ 220286 h 285580"/>
                <a:gd name="connsiteX27" fmla="*/ 35786 w 171470"/>
                <a:gd name="connsiteY27" fmla="*/ 179353 h 285580"/>
                <a:gd name="connsiteX28" fmla="*/ 37359 w 171470"/>
                <a:gd name="connsiteY28" fmla="*/ 165391 h 285580"/>
                <a:gd name="connsiteX29" fmla="*/ 57490 w 171470"/>
                <a:gd name="connsiteY29" fmla="*/ 85112 h 285580"/>
                <a:gd name="connsiteX30" fmla="*/ 124804 w 171470"/>
                <a:gd name="connsiteY30" fmla="*/ 7370 h 285580"/>
                <a:gd name="connsiteX31" fmla="*/ 154057 w 171470"/>
                <a:gd name="connsiteY31" fmla="*/ 36246 h 28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1470" h="285580">
                  <a:moveTo>
                    <a:pt x="171672" y="43544"/>
                  </a:moveTo>
                  <a:cubicBezTo>
                    <a:pt x="171672" y="19745"/>
                    <a:pt x="154372" y="72"/>
                    <a:pt x="128893" y="72"/>
                  </a:cubicBezTo>
                  <a:cubicBezTo>
                    <a:pt x="110649" y="72"/>
                    <a:pt x="101842" y="5149"/>
                    <a:pt x="90832" y="13399"/>
                  </a:cubicBezTo>
                  <a:cubicBezTo>
                    <a:pt x="73532" y="26092"/>
                    <a:pt x="56232" y="56871"/>
                    <a:pt x="50255" y="80986"/>
                  </a:cubicBezTo>
                  <a:lnTo>
                    <a:pt x="241" y="282479"/>
                  </a:lnTo>
                  <a:cubicBezTo>
                    <a:pt x="-73" y="283748"/>
                    <a:pt x="1500" y="285652"/>
                    <a:pt x="4016" y="285652"/>
                  </a:cubicBezTo>
                  <a:cubicBezTo>
                    <a:pt x="6532" y="285652"/>
                    <a:pt x="7476" y="285018"/>
                    <a:pt x="7791" y="284066"/>
                  </a:cubicBezTo>
                  <a:lnTo>
                    <a:pt x="29809" y="196488"/>
                  </a:lnTo>
                  <a:cubicBezTo>
                    <a:pt x="35786" y="215526"/>
                    <a:pt x="49626" y="227267"/>
                    <a:pt x="72588" y="227267"/>
                  </a:cubicBezTo>
                  <a:cubicBezTo>
                    <a:pt x="95551" y="227267"/>
                    <a:pt x="119142" y="216161"/>
                    <a:pt x="133297" y="202199"/>
                  </a:cubicBezTo>
                  <a:cubicBezTo>
                    <a:pt x="148395" y="187603"/>
                    <a:pt x="158461" y="167295"/>
                    <a:pt x="158461" y="143814"/>
                  </a:cubicBezTo>
                  <a:cubicBezTo>
                    <a:pt x="158461" y="120968"/>
                    <a:pt x="146823" y="104468"/>
                    <a:pt x="135499" y="96535"/>
                  </a:cubicBezTo>
                  <a:cubicBezTo>
                    <a:pt x="153743" y="86064"/>
                    <a:pt x="171672" y="66390"/>
                    <a:pt x="171672" y="43544"/>
                  </a:cubicBezTo>
                  <a:close/>
                  <a:moveTo>
                    <a:pt x="115053" y="96217"/>
                  </a:moveTo>
                  <a:cubicBezTo>
                    <a:pt x="110964" y="97804"/>
                    <a:pt x="107504" y="98439"/>
                    <a:pt x="99954" y="98439"/>
                  </a:cubicBezTo>
                  <a:cubicBezTo>
                    <a:pt x="95551" y="98439"/>
                    <a:pt x="89260" y="98756"/>
                    <a:pt x="86114" y="97169"/>
                  </a:cubicBezTo>
                  <a:cubicBezTo>
                    <a:pt x="86743" y="93996"/>
                    <a:pt x="98067" y="94631"/>
                    <a:pt x="101527" y="94631"/>
                  </a:cubicBezTo>
                  <a:cubicBezTo>
                    <a:pt x="108133" y="94631"/>
                    <a:pt x="110964" y="94631"/>
                    <a:pt x="115053" y="96217"/>
                  </a:cubicBezTo>
                  <a:close/>
                  <a:moveTo>
                    <a:pt x="154057" y="36246"/>
                  </a:moveTo>
                  <a:cubicBezTo>
                    <a:pt x="154057" y="58457"/>
                    <a:pt x="142104" y="81304"/>
                    <a:pt x="125748" y="91140"/>
                  </a:cubicBezTo>
                  <a:cubicBezTo>
                    <a:pt x="117255" y="87967"/>
                    <a:pt x="110964" y="87333"/>
                    <a:pt x="101527" y="87333"/>
                  </a:cubicBezTo>
                  <a:cubicBezTo>
                    <a:pt x="94922" y="87333"/>
                    <a:pt x="77307" y="87015"/>
                    <a:pt x="77307" y="97487"/>
                  </a:cubicBezTo>
                  <a:cubicBezTo>
                    <a:pt x="76992" y="106371"/>
                    <a:pt x="93349" y="105419"/>
                    <a:pt x="99011" y="105419"/>
                  </a:cubicBezTo>
                  <a:cubicBezTo>
                    <a:pt x="110649" y="105419"/>
                    <a:pt x="115367" y="105102"/>
                    <a:pt x="124804" y="101294"/>
                  </a:cubicBezTo>
                  <a:cubicBezTo>
                    <a:pt x="136757" y="112718"/>
                    <a:pt x="138330" y="122554"/>
                    <a:pt x="138644" y="137151"/>
                  </a:cubicBezTo>
                  <a:cubicBezTo>
                    <a:pt x="139273" y="155555"/>
                    <a:pt x="131724" y="179353"/>
                    <a:pt x="122917" y="191728"/>
                  </a:cubicBezTo>
                  <a:cubicBezTo>
                    <a:pt x="110649" y="208863"/>
                    <a:pt x="89574" y="220286"/>
                    <a:pt x="71645" y="220286"/>
                  </a:cubicBezTo>
                  <a:cubicBezTo>
                    <a:pt x="47739" y="220286"/>
                    <a:pt x="35786" y="201882"/>
                    <a:pt x="35786" y="179353"/>
                  </a:cubicBezTo>
                  <a:cubicBezTo>
                    <a:pt x="35786" y="176180"/>
                    <a:pt x="35786" y="171420"/>
                    <a:pt x="37359" y="165391"/>
                  </a:cubicBezTo>
                  <a:lnTo>
                    <a:pt x="57490" y="85112"/>
                  </a:lnTo>
                  <a:cubicBezTo>
                    <a:pt x="64410" y="57823"/>
                    <a:pt x="87058" y="7370"/>
                    <a:pt x="124804" y="7370"/>
                  </a:cubicBezTo>
                  <a:cubicBezTo>
                    <a:pt x="143048" y="7370"/>
                    <a:pt x="154057" y="17207"/>
                    <a:pt x="154057" y="36246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09" name="任意形状 10008">
              <a:extLst>
                <a:ext uri="{FF2B5EF4-FFF2-40B4-BE49-F238E27FC236}">
                  <a16:creationId xmlns:a16="http://schemas.microsoft.com/office/drawing/2014/main" id="{4034076D-EDC0-703D-F4E5-1A661F3865D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226228" y="4038942"/>
              <a:ext cx="80147" cy="147486"/>
            </a:xfrm>
            <a:custGeom>
              <a:avLst/>
              <a:gdLst>
                <a:gd name="connsiteX0" fmla="*/ 49969 w 80147"/>
                <a:gd name="connsiteY0" fmla="*/ 6293 h 147486"/>
                <a:gd name="connsiteX1" fmla="*/ 43364 w 80147"/>
                <a:gd name="connsiteY1" fmla="*/ 74 h 147486"/>
                <a:gd name="connsiteX2" fmla="*/ 207 w 80147"/>
                <a:gd name="connsiteY2" fmla="*/ 14289 h 147486"/>
                <a:gd name="connsiteX3" fmla="*/ 207 w 80147"/>
                <a:gd name="connsiteY3" fmla="*/ 22285 h 147486"/>
                <a:gd name="connsiteX4" fmla="*/ 32134 w 80147"/>
                <a:gd name="connsiteY4" fmla="*/ 16066 h 147486"/>
                <a:gd name="connsiteX5" fmla="*/ 32134 w 80147"/>
                <a:gd name="connsiteY5" fmla="*/ 129346 h 147486"/>
                <a:gd name="connsiteX6" fmla="*/ 10116 w 80147"/>
                <a:gd name="connsiteY6" fmla="*/ 139564 h 147486"/>
                <a:gd name="connsiteX7" fmla="*/ 1749 w 80147"/>
                <a:gd name="connsiteY7" fmla="*/ 139564 h 147486"/>
                <a:gd name="connsiteX8" fmla="*/ 1749 w 80147"/>
                <a:gd name="connsiteY8" fmla="*/ 147560 h 147486"/>
                <a:gd name="connsiteX9" fmla="*/ 40942 w 80147"/>
                <a:gd name="connsiteY9" fmla="*/ 146671 h 147486"/>
                <a:gd name="connsiteX10" fmla="*/ 80355 w 80147"/>
                <a:gd name="connsiteY10" fmla="*/ 147560 h 147486"/>
                <a:gd name="connsiteX11" fmla="*/ 80355 w 80147"/>
                <a:gd name="connsiteY11" fmla="*/ 139564 h 147486"/>
                <a:gd name="connsiteX12" fmla="*/ 71988 w 80147"/>
                <a:gd name="connsiteY12" fmla="*/ 139564 h 147486"/>
                <a:gd name="connsiteX13" fmla="*/ 49969 w 80147"/>
                <a:gd name="connsiteY13" fmla="*/ 129346 h 147486"/>
                <a:gd name="connsiteX14" fmla="*/ 49969 w 80147"/>
                <a:gd name="connsiteY14" fmla="*/ 6293 h 14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147" h="147486">
                  <a:moveTo>
                    <a:pt x="49969" y="6293"/>
                  </a:moveTo>
                  <a:cubicBezTo>
                    <a:pt x="49969" y="296"/>
                    <a:pt x="49529" y="74"/>
                    <a:pt x="43364" y="74"/>
                  </a:cubicBezTo>
                  <a:cubicBezTo>
                    <a:pt x="29272" y="14067"/>
                    <a:pt x="9235" y="14289"/>
                    <a:pt x="207" y="14289"/>
                  </a:cubicBezTo>
                  <a:lnTo>
                    <a:pt x="207" y="22285"/>
                  </a:lnTo>
                  <a:cubicBezTo>
                    <a:pt x="5492" y="22285"/>
                    <a:pt x="20024" y="22285"/>
                    <a:pt x="32134" y="16066"/>
                  </a:cubicBezTo>
                  <a:lnTo>
                    <a:pt x="32134" y="129346"/>
                  </a:lnTo>
                  <a:cubicBezTo>
                    <a:pt x="32134" y="136676"/>
                    <a:pt x="32134" y="139564"/>
                    <a:pt x="10116" y="139564"/>
                  </a:cubicBezTo>
                  <a:lnTo>
                    <a:pt x="1749" y="139564"/>
                  </a:lnTo>
                  <a:lnTo>
                    <a:pt x="1749" y="147560"/>
                  </a:lnTo>
                  <a:cubicBezTo>
                    <a:pt x="5712" y="147338"/>
                    <a:pt x="32795" y="146671"/>
                    <a:pt x="40942" y="146671"/>
                  </a:cubicBezTo>
                  <a:cubicBezTo>
                    <a:pt x="47767" y="146671"/>
                    <a:pt x="75511" y="147338"/>
                    <a:pt x="80355" y="147560"/>
                  </a:cubicBezTo>
                  <a:lnTo>
                    <a:pt x="80355" y="139564"/>
                  </a:lnTo>
                  <a:lnTo>
                    <a:pt x="71988" y="139564"/>
                  </a:lnTo>
                  <a:cubicBezTo>
                    <a:pt x="49969" y="139564"/>
                    <a:pt x="49969" y="136676"/>
                    <a:pt x="49969" y="129346"/>
                  </a:cubicBezTo>
                  <a:lnTo>
                    <a:pt x="49969" y="6293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10" name="任意形状 10009">
              <a:extLst>
                <a:ext uri="{FF2B5EF4-FFF2-40B4-BE49-F238E27FC236}">
                  <a16:creationId xmlns:a16="http://schemas.microsoft.com/office/drawing/2014/main" id="{544BCE92-37C7-6790-ABF7-D8FEB5F9EF0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7352462" y="3998580"/>
              <a:ext cx="257618" cy="143741"/>
            </a:xfrm>
            <a:custGeom>
              <a:avLst/>
              <a:gdLst>
                <a:gd name="connsiteX0" fmla="*/ 18770 w 257618"/>
                <a:gd name="connsiteY0" fmla="*/ 121602 h 143741"/>
                <a:gd name="connsiteX1" fmla="*/ 15939 w 257618"/>
                <a:gd name="connsiteY1" fmla="*/ 135247 h 143741"/>
                <a:gd name="connsiteX2" fmla="*/ 25061 w 257618"/>
                <a:gd name="connsiteY2" fmla="*/ 143814 h 143741"/>
                <a:gd name="connsiteX3" fmla="*/ 36700 w 257618"/>
                <a:gd name="connsiteY3" fmla="*/ 134929 h 143741"/>
                <a:gd name="connsiteX4" fmla="*/ 42676 w 257618"/>
                <a:gd name="connsiteY4" fmla="*/ 111448 h 143741"/>
                <a:gd name="connsiteX5" fmla="*/ 49596 w 257618"/>
                <a:gd name="connsiteY5" fmla="*/ 82890 h 143741"/>
                <a:gd name="connsiteX6" fmla="*/ 54944 w 257618"/>
                <a:gd name="connsiteY6" fmla="*/ 61631 h 143741"/>
                <a:gd name="connsiteX7" fmla="*/ 59033 w 257618"/>
                <a:gd name="connsiteY7" fmla="*/ 45765 h 143741"/>
                <a:gd name="connsiteX8" fmla="*/ 110305 w 257618"/>
                <a:gd name="connsiteY8" fmla="*/ 7053 h 143741"/>
                <a:gd name="connsiteX9" fmla="*/ 127291 w 257618"/>
                <a:gd name="connsiteY9" fmla="*/ 29265 h 143741"/>
                <a:gd name="connsiteX10" fmla="*/ 122572 w 257618"/>
                <a:gd name="connsiteY10" fmla="*/ 55602 h 143741"/>
                <a:gd name="connsiteX11" fmla="*/ 113765 w 257618"/>
                <a:gd name="connsiteY11" fmla="*/ 92410 h 143741"/>
                <a:gd name="connsiteX12" fmla="*/ 107474 w 257618"/>
                <a:gd name="connsiteY12" fmla="*/ 116525 h 143741"/>
                <a:gd name="connsiteX13" fmla="*/ 103385 w 257618"/>
                <a:gd name="connsiteY13" fmla="*/ 135247 h 143741"/>
                <a:gd name="connsiteX14" fmla="*/ 112507 w 257618"/>
                <a:gd name="connsiteY14" fmla="*/ 143814 h 143741"/>
                <a:gd name="connsiteX15" fmla="*/ 126662 w 257618"/>
                <a:gd name="connsiteY15" fmla="*/ 125727 h 143741"/>
                <a:gd name="connsiteX16" fmla="*/ 145535 w 257618"/>
                <a:gd name="connsiteY16" fmla="*/ 49255 h 143741"/>
                <a:gd name="connsiteX17" fmla="*/ 197436 w 257618"/>
                <a:gd name="connsiteY17" fmla="*/ 7053 h 143741"/>
                <a:gd name="connsiteX18" fmla="*/ 214422 w 257618"/>
                <a:gd name="connsiteY18" fmla="*/ 29265 h 143741"/>
                <a:gd name="connsiteX19" fmla="*/ 194919 w 257618"/>
                <a:gd name="connsiteY19" fmla="*/ 100342 h 143741"/>
                <a:gd name="connsiteX20" fmla="*/ 190830 w 257618"/>
                <a:gd name="connsiteY20" fmla="*/ 117795 h 143741"/>
                <a:gd name="connsiteX21" fmla="*/ 216623 w 257618"/>
                <a:gd name="connsiteY21" fmla="*/ 143814 h 143741"/>
                <a:gd name="connsiteX22" fmla="*/ 257830 w 257618"/>
                <a:gd name="connsiteY22" fmla="*/ 94948 h 143741"/>
                <a:gd name="connsiteX23" fmla="*/ 254055 w 257618"/>
                <a:gd name="connsiteY23" fmla="*/ 91775 h 143741"/>
                <a:gd name="connsiteX24" fmla="*/ 249337 w 257618"/>
                <a:gd name="connsiteY24" fmla="*/ 97487 h 143741"/>
                <a:gd name="connsiteX25" fmla="*/ 217253 w 257618"/>
                <a:gd name="connsiteY25" fmla="*/ 136833 h 143741"/>
                <a:gd name="connsiteX26" fmla="*/ 209703 w 257618"/>
                <a:gd name="connsiteY26" fmla="*/ 126362 h 143741"/>
                <a:gd name="connsiteX27" fmla="*/ 215365 w 257618"/>
                <a:gd name="connsiteY27" fmla="*/ 103833 h 143741"/>
                <a:gd name="connsiteX28" fmla="*/ 234553 w 257618"/>
                <a:gd name="connsiteY28" fmla="*/ 34024 h 143741"/>
                <a:gd name="connsiteX29" fmla="*/ 198379 w 257618"/>
                <a:gd name="connsiteY29" fmla="*/ 72 h 143741"/>
                <a:gd name="connsiteX30" fmla="*/ 147107 w 257618"/>
                <a:gd name="connsiteY30" fmla="*/ 30851 h 143741"/>
                <a:gd name="connsiteX31" fmla="*/ 137042 w 257618"/>
                <a:gd name="connsiteY31" fmla="*/ 8322 h 143741"/>
                <a:gd name="connsiteX32" fmla="*/ 111249 w 257618"/>
                <a:gd name="connsiteY32" fmla="*/ 72 h 143741"/>
                <a:gd name="connsiteX33" fmla="*/ 62178 w 257618"/>
                <a:gd name="connsiteY33" fmla="*/ 27678 h 143741"/>
                <a:gd name="connsiteX34" fmla="*/ 33240 w 257618"/>
                <a:gd name="connsiteY34" fmla="*/ 72 h 143741"/>
                <a:gd name="connsiteX35" fmla="*/ 9963 w 257618"/>
                <a:gd name="connsiteY35" fmla="*/ 18159 h 143741"/>
                <a:gd name="connsiteX36" fmla="*/ 212 w 257618"/>
                <a:gd name="connsiteY36" fmla="*/ 48938 h 143741"/>
                <a:gd name="connsiteX37" fmla="*/ 3986 w 257618"/>
                <a:gd name="connsiteY37" fmla="*/ 52111 h 143741"/>
                <a:gd name="connsiteX38" fmla="*/ 9334 w 257618"/>
                <a:gd name="connsiteY38" fmla="*/ 44813 h 143741"/>
                <a:gd name="connsiteX39" fmla="*/ 32296 w 257618"/>
                <a:gd name="connsiteY39" fmla="*/ 7053 h 143741"/>
                <a:gd name="connsiteX40" fmla="*/ 42047 w 257618"/>
                <a:gd name="connsiteY40" fmla="*/ 21649 h 143741"/>
                <a:gd name="connsiteX41" fmla="*/ 37014 w 257618"/>
                <a:gd name="connsiteY41" fmla="*/ 48303 h 143741"/>
                <a:gd name="connsiteX42" fmla="*/ 18770 w 257618"/>
                <a:gd name="connsiteY42" fmla="*/ 121602 h 14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7618" h="143741">
                  <a:moveTo>
                    <a:pt x="18770" y="121602"/>
                  </a:moveTo>
                  <a:cubicBezTo>
                    <a:pt x="17827" y="126362"/>
                    <a:pt x="15939" y="133660"/>
                    <a:pt x="15939" y="135247"/>
                  </a:cubicBezTo>
                  <a:cubicBezTo>
                    <a:pt x="15939" y="140958"/>
                    <a:pt x="20343" y="143814"/>
                    <a:pt x="25061" y="143814"/>
                  </a:cubicBezTo>
                  <a:cubicBezTo>
                    <a:pt x="28836" y="143814"/>
                    <a:pt x="34498" y="141276"/>
                    <a:pt x="36700" y="134929"/>
                  </a:cubicBezTo>
                  <a:cubicBezTo>
                    <a:pt x="37014" y="134295"/>
                    <a:pt x="40789" y="119381"/>
                    <a:pt x="42676" y="111448"/>
                  </a:cubicBezTo>
                  <a:lnTo>
                    <a:pt x="49596" y="82890"/>
                  </a:lnTo>
                  <a:cubicBezTo>
                    <a:pt x="51484" y="75910"/>
                    <a:pt x="53371" y="68929"/>
                    <a:pt x="54944" y="61631"/>
                  </a:cubicBezTo>
                  <a:cubicBezTo>
                    <a:pt x="56202" y="56236"/>
                    <a:pt x="58718" y="47034"/>
                    <a:pt x="59033" y="45765"/>
                  </a:cubicBezTo>
                  <a:cubicBezTo>
                    <a:pt x="63751" y="35928"/>
                    <a:pt x="80422" y="7053"/>
                    <a:pt x="110305" y="7053"/>
                  </a:cubicBezTo>
                  <a:cubicBezTo>
                    <a:pt x="124460" y="7053"/>
                    <a:pt x="127291" y="18794"/>
                    <a:pt x="127291" y="29265"/>
                  </a:cubicBezTo>
                  <a:cubicBezTo>
                    <a:pt x="127291" y="37198"/>
                    <a:pt x="125089" y="46082"/>
                    <a:pt x="122572" y="55602"/>
                  </a:cubicBezTo>
                  <a:lnTo>
                    <a:pt x="113765" y="92410"/>
                  </a:lnTo>
                  <a:lnTo>
                    <a:pt x="107474" y="116525"/>
                  </a:lnTo>
                  <a:cubicBezTo>
                    <a:pt x="106216" y="122872"/>
                    <a:pt x="103385" y="133660"/>
                    <a:pt x="103385" y="135247"/>
                  </a:cubicBezTo>
                  <a:cubicBezTo>
                    <a:pt x="103385" y="140958"/>
                    <a:pt x="107788" y="143814"/>
                    <a:pt x="112507" y="143814"/>
                  </a:cubicBezTo>
                  <a:cubicBezTo>
                    <a:pt x="122258" y="143814"/>
                    <a:pt x="124145" y="135881"/>
                    <a:pt x="126662" y="125727"/>
                  </a:cubicBezTo>
                  <a:cubicBezTo>
                    <a:pt x="131065" y="107958"/>
                    <a:pt x="142704" y="61631"/>
                    <a:pt x="145535" y="49255"/>
                  </a:cubicBezTo>
                  <a:cubicBezTo>
                    <a:pt x="146478" y="45130"/>
                    <a:pt x="163150" y="7053"/>
                    <a:pt x="197436" y="7053"/>
                  </a:cubicBezTo>
                  <a:cubicBezTo>
                    <a:pt x="210962" y="7053"/>
                    <a:pt x="214422" y="17842"/>
                    <a:pt x="214422" y="29265"/>
                  </a:cubicBezTo>
                  <a:cubicBezTo>
                    <a:pt x="214422" y="47351"/>
                    <a:pt x="201210" y="83525"/>
                    <a:pt x="194919" y="100342"/>
                  </a:cubicBezTo>
                  <a:cubicBezTo>
                    <a:pt x="192088" y="107958"/>
                    <a:pt x="190830" y="111448"/>
                    <a:pt x="190830" y="117795"/>
                  </a:cubicBezTo>
                  <a:cubicBezTo>
                    <a:pt x="190830" y="132708"/>
                    <a:pt x="201840" y="143814"/>
                    <a:pt x="216623" y="143814"/>
                  </a:cubicBezTo>
                  <a:cubicBezTo>
                    <a:pt x="246191" y="143814"/>
                    <a:pt x="257830" y="97487"/>
                    <a:pt x="257830" y="94948"/>
                  </a:cubicBezTo>
                  <a:cubicBezTo>
                    <a:pt x="257830" y="91775"/>
                    <a:pt x="254999" y="91775"/>
                    <a:pt x="254055" y="91775"/>
                  </a:cubicBezTo>
                  <a:cubicBezTo>
                    <a:pt x="250910" y="91775"/>
                    <a:pt x="250910" y="92727"/>
                    <a:pt x="249337" y="97487"/>
                  </a:cubicBezTo>
                  <a:cubicBezTo>
                    <a:pt x="244619" y="114304"/>
                    <a:pt x="234553" y="136833"/>
                    <a:pt x="217253" y="136833"/>
                  </a:cubicBezTo>
                  <a:cubicBezTo>
                    <a:pt x="211905" y="136833"/>
                    <a:pt x="209703" y="133660"/>
                    <a:pt x="209703" y="126362"/>
                  </a:cubicBezTo>
                  <a:cubicBezTo>
                    <a:pt x="209703" y="118429"/>
                    <a:pt x="212534" y="110814"/>
                    <a:pt x="215365" y="103833"/>
                  </a:cubicBezTo>
                  <a:cubicBezTo>
                    <a:pt x="221342" y="87333"/>
                    <a:pt x="234553" y="52111"/>
                    <a:pt x="234553" y="34024"/>
                  </a:cubicBezTo>
                  <a:cubicBezTo>
                    <a:pt x="234553" y="13399"/>
                    <a:pt x="221971" y="72"/>
                    <a:pt x="198379" y="72"/>
                  </a:cubicBezTo>
                  <a:cubicBezTo>
                    <a:pt x="174788" y="72"/>
                    <a:pt x="158746" y="14034"/>
                    <a:pt x="147107" y="30851"/>
                  </a:cubicBezTo>
                  <a:cubicBezTo>
                    <a:pt x="146793" y="26726"/>
                    <a:pt x="145849" y="15938"/>
                    <a:pt x="137042" y="8322"/>
                  </a:cubicBezTo>
                  <a:cubicBezTo>
                    <a:pt x="129178" y="1659"/>
                    <a:pt x="119112" y="72"/>
                    <a:pt x="111249" y="72"/>
                  </a:cubicBezTo>
                  <a:cubicBezTo>
                    <a:pt x="82939" y="72"/>
                    <a:pt x="67526" y="20380"/>
                    <a:pt x="62178" y="27678"/>
                  </a:cubicBezTo>
                  <a:cubicBezTo>
                    <a:pt x="60606" y="9591"/>
                    <a:pt x="47394" y="72"/>
                    <a:pt x="33240" y="72"/>
                  </a:cubicBezTo>
                  <a:cubicBezTo>
                    <a:pt x="18770" y="72"/>
                    <a:pt x="12794" y="12447"/>
                    <a:pt x="9963" y="18159"/>
                  </a:cubicBezTo>
                  <a:cubicBezTo>
                    <a:pt x="4301" y="29265"/>
                    <a:pt x="212" y="47986"/>
                    <a:pt x="212" y="48938"/>
                  </a:cubicBezTo>
                  <a:cubicBezTo>
                    <a:pt x="212" y="52111"/>
                    <a:pt x="3357" y="52111"/>
                    <a:pt x="3986" y="52111"/>
                  </a:cubicBezTo>
                  <a:cubicBezTo>
                    <a:pt x="7132" y="52111"/>
                    <a:pt x="7446" y="51794"/>
                    <a:pt x="9334" y="44813"/>
                  </a:cubicBezTo>
                  <a:cubicBezTo>
                    <a:pt x="14681" y="22284"/>
                    <a:pt x="20972" y="7053"/>
                    <a:pt x="32296" y="7053"/>
                  </a:cubicBezTo>
                  <a:cubicBezTo>
                    <a:pt x="37329" y="7053"/>
                    <a:pt x="42047" y="9591"/>
                    <a:pt x="42047" y="21649"/>
                  </a:cubicBezTo>
                  <a:cubicBezTo>
                    <a:pt x="42047" y="28313"/>
                    <a:pt x="41103" y="31803"/>
                    <a:pt x="37014" y="48303"/>
                  </a:cubicBezTo>
                  <a:lnTo>
                    <a:pt x="18770" y="121602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11" name="任意形状 10010">
              <a:extLst>
                <a:ext uri="{FF2B5EF4-FFF2-40B4-BE49-F238E27FC236}">
                  <a16:creationId xmlns:a16="http://schemas.microsoft.com/office/drawing/2014/main" id="{4CA1FC68-7E18-B5FB-2A71-7C85785F04A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628769" y="4047604"/>
              <a:ext cx="74423" cy="141044"/>
            </a:xfrm>
            <a:custGeom>
              <a:avLst/>
              <a:gdLst>
                <a:gd name="connsiteX0" fmla="*/ 45138 w 74423"/>
                <a:gd name="connsiteY0" fmla="*/ 51161 h 141044"/>
                <a:gd name="connsiteX1" fmla="*/ 67597 w 74423"/>
                <a:gd name="connsiteY1" fmla="*/ 51161 h 141044"/>
                <a:gd name="connsiteX2" fmla="*/ 74643 w 74423"/>
                <a:gd name="connsiteY2" fmla="*/ 46274 h 141044"/>
                <a:gd name="connsiteX3" fmla="*/ 68038 w 74423"/>
                <a:gd name="connsiteY3" fmla="*/ 43164 h 141044"/>
                <a:gd name="connsiteX4" fmla="*/ 47120 w 74423"/>
                <a:gd name="connsiteY4" fmla="*/ 43164 h 141044"/>
                <a:gd name="connsiteX5" fmla="*/ 55267 w 74423"/>
                <a:gd name="connsiteY5" fmla="*/ 10291 h 141044"/>
                <a:gd name="connsiteX6" fmla="*/ 55928 w 74423"/>
                <a:gd name="connsiteY6" fmla="*/ 7181 h 141044"/>
                <a:gd name="connsiteX7" fmla="*/ 48441 w 74423"/>
                <a:gd name="connsiteY7" fmla="*/ 74 h 141044"/>
                <a:gd name="connsiteX8" fmla="*/ 38092 w 74423"/>
                <a:gd name="connsiteY8" fmla="*/ 9625 h 141044"/>
                <a:gd name="connsiteX9" fmla="*/ 29725 w 74423"/>
                <a:gd name="connsiteY9" fmla="*/ 43164 h 141044"/>
                <a:gd name="connsiteX10" fmla="*/ 7266 w 74423"/>
                <a:gd name="connsiteY10" fmla="*/ 43164 h 141044"/>
                <a:gd name="connsiteX11" fmla="*/ 220 w 74423"/>
                <a:gd name="connsiteY11" fmla="*/ 48051 h 141044"/>
                <a:gd name="connsiteX12" fmla="*/ 6826 w 74423"/>
                <a:gd name="connsiteY12" fmla="*/ 51161 h 141044"/>
                <a:gd name="connsiteX13" fmla="*/ 27744 w 74423"/>
                <a:gd name="connsiteY13" fmla="*/ 51161 h 141044"/>
                <a:gd name="connsiteX14" fmla="*/ 14753 w 74423"/>
                <a:gd name="connsiteY14" fmla="*/ 103581 h 141044"/>
                <a:gd name="connsiteX15" fmla="*/ 11450 w 74423"/>
                <a:gd name="connsiteY15" fmla="*/ 120017 h 141044"/>
                <a:gd name="connsiteX16" fmla="*/ 35010 w 74423"/>
                <a:gd name="connsiteY16" fmla="*/ 141118 h 141044"/>
                <a:gd name="connsiteX17" fmla="*/ 73322 w 74423"/>
                <a:gd name="connsiteY17" fmla="*/ 107134 h 141044"/>
                <a:gd name="connsiteX18" fmla="*/ 69799 w 74423"/>
                <a:gd name="connsiteY18" fmla="*/ 104247 h 141044"/>
                <a:gd name="connsiteX19" fmla="*/ 65175 w 74423"/>
                <a:gd name="connsiteY19" fmla="*/ 108467 h 141044"/>
                <a:gd name="connsiteX20" fmla="*/ 35670 w 74423"/>
                <a:gd name="connsiteY20" fmla="*/ 134899 h 141044"/>
                <a:gd name="connsiteX21" fmla="*/ 27964 w 74423"/>
                <a:gd name="connsiteY21" fmla="*/ 124015 h 141044"/>
                <a:gd name="connsiteX22" fmla="*/ 29285 w 74423"/>
                <a:gd name="connsiteY22" fmla="*/ 114909 h 141044"/>
                <a:gd name="connsiteX23" fmla="*/ 45138 w 74423"/>
                <a:gd name="connsiteY23" fmla="*/ 51161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38" y="51161"/>
                  </a:moveTo>
                  <a:lnTo>
                    <a:pt x="67597" y="51161"/>
                  </a:lnTo>
                  <a:cubicBezTo>
                    <a:pt x="71781" y="51161"/>
                    <a:pt x="74643" y="51161"/>
                    <a:pt x="74643" y="46274"/>
                  </a:cubicBezTo>
                  <a:cubicBezTo>
                    <a:pt x="74643" y="43164"/>
                    <a:pt x="71781" y="43164"/>
                    <a:pt x="68038" y="43164"/>
                  </a:cubicBezTo>
                  <a:lnTo>
                    <a:pt x="47120" y="43164"/>
                  </a:lnTo>
                  <a:lnTo>
                    <a:pt x="55267" y="10291"/>
                  </a:lnTo>
                  <a:cubicBezTo>
                    <a:pt x="55487" y="9180"/>
                    <a:pt x="55928" y="8070"/>
                    <a:pt x="55928" y="7181"/>
                  </a:cubicBezTo>
                  <a:cubicBezTo>
                    <a:pt x="55928" y="3183"/>
                    <a:pt x="52845" y="74"/>
                    <a:pt x="48441" y="74"/>
                  </a:cubicBezTo>
                  <a:cubicBezTo>
                    <a:pt x="42937" y="74"/>
                    <a:pt x="39634" y="3850"/>
                    <a:pt x="38092" y="9625"/>
                  </a:cubicBezTo>
                  <a:cubicBezTo>
                    <a:pt x="36551" y="15178"/>
                    <a:pt x="39414" y="4516"/>
                    <a:pt x="29725" y="43164"/>
                  </a:cubicBezTo>
                  <a:lnTo>
                    <a:pt x="7266" y="43164"/>
                  </a:lnTo>
                  <a:cubicBezTo>
                    <a:pt x="3083" y="43164"/>
                    <a:pt x="220" y="43164"/>
                    <a:pt x="220" y="48051"/>
                  </a:cubicBezTo>
                  <a:cubicBezTo>
                    <a:pt x="220" y="51161"/>
                    <a:pt x="2863" y="51161"/>
                    <a:pt x="6826" y="51161"/>
                  </a:cubicBezTo>
                  <a:lnTo>
                    <a:pt x="27744" y="51161"/>
                  </a:lnTo>
                  <a:lnTo>
                    <a:pt x="14753" y="103581"/>
                  </a:lnTo>
                  <a:cubicBezTo>
                    <a:pt x="13432" y="109133"/>
                    <a:pt x="11450" y="117130"/>
                    <a:pt x="11450" y="120017"/>
                  </a:cubicBezTo>
                  <a:cubicBezTo>
                    <a:pt x="11450" y="133122"/>
                    <a:pt x="22459" y="141118"/>
                    <a:pt x="35010" y="141118"/>
                  </a:cubicBezTo>
                  <a:cubicBezTo>
                    <a:pt x="59451" y="141118"/>
                    <a:pt x="73322" y="110022"/>
                    <a:pt x="73322" y="107134"/>
                  </a:cubicBezTo>
                  <a:cubicBezTo>
                    <a:pt x="73322" y="104247"/>
                    <a:pt x="70460" y="104247"/>
                    <a:pt x="69799" y="104247"/>
                  </a:cubicBezTo>
                  <a:cubicBezTo>
                    <a:pt x="67157" y="104247"/>
                    <a:pt x="66937" y="104691"/>
                    <a:pt x="65175" y="108467"/>
                  </a:cubicBezTo>
                  <a:cubicBezTo>
                    <a:pt x="59010" y="122461"/>
                    <a:pt x="47781" y="134899"/>
                    <a:pt x="35670" y="134899"/>
                  </a:cubicBezTo>
                  <a:cubicBezTo>
                    <a:pt x="31046" y="134899"/>
                    <a:pt x="27964" y="132012"/>
                    <a:pt x="27964" y="124015"/>
                  </a:cubicBezTo>
                  <a:cubicBezTo>
                    <a:pt x="27964" y="121794"/>
                    <a:pt x="28845" y="117130"/>
                    <a:pt x="29285" y="114909"/>
                  </a:cubicBezTo>
                  <a:lnTo>
                    <a:pt x="45138" y="51161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12" name="任意形状 10011">
              <a:extLst>
                <a:ext uri="{FF2B5EF4-FFF2-40B4-BE49-F238E27FC236}">
                  <a16:creationId xmlns:a16="http://schemas.microsoft.com/office/drawing/2014/main" id="{ADB39E81-0A2B-3454-766D-30F41E7D30E0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738322" y="4125345"/>
              <a:ext cx="148846" cy="10883"/>
            </a:xfrm>
            <a:custGeom>
              <a:avLst/>
              <a:gdLst>
                <a:gd name="connsiteX0" fmla="*/ 140262 w 148846"/>
                <a:gd name="connsiteY0" fmla="*/ 10957 h 10883"/>
                <a:gd name="connsiteX1" fmla="*/ 149069 w 148846"/>
                <a:gd name="connsiteY1" fmla="*/ 5627 h 10883"/>
                <a:gd name="connsiteX2" fmla="*/ 140262 w 148846"/>
                <a:gd name="connsiteY2" fmla="*/ 74 h 10883"/>
                <a:gd name="connsiteX3" fmla="*/ 9031 w 148846"/>
                <a:gd name="connsiteY3" fmla="*/ 74 h 10883"/>
                <a:gd name="connsiteX4" fmla="*/ 223 w 148846"/>
                <a:gd name="connsiteY4" fmla="*/ 5404 h 10883"/>
                <a:gd name="connsiteX5" fmla="*/ 9031 w 148846"/>
                <a:gd name="connsiteY5" fmla="*/ 10957 h 10883"/>
                <a:gd name="connsiteX6" fmla="*/ 140262 w 148846"/>
                <a:gd name="connsiteY6" fmla="*/ 10957 h 1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8846" h="10883">
                  <a:moveTo>
                    <a:pt x="140262" y="10957"/>
                  </a:moveTo>
                  <a:cubicBezTo>
                    <a:pt x="143785" y="10957"/>
                    <a:pt x="149069" y="10957"/>
                    <a:pt x="149069" y="5627"/>
                  </a:cubicBezTo>
                  <a:cubicBezTo>
                    <a:pt x="149069" y="74"/>
                    <a:pt x="144005" y="74"/>
                    <a:pt x="140262" y="74"/>
                  </a:cubicBezTo>
                  <a:lnTo>
                    <a:pt x="9031" y="74"/>
                  </a:lnTo>
                  <a:cubicBezTo>
                    <a:pt x="5508" y="74"/>
                    <a:pt x="223" y="74"/>
                    <a:pt x="223" y="5404"/>
                  </a:cubicBezTo>
                  <a:cubicBezTo>
                    <a:pt x="223" y="10957"/>
                    <a:pt x="5288" y="10957"/>
                    <a:pt x="9031" y="10957"/>
                  </a:cubicBezTo>
                  <a:lnTo>
                    <a:pt x="140262" y="10957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13" name="任意形状 10012">
              <a:extLst>
                <a:ext uri="{FF2B5EF4-FFF2-40B4-BE49-F238E27FC236}">
                  <a16:creationId xmlns:a16="http://schemas.microsoft.com/office/drawing/2014/main" id="{1471B367-935C-20A3-24F5-5EE89B8BBA76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7935139" y="4038942"/>
              <a:ext cx="80147" cy="147486"/>
            </a:xfrm>
            <a:custGeom>
              <a:avLst/>
              <a:gdLst>
                <a:gd name="connsiteX0" fmla="*/ 49992 w 80147"/>
                <a:gd name="connsiteY0" fmla="*/ 6293 h 147486"/>
                <a:gd name="connsiteX1" fmla="*/ 43386 w 80147"/>
                <a:gd name="connsiteY1" fmla="*/ 74 h 147486"/>
                <a:gd name="connsiteX2" fmla="*/ 230 w 80147"/>
                <a:gd name="connsiteY2" fmla="*/ 14289 h 147486"/>
                <a:gd name="connsiteX3" fmla="*/ 230 w 80147"/>
                <a:gd name="connsiteY3" fmla="*/ 22285 h 147486"/>
                <a:gd name="connsiteX4" fmla="*/ 32157 w 80147"/>
                <a:gd name="connsiteY4" fmla="*/ 16066 h 147486"/>
                <a:gd name="connsiteX5" fmla="*/ 32157 w 80147"/>
                <a:gd name="connsiteY5" fmla="*/ 129346 h 147486"/>
                <a:gd name="connsiteX6" fmla="*/ 10138 w 80147"/>
                <a:gd name="connsiteY6" fmla="*/ 139564 h 147486"/>
                <a:gd name="connsiteX7" fmla="*/ 1771 w 80147"/>
                <a:gd name="connsiteY7" fmla="*/ 139564 h 147486"/>
                <a:gd name="connsiteX8" fmla="*/ 1771 w 80147"/>
                <a:gd name="connsiteY8" fmla="*/ 147560 h 147486"/>
                <a:gd name="connsiteX9" fmla="*/ 40964 w 80147"/>
                <a:gd name="connsiteY9" fmla="*/ 146671 h 147486"/>
                <a:gd name="connsiteX10" fmla="*/ 80378 w 80147"/>
                <a:gd name="connsiteY10" fmla="*/ 147560 h 147486"/>
                <a:gd name="connsiteX11" fmla="*/ 80378 w 80147"/>
                <a:gd name="connsiteY11" fmla="*/ 139564 h 147486"/>
                <a:gd name="connsiteX12" fmla="*/ 72010 w 80147"/>
                <a:gd name="connsiteY12" fmla="*/ 139564 h 147486"/>
                <a:gd name="connsiteX13" fmla="*/ 49992 w 80147"/>
                <a:gd name="connsiteY13" fmla="*/ 129346 h 147486"/>
                <a:gd name="connsiteX14" fmla="*/ 49992 w 80147"/>
                <a:gd name="connsiteY14" fmla="*/ 6293 h 14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147" h="147486">
                  <a:moveTo>
                    <a:pt x="49992" y="6293"/>
                  </a:moveTo>
                  <a:cubicBezTo>
                    <a:pt x="49992" y="296"/>
                    <a:pt x="49551" y="74"/>
                    <a:pt x="43386" y="74"/>
                  </a:cubicBezTo>
                  <a:cubicBezTo>
                    <a:pt x="29294" y="14067"/>
                    <a:pt x="9257" y="14289"/>
                    <a:pt x="230" y="14289"/>
                  </a:cubicBezTo>
                  <a:lnTo>
                    <a:pt x="230" y="22285"/>
                  </a:lnTo>
                  <a:cubicBezTo>
                    <a:pt x="5514" y="22285"/>
                    <a:pt x="20046" y="22285"/>
                    <a:pt x="32157" y="16066"/>
                  </a:cubicBezTo>
                  <a:lnTo>
                    <a:pt x="32157" y="129346"/>
                  </a:lnTo>
                  <a:cubicBezTo>
                    <a:pt x="32157" y="136676"/>
                    <a:pt x="32157" y="139564"/>
                    <a:pt x="10138" y="139564"/>
                  </a:cubicBezTo>
                  <a:lnTo>
                    <a:pt x="1771" y="139564"/>
                  </a:lnTo>
                  <a:lnTo>
                    <a:pt x="1771" y="147560"/>
                  </a:lnTo>
                  <a:cubicBezTo>
                    <a:pt x="5734" y="147338"/>
                    <a:pt x="32817" y="146671"/>
                    <a:pt x="40964" y="146671"/>
                  </a:cubicBezTo>
                  <a:cubicBezTo>
                    <a:pt x="47790" y="146671"/>
                    <a:pt x="75533" y="147338"/>
                    <a:pt x="80378" y="147560"/>
                  </a:cubicBezTo>
                  <a:lnTo>
                    <a:pt x="80378" y="139564"/>
                  </a:lnTo>
                  <a:lnTo>
                    <a:pt x="72010" y="139564"/>
                  </a:lnTo>
                  <a:cubicBezTo>
                    <a:pt x="49992" y="139564"/>
                    <a:pt x="49992" y="136676"/>
                    <a:pt x="49992" y="129346"/>
                  </a:cubicBezTo>
                  <a:lnTo>
                    <a:pt x="49992" y="6293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14" name="任意形状 10013">
              <a:extLst>
                <a:ext uri="{FF2B5EF4-FFF2-40B4-BE49-F238E27FC236}">
                  <a16:creationId xmlns:a16="http://schemas.microsoft.com/office/drawing/2014/main" id="{160209AC-45B5-181E-134F-0D71974C4AEB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139763" y="3953839"/>
              <a:ext cx="209177" cy="211329"/>
            </a:xfrm>
            <a:custGeom>
              <a:avLst/>
              <a:gdLst>
                <a:gd name="connsiteX0" fmla="*/ 111273 w 209177"/>
                <a:gd name="connsiteY0" fmla="*/ 112083 h 211329"/>
                <a:gd name="connsiteX1" fmla="*/ 199033 w 209177"/>
                <a:gd name="connsiteY1" fmla="*/ 112083 h 211329"/>
                <a:gd name="connsiteX2" fmla="*/ 209413 w 209177"/>
                <a:gd name="connsiteY2" fmla="*/ 105737 h 211329"/>
                <a:gd name="connsiteX3" fmla="*/ 199033 w 209177"/>
                <a:gd name="connsiteY3" fmla="*/ 99391 h 211329"/>
                <a:gd name="connsiteX4" fmla="*/ 111273 w 209177"/>
                <a:gd name="connsiteY4" fmla="*/ 99391 h 211329"/>
                <a:gd name="connsiteX5" fmla="*/ 111273 w 209177"/>
                <a:gd name="connsiteY5" fmla="*/ 10543 h 211329"/>
                <a:gd name="connsiteX6" fmla="*/ 104982 w 209177"/>
                <a:gd name="connsiteY6" fmla="*/ 72 h 211329"/>
                <a:gd name="connsiteX7" fmla="*/ 98691 w 209177"/>
                <a:gd name="connsiteY7" fmla="*/ 10543 h 211329"/>
                <a:gd name="connsiteX8" fmla="*/ 98691 w 209177"/>
                <a:gd name="connsiteY8" fmla="*/ 99391 h 211329"/>
                <a:gd name="connsiteX9" fmla="*/ 10617 w 209177"/>
                <a:gd name="connsiteY9" fmla="*/ 99391 h 211329"/>
                <a:gd name="connsiteX10" fmla="*/ 236 w 209177"/>
                <a:gd name="connsiteY10" fmla="*/ 105737 h 211329"/>
                <a:gd name="connsiteX11" fmla="*/ 10617 w 209177"/>
                <a:gd name="connsiteY11" fmla="*/ 112083 h 211329"/>
                <a:gd name="connsiteX12" fmla="*/ 98691 w 209177"/>
                <a:gd name="connsiteY12" fmla="*/ 112083 h 211329"/>
                <a:gd name="connsiteX13" fmla="*/ 98691 w 209177"/>
                <a:gd name="connsiteY13" fmla="*/ 200930 h 211329"/>
                <a:gd name="connsiteX14" fmla="*/ 104982 w 209177"/>
                <a:gd name="connsiteY14" fmla="*/ 211401 h 211329"/>
                <a:gd name="connsiteX15" fmla="*/ 111273 w 209177"/>
                <a:gd name="connsiteY15" fmla="*/ 200930 h 211329"/>
                <a:gd name="connsiteX16" fmla="*/ 111273 w 209177"/>
                <a:gd name="connsiteY16" fmla="*/ 112083 h 21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9177" h="211329">
                  <a:moveTo>
                    <a:pt x="111273" y="112083"/>
                  </a:moveTo>
                  <a:lnTo>
                    <a:pt x="199033" y="112083"/>
                  </a:lnTo>
                  <a:cubicBezTo>
                    <a:pt x="203437" y="112083"/>
                    <a:pt x="209413" y="112083"/>
                    <a:pt x="209413" y="105737"/>
                  </a:cubicBezTo>
                  <a:cubicBezTo>
                    <a:pt x="209413" y="99391"/>
                    <a:pt x="203437" y="99391"/>
                    <a:pt x="199033" y="99391"/>
                  </a:cubicBezTo>
                  <a:lnTo>
                    <a:pt x="111273" y="99391"/>
                  </a:lnTo>
                  <a:lnTo>
                    <a:pt x="111273" y="10543"/>
                  </a:lnTo>
                  <a:cubicBezTo>
                    <a:pt x="111273" y="6101"/>
                    <a:pt x="111273" y="72"/>
                    <a:pt x="104982" y="72"/>
                  </a:cubicBezTo>
                  <a:cubicBezTo>
                    <a:pt x="98691" y="72"/>
                    <a:pt x="98691" y="6101"/>
                    <a:pt x="98691" y="10543"/>
                  </a:cubicBezTo>
                  <a:lnTo>
                    <a:pt x="98691" y="99391"/>
                  </a:lnTo>
                  <a:lnTo>
                    <a:pt x="10617" y="99391"/>
                  </a:lnTo>
                  <a:cubicBezTo>
                    <a:pt x="6213" y="99391"/>
                    <a:pt x="236" y="99391"/>
                    <a:pt x="236" y="105737"/>
                  </a:cubicBezTo>
                  <a:cubicBezTo>
                    <a:pt x="236" y="112083"/>
                    <a:pt x="6213" y="112083"/>
                    <a:pt x="10617" y="112083"/>
                  </a:cubicBezTo>
                  <a:lnTo>
                    <a:pt x="98691" y="112083"/>
                  </a:lnTo>
                  <a:lnTo>
                    <a:pt x="98691" y="200930"/>
                  </a:lnTo>
                  <a:cubicBezTo>
                    <a:pt x="98691" y="205372"/>
                    <a:pt x="98691" y="211401"/>
                    <a:pt x="104982" y="211401"/>
                  </a:cubicBezTo>
                  <a:cubicBezTo>
                    <a:pt x="111273" y="211401"/>
                    <a:pt x="111273" y="205372"/>
                    <a:pt x="111273" y="200930"/>
                  </a:cubicBezTo>
                  <a:lnTo>
                    <a:pt x="111273" y="112083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15" name="任意形状 10014">
              <a:extLst>
                <a:ext uri="{FF2B5EF4-FFF2-40B4-BE49-F238E27FC236}">
                  <a16:creationId xmlns:a16="http://schemas.microsoft.com/office/drawing/2014/main" id="{1E11AD1C-0464-8140-7D87-562621B2CFB3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8467840" y="3900848"/>
              <a:ext cx="72976" cy="317311"/>
            </a:xfrm>
            <a:custGeom>
              <a:avLst/>
              <a:gdLst>
                <a:gd name="connsiteX0" fmla="*/ 73222 w 72976"/>
                <a:gd name="connsiteY0" fmla="*/ 314210 h 317311"/>
                <a:gd name="connsiteX1" fmla="*/ 67875 w 72976"/>
                <a:gd name="connsiteY1" fmla="*/ 307229 h 317311"/>
                <a:gd name="connsiteX2" fmla="*/ 18490 w 72976"/>
                <a:gd name="connsiteY2" fmla="*/ 158728 h 317311"/>
                <a:gd name="connsiteX3" fmla="*/ 69133 w 72976"/>
                <a:gd name="connsiteY3" fmla="*/ 8640 h 317311"/>
                <a:gd name="connsiteX4" fmla="*/ 73222 w 72976"/>
                <a:gd name="connsiteY4" fmla="*/ 3245 h 317311"/>
                <a:gd name="connsiteX5" fmla="*/ 70077 w 72976"/>
                <a:gd name="connsiteY5" fmla="*/ 72 h 317311"/>
                <a:gd name="connsiteX6" fmla="*/ 20063 w 72976"/>
                <a:gd name="connsiteY6" fmla="*/ 61948 h 317311"/>
                <a:gd name="connsiteX7" fmla="*/ 246 w 72976"/>
                <a:gd name="connsiteY7" fmla="*/ 158728 h 317311"/>
                <a:gd name="connsiteX8" fmla="*/ 21007 w 72976"/>
                <a:gd name="connsiteY8" fmla="*/ 257729 h 317311"/>
                <a:gd name="connsiteX9" fmla="*/ 70077 w 72976"/>
                <a:gd name="connsiteY9" fmla="*/ 317383 h 317311"/>
                <a:gd name="connsiteX10" fmla="*/ 73222 w 72976"/>
                <a:gd name="connsiteY10" fmla="*/ 314210 h 31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976" h="317311">
                  <a:moveTo>
                    <a:pt x="73222" y="314210"/>
                  </a:moveTo>
                  <a:cubicBezTo>
                    <a:pt x="73222" y="313258"/>
                    <a:pt x="73222" y="312624"/>
                    <a:pt x="67875" y="307229"/>
                  </a:cubicBezTo>
                  <a:cubicBezTo>
                    <a:pt x="28556" y="267248"/>
                    <a:pt x="18490" y="207276"/>
                    <a:pt x="18490" y="158728"/>
                  </a:cubicBezTo>
                  <a:cubicBezTo>
                    <a:pt x="18490" y="103516"/>
                    <a:pt x="30443" y="48303"/>
                    <a:pt x="69133" y="8640"/>
                  </a:cubicBezTo>
                  <a:cubicBezTo>
                    <a:pt x="73222" y="4832"/>
                    <a:pt x="73222" y="4197"/>
                    <a:pt x="73222" y="3245"/>
                  </a:cubicBezTo>
                  <a:cubicBezTo>
                    <a:pt x="73222" y="1024"/>
                    <a:pt x="71964" y="72"/>
                    <a:pt x="70077" y="72"/>
                  </a:cubicBezTo>
                  <a:cubicBezTo>
                    <a:pt x="66931" y="72"/>
                    <a:pt x="38622" y="21649"/>
                    <a:pt x="20063" y="61948"/>
                  </a:cubicBezTo>
                  <a:cubicBezTo>
                    <a:pt x="4021" y="96852"/>
                    <a:pt x="246" y="132074"/>
                    <a:pt x="246" y="158728"/>
                  </a:cubicBezTo>
                  <a:cubicBezTo>
                    <a:pt x="246" y="183478"/>
                    <a:pt x="3706" y="221873"/>
                    <a:pt x="21007" y="257729"/>
                  </a:cubicBezTo>
                  <a:cubicBezTo>
                    <a:pt x="39880" y="296758"/>
                    <a:pt x="66931" y="317383"/>
                    <a:pt x="70077" y="317383"/>
                  </a:cubicBezTo>
                  <a:cubicBezTo>
                    <a:pt x="71964" y="317383"/>
                    <a:pt x="73222" y="316431"/>
                    <a:pt x="73222" y="314210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16" name="任意形状 10015">
              <a:extLst>
                <a:ext uri="{FF2B5EF4-FFF2-40B4-BE49-F238E27FC236}">
                  <a16:creationId xmlns:a16="http://schemas.microsoft.com/office/drawing/2014/main" id="{D7979B29-CB5B-2D44-F5D6-22C85ADC31AD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587021" y="3927502"/>
              <a:ext cx="103802" cy="211329"/>
            </a:xfrm>
            <a:custGeom>
              <a:avLst/>
              <a:gdLst>
                <a:gd name="connsiteX0" fmla="*/ 64733 w 103802"/>
                <a:gd name="connsiteY0" fmla="*/ 8322 h 211329"/>
                <a:gd name="connsiteX1" fmla="*/ 57499 w 103802"/>
                <a:gd name="connsiteY1" fmla="*/ 72 h 211329"/>
                <a:gd name="connsiteX2" fmla="*/ 250 w 103802"/>
                <a:gd name="connsiteY2" fmla="*/ 20380 h 211329"/>
                <a:gd name="connsiteX3" fmla="*/ 250 w 103802"/>
                <a:gd name="connsiteY3" fmla="*/ 30217 h 211329"/>
                <a:gd name="connsiteX4" fmla="*/ 41456 w 103802"/>
                <a:gd name="connsiteY4" fmla="*/ 21967 h 211329"/>
                <a:gd name="connsiteX5" fmla="*/ 41456 w 103802"/>
                <a:gd name="connsiteY5" fmla="*/ 186334 h 211329"/>
                <a:gd name="connsiteX6" fmla="*/ 12203 w 103802"/>
                <a:gd name="connsiteY6" fmla="*/ 201565 h 211329"/>
                <a:gd name="connsiteX7" fmla="*/ 2137 w 103802"/>
                <a:gd name="connsiteY7" fmla="*/ 201565 h 211329"/>
                <a:gd name="connsiteX8" fmla="*/ 2137 w 103802"/>
                <a:gd name="connsiteY8" fmla="*/ 211401 h 211329"/>
                <a:gd name="connsiteX9" fmla="*/ 53095 w 103802"/>
                <a:gd name="connsiteY9" fmla="*/ 210449 h 211329"/>
                <a:gd name="connsiteX10" fmla="*/ 104052 w 103802"/>
                <a:gd name="connsiteY10" fmla="*/ 211401 h 211329"/>
                <a:gd name="connsiteX11" fmla="*/ 104052 w 103802"/>
                <a:gd name="connsiteY11" fmla="*/ 201565 h 211329"/>
                <a:gd name="connsiteX12" fmla="*/ 93987 w 103802"/>
                <a:gd name="connsiteY12" fmla="*/ 201565 h 211329"/>
                <a:gd name="connsiteX13" fmla="*/ 64733 w 103802"/>
                <a:gd name="connsiteY13" fmla="*/ 186334 h 211329"/>
                <a:gd name="connsiteX14" fmla="*/ 64733 w 103802"/>
                <a:gd name="connsiteY14" fmla="*/ 8322 h 21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3802" h="211329">
                  <a:moveTo>
                    <a:pt x="64733" y="8322"/>
                  </a:moveTo>
                  <a:cubicBezTo>
                    <a:pt x="64733" y="707"/>
                    <a:pt x="64733" y="72"/>
                    <a:pt x="57499" y="72"/>
                  </a:cubicBezTo>
                  <a:cubicBezTo>
                    <a:pt x="37996" y="20380"/>
                    <a:pt x="10316" y="20380"/>
                    <a:pt x="250" y="20380"/>
                  </a:cubicBezTo>
                  <a:lnTo>
                    <a:pt x="250" y="30217"/>
                  </a:lnTo>
                  <a:cubicBezTo>
                    <a:pt x="6541" y="30217"/>
                    <a:pt x="25100" y="30217"/>
                    <a:pt x="41456" y="21967"/>
                  </a:cubicBezTo>
                  <a:lnTo>
                    <a:pt x="41456" y="186334"/>
                  </a:lnTo>
                  <a:cubicBezTo>
                    <a:pt x="41456" y="197757"/>
                    <a:pt x="40513" y="201565"/>
                    <a:pt x="12203" y="201565"/>
                  </a:cubicBezTo>
                  <a:lnTo>
                    <a:pt x="2137" y="201565"/>
                  </a:lnTo>
                  <a:lnTo>
                    <a:pt x="2137" y="211401"/>
                  </a:lnTo>
                  <a:cubicBezTo>
                    <a:pt x="13147" y="210449"/>
                    <a:pt x="40513" y="210449"/>
                    <a:pt x="53095" y="210449"/>
                  </a:cubicBezTo>
                  <a:cubicBezTo>
                    <a:pt x="65677" y="210449"/>
                    <a:pt x="93043" y="210449"/>
                    <a:pt x="104052" y="211401"/>
                  </a:cubicBezTo>
                  <a:lnTo>
                    <a:pt x="104052" y="201565"/>
                  </a:lnTo>
                  <a:lnTo>
                    <a:pt x="93987" y="201565"/>
                  </a:lnTo>
                  <a:cubicBezTo>
                    <a:pt x="65677" y="201565"/>
                    <a:pt x="64733" y="198074"/>
                    <a:pt x="64733" y="186334"/>
                  </a:cubicBezTo>
                  <a:lnTo>
                    <a:pt x="64733" y="8322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17" name="任意形状 10016">
              <a:extLst>
                <a:ext uri="{FF2B5EF4-FFF2-40B4-BE49-F238E27FC236}">
                  <a16:creationId xmlns:a16="http://schemas.microsoft.com/office/drawing/2014/main" id="{98E21A83-37A0-A43B-D4FF-8B7A5C793EF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8812309" y="4053158"/>
              <a:ext cx="192191" cy="12692"/>
            </a:xfrm>
            <a:custGeom>
              <a:avLst/>
              <a:gdLst>
                <a:gd name="connsiteX0" fmla="*/ 181439 w 192191"/>
                <a:gd name="connsiteY0" fmla="*/ 12765 h 12692"/>
                <a:gd name="connsiteX1" fmla="*/ 192449 w 192191"/>
                <a:gd name="connsiteY1" fmla="*/ 6418 h 12692"/>
                <a:gd name="connsiteX2" fmla="*/ 181439 w 192191"/>
                <a:gd name="connsiteY2" fmla="*/ 72 h 12692"/>
                <a:gd name="connsiteX3" fmla="*/ 11267 w 192191"/>
                <a:gd name="connsiteY3" fmla="*/ 72 h 12692"/>
                <a:gd name="connsiteX4" fmla="*/ 257 w 192191"/>
                <a:gd name="connsiteY4" fmla="*/ 6418 h 12692"/>
                <a:gd name="connsiteX5" fmla="*/ 11267 w 192191"/>
                <a:gd name="connsiteY5" fmla="*/ 12765 h 12692"/>
                <a:gd name="connsiteX6" fmla="*/ 181439 w 192191"/>
                <a:gd name="connsiteY6" fmla="*/ 12765 h 12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91" h="12692">
                  <a:moveTo>
                    <a:pt x="181439" y="12765"/>
                  </a:moveTo>
                  <a:cubicBezTo>
                    <a:pt x="186787" y="12765"/>
                    <a:pt x="192449" y="12765"/>
                    <a:pt x="192449" y="6418"/>
                  </a:cubicBezTo>
                  <a:cubicBezTo>
                    <a:pt x="192449" y="72"/>
                    <a:pt x="186787" y="72"/>
                    <a:pt x="181439" y="72"/>
                  </a:cubicBezTo>
                  <a:lnTo>
                    <a:pt x="11267" y="72"/>
                  </a:lnTo>
                  <a:cubicBezTo>
                    <a:pt x="5919" y="72"/>
                    <a:pt x="257" y="72"/>
                    <a:pt x="257" y="6418"/>
                  </a:cubicBezTo>
                  <a:cubicBezTo>
                    <a:pt x="257" y="12765"/>
                    <a:pt x="5919" y="12765"/>
                    <a:pt x="11267" y="12765"/>
                  </a:cubicBezTo>
                  <a:lnTo>
                    <a:pt x="181439" y="12765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18" name="任意形状 10017">
              <a:extLst>
                <a:ext uri="{FF2B5EF4-FFF2-40B4-BE49-F238E27FC236}">
                  <a16:creationId xmlns:a16="http://schemas.microsoft.com/office/drawing/2014/main" id="{33F4441E-FF7E-9674-2D45-916AB72937B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9110149" y="3914810"/>
              <a:ext cx="171470" cy="285580"/>
            </a:xfrm>
            <a:custGeom>
              <a:avLst/>
              <a:gdLst>
                <a:gd name="connsiteX0" fmla="*/ 171738 w 171470"/>
                <a:gd name="connsiteY0" fmla="*/ 43544 h 285580"/>
                <a:gd name="connsiteX1" fmla="*/ 128959 w 171470"/>
                <a:gd name="connsiteY1" fmla="*/ 72 h 285580"/>
                <a:gd name="connsiteX2" fmla="*/ 90898 w 171470"/>
                <a:gd name="connsiteY2" fmla="*/ 13399 h 285580"/>
                <a:gd name="connsiteX3" fmla="*/ 50321 w 171470"/>
                <a:gd name="connsiteY3" fmla="*/ 80986 h 285580"/>
                <a:gd name="connsiteX4" fmla="*/ 307 w 171470"/>
                <a:gd name="connsiteY4" fmla="*/ 282479 h 285580"/>
                <a:gd name="connsiteX5" fmla="*/ 4082 w 171470"/>
                <a:gd name="connsiteY5" fmla="*/ 285652 h 285580"/>
                <a:gd name="connsiteX6" fmla="*/ 7856 w 171470"/>
                <a:gd name="connsiteY6" fmla="*/ 284066 h 285580"/>
                <a:gd name="connsiteX7" fmla="*/ 29875 w 171470"/>
                <a:gd name="connsiteY7" fmla="*/ 196488 h 285580"/>
                <a:gd name="connsiteX8" fmla="*/ 72654 w 171470"/>
                <a:gd name="connsiteY8" fmla="*/ 227267 h 285580"/>
                <a:gd name="connsiteX9" fmla="*/ 133363 w 171470"/>
                <a:gd name="connsiteY9" fmla="*/ 202199 h 285580"/>
                <a:gd name="connsiteX10" fmla="*/ 158527 w 171470"/>
                <a:gd name="connsiteY10" fmla="*/ 143814 h 285580"/>
                <a:gd name="connsiteX11" fmla="*/ 135565 w 171470"/>
                <a:gd name="connsiteY11" fmla="*/ 96535 h 285580"/>
                <a:gd name="connsiteX12" fmla="*/ 171738 w 171470"/>
                <a:gd name="connsiteY12" fmla="*/ 43544 h 285580"/>
                <a:gd name="connsiteX13" fmla="*/ 115119 w 171470"/>
                <a:gd name="connsiteY13" fmla="*/ 96217 h 285580"/>
                <a:gd name="connsiteX14" fmla="*/ 100020 w 171470"/>
                <a:gd name="connsiteY14" fmla="*/ 98439 h 285580"/>
                <a:gd name="connsiteX15" fmla="*/ 86180 w 171470"/>
                <a:gd name="connsiteY15" fmla="*/ 97169 h 285580"/>
                <a:gd name="connsiteX16" fmla="*/ 101593 w 171470"/>
                <a:gd name="connsiteY16" fmla="*/ 94631 h 285580"/>
                <a:gd name="connsiteX17" fmla="*/ 115119 w 171470"/>
                <a:gd name="connsiteY17" fmla="*/ 96217 h 285580"/>
                <a:gd name="connsiteX18" fmla="*/ 154123 w 171470"/>
                <a:gd name="connsiteY18" fmla="*/ 36246 h 285580"/>
                <a:gd name="connsiteX19" fmla="*/ 125814 w 171470"/>
                <a:gd name="connsiteY19" fmla="*/ 91140 h 285580"/>
                <a:gd name="connsiteX20" fmla="*/ 101593 w 171470"/>
                <a:gd name="connsiteY20" fmla="*/ 87333 h 285580"/>
                <a:gd name="connsiteX21" fmla="*/ 77372 w 171470"/>
                <a:gd name="connsiteY21" fmla="*/ 97487 h 285580"/>
                <a:gd name="connsiteX22" fmla="*/ 99077 w 171470"/>
                <a:gd name="connsiteY22" fmla="*/ 105419 h 285580"/>
                <a:gd name="connsiteX23" fmla="*/ 124870 w 171470"/>
                <a:gd name="connsiteY23" fmla="*/ 101294 h 285580"/>
                <a:gd name="connsiteX24" fmla="*/ 138710 w 171470"/>
                <a:gd name="connsiteY24" fmla="*/ 137151 h 285580"/>
                <a:gd name="connsiteX25" fmla="*/ 122983 w 171470"/>
                <a:gd name="connsiteY25" fmla="*/ 191728 h 285580"/>
                <a:gd name="connsiteX26" fmla="*/ 71711 w 171470"/>
                <a:gd name="connsiteY26" fmla="*/ 220286 h 285580"/>
                <a:gd name="connsiteX27" fmla="*/ 35852 w 171470"/>
                <a:gd name="connsiteY27" fmla="*/ 179353 h 285580"/>
                <a:gd name="connsiteX28" fmla="*/ 37424 w 171470"/>
                <a:gd name="connsiteY28" fmla="*/ 165391 h 285580"/>
                <a:gd name="connsiteX29" fmla="*/ 57556 w 171470"/>
                <a:gd name="connsiteY29" fmla="*/ 85112 h 285580"/>
                <a:gd name="connsiteX30" fmla="*/ 124870 w 171470"/>
                <a:gd name="connsiteY30" fmla="*/ 7370 h 285580"/>
                <a:gd name="connsiteX31" fmla="*/ 154123 w 171470"/>
                <a:gd name="connsiteY31" fmla="*/ 36246 h 28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1470" h="285580">
                  <a:moveTo>
                    <a:pt x="171738" y="43544"/>
                  </a:moveTo>
                  <a:cubicBezTo>
                    <a:pt x="171738" y="19745"/>
                    <a:pt x="154438" y="72"/>
                    <a:pt x="128959" y="72"/>
                  </a:cubicBezTo>
                  <a:cubicBezTo>
                    <a:pt x="110715" y="72"/>
                    <a:pt x="101908" y="5149"/>
                    <a:pt x="90898" y="13399"/>
                  </a:cubicBezTo>
                  <a:cubicBezTo>
                    <a:pt x="73598" y="26092"/>
                    <a:pt x="56297" y="56871"/>
                    <a:pt x="50321" y="80986"/>
                  </a:cubicBezTo>
                  <a:lnTo>
                    <a:pt x="307" y="282479"/>
                  </a:lnTo>
                  <a:cubicBezTo>
                    <a:pt x="-7" y="283748"/>
                    <a:pt x="1565" y="285652"/>
                    <a:pt x="4082" y="285652"/>
                  </a:cubicBezTo>
                  <a:cubicBezTo>
                    <a:pt x="6598" y="285652"/>
                    <a:pt x="7542" y="285018"/>
                    <a:pt x="7856" y="284066"/>
                  </a:cubicBezTo>
                  <a:lnTo>
                    <a:pt x="29875" y="196488"/>
                  </a:lnTo>
                  <a:cubicBezTo>
                    <a:pt x="35852" y="215526"/>
                    <a:pt x="49692" y="227267"/>
                    <a:pt x="72654" y="227267"/>
                  </a:cubicBezTo>
                  <a:cubicBezTo>
                    <a:pt x="95616" y="227267"/>
                    <a:pt x="119208" y="216161"/>
                    <a:pt x="133363" y="202199"/>
                  </a:cubicBezTo>
                  <a:cubicBezTo>
                    <a:pt x="148461" y="187603"/>
                    <a:pt x="158527" y="167295"/>
                    <a:pt x="158527" y="143814"/>
                  </a:cubicBezTo>
                  <a:cubicBezTo>
                    <a:pt x="158527" y="120968"/>
                    <a:pt x="146888" y="104468"/>
                    <a:pt x="135565" y="96535"/>
                  </a:cubicBezTo>
                  <a:cubicBezTo>
                    <a:pt x="153809" y="86064"/>
                    <a:pt x="171738" y="66390"/>
                    <a:pt x="171738" y="43544"/>
                  </a:cubicBezTo>
                  <a:close/>
                  <a:moveTo>
                    <a:pt x="115119" y="96217"/>
                  </a:moveTo>
                  <a:cubicBezTo>
                    <a:pt x="111030" y="97804"/>
                    <a:pt x="107569" y="98439"/>
                    <a:pt x="100020" y="98439"/>
                  </a:cubicBezTo>
                  <a:cubicBezTo>
                    <a:pt x="95616" y="98439"/>
                    <a:pt x="89325" y="98756"/>
                    <a:pt x="86180" y="97169"/>
                  </a:cubicBezTo>
                  <a:cubicBezTo>
                    <a:pt x="86809" y="93996"/>
                    <a:pt x="98133" y="94631"/>
                    <a:pt x="101593" y="94631"/>
                  </a:cubicBezTo>
                  <a:cubicBezTo>
                    <a:pt x="108199" y="94631"/>
                    <a:pt x="111030" y="94631"/>
                    <a:pt x="115119" y="96217"/>
                  </a:cubicBezTo>
                  <a:close/>
                  <a:moveTo>
                    <a:pt x="154123" y="36246"/>
                  </a:moveTo>
                  <a:cubicBezTo>
                    <a:pt x="154123" y="58457"/>
                    <a:pt x="142170" y="81304"/>
                    <a:pt x="125814" y="91140"/>
                  </a:cubicBezTo>
                  <a:cubicBezTo>
                    <a:pt x="117321" y="87967"/>
                    <a:pt x="111030" y="87333"/>
                    <a:pt x="101593" y="87333"/>
                  </a:cubicBezTo>
                  <a:cubicBezTo>
                    <a:pt x="94987" y="87333"/>
                    <a:pt x="77372" y="87015"/>
                    <a:pt x="77372" y="97487"/>
                  </a:cubicBezTo>
                  <a:cubicBezTo>
                    <a:pt x="77058" y="106371"/>
                    <a:pt x="93415" y="105419"/>
                    <a:pt x="99077" y="105419"/>
                  </a:cubicBezTo>
                  <a:cubicBezTo>
                    <a:pt x="110715" y="105419"/>
                    <a:pt x="115433" y="105102"/>
                    <a:pt x="124870" y="101294"/>
                  </a:cubicBezTo>
                  <a:cubicBezTo>
                    <a:pt x="136823" y="112718"/>
                    <a:pt x="138396" y="122554"/>
                    <a:pt x="138710" y="137151"/>
                  </a:cubicBezTo>
                  <a:cubicBezTo>
                    <a:pt x="139339" y="155555"/>
                    <a:pt x="131790" y="179353"/>
                    <a:pt x="122983" y="191728"/>
                  </a:cubicBezTo>
                  <a:cubicBezTo>
                    <a:pt x="110715" y="208863"/>
                    <a:pt x="89640" y="220286"/>
                    <a:pt x="71711" y="220286"/>
                  </a:cubicBezTo>
                  <a:cubicBezTo>
                    <a:pt x="47805" y="220286"/>
                    <a:pt x="35852" y="201882"/>
                    <a:pt x="35852" y="179353"/>
                  </a:cubicBezTo>
                  <a:cubicBezTo>
                    <a:pt x="35852" y="176180"/>
                    <a:pt x="35852" y="171420"/>
                    <a:pt x="37424" y="165391"/>
                  </a:cubicBezTo>
                  <a:lnTo>
                    <a:pt x="57556" y="85112"/>
                  </a:lnTo>
                  <a:cubicBezTo>
                    <a:pt x="64476" y="57823"/>
                    <a:pt x="87124" y="7370"/>
                    <a:pt x="124870" y="7370"/>
                  </a:cubicBezTo>
                  <a:cubicBezTo>
                    <a:pt x="143114" y="7370"/>
                    <a:pt x="154123" y="17207"/>
                    <a:pt x="154123" y="36246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19" name="任意形状 10018">
              <a:extLst>
                <a:ext uri="{FF2B5EF4-FFF2-40B4-BE49-F238E27FC236}">
                  <a16:creationId xmlns:a16="http://schemas.microsoft.com/office/drawing/2014/main" id="{ED42BF5C-E24A-EE1F-A230-6B0293CF784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302672" y="4038942"/>
              <a:ext cx="80147" cy="147486"/>
            </a:xfrm>
            <a:custGeom>
              <a:avLst/>
              <a:gdLst>
                <a:gd name="connsiteX0" fmla="*/ 50035 w 80147"/>
                <a:gd name="connsiteY0" fmla="*/ 6293 h 147486"/>
                <a:gd name="connsiteX1" fmla="*/ 43430 w 80147"/>
                <a:gd name="connsiteY1" fmla="*/ 74 h 147486"/>
                <a:gd name="connsiteX2" fmla="*/ 273 w 80147"/>
                <a:gd name="connsiteY2" fmla="*/ 14289 h 147486"/>
                <a:gd name="connsiteX3" fmla="*/ 273 w 80147"/>
                <a:gd name="connsiteY3" fmla="*/ 22285 h 147486"/>
                <a:gd name="connsiteX4" fmla="*/ 32200 w 80147"/>
                <a:gd name="connsiteY4" fmla="*/ 16066 h 147486"/>
                <a:gd name="connsiteX5" fmla="*/ 32200 w 80147"/>
                <a:gd name="connsiteY5" fmla="*/ 129346 h 147486"/>
                <a:gd name="connsiteX6" fmla="*/ 10181 w 80147"/>
                <a:gd name="connsiteY6" fmla="*/ 139564 h 147486"/>
                <a:gd name="connsiteX7" fmla="*/ 1814 w 80147"/>
                <a:gd name="connsiteY7" fmla="*/ 139564 h 147486"/>
                <a:gd name="connsiteX8" fmla="*/ 1814 w 80147"/>
                <a:gd name="connsiteY8" fmla="*/ 147560 h 147486"/>
                <a:gd name="connsiteX9" fmla="*/ 41007 w 80147"/>
                <a:gd name="connsiteY9" fmla="*/ 146671 h 147486"/>
                <a:gd name="connsiteX10" fmla="*/ 80421 w 80147"/>
                <a:gd name="connsiteY10" fmla="*/ 147560 h 147486"/>
                <a:gd name="connsiteX11" fmla="*/ 80421 w 80147"/>
                <a:gd name="connsiteY11" fmla="*/ 139564 h 147486"/>
                <a:gd name="connsiteX12" fmla="*/ 72054 w 80147"/>
                <a:gd name="connsiteY12" fmla="*/ 139564 h 147486"/>
                <a:gd name="connsiteX13" fmla="*/ 50035 w 80147"/>
                <a:gd name="connsiteY13" fmla="*/ 129346 h 147486"/>
                <a:gd name="connsiteX14" fmla="*/ 50035 w 80147"/>
                <a:gd name="connsiteY14" fmla="*/ 6293 h 14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147" h="147486">
                  <a:moveTo>
                    <a:pt x="50035" y="6293"/>
                  </a:moveTo>
                  <a:cubicBezTo>
                    <a:pt x="50035" y="296"/>
                    <a:pt x="49595" y="74"/>
                    <a:pt x="43430" y="74"/>
                  </a:cubicBezTo>
                  <a:cubicBezTo>
                    <a:pt x="29338" y="14067"/>
                    <a:pt x="9301" y="14289"/>
                    <a:pt x="273" y="14289"/>
                  </a:cubicBezTo>
                  <a:lnTo>
                    <a:pt x="273" y="22285"/>
                  </a:lnTo>
                  <a:cubicBezTo>
                    <a:pt x="5557" y="22285"/>
                    <a:pt x="20090" y="22285"/>
                    <a:pt x="32200" y="16066"/>
                  </a:cubicBezTo>
                  <a:lnTo>
                    <a:pt x="32200" y="129346"/>
                  </a:lnTo>
                  <a:cubicBezTo>
                    <a:pt x="32200" y="136676"/>
                    <a:pt x="32200" y="139564"/>
                    <a:pt x="10181" y="139564"/>
                  </a:cubicBezTo>
                  <a:lnTo>
                    <a:pt x="1814" y="139564"/>
                  </a:lnTo>
                  <a:lnTo>
                    <a:pt x="1814" y="147560"/>
                  </a:lnTo>
                  <a:cubicBezTo>
                    <a:pt x="5778" y="147338"/>
                    <a:pt x="32861" y="146671"/>
                    <a:pt x="41007" y="146671"/>
                  </a:cubicBezTo>
                  <a:cubicBezTo>
                    <a:pt x="47833" y="146671"/>
                    <a:pt x="75577" y="147338"/>
                    <a:pt x="80421" y="147560"/>
                  </a:cubicBezTo>
                  <a:lnTo>
                    <a:pt x="80421" y="139564"/>
                  </a:lnTo>
                  <a:lnTo>
                    <a:pt x="72054" y="139564"/>
                  </a:lnTo>
                  <a:cubicBezTo>
                    <a:pt x="50035" y="139564"/>
                    <a:pt x="50035" y="136676"/>
                    <a:pt x="50035" y="129346"/>
                  </a:cubicBezTo>
                  <a:lnTo>
                    <a:pt x="50035" y="6293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20" name="任意形状 10019">
              <a:extLst>
                <a:ext uri="{FF2B5EF4-FFF2-40B4-BE49-F238E27FC236}">
                  <a16:creationId xmlns:a16="http://schemas.microsoft.com/office/drawing/2014/main" id="{3A536596-DD69-8C69-BA78-23A3DCCA9FA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9437713" y="3900848"/>
              <a:ext cx="72976" cy="317311"/>
            </a:xfrm>
            <a:custGeom>
              <a:avLst/>
              <a:gdLst>
                <a:gd name="connsiteX0" fmla="*/ 73254 w 72976"/>
                <a:gd name="connsiteY0" fmla="*/ 158728 h 317311"/>
                <a:gd name="connsiteX1" fmla="*/ 52493 w 72976"/>
                <a:gd name="connsiteY1" fmla="*/ 59727 h 317311"/>
                <a:gd name="connsiteX2" fmla="*/ 3423 w 72976"/>
                <a:gd name="connsiteY2" fmla="*/ 72 h 317311"/>
                <a:gd name="connsiteX3" fmla="*/ 277 w 72976"/>
                <a:gd name="connsiteY3" fmla="*/ 3245 h 317311"/>
                <a:gd name="connsiteX4" fmla="*/ 6254 w 72976"/>
                <a:gd name="connsiteY4" fmla="*/ 10543 h 317311"/>
                <a:gd name="connsiteX5" fmla="*/ 55010 w 72976"/>
                <a:gd name="connsiteY5" fmla="*/ 158728 h 317311"/>
                <a:gd name="connsiteX6" fmla="*/ 4367 w 72976"/>
                <a:gd name="connsiteY6" fmla="*/ 308816 h 317311"/>
                <a:gd name="connsiteX7" fmla="*/ 277 w 72976"/>
                <a:gd name="connsiteY7" fmla="*/ 314210 h 317311"/>
                <a:gd name="connsiteX8" fmla="*/ 3423 w 72976"/>
                <a:gd name="connsiteY8" fmla="*/ 317383 h 317311"/>
                <a:gd name="connsiteX9" fmla="*/ 53437 w 72976"/>
                <a:gd name="connsiteY9" fmla="*/ 255508 h 317311"/>
                <a:gd name="connsiteX10" fmla="*/ 73254 w 72976"/>
                <a:gd name="connsiteY10" fmla="*/ 158728 h 31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976" h="317311">
                  <a:moveTo>
                    <a:pt x="73254" y="158728"/>
                  </a:moveTo>
                  <a:cubicBezTo>
                    <a:pt x="73254" y="133977"/>
                    <a:pt x="69793" y="95583"/>
                    <a:pt x="52493" y="59727"/>
                  </a:cubicBezTo>
                  <a:cubicBezTo>
                    <a:pt x="33620" y="20697"/>
                    <a:pt x="6568" y="72"/>
                    <a:pt x="3423" y="72"/>
                  </a:cubicBezTo>
                  <a:cubicBezTo>
                    <a:pt x="1536" y="72"/>
                    <a:pt x="277" y="1341"/>
                    <a:pt x="277" y="3245"/>
                  </a:cubicBezTo>
                  <a:cubicBezTo>
                    <a:pt x="277" y="4197"/>
                    <a:pt x="277" y="4832"/>
                    <a:pt x="6254" y="10543"/>
                  </a:cubicBezTo>
                  <a:cubicBezTo>
                    <a:pt x="37080" y="41957"/>
                    <a:pt x="55010" y="92410"/>
                    <a:pt x="55010" y="158728"/>
                  </a:cubicBezTo>
                  <a:cubicBezTo>
                    <a:pt x="55010" y="212988"/>
                    <a:pt x="43371" y="268835"/>
                    <a:pt x="4367" y="308816"/>
                  </a:cubicBezTo>
                  <a:cubicBezTo>
                    <a:pt x="277" y="312624"/>
                    <a:pt x="277" y="313258"/>
                    <a:pt x="277" y="314210"/>
                  </a:cubicBezTo>
                  <a:cubicBezTo>
                    <a:pt x="277" y="316114"/>
                    <a:pt x="1536" y="317383"/>
                    <a:pt x="3423" y="317383"/>
                  </a:cubicBezTo>
                  <a:cubicBezTo>
                    <a:pt x="6568" y="317383"/>
                    <a:pt x="34878" y="295806"/>
                    <a:pt x="53437" y="255508"/>
                  </a:cubicBezTo>
                  <a:cubicBezTo>
                    <a:pt x="69479" y="220603"/>
                    <a:pt x="73254" y="185382"/>
                    <a:pt x="73254" y="158728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21" name="任意形状 10020">
              <a:extLst>
                <a:ext uri="{FF2B5EF4-FFF2-40B4-BE49-F238E27FC236}">
                  <a16:creationId xmlns:a16="http://schemas.microsoft.com/office/drawing/2014/main" id="{DDD18549-2671-0958-1E2C-0CAABE8CE453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9599251" y="3998580"/>
              <a:ext cx="144379" cy="205300"/>
            </a:xfrm>
            <a:custGeom>
              <a:avLst/>
              <a:gdLst>
                <a:gd name="connsiteX0" fmla="*/ 143719 w 144379"/>
                <a:gd name="connsiteY0" fmla="*/ 20697 h 205300"/>
                <a:gd name="connsiteX1" fmla="*/ 144662 w 144379"/>
                <a:gd name="connsiteY1" fmla="*/ 14986 h 205300"/>
                <a:gd name="connsiteX2" fmla="*/ 135540 w 144379"/>
                <a:gd name="connsiteY2" fmla="*/ 6418 h 205300"/>
                <a:gd name="connsiteX3" fmla="*/ 122644 w 144379"/>
                <a:gd name="connsiteY3" fmla="*/ 20063 h 205300"/>
                <a:gd name="connsiteX4" fmla="*/ 93390 w 144379"/>
                <a:gd name="connsiteY4" fmla="*/ 72 h 205300"/>
                <a:gd name="connsiteX5" fmla="*/ 18527 w 144379"/>
                <a:gd name="connsiteY5" fmla="*/ 90189 h 205300"/>
                <a:gd name="connsiteX6" fmla="*/ 60362 w 144379"/>
                <a:gd name="connsiteY6" fmla="*/ 140324 h 205300"/>
                <a:gd name="connsiteX7" fmla="*/ 96850 w 144379"/>
                <a:gd name="connsiteY7" fmla="*/ 121920 h 205300"/>
                <a:gd name="connsiteX8" fmla="*/ 97165 w 144379"/>
                <a:gd name="connsiteY8" fmla="*/ 122237 h 205300"/>
                <a:gd name="connsiteX9" fmla="*/ 86785 w 144379"/>
                <a:gd name="connsiteY9" fmla="*/ 164122 h 205300"/>
                <a:gd name="connsiteX10" fmla="*/ 41489 w 144379"/>
                <a:gd name="connsiteY10" fmla="*/ 198392 h 205300"/>
                <a:gd name="connsiteX11" fmla="*/ 16325 w 144379"/>
                <a:gd name="connsiteY11" fmla="*/ 195219 h 205300"/>
                <a:gd name="connsiteX12" fmla="*/ 29222 w 144379"/>
                <a:gd name="connsiteY12" fmla="*/ 178718 h 205300"/>
                <a:gd name="connsiteX13" fmla="*/ 17269 w 144379"/>
                <a:gd name="connsiteY13" fmla="*/ 167612 h 205300"/>
                <a:gd name="connsiteX14" fmla="*/ 283 w 144379"/>
                <a:gd name="connsiteY14" fmla="*/ 186017 h 205300"/>
                <a:gd name="connsiteX15" fmla="*/ 42118 w 144379"/>
                <a:gd name="connsiteY15" fmla="*/ 205372 h 205300"/>
                <a:gd name="connsiteX16" fmla="*/ 108803 w 144379"/>
                <a:gd name="connsiteY16" fmla="*/ 161584 h 205300"/>
                <a:gd name="connsiteX17" fmla="*/ 143719 w 144379"/>
                <a:gd name="connsiteY17" fmla="*/ 20697 h 205300"/>
                <a:gd name="connsiteX18" fmla="*/ 102827 w 144379"/>
                <a:gd name="connsiteY18" fmla="*/ 99708 h 205300"/>
                <a:gd name="connsiteX19" fmla="*/ 86785 w 144379"/>
                <a:gd name="connsiteY19" fmla="*/ 121920 h 205300"/>
                <a:gd name="connsiteX20" fmla="*/ 61306 w 144379"/>
                <a:gd name="connsiteY20" fmla="*/ 133343 h 205300"/>
                <a:gd name="connsiteX21" fmla="*/ 40860 w 144379"/>
                <a:gd name="connsiteY21" fmla="*/ 104150 h 205300"/>
                <a:gd name="connsiteX22" fmla="*/ 58475 w 144379"/>
                <a:gd name="connsiteY22" fmla="*/ 35294 h 205300"/>
                <a:gd name="connsiteX23" fmla="*/ 93705 w 144379"/>
                <a:gd name="connsiteY23" fmla="*/ 7053 h 205300"/>
                <a:gd name="connsiteX24" fmla="*/ 118869 w 144379"/>
                <a:gd name="connsiteY24" fmla="*/ 34342 h 205300"/>
                <a:gd name="connsiteX25" fmla="*/ 117925 w 144379"/>
                <a:gd name="connsiteY25" fmla="*/ 39101 h 205300"/>
                <a:gd name="connsiteX26" fmla="*/ 102827 w 144379"/>
                <a:gd name="connsiteY26" fmla="*/ 99708 h 2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4379" h="205300">
                  <a:moveTo>
                    <a:pt x="143719" y="20697"/>
                  </a:moveTo>
                  <a:cubicBezTo>
                    <a:pt x="144033" y="18794"/>
                    <a:pt x="144662" y="17207"/>
                    <a:pt x="144662" y="14986"/>
                  </a:cubicBezTo>
                  <a:cubicBezTo>
                    <a:pt x="144662" y="9591"/>
                    <a:pt x="140888" y="6418"/>
                    <a:pt x="135540" y="6418"/>
                  </a:cubicBezTo>
                  <a:cubicBezTo>
                    <a:pt x="132395" y="6418"/>
                    <a:pt x="123902" y="8640"/>
                    <a:pt x="122644" y="20063"/>
                  </a:cubicBezTo>
                  <a:cubicBezTo>
                    <a:pt x="116982" y="8322"/>
                    <a:pt x="105972" y="72"/>
                    <a:pt x="93390" y="72"/>
                  </a:cubicBezTo>
                  <a:cubicBezTo>
                    <a:pt x="57531" y="72"/>
                    <a:pt x="18527" y="44496"/>
                    <a:pt x="18527" y="90189"/>
                  </a:cubicBezTo>
                  <a:cubicBezTo>
                    <a:pt x="18527" y="121602"/>
                    <a:pt x="37715" y="140324"/>
                    <a:pt x="60362" y="140324"/>
                  </a:cubicBezTo>
                  <a:cubicBezTo>
                    <a:pt x="78921" y="140324"/>
                    <a:pt x="93705" y="125410"/>
                    <a:pt x="96850" y="121920"/>
                  </a:cubicBezTo>
                  <a:lnTo>
                    <a:pt x="97165" y="122237"/>
                  </a:lnTo>
                  <a:cubicBezTo>
                    <a:pt x="90559" y="150478"/>
                    <a:pt x="86785" y="163487"/>
                    <a:pt x="86785" y="164122"/>
                  </a:cubicBezTo>
                  <a:cubicBezTo>
                    <a:pt x="85527" y="166978"/>
                    <a:pt x="74832" y="198392"/>
                    <a:pt x="41489" y="198392"/>
                  </a:cubicBezTo>
                  <a:cubicBezTo>
                    <a:pt x="35513" y="198392"/>
                    <a:pt x="25133" y="198074"/>
                    <a:pt x="16325" y="195219"/>
                  </a:cubicBezTo>
                  <a:cubicBezTo>
                    <a:pt x="25762" y="192363"/>
                    <a:pt x="29222" y="184113"/>
                    <a:pt x="29222" y="178718"/>
                  </a:cubicBezTo>
                  <a:cubicBezTo>
                    <a:pt x="29222" y="173641"/>
                    <a:pt x="25762" y="167612"/>
                    <a:pt x="17269" y="167612"/>
                  </a:cubicBezTo>
                  <a:cubicBezTo>
                    <a:pt x="10349" y="167612"/>
                    <a:pt x="283" y="173324"/>
                    <a:pt x="283" y="186017"/>
                  </a:cubicBezTo>
                  <a:cubicBezTo>
                    <a:pt x="283" y="199026"/>
                    <a:pt x="11921" y="205372"/>
                    <a:pt x="42118" y="205372"/>
                  </a:cubicBezTo>
                  <a:cubicBezTo>
                    <a:pt x="81437" y="205372"/>
                    <a:pt x="104085" y="180622"/>
                    <a:pt x="108803" y="161584"/>
                  </a:cubicBezTo>
                  <a:lnTo>
                    <a:pt x="143719" y="20697"/>
                  </a:lnTo>
                  <a:close/>
                  <a:moveTo>
                    <a:pt x="102827" y="99708"/>
                  </a:moveTo>
                  <a:cubicBezTo>
                    <a:pt x="100940" y="107958"/>
                    <a:pt x="93705" y="115891"/>
                    <a:pt x="86785" y="121920"/>
                  </a:cubicBezTo>
                  <a:cubicBezTo>
                    <a:pt x="80179" y="127631"/>
                    <a:pt x="70428" y="133343"/>
                    <a:pt x="61306" y="133343"/>
                  </a:cubicBezTo>
                  <a:cubicBezTo>
                    <a:pt x="45578" y="133343"/>
                    <a:pt x="40860" y="116843"/>
                    <a:pt x="40860" y="104150"/>
                  </a:cubicBezTo>
                  <a:cubicBezTo>
                    <a:pt x="40860" y="88919"/>
                    <a:pt x="49982" y="51477"/>
                    <a:pt x="58475" y="35294"/>
                  </a:cubicBezTo>
                  <a:cubicBezTo>
                    <a:pt x="66968" y="19745"/>
                    <a:pt x="80494" y="7053"/>
                    <a:pt x="93705" y="7053"/>
                  </a:cubicBezTo>
                  <a:cubicBezTo>
                    <a:pt x="114465" y="7053"/>
                    <a:pt x="118869" y="32755"/>
                    <a:pt x="118869" y="34342"/>
                  </a:cubicBezTo>
                  <a:cubicBezTo>
                    <a:pt x="118869" y="35928"/>
                    <a:pt x="118240" y="37832"/>
                    <a:pt x="117925" y="39101"/>
                  </a:cubicBezTo>
                  <a:lnTo>
                    <a:pt x="102827" y="99708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22" name="任意形状 10021">
              <a:extLst>
                <a:ext uri="{FF2B5EF4-FFF2-40B4-BE49-F238E27FC236}">
                  <a16:creationId xmlns:a16="http://schemas.microsoft.com/office/drawing/2014/main" id="{E4407EAA-B426-8651-8B05-91A84F9CEAE2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753812" y="4047604"/>
              <a:ext cx="74423" cy="141044"/>
            </a:xfrm>
            <a:custGeom>
              <a:avLst/>
              <a:gdLst>
                <a:gd name="connsiteX0" fmla="*/ 45206 w 74423"/>
                <a:gd name="connsiteY0" fmla="*/ 51161 h 141044"/>
                <a:gd name="connsiteX1" fmla="*/ 67665 w 74423"/>
                <a:gd name="connsiteY1" fmla="*/ 51161 h 141044"/>
                <a:gd name="connsiteX2" fmla="*/ 74711 w 74423"/>
                <a:gd name="connsiteY2" fmla="*/ 46274 h 141044"/>
                <a:gd name="connsiteX3" fmla="*/ 68105 w 74423"/>
                <a:gd name="connsiteY3" fmla="*/ 43164 h 141044"/>
                <a:gd name="connsiteX4" fmla="*/ 47187 w 74423"/>
                <a:gd name="connsiteY4" fmla="*/ 43164 h 141044"/>
                <a:gd name="connsiteX5" fmla="*/ 55334 w 74423"/>
                <a:gd name="connsiteY5" fmla="*/ 10291 h 141044"/>
                <a:gd name="connsiteX6" fmla="*/ 55995 w 74423"/>
                <a:gd name="connsiteY6" fmla="*/ 7181 h 141044"/>
                <a:gd name="connsiteX7" fmla="*/ 48509 w 74423"/>
                <a:gd name="connsiteY7" fmla="*/ 74 h 141044"/>
                <a:gd name="connsiteX8" fmla="*/ 38160 w 74423"/>
                <a:gd name="connsiteY8" fmla="*/ 9625 h 141044"/>
                <a:gd name="connsiteX9" fmla="*/ 29793 w 74423"/>
                <a:gd name="connsiteY9" fmla="*/ 43164 h 141044"/>
                <a:gd name="connsiteX10" fmla="*/ 7334 w 74423"/>
                <a:gd name="connsiteY10" fmla="*/ 43164 h 141044"/>
                <a:gd name="connsiteX11" fmla="*/ 288 w 74423"/>
                <a:gd name="connsiteY11" fmla="*/ 48051 h 141044"/>
                <a:gd name="connsiteX12" fmla="*/ 6893 w 74423"/>
                <a:gd name="connsiteY12" fmla="*/ 51161 h 141044"/>
                <a:gd name="connsiteX13" fmla="*/ 27811 w 74423"/>
                <a:gd name="connsiteY13" fmla="*/ 51161 h 141044"/>
                <a:gd name="connsiteX14" fmla="*/ 14820 w 74423"/>
                <a:gd name="connsiteY14" fmla="*/ 103581 h 141044"/>
                <a:gd name="connsiteX15" fmla="*/ 11517 w 74423"/>
                <a:gd name="connsiteY15" fmla="*/ 120017 h 141044"/>
                <a:gd name="connsiteX16" fmla="*/ 35077 w 74423"/>
                <a:gd name="connsiteY16" fmla="*/ 141118 h 141044"/>
                <a:gd name="connsiteX17" fmla="*/ 73390 w 74423"/>
                <a:gd name="connsiteY17" fmla="*/ 107134 h 141044"/>
                <a:gd name="connsiteX18" fmla="*/ 69867 w 74423"/>
                <a:gd name="connsiteY18" fmla="*/ 104247 h 141044"/>
                <a:gd name="connsiteX19" fmla="*/ 65243 w 74423"/>
                <a:gd name="connsiteY19" fmla="*/ 108467 h 141044"/>
                <a:gd name="connsiteX20" fmla="*/ 35738 w 74423"/>
                <a:gd name="connsiteY20" fmla="*/ 134899 h 141044"/>
                <a:gd name="connsiteX21" fmla="*/ 28031 w 74423"/>
                <a:gd name="connsiteY21" fmla="*/ 124015 h 141044"/>
                <a:gd name="connsiteX22" fmla="*/ 29352 w 74423"/>
                <a:gd name="connsiteY22" fmla="*/ 114909 h 141044"/>
                <a:gd name="connsiteX23" fmla="*/ 45206 w 74423"/>
                <a:gd name="connsiteY23" fmla="*/ 51161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206" y="51161"/>
                  </a:moveTo>
                  <a:lnTo>
                    <a:pt x="67665" y="51161"/>
                  </a:lnTo>
                  <a:cubicBezTo>
                    <a:pt x="71848" y="51161"/>
                    <a:pt x="74711" y="51161"/>
                    <a:pt x="74711" y="46274"/>
                  </a:cubicBezTo>
                  <a:cubicBezTo>
                    <a:pt x="74711" y="43164"/>
                    <a:pt x="71848" y="43164"/>
                    <a:pt x="68105" y="43164"/>
                  </a:cubicBezTo>
                  <a:lnTo>
                    <a:pt x="47187" y="43164"/>
                  </a:lnTo>
                  <a:lnTo>
                    <a:pt x="55334" y="10291"/>
                  </a:lnTo>
                  <a:cubicBezTo>
                    <a:pt x="55554" y="9180"/>
                    <a:pt x="55995" y="8070"/>
                    <a:pt x="55995" y="7181"/>
                  </a:cubicBezTo>
                  <a:cubicBezTo>
                    <a:pt x="55995" y="3183"/>
                    <a:pt x="52912" y="74"/>
                    <a:pt x="48509" y="74"/>
                  </a:cubicBezTo>
                  <a:cubicBezTo>
                    <a:pt x="43004" y="74"/>
                    <a:pt x="39701" y="3850"/>
                    <a:pt x="38160" y="9625"/>
                  </a:cubicBezTo>
                  <a:cubicBezTo>
                    <a:pt x="36618" y="15178"/>
                    <a:pt x="39481" y="4516"/>
                    <a:pt x="29793" y="43164"/>
                  </a:cubicBezTo>
                  <a:lnTo>
                    <a:pt x="7334" y="43164"/>
                  </a:lnTo>
                  <a:cubicBezTo>
                    <a:pt x="3150" y="43164"/>
                    <a:pt x="288" y="43164"/>
                    <a:pt x="288" y="48051"/>
                  </a:cubicBezTo>
                  <a:cubicBezTo>
                    <a:pt x="288" y="51161"/>
                    <a:pt x="2930" y="51161"/>
                    <a:pt x="6893" y="51161"/>
                  </a:cubicBezTo>
                  <a:lnTo>
                    <a:pt x="27811" y="51161"/>
                  </a:lnTo>
                  <a:lnTo>
                    <a:pt x="14820" y="103581"/>
                  </a:lnTo>
                  <a:cubicBezTo>
                    <a:pt x="13499" y="109133"/>
                    <a:pt x="11517" y="117130"/>
                    <a:pt x="11517" y="120017"/>
                  </a:cubicBezTo>
                  <a:cubicBezTo>
                    <a:pt x="11517" y="133122"/>
                    <a:pt x="22527" y="141118"/>
                    <a:pt x="35077" y="141118"/>
                  </a:cubicBezTo>
                  <a:cubicBezTo>
                    <a:pt x="59518" y="141118"/>
                    <a:pt x="73390" y="110022"/>
                    <a:pt x="73390" y="107134"/>
                  </a:cubicBezTo>
                  <a:cubicBezTo>
                    <a:pt x="73390" y="104247"/>
                    <a:pt x="70527" y="104247"/>
                    <a:pt x="69867" y="104247"/>
                  </a:cubicBezTo>
                  <a:cubicBezTo>
                    <a:pt x="67224" y="104247"/>
                    <a:pt x="67004" y="104691"/>
                    <a:pt x="65243" y="108467"/>
                  </a:cubicBezTo>
                  <a:cubicBezTo>
                    <a:pt x="59077" y="122461"/>
                    <a:pt x="47848" y="134899"/>
                    <a:pt x="35738" y="134899"/>
                  </a:cubicBezTo>
                  <a:cubicBezTo>
                    <a:pt x="31114" y="134899"/>
                    <a:pt x="28031" y="132012"/>
                    <a:pt x="28031" y="124015"/>
                  </a:cubicBezTo>
                  <a:cubicBezTo>
                    <a:pt x="28031" y="121794"/>
                    <a:pt x="28912" y="117130"/>
                    <a:pt x="29352" y="114909"/>
                  </a:cubicBezTo>
                  <a:lnTo>
                    <a:pt x="45206" y="51161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23" name="任意形状 10022">
              <a:extLst>
                <a:ext uri="{FF2B5EF4-FFF2-40B4-BE49-F238E27FC236}">
                  <a16:creationId xmlns:a16="http://schemas.microsoft.com/office/drawing/2014/main" id="{A2A016AC-BBA5-9747-FB56-D6538B9FCBBB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329987" y="4513896"/>
              <a:ext cx="138088" cy="143741"/>
            </a:xfrm>
            <a:custGeom>
              <a:avLst/>
              <a:gdLst>
                <a:gd name="connsiteX0" fmla="*/ 138268 w 138088"/>
                <a:gd name="connsiteY0" fmla="*/ 22300 h 143741"/>
                <a:gd name="connsiteX1" fmla="*/ 124427 w 138088"/>
                <a:gd name="connsiteY1" fmla="*/ 88 h 143741"/>
                <a:gd name="connsiteX2" fmla="*/ 109014 w 138088"/>
                <a:gd name="connsiteY2" fmla="*/ 15319 h 143741"/>
                <a:gd name="connsiteX3" fmla="*/ 114047 w 138088"/>
                <a:gd name="connsiteY3" fmla="*/ 24839 h 143741"/>
                <a:gd name="connsiteX4" fmla="*/ 124742 w 138088"/>
                <a:gd name="connsiteY4" fmla="*/ 50858 h 143741"/>
                <a:gd name="connsiteX5" fmla="*/ 68752 w 138088"/>
                <a:gd name="connsiteY5" fmla="*/ 136849 h 143741"/>
                <a:gd name="connsiteX6" fmla="*/ 45475 w 138088"/>
                <a:gd name="connsiteY6" fmla="*/ 109243 h 143741"/>
                <a:gd name="connsiteX7" fmla="*/ 63719 w 138088"/>
                <a:gd name="connsiteY7" fmla="*/ 41973 h 143741"/>
                <a:gd name="connsiteX8" fmla="*/ 67493 w 138088"/>
                <a:gd name="connsiteY8" fmla="*/ 26108 h 143741"/>
                <a:gd name="connsiteX9" fmla="*/ 41700 w 138088"/>
                <a:gd name="connsiteY9" fmla="*/ 88 h 143741"/>
                <a:gd name="connsiteX10" fmla="*/ 179 w 138088"/>
                <a:gd name="connsiteY10" fmla="*/ 48954 h 143741"/>
                <a:gd name="connsiteX11" fmla="*/ 3954 w 138088"/>
                <a:gd name="connsiteY11" fmla="*/ 52127 h 143741"/>
                <a:gd name="connsiteX12" fmla="*/ 8987 w 138088"/>
                <a:gd name="connsiteY12" fmla="*/ 46416 h 143741"/>
                <a:gd name="connsiteX13" fmla="*/ 40756 w 138088"/>
                <a:gd name="connsiteY13" fmla="*/ 7069 h 143741"/>
                <a:gd name="connsiteX14" fmla="*/ 48620 w 138088"/>
                <a:gd name="connsiteY14" fmla="*/ 17223 h 143741"/>
                <a:gd name="connsiteX15" fmla="*/ 43273 w 138088"/>
                <a:gd name="connsiteY15" fmla="*/ 39435 h 143741"/>
                <a:gd name="connsiteX16" fmla="*/ 25343 w 138088"/>
                <a:gd name="connsiteY16" fmla="*/ 104484 h 143741"/>
                <a:gd name="connsiteX17" fmla="*/ 67493 w 138088"/>
                <a:gd name="connsiteY17" fmla="*/ 143830 h 143741"/>
                <a:gd name="connsiteX18" fmla="*/ 138268 w 138088"/>
                <a:gd name="connsiteY18" fmla="*/ 22300 h 14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088" h="143741">
                  <a:moveTo>
                    <a:pt x="138268" y="22300"/>
                  </a:moveTo>
                  <a:cubicBezTo>
                    <a:pt x="138268" y="5165"/>
                    <a:pt x="130089" y="88"/>
                    <a:pt x="124427" y="88"/>
                  </a:cubicBezTo>
                  <a:cubicBezTo>
                    <a:pt x="116564" y="88"/>
                    <a:pt x="109014" y="8338"/>
                    <a:pt x="109014" y="15319"/>
                  </a:cubicBezTo>
                  <a:cubicBezTo>
                    <a:pt x="109014" y="19444"/>
                    <a:pt x="110587" y="21348"/>
                    <a:pt x="114047" y="24839"/>
                  </a:cubicBezTo>
                  <a:cubicBezTo>
                    <a:pt x="120653" y="31185"/>
                    <a:pt x="124742" y="39435"/>
                    <a:pt x="124742" y="50858"/>
                  </a:cubicBezTo>
                  <a:cubicBezTo>
                    <a:pt x="124742" y="64185"/>
                    <a:pt x="105554" y="136849"/>
                    <a:pt x="68752" y="136849"/>
                  </a:cubicBezTo>
                  <a:cubicBezTo>
                    <a:pt x="52709" y="136849"/>
                    <a:pt x="45475" y="125744"/>
                    <a:pt x="45475" y="109243"/>
                  </a:cubicBezTo>
                  <a:cubicBezTo>
                    <a:pt x="45475" y="91474"/>
                    <a:pt x="53968" y="68310"/>
                    <a:pt x="63719" y="41973"/>
                  </a:cubicBezTo>
                  <a:cubicBezTo>
                    <a:pt x="65921" y="36579"/>
                    <a:pt x="67493" y="32137"/>
                    <a:pt x="67493" y="26108"/>
                  </a:cubicBezTo>
                  <a:cubicBezTo>
                    <a:pt x="67493" y="11829"/>
                    <a:pt x="57428" y="88"/>
                    <a:pt x="41700" y="88"/>
                  </a:cubicBezTo>
                  <a:cubicBezTo>
                    <a:pt x="12132" y="88"/>
                    <a:pt x="179" y="46098"/>
                    <a:pt x="179" y="48954"/>
                  </a:cubicBezTo>
                  <a:cubicBezTo>
                    <a:pt x="179" y="52127"/>
                    <a:pt x="3325" y="52127"/>
                    <a:pt x="3954" y="52127"/>
                  </a:cubicBezTo>
                  <a:cubicBezTo>
                    <a:pt x="7099" y="52127"/>
                    <a:pt x="7414" y="51493"/>
                    <a:pt x="8987" y="46416"/>
                  </a:cubicBezTo>
                  <a:cubicBezTo>
                    <a:pt x="18109" y="14367"/>
                    <a:pt x="31634" y="7069"/>
                    <a:pt x="40756" y="7069"/>
                  </a:cubicBezTo>
                  <a:cubicBezTo>
                    <a:pt x="43273" y="7069"/>
                    <a:pt x="48620" y="7069"/>
                    <a:pt x="48620" y="17223"/>
                  </a:cubicBezTo>
                  <a:cubicBezTo>
                    <a:pt x="48620" y="25156"/>
                    <a:pt x="45475" y="33723"/>
                    <a:pt x="43273" y="39435"/>
                  </a:cubicBezTo>
                  <a:cubicBezTo>
                    <a:pt x="29433" y="76243"/>
                    <a:pt x="25343" y="90839"/>
                    <a:pt x="25343" y="104484"/>
                  </a:cubicBezTo>
                  <a:cubicBezTo>
                    <a:pt x="25343" y="138753"/>
                    <a:pt x="53024" y="143830"/>
                    <a:pt x="67493" y="143830"/>
                  </a:cubicBezTo>
                  <a:cubicBezTo>
                    <a:pt x="120338" y="143830"/>
                    <a:pt x="138268" y="38800"/>
                    <a:pt x="138268" y="22300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24" name="任意形状 10023">
              <a:extLst>
                <a:ext uri="{FF2B5EF4-FFF2-40B4-BE49-F238E27FC236}">
                  <a16:creationId xmlns:a16="http://schemas.microsoft.com/office/drawing/2014/main" id="{69FDDDD9-AAFF-281A-473D-90A0A4403A45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482584" y="4562920"/>
              <a:ext cx="74423" cy="141044"/>
            </a:xfrm>
            <a:custGeom>
              <a:avLst/>
              <a:gdLst>
                <a:gd name="connsiteX0" fmla="*/ 45102 w 74423"/>
                <a:gd name="connsiteY0" fmla="*/ 51177 h 141044"/>
                <a:gd name="connsiteX1" fmla="*/ 67561 w 74423"/>
                <a:gd name="connsiteY1" fmla="*/ 51177 h 141044"/>
                <a:gd name="connsiteX2" fmla="*/ 74607 w 74423"/>
                <a:gd name="connsiteY2" fmla="*/ 46290 h 141044"/>
                <a:gd name="connsiteX3" fmla="*/ 68002 w 74423"/>
                <a:gd name="connsiteY3" fmla="*/ 43181 h 141044"/>
                <a:gd name="connsiteX4" fmla="*/ 47084 w 74423"/>
                <a:gd name="connsiteY4" fmla="*/ 43181 h 141044"/>
                <a:gd name="connsiteX5" fmla="*/ 55231 w 74423"/>
                <a:gd name="connsiteY5" fmla="*/ 10307 h 141044"/>
                <a:gd name="connsiteX6" fmla="*/ 55891 w 74423"/>
                <a:gd name="connsiteY6" fmla="*/ 7198 h 141044"/>
                <a:gd name="connsiteX7" fmla="*/ 48405 w 74423"/>
                <a:gd name="connsiteY7" fmla="*/ 90 h 141044"/>
                <a:gd name="connsiteX8" fmla="*/ 38056 w 74423"/>
                <a:gd name="connsiteY8" fmla="*/ 9641 h 141044"/>
                <a:gd name="connsiteX9" fmla="*/ 29689 w 74423"/>
                <a:gd name="connsiteY9" fmla="*/ 43181 h 141044"/>
                <a:gd name="connsiteX10" fmla="*/ 7230 w 74423"/>
                <a:gd name="connsiteY10" fmla="*/ 43181 h 141044"/>
                <a:gd name="connsiteX11" fmla="*/ 184 w 74423"/>
                <a:gd name="connsiteY11" fmla="*/ 48067 h 141044"/>
                <a:gd name="connsiteX12" fmla="*/ 6790 w 74423"/>
                <a:gd name="connsiteY12" fmla="*/ 51177 h 141044"/>
                <a:gd name="connsiteX13" fmla="*/ 27707 w 74423"/>
                <a:gd name="connsiteY13" fmla="*/ 51177 h 141044"/>
                <a:gd name="connsiteX14" fmla="*/ 14716 w 74423"/>
                <a:gd name="connsiteY14" fmla="*/ 103597 h 141044"/>
                <a:gd name="connsiteX15" fmla="*/ 11414 w 74423"/>
                <a:gd name="connsiteY15" fmla="*/ 120033 h 141044"/>
                <a:gd name="connsiteX16" fmla="*/ 34974 w 74423"/>
                <a:gd name="connsiteY16" fmla="*/ 141135 h 141044"/>
                <a:gd name="connsiteX17" fmla="*/ 73286 w 74423"/>
                <a:gd name="connsiteY17" fmla="*/ 107151 h 141044"/>
                <a:gd name="connsiteX18" fmla="*/ 69763 w 74423"/>
                <a:gd name="connsiteY18" fmla="*/ 104263 h 141044"/>
                <a:gd name="connsiteX19" fmla="*/ 65139 w 74423"/>
                <a:gd name="connsiteY19" fmla="*/ 108483 h 141044"/>
                <a:gd name="connsiteX20" fmla="*/ 35634 w 74423"/>
                <a:gd name="connsiteY20" fmla="*/ 134915 h 141044"/>
                <a:gd name="connsiteX21" fmla="*/ 27928 w 74423"/>
                <a:gd name="connsiteY21" fmla="*/ 124032 h 141044"/>
                <a:gd name="connsiteX22" fmla="*/ 29249 w 74423"/>
                <a:gd name="connsiteY22" fmla="*/ 114925 h 141044"/>
                <a:gd name="connsiteX23" fmla="*/ 45102 w 74423"/>
                <a:gd name="connsiteY23" fmla="*/ 51177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02" y="51177"/>
                  </a:moveTo>
                  <a:lnTo>
                    <a:pt x="67561" y="51177"/>
                  </a:lnTo>
                  <a:cubicBezTo>
                    <a:pt x="71745" y="51177"/>
                    <a:pt x="74607" y="51177"/>
                    <a:pt x="74607" y="46290"/>
                  </a:cubicBezTo>
                  <a:cubicBezTo>
                    <a:pt x="74607" y="43181"/>
                    <a:pt x="71745" y="43181"/>
                    <a:pt x="68002" y="43181"/>
                  </a:cubicBezTo>
                  <a:lnTo>
                    <a:pt x="47084" y="43181"/>
                  </a:lnTo>
                  <a:lnTo>
                    <a:pt x="55231" y="10307"/>
                  </a:lnTo>
                  <a:cubicBezTo>
                    <a:pt x="55451" y="9197"/>
                    <a:pt x="55891" y="8086"/>
                    <a:pt x="55891" y="7198"/>
                  </a:cubicBezTo>
                  <a:cubicBezTo>
                    <a:pt x="55891" y="3199"/>
                    <a:pt x="52809" y="90"/>
                    <a:pt x="48405" y="90"/>
                  </a:cubicBezTo>
                  <a:cubicBezTo>
                    <a:pt x="42900" y="90"/>
                    <a:pt x="39597" y="3866"/>
                    <a:pt x="38056" y="9641"/>
                  </a:cubicBezTo>
                  <a:cubicBezTo>
                    <a:pt x="36515" y="15194"/>
                    <a:pt x="39377" y="4532"/>
                    <a:pt x="29689" y="43181"/>
                  </a:cubicBezTo>
                  <a:lnTo>
                    <a:pt x="7230" y="43181"/>
                  </a:lnTo>
                  <a:cubicBezTo>
                    <a:pt x="3047" y="43181"/>
                    <a:pt x="184" y="43181"/>
                    <a:pt x="184" y="48067"/>
                  </a:cubicBezTo>
                  <a:cubicBezTo>
                    <a:pt x="184" y="51177"/>
                    <a:pt x="2826" y="51177"/>
                    <a:pt x="6790" y="51177"/>
                  </a:cubicBezTo>
                  <a:lnTo>
                    <a:pt x="27707" y="51177"/>
                  </a:lnTo>
                  <a:lnTo>
                    <a:pt x="14716" y="103597"/>
                  </a:lnTo>
                  <a:cubicBezTo>
                    <a:pt x="13395" y="109150"/>
                    <a:pt x="11414" y="117146"/>
                    <a:pt x="11414" y="120033"/>
                  </a:cubicBezTo>
                  <a:cubicBezTo>
                    <a:pt x="11414" y="133138"/>
                    <a:pt x="22423" y="141135"/>
                    <a:pt x="34974" y="141135"/>
                  </a:cubicBezTo>
                  <a:cubicBezTo>
                    <a:pt x="59414" y="141135"/>
                    <a:pt x="73286" y="110038"/>
                    <a:pt x="73286" y="107151"/>
                  </a:cubicBezTo>
                  <a:cubicBezTo>
                    <a:pt x="73286" y="104263"/>
                    <a:pt x="70424" y="104263"/>
                    <a:pt x="69763" y="104263"/>
                  </a:cubicBezTo>
                  <a:cubicBezTo>
                    <a:pt x="67121" y="104263"/>
                    <a:pt x="66901" y="104707"/>
                    <a:pt x="65139" y="108483"/>
                  </a:cubicBezTo>
                  <a:cubicBezTo>
                    <a:pt x="58974" y="122477"/>
                    <a:pt x="47744" y="134915"/>
                    <a:pt x="35634" y="134915"/>
                  </a:cubicBezTo>
                  <a:cubicBezTo>
                    <a:pt x="31010" y="134915"/>
                    <a:pt x="27928" y="132028"/>
                    <a:pt x="27928" y="124032"/>
                  </a:cubicBezTo>
                  <a:cubicBezTo>
                    <a:pt x="27928" y="121810"/>
                    <a:pt x="28808" y="117146"/>
                    <a:pt x="29249" y="114925"/>
                  </a:cubicBezTo>
                  <a:lnTo>
                    <a:pt x="45102" y="51177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25" name="任意形状 10024">
              <a:extLst>
                <a:ext uri="{FF2B5EF4-FFF2-40B4-BE49-F238E27FC236}">
                  <a16:creationId xmlns:a16="http://schemas.microsoft.com/office/drawing/2014/main" id="{3C7D0B9A-C789-A14A-039F-EC05ECDE6606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6689074" y="4537694"/>
              <a:ext cx="209177" cy="74250"/>
            </a:xfrm>
            <a:custGeom>
              <a:avLst/>
              <a:gdLst>
                <a:gd name="connsiteX0" fmla="*/ 198673 w 209177"/>
                <a:gd name="connsiteY0" fmla="*/ 12781 h 74250"/>
                <a:gd name="connsiteX1" fmla="*/ 209368 w 209177"/>
                <a:gd name="connsiteY1" fmla="*/ 6435 h 74250"/>
                <a:gd name="connsiteX2" fmla="*/ 198987 w 209177"/>
                <a:gd name="connsiteY2" fmla="*/ 88 h 74250"/>
                <a:gd name="connsiteX3" fmla="*/ 10571 w 209177"/>
                <a:gd name="connsiteY3" fmla="*/ 88 h 74250"/>
                <a:gd name="connsiteX4" fmla="*/ 190 w 209177"/>
                <a:gd name="connsiteY4" fmla="*/ 6435 h 74250"/>
                <a:gd name="connsiteX5" fmla="*/ 10885 w 209177"/>
                <a:gd name="connsiteY5" fmla="*/ 12781 h 74250"/>
                <a:gd name="connsiteX6" fmla="*/ 198673 w 209177"/>
                <a:gd name="connsiteY6" fmla="*/ 12781 h 74250"/>
                <a:gd name="connsiteX7" fmla="*/ 198987 w 209177"/>
                <a:gd name="connsiteY7" fmla="*/ 74339 h 74250"/>
                <a:gd name="connsiteX8" fmla="*/ 209368 w 209177"/>
                <a:gd name="connsiteY8" fmla="*/ 67993 h 74250"/>
                <a:gd name="connsiteX9" fmla="*/ 198673 w 209177"/>
                <a:gd name="connsiteY9" fmla="*/ 61647 h 74250"/>
                <a:gd name="connsiteX10" fmla="*/ 10885 w 209177"/>
                <a:gd name="connsiteY10" fmla="*/ 61647 h 74250"/>
                <a:gd name="connsiteX11" fmla="*/ 190 w 209177"/>
                <a:gd name="connsiteY11" fmla="*/ 67993 h 74250"/>
                <a:gd name="connsiteX12" fmla="*/ 10571 w 209177"/>
                <a:gd name="connsiteY12" fmla="*/ 74339 h 74250"/>
                <a:gd name="connsiteX13" fmla="*/ 198987 w 209177"/>
                <a:gd name="connsiteY13" fmla="*/ 74339 h 7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177" h="74250">
                  <a:moveTo>
                    <a:pt x="198673" y="12781"/>
                  </a:moveTo>
                  <a:cubicBezTo>
                    <a:pt x="203391" y="12781"/>
                    <a:pt x="209368" y="12781"/>
                    <a:pt x="209368" y="6435"/>
                  </a:cubicBezTo>
                  <a:cubicBezTo>
                    <a:pt x="209368" y="88"/>
                    <a:pt x="203391" y="88"/>
                    <a:pt x="198987" y="88"/>
                  </a:cubicBezTo>
                  <a:lnTo>
                    <a:pt x="10571" y="88"/>
                  </a:lnTo>
                  <a:cubicBezTo>
                    <a:pt x="6167" y="88"/>
                    <a:pt x="190" y="88"/>
                    <a:pt x="190" y="6435"/>
                  </a:cubicBezTo>
                  <a:cubicBezTo>
                    <a:pt x="190" y="12781"/>
                    <a:pt x="6167" y="12781"/>
                    <a:pt x="10885" y="12781"/>
                  </a:cubicBezTo>
                  <a:lnTo>
                    <a:pt x="198673" y="12781"/>
                  </a:lnTo>
                  <a:close/>
                  <a:moveTo>
                    <a:pt x="198987" y="74339"/>
                  </a:moveTo>
                  <a:cubicBezTo>
                    <a:pt x="203391" y="74339"/>
                    <a:pt x="209368" y="74339"/>
                    <a:pt x="209368" y="67993"/>
                  </a:cubicBezTo>
                  <a:cubicBezTo>
                    <a:pt x="209368" y="61647"/>
                    <a:pt x="203391" y="61647"/>
                    <a:pt x="198673" y="61647"/>
                  </a:cubicBezTo>
                  <a:lnTo>
                    <a:pt x="10885" y="61647"/>
                  </a:lnTo>
                  <a:cubicBezTo>
                    <a:pt x="6167" y="61647"/>
                    <a:pt x="190" y="61647"/>
                    <a:pt x="190" y="67993"/>
                  </a:cubicBezTo>
                  <a:cubicBezTo>
                    <a:pt x="190" y="74339"/>
                    <a:pt x="6167" y="74339"/>
                    <a:pt x="10571" y="74339"/>
                  </a:cubicBezTo>
                  <a:lnTo>
                    <a:pt x="198987" y="74339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26" name="任意形状 10025">
              <a:extLst>
                <a:ext uri="{FF2B5EF4-FFF2-40B4-BE49-F238E27FC236}">
                  <a16:creationId xmlns:a16="http://schemas.microsoft.com/office/drawing/2014/main" id="{5CE20D31-11F0-5797-B692-C6E89EB37BC2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7012881" y="4430125"/>
              <a:ext cx="171470" cy="285580"/>
            </a:xfrm>
            <a:custGeom>
              <a:avLst/>
              <a:gdLst>
                <a:gd name="connsiteX0" fmla="*/ 171672 w 171470"/>
                <a:gd name="connsiteY0" fmla="*/ 43560 h 285580"/>
                <a:gd name="connsiteX1" fmla="*/ 128893 w 171470"/>
                <a:gd name="connsiteY1" fmla="*/ 88 h 285580"/>
                <a:gd name="connsiteX2" fmla="*/ 90832 w 171470"/>
                <a:gd name="connsiteY2" fmla="*/ 13415 h 285580"/>
                <a:gd name="connsiteX3" fmla="*/ 50255 w 171470"/>
                <a:gd name="connsiteY3" fmla="*/ 81003 h 285580"/>
                <a:gd name="connsiteX4" fmla="*/ 241 w 171470"/>
                <a:gd name="connsiteY4" fmla="*/ 282495 h 285580"/>
                <a:gd name="connsiteX5" fmla="*/ 4015 w 171470"/>
                <a:gd name="connsiteY5" fmla="*/ 285668 h 285580"/>
                <a:gd name="connsiteX6" fmla="*/ 7790 w 171470"/>
                <a:gd name="connsiteY6" fmla="*/ 284082 h 285580"/>
                <a:gd name="connsiteX7" fmla="*/ 29809 w 171470"/>
                <a:gd name="connsiteY7" fmla="*/ 196504 h 285580"/>
                <a:gd name="connsiteX8" fmla="*/ 72588 w 171470"/>
                <a:gd name="connsiteY8" fmla="*/ 227283 h 285580"/>
                <a:gd name="connsiteX9" fmla="*/ 133296 w 171470"/>
                <a:gd name="connsiteY9" fmla="*/ 202216 h 285580"/>
                <a:gd name="connsiteX10" fmla="*/ 158460 w 171470"/>
                <a:gd name="connsiteY10" fmla="*/ 143830 h 285580"/>
                <a:gd name="connsiteX11" fmla="*/ 135498 w 171470"/>
                <a:gd name="connsiteY11" fmla="*/ 96551 h 285580"/>
                <a:gd name="connsiteX12" fmla="*/ 171672 w 171470"/>
                <a:gd name="connsiteY12" fmla="*/ 43560 h 285580"/>
                <a:gd name="connsiteX13" fmla="*/ 115052 w 171470"/>
                <a:gd name="connsiteY13" fmla="*/ 96234 h 285580"/>
                <a:gd name="connsiteX14" fmla="*/ 99954 w 171470"/>
                <a:gd name="connsiteY14" fmla="*/ 98455 h 285580"/>
                <a:gd name="connsiteX15" fmla="*/ 86114 w 171470"/>
                <a:gd name="connsiteY15" fmla="*/ 97186 h 285580"/>
                <a:gd name="connsiteX16" fmla="*/ 101527 w 171470"/>
                <a:gd name="connsiteY16" fmla="*/ 94647 h 285580"/>
                <a:gd name="connsiteX17" fmla="*/ 115052 w 171470"/>
                <a:gd name="connsiteY17" fmla="*/ 96234 h 285580"/>
                <a:gd name="connsiteX18" fmla="*/ 154057 w 171470"/>
                <a:gd name="connsiteY18" fmla="*/ 36262 h 285580"/>
                <a:gd name="connsiteX19" fmla="*/ 125747 w 171470"/>
                <a:gd name="connsiteY19" fmla="*/ 91157 h 285580"/>
                <a:gd name="connsiteX20" fmla="*/ 101527 w 171470"/>
                <a:gd name="connsiteY20" fmla="*/ 87349 h 285580"/>
                <a:gd name="connsiteX21" fmla="*/ 77306 w 171470"/>
                <a:gd name="connsiteY21" fmla="*/ 97503 h 285580"/>
                <a:gd name="connsiteX22" fmla="*/ 99010 w 171470"/>
                <a:gd name="connsiteY22" fmla="*/ 105436 h 285580"/>
                <a:gd name="connsiteX23" fmla="*/ 124803 w 171470"/>
                <a:gd name="connsiteY23" fmla="*/ 101311 h 285580"/>
                <a:gd name="connsiteX24" fmla="*/ 138644 w 171470"/>
                <a:gd name="connsiteY24" fmla="*/ 137167 h 285580"/>
                <a:gd name="connsiteX25" fmla="*/ 122916 w 171470"/>
                <a:gd name="connsiteY25" fmla="*/ 191744 h 285580"/>
                <a:gd name="connsiteX26" fmla="*/ 71644 w 171470"/>
                <a:gd name="connsiteY26" fmla="*/ 220302 h 285580"/>
                <a:gd name="connsiteX27" fmla="*/ 35785 w 171470"/>
                <a:gd name="connsiteY27" fmla="*/ 179369 h 285580"/>
                <a:gd name="connsiteX28" fmla="*/ 37358 w 171470"/>
                <a:gd name="connsiteY28" fmla="*/ 165407 h 285580"/>
                <a:gd name="connsiteX29" fmla="*/ 57489 w 171470"/>
                <a:gd name="connsiteY29" fmla="*/ 85128 h 285580"/>
                <a:gd name="connsiteX30" fmla="*/ 124803 w 171470"/>
                <a:gd name="connsiteY30" fmla="*/ 7386 h 285580"/>
                <a:gd name="connsiteX31" fmla="*/ 154057 w 171470"/>
                <a:gd name="connsiteY31" fmla="*/ 36262 h 28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1470" h="285580">
                  <a:moveTo>
                    <a:pt x="171672" y="43560"/>
                  </a:moveTo>
                  <a:cubicBezTo>
                    <a:pt x="171672" y="19762"/>
                    <a:pt x="154371" y="88"/>
                    <a:pt x="128893" y="88"/>
                  </a:cubicBezTo>
                  <a:cubicBezTo>
                    <a:pt x="110649" y="88"/>
                    <a:pt x="101841" y="5165"/>
                    <a:pt x="90832" y="13415"/>
                  </a:cubicBezTo>
                  <a:cubicBezTo>
                    <a:pt x="73531" y="26108"/>
                    <a:pt x="56231" y="56887"/>
                    <a:pt x="50255" y="81003"/>
                  </a:cubicBezTo>
                  <a:lnTo>
                    <a:pt x="241" y="282495"/>
                  </a:lnTo>
                  <a:cubicBezTo>
                    <a:pt x="-74" y="283765"/>
                    <a:pt x="1499" y="285668"/>
                    <a:pt x="4015" y="285668"/>
                  </a:cubicBezTo>
                  <a:cubicBezTo>
                    <a:pt x="6532" y="285668"/>
                    <a:pt x="7475" y="285034"/>
                    <a:pt x="7790" y="284082"/>
                  </a:cubicBezTo>
                  <a:lnTo>
                    <a:pt x="29809" y="196504"/>
                  </a:lnTo>
                  <a:cubicBezTo>
                    <a:pt x="35785" y="215543"/>
                    <a:pt x="49625" y="227283"/>
                    <a:pt x="72588" y="227283"/>
                  </a:cubicBezTo>
                  <a:cubicBezTo>
                    <a:pt x="95550" y="227283"/>
                    <a:pt x="119141" y="216177"/>
                    <a:pt x="133296" y="202216"/>
                  </a:cubicBezTo>
                  <a:cubicBezTo>
                    <a:pt x="148395" y="187619"/>
                    <a:pt x="158460" y="167311"/>
                    <a:pt x="158460" y="143830"/>
                  </a:cubicBezTo>
                  <a:cubicBezTo>
                    <a:pt x="158460" y="120984"/>
                    <a:pt x="146822" y="104484"/>
                    <a:pt x="135498" y="96551"/>
                  </a:cubicBezTo>
                  <a:cubicBezTo>
                    <a:pt x="153742" y="86080"/>
                    <a:pt x="171672" y="66406"/>
                    <a:pt x="171672" y="43560"/>
                  </a:cubicBezTo>
                  <a:close/>
                  <a:moveTo>
                    <a:pt x="115052" y="96234"/>
                  </a:moveTo>
                  <a:cubicBezTo>
                    <a:pt x="110963" y="97820"/>
                    <a:pt x="107503" y="98455"/>
                    <a:pt x="99954" y="98455"/>
                  </a:cubicBezTo>
                  <a:cubicBezTo>
                    <a:pt x="95550" y="98455"/>
                    <a:pt x="89259" y="98772"/>
                    <a:pt x="86114" y="97186"/>
                  </a:cubicBezTo>
                  <a:cubicBezTo>
                    <a:pt x="86743" y="94012"/>
                    <a:pt x="98066" y="94647"/>
                    <a:pt x="101527" y="94647"/>
                  </a:cubicBezTo>
                  <a:cubicBezTo>
                    <a:pt x="108132" y="94647"/>
                    <a:pt x="110963" y="94647"/>
                    <a:pt x="115052" y="96234"/>
                  </a:cubicBezTo>
                  <a:close/>
                  <a:moveTo>
                    <a:pt x="154057" y="36262"/>
                  </a:moveTo>
                  <a:cubicBezTo>
                    <a:pt x="154057" y="58474"/>
                    <a:pt x="142104" y="81320"/>
                    <a:pt x="125747" y="91157"/>
                  </a:cubicBezTo>
                  <a:cubicBezTo>
                    <a:pt x="117254" y="87984"/>
                    <a:pt x="110963" y="87349"/>
                    <a:pt x="101527" y="87349"/>
                  </a:cubicBezTo>
                  <a:cubicBezTo>
                    <a:pt x="94921" y="87349"/>
                    <a:pt x="77306" y="87032"/>
                    <a:pt x="77306" y="97503"/>
                  </a:cubicBezTo>
                  <a:cubicBezTo>
                    <a:pt x="76991" y="106388"/>
                    <a:pt x="93348" y="105436"/>
                    <a:pt x="99010" y="105436"/>
                  </a:cubicBezTo>
                  <a:cubicBezTo>
                    <a:pt x="110649" y="105436"/>
                    <a:pt x="115367" y="105118"/>
                    <a:pt x="124803" y="101311"/>
                  </a:cubicBezTo>
                  <a:cubicBezTo>
                    <a:pt x="136756" y="112734"/>
                    <a:pt x="138329" y="122570"/>
                    <a:pt x="138644" y="137167"/>
                  </a:cubicBezTo>
                  <a:cubicBezTo>
                    <a:pt x="139273" y="155571"/>
                    <a:pt x="131724" y="179369"/>
                    <a:pt x="122916" y="191744"/>
                  </a:cubicBezTo>
                  <a:cubicBezTo>
                    <a:pt x="110649" y="208879"/>
                    <a:pt x="89574" y="220302"/>
                    <a:pt x="71644" y="220302"/>
                  </a:cubicBezTo>
                  <a:cubicBezTo>
                    <a:pt x="47738" y="220302"/>
                    <a:pt x="35785" y="201898"/>
                    <a:pt x="35785" y="179369"/>
                  </a:cubicBezTo>
                  <a:cubicBezTo>
                    <a:pt x="35785" y="176196"/>
                    <a:pt x="35785" y="171436"/>
                    <a:pt x="37358" y="165407"/>
                  </a:cubicBezTo>
                  <a:lnTo>
                    <a:pt x="57489" y="85128"/>
                  </a:lnTo>
                  <a:cubicBezTo>
                    <a:pt x="64409" y="57839"/>
                    <a:pt x="87057" y="7386"/>
                    <a:pt x="124803" y="7386"/>
                  </a:cubicBezTo>
                  <a:cubicBezTo>
                    <a:pt x="143047" y="7386"/>
                    <a:pt x="154057" y="17223"/>
                    <a:pt x="154057" y="36262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27" name="任意形状 10026">
              <a:extLst>
                <a:ext uri="{FF2B5EF4-FFF2-40B4-BE49-F238E27FC236}">
                  <a16:creationId xmlns:a16="http://schemas.microsoft.com/office/drawing/2014/main" id="{64080D35-8AF6-57E1-F8E6-336875F9259F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7195275" y="4554257"/>
              <a:ext cx="97322" cy="147486"/>
            </a:xfrm>
            <a:custGeom>
              <a:avLst/>
              <a:gdLst>
                <a:gd name="connsiteX0" fmla="*/ 97529 w 97322"/>
                <a:gd name="connsiteY0" fmla="*/ 107151 h 147486"/>
                <a:gd name="connsiteX1" fmla="*/ 90043 w 97322"/>
                <a:gd name="connsiteY1" fmla="*/ 107151 h 147486"/>
                <a:gd name="connsiteX2" fmla="*/ 84318 w 97322"/>
                <a:gd name="connsiteY2" fmla="*/ 127363 h 147486"/>
                <a:gd name="connsiteX3" fmla="*/ 62519 w 97322"/>
                <a:gd name="connsiteY3" fmla="*/ 128696 h 147486"/>
                <a:gd name="connsiteX4" fmla="*/ 22005 w 97322"/>
                <a:gd name="connsiteY4" fmla="*/ 128696 h 147486"/>
                <a:gd name="connsiteX5" fmla="*/ 66042 w 97322"/>
                <a:gd name="connsiteY5" fmla="*/ 91380 h 147486"/>
                <a:gd name="connsiteX6" fmla="*/ 97529 w 97322"/>
                <a:gd name="connsiteY6" fmla="*/ 43403 h 147486"/>
                <a:gd name="connsiteX7" fmla="*/ 46005 w 97322"/>
                <a:gd name="connsiteY7" fmla="*/ 90 h 147486"/>
                <a:gd name="connsiteX8" fmla="*/ 207 w 97322"/>
                <a:gd name="connsiteY8" fmla="*/ 39849 h 147486"/>
                <a:gd name="connsiteX9" fmla="*/ 11876 w 97322"/>
                <a:gd name="connsiteY9" fmla="*/ 52287 h 147486"/>
                <a:gd name="connsiteX10" fmla="*/ 23546 w 97322"/>
                <a:gd name="connsiteY10" fmla="*/ 40515 h 147486"/>
                <a:gd name="connsiteX11" fmla="*/ 10555 w 97322"/>
                <a:gd name="connsiteY11" fmla="*/ 28743 h 147486"/>
                <a:gd name="connsiteX12" fmla="*/ 42703 w 97322"/>
                <a:gd name="connsiteY12" fmla="*/ 8086 h 147486"/>
                <a:gd name="connsiteX13" fmla="*/ 76171 w 97322"/>
                <a:gd name="connsiteY13" fmla="*/ 43403 h 147486"/>
                <a:gd name="connsiteX14" fmla="*/ 55473 w 97322"/>
                <a:gd name="connsiteY14" fmla="*/ 86049 h 147486"/>
                <a:gd name="connsiteX15" fmla="*/ 2408 w 97322"/>
                <a:gd name="connsiteY15" fmla="*/ 138913 h 147486"/>
                <a:gd name="connsiteX16" fmla="*/ 207 w 97322"/>
                <a:gd name="connsiteY16" fmla="*/ 147576 h 147486"/>
                <a:gd name="connsiteX17" fmla="*/ 90923 w 97322"/>
                <a:gd name="connsiteY17" fmla="*/ 147576 h 147486"/>
                <a:gd name="connsiteX18" fmla="*/ 97529 w 97322"/>
                <a:gd name="connsiteY18" fmla="*/ 107151 h 14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7322" h="147486">
                  <a:moveTo>
                    <a:pt x="97529" y="107151"/>
                  </a:moveTo>
                  <a:lnTo>
                    <a:pt x="90043" y="107151"/>
                  </a:lnTo>
                  <a:cubicBezTo>
                    <a:pt x="89382" y="112037"/>
                    <a:pt x="87180" y="125142"/>
                    <a:pt x="84318" y="127363"/>
                  </a:cubicBezTo>
                  <a:cubicBezTo>
                    <a:pt x="82556" y="128696"/>
                    <a:pt x="65602" y="128696"/>
                    <a:pt x="62519" y="128696"/>
                  </a:cubicBezTo>
                  <a:lnTo>
                    <a:pt x="22005" y="128696"/>
                  </a:lnTo>
                  <a:cubicBezTo>
                    <a:pt x="45125" y="108039"/>
                    <a:pt x="52831" y="101820"/>
                    <a:pt x="66042" y="91380"/>
                  </a:cubicBezTo>
                  <a:cubicBezTo>
                    <a:pt x="82336" y="78275"/>
                    <a:pt x="97529" y="64504"/>
                    <a:pt x="97529" y="43403"/>
                  </a:cubicBezTo>
                  <a:cubicBezTo>
                    <a:pt x="97529" y="16527"/>
                    <a:pt x="74189" y="90"/>
                    <a:pt x="46005" y="90"/>
                  </a:cubicBezTo>
                  <a:cubicBezTo>
                    <a:pt x="18702" y="90"/>
                    <a:pt x="207" y="19414"/>
                    <a:pt x="207" y="39849"/>
                  </a:cubicBezTo>
                  <a:cubicBezTo>
                    <a:pt x="207" y="51177"/>
                    <a:pt x="9675" y="52287"/>
                    <a:pt x="11876" y="52287"/>
                  </a:cubicBezTo>
                  <a:cubicBezTo>
                    <a:pt x="17161" y="52287"/>
                    <a:pt x="23546" y="48511"/>
                    <a:pt x="23546" y="40515"/>
                  </a:cubicBezTo>
                  <a:cubicBezTo>
                    <a:pt x="23546" y="36517"/>
                    <a:pt x="22005" y="28743"/>
                    <a:pt x="10555" y="28743"/>
                  </a:cubicBezTo>
                  <a:cubicBezTo>
                    <a:pt x="17381" y="12973"/>
                    <a:pt x="32354" y="8086"/>
                    <a:pt x="42703" y="8086"/>
                  </a:cubicBezTo>
                  <a:cubicBezTo>
                    <a:pt x="64721" y="8086"/>
                    <a:pt x="76171" y="25411"/>
                    <a:pt x="76171" y="43403"/>
                  </a:cubicBezTo>
                  <a:cubicBezTo>
                    <a:pt x="76171" y="62727"/>
                    <a:pt x="62519" y="78053"/>
                    <a:pt x="55473" y="86049"/>
                  </a:cubicBezTo>
                  <a:lnTo>
                    <a:pt x="2408" y="138913"/>
                  </a:lnTo>
                  <a:cubicBezTo>
                    <a:pt x="207" y="140913"/>
                    <a:pt x="207" y="141357"/>
                    <a:pt x="207" y="147576"/>
                  </a:cubicBezTo>
                  <a:lnTo>
                    <a:pt x="90923" y="147576"/>
                  </a:lnTo>
                  <a:lnTo>
                    <a:pt x="97529" y="107151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28" name="任意形状 10027">
              <a:extLst>
                <a:ext uri="{FF2B5EF4-FFF2-40B4-BE49-F238E27FC236}">
                  <a16:creationId xmlns:a16="http://schemas.microsoft.com/office/drawing/2014/main" id="{D86CE73A-F848-F13F-329E-B1A16D51EDCA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7331638" y="4513896"/>
              <a:ext cx="138088" cy="143741"/>
            </a:xfrm>
            <a:custGeom>
              <a:avLst/>
              <a:gdLst>
                <a:gd name="connsiteX0" fmla="*/ 138299 w 138088"/>
                <a:gd name="connsiteY0" fmla="*/ 22300 h 143741"/>
                <a:gd name="connsiteX1" fmla="*/ 124459 w 138088"/>
                <a:gd name="connsiteY1" fmla="*/ 88 h 143741"/>
                <a:gd name="connsiteX2" fmla="*/ 109046 w 138088"/>
                <a:gd name="connsiteY2" fmla="*/ 15319 h 143741"/>
                <a:gd name="connsiteX3" fmla="*/ 114079 w 138088"/>
                <a:gd name="connsiteY3" fmla="*/ 24839 h 143741"/>
                <a:gd name="connsiteX4" fmla="*/ 124774 w 138088"/>
                <a:gd name="connsiteY4" fmla="*/ 50858 h 143741"/>
                <a:gd name="connsiteX5" fmla="*/ 68783 w 138088"/>
                <a:gd name="connsiteY5" fmla="*/ 136849 h 143741"/>
                <a:gd name="connsiteX6" fmla="*/ 45507 w 138088"/>
                <a:gd name="connsiteY6" fmla="*/ 109243 h 143741"/>
                <a:gd name="connsiteX7" fmla="*/ 63751 w 138088"/>
                <a:gd name="connsiteY7" fmla="*/ 41973 h 143741"/>
                <a:gd name="connsiteX8" fmla="*/ 67525 w 138088"/>
                <a:gd name="connsiteY8" fmla="*/ 26108 h 143741"/>
                <a:gd name="connsiteX9" fmla="*/ 41732 w 138088"/>
                <a:gd name="connsiteY9" fmla="*/ 88 h 143741"/>
                <a:gd name="connsiteX10" fmla="*/ 211 w 138088"/>
                <a:gd name="connsiteY10" fmla="*/ 48954 h 143741"/>
                <a:gd name="connsiteX11" fmla="*/ 3986 w 138088"/>
                <a:gd name="connsiteY11" fmla="*/ 52127 h 143741"/>
                <a:gd name="connsiteX12" fmla="*/ 9018 w 138088"/>
                <a:gd name="connsiteY12" fmla="*/ 46416 h 143741"/>
                <a:gd name="connsiteX13" fmla="*/ 40788 w 138088"/>
                <a:gd name="connsiteY13" fmla="*/ 7069 h 143741"/>
                <a:gd name="connsiteX14" fmla="*/ 48652 w 138088"/>
                <a:gd name="connsiteY14" fmla="*/ 17223 h 143741"/>
                <a:gd name="connsiteX15" fmla="*/ 43305 w 138088"/>
                <a:gd name="connsiteY15" fmla="*/ 39435 h 143741"/>
                <a:gd name="connsiteX16" fmla="*/ 25375 w 138088"/>
                <a:gd name="connsiteY16" fmla="*/ 104484 h 143741"/>
                <a:gd name="connsiteX17" fmla="*/ 67525 w 138088"/>
                <a:gd name="connsiteY17" fmla="*/ 143830 h 143741"/>
                <a:gd name="connsiteX18" fmla="*/ 138299 w 138088"/>
                <a:gd name="connsiteY18" fmla="*/ 22300 h 14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088" h="143741">
                  <a:moveTo>
                    <a:pt x="138299" y="22300"/>
                  </a:moveTo>
                  <a:cubicBezTo>
                    <a:pt x="138299" y="5165"/>
                    <a:pt x="130121" y="88"/>
                    <a:pt x="124459" y="88"/>
                  </a:cubicBezTo>
                  <a:cubicBezTo>
                    <a:pt x="116595" y="88"/>
                    <a:pt x="109046" y="8338"/>
                    <a:pt x="109046" y="15319"/>
                  </a:cubicBezTo>
                  <a:cubicBezTo>
                    <a:pt x="109046" y="19444"/>
                    <a:pt x="110619" y="21348"/>
                    <a:pt x="114079" y="24839"/>
                  </a:cubicBezTo>
                  <a:cubicBezTo>
                    <a:pt x="120684" y="31185"/>
                    <a:pt x="124774" y="39435"/>
                    <a:pt x="124774" y="50858"/>
                  </a:cubicBezTo>
                  <a:cubicBezTo>
                    <a:pt x="124774" y="64185"/>
                    <a:pt x="105586" y="136849"/>
                    <a:pt x="68783" y="136849"/>
                  </a:cubicBezTo>
                  <a:cubicBezTo>
                    <a:pt x="52741" y="136849"/>
                    <a:pt x="45507" y="125744"/>
                    <a:pt x="45507" y="109243"/>
                  </a:cubicBezTo>
                  <a:cubicBezTo>
                    <a:pt x="45507" y="91474"/>
                    <a:pt x="53999" y="68310"/>
                    <a:pt x="63751" y="41973"/>
                  </a:cubicBezTo>
                  <a:cubicBezTo>
                    <a:pt x="65952" y="36579"/>
                    <a:pt x="67525" y="32137"/>
                    <a:pt x="67525" y="26108"/>
                  </a:cubicBezTo>
                  <a:cubicBezTo>
                    <a:pt x="67525" y="11829"/>
                    <a:pt x="57459" y="88"/>
                    <a:pt x="41732" y="88"/>
                  </a:cubicBezTo>
                  <a:cubicBezTo>
                    <a:pt x="12164" y="88"/>
                    <a:pt x="211" y="46098"/>
                    <a:pt x="211" y="48954"/>
                  </a:cubicBezTo>
                  <a:cubicBezTo>
                    <a:pt x="211" y="52127"/>
                    <a:pt x="3357" y="52127"/>
                    <a:pt x="3986" y="52127"/>
                  </a:cubicBezTo>
                  <a:cubicBezTo>
                    <a:pt x="7131" y="52127"/>
                    <a:pt x="7446" y="51493"/>
                    <a:pt x="9018" y="46416"/>
                  </a:cubicBezTo>
                  <a:cubicBezTo>
                    <a:pt x="18140" y="14367"/>
                    <a:pt x="31666" y="7069"/>
                    <a:pt x="40788" y="7069"/>
                  </a:cubicBezTo>
                  <a:cubicBezTo>
                    <a:pt x="43305" y="7069"/>
                    <a:pt x="48652" y="7069"/>
                    <a:pt x="48652" y="17223"/>
                  </a:cubicBezTo>
                  <a:cubicBezTo>
                    <a:pt x="48652" y="25156"/>
                    <a:pt x="45507" y="33723"/>
                    <a:pt x="43305" y="39435"/>
                  </a:cubicBezTo>
                  <a:cubicBezTo>
                    <a:pt x="29464" y="76243"/>
                    <a:pt x="25375" y="90839"/>
                    <a:pt x="25375" y="104484"/>
                  </a:cubicBezTo>
                  <a:cubicBezTo>
                    <a:pt x="25375" y="138753"/>
                    <a:pt x="53056" y="143830"/>
                    <a:pt x="67525" y="143830"/>
                  </a:cubicBezTo>
                  <a:cubicBezTo>
                    <a:pt x="120370" y="143830"/>
                    <a:pt x="138299" y="38800"/>
                    <a:pt x="138299" y="22300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29" name="任意形状 10028">
              <a:extLst>
                <a:ext uri="{FF2B5EF4-FFF2-40B4-BE49-F238E27FC236}">
                  <a16:creationId xmlns:a16="http://schemas.microsoft.com/office/drawing/2014/main" id="{CB198991-97A7-EBE8-8573-05846C36103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7484234" y="4562920"/>
              <a:ext cx="74423" cy="141044"/>
            </a:xfrm>
            <a:custGeom>
              <a:avLst/>
              <a:gdLst>
                <a:gd name="connsiteX0" fmla="*/ 45134 w 74423"/>
                <a:gd name="connsiteY0" fmla="*/ 51177 h 141044"/>
                <a:gd name="connsiteX1" fmla="*/ 67593 w 74423"/>
                <a:gd name="connsiteY1" fmla="*/ 51177 h 141044"/>
                <a:gd name="connsiteX2" fmla="*/ 74639 w 74423"/>
                <a:gd name="connsiteY2" fmla="*/ 46290 h 141044"/>
                <a:gd name="connsiteX3" fmla="*/ 68033 w 74423"/>
                <a:gd name="connsiteY3" fmla="*/ 43181 h 141044"/>
                <a:gd name="connsiteX4" fmla="*/ 47116 w 74423"/>
                <a:gd name="connsiteY4" fmla="*/ 43181 h 141044"/>
                <a:gd name="connsiteX5" fmla="*/ 55262 w 74423"/>
                <a:gd name="connsiteY5" fmla="*/ 10307 h 141044"/>
                <a:gd name="connsiteX6" fmla="*/ 55923 w 74423"/>
                <a:gd name="connsiteY6" fmla="*/ 7198 h 141044"/>
                <a:gd name="connsiteX7" fmla="*/ 48437 w 74423"/>
                <a:gd name="connsiteY7" fmla="*/ 90 h 141044"/>
                <a:gd name="connsiteX8" fmla="*/ 38088 w 74423"/>
                <a:gd name="connsiteY8" fmla="*/ 9641 h 141044"/>
                <a:gd name="connsiteX9" fmla="*/ 29721 w 74423"/>
                <a:gd name="connsiteY9" fmla="*/ 43181 h 141044"/>
                <a:gd name="connsiteX10" fmla="*/ 7262 w 74423"/>
                <a:gd name="connsiteY10" fmla="*/ 43181 h 141044"/>
                <a:gd name="connsiteX11" fmla="*/ 216 w 74423"/>
                <a:gd name="connsiteY11" fmla="*/ 48067 h 141044"/>
                <a:gd name="connsiteX12" fmla="*/ 6821 w 74423"/>
                <a:gd name="connsiteY12" fmla="*/ 51177 h 141044"/>
                <a:gd name="connsiteX13" fmla="*/ 27739 w 74423"/>
                <a:gd name="connsiteY13" fmla="*/ 51177 h 141044"/>
                <a:gd name="connsiteX14" fmla="*/ 14748 w 74423"/>
                <a:gd name="connsiteY14" fmla="*/ 103597 h 141044"/>
                <a:gd name="connsiteX15" fmla="*/ 11445 w 74423"/>
                <a:gd name="connsiteY15" fmla="*/ 120033 h 141044"/>
                <a:gd name="connsiteX16" fmla="*/ 35005 w 74423"/>
                <a:gd name="connsiteY16" fmla="*/ 141135 h 141044"/>
                <a:gd name="connsiteX17" fmla="*/ 73318 w 74423"/>
                <a:gd name="connsiteY17" fmla="*/ 107151 h 141044"/>
                <a:gd name="connsiteX18" fmla="*/ 69795 w 74423"/>
                <a:gd name="connsiteY18" fmla="*/ 104263 h 141044"/>
                <a:gd name="connsiteX19" fmla="*/ 65171 w 74423"/>
                <a:gd name="connsiteY19" fmla="*/ 108483 h 141044"/>
                <a:gd name="connsiteX20" fmla="*/ 35666 w 74423"/>
                <a:gd name="connsiteY20" fmla="*/ 134915 h 141044"/>
                <a:gd name="connsiteX21" fmla="*/ 27959 w 74423"/>
                <a:gd name="connsiteY21" fmla="*/ 124032 h 141044"/>
                <a:gd name="connsiteX22" fmla="*/ 29280 w 74423"/>
                <a:gd name="connsiteY22" fmla="*/ 114925 h 141044"/>
                <a:gd name="connsiteX23" fmla="*/ 45134 w 74423"/>
                <a:gd name="connsiteY23" fmla="*/ 51177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34" y="51177"/>
                  </a:moveTo>
                  <a:lnTo>
                    <a:pt x="67593" y="51177"/>
                  </a:lnTo>
                  <a:cubicBezTo>
                    <a:pt x="71776" y="51177"/>
                    <a:pt x="74639" y="51177"/>
                    <a:pt x="74639" y="46290"/>
                  </a:cubicBezTo>
                  <a:cubicBezTo>
                    <a:pt x="74639" y="43181"/>
                    <a:pt x="71776" y="43181"/>
                    <a:pt x="68033" y="43181"/>
                  </a:cubicBezTo>
                  <a:lnTo>
                    <a:pt x="47116" y="43181"/>
                  </a:lnTo>
                  <a:lnTo>
                    <a:pt x="55262" y="10307"/>
                  </a:lnTo>
                  <a:cubicBezTo>
                    <a:pt x="55483" y="9197"/>
                    <a:pt x="55923" y="8086"/>
                    <a:pt x="55923" y="7198"/>
                  </a:cubicBezTo>
                  <a:cubicBezTo>
                    <a:pt x="55923" y="3199"/>
                    <a:pt x="52840" y="90"/>
                    <a:pt x="48437" y="90"/>
                  </a:cubicBezTo>
                  <a:cubicBezTo>
                    <a:pt x="42932" y="90"/>
                    <a:pt x="39629" y="3866"/>
                    <a:pt x="38088" y="9641"/>
                  </a:cubicBezTo>
                  <a:cubicBezTo>
                    <a:pt x="36547" y="15194"/>
                    <a:pt x="39409" y="4532"/>
                    <a:pt x="29721" y="43181"/>
                  </a:cubicBezTo>
                  <a:lnTo>
                    <a:pt x="7262" y="43181"/>
                  </a:lnTo>
                  <a:cubicBezTo>
                    <a:pt x="3078" y="43181"/>
                    <a:pt x="216" y="43181"/>
                    <a:pt x="216" y="48067"/>
                  </a:cubicBezTo>
                  <a:cubicBezTo>
                    <a:pt x="216" y="51177"/>
                    <a:pt x="2858" y="51177"/>
                    <a:pt x="6821" y="51177"/>
                  </a:cubicBezTo>
                  <a:lnTo>
                    <a:pt x="27739" y="51177"/>
                  </a:lnTo>
                  <a:lnTo>
                    <a:pt x="14748" y="103597"/>
                  </a:lnTo>
                  <a:cubicBezTo>
                    <a:pt x="13427" y="109150"/>
                    <a:pt x="11445" y="117146"/>
                    <a:pt x="11445" y="120033"/>
                  </a:cubicBezTo>
                  <a:cubicBezTo>
                    <a:pt x="11445" y="133138"/>
                    <a:pt x="22455" y="141135"/>
                    <a:pt x="35005" y="141135"/>
                  </a:cubicBezTo>
                  <a:cubicBezTo>
                    <a:pt x="59446" y="141135"/>
                    <a:pt x="73318" y="110038"/>
                    <a:pt x="73318" y="107151"/>
                  </a:cubicBezTo>
                  <a:cubicBezTo>
                    <a:pt x="73318" y="104263"/>
                    <a:pt x="70455" y="104263"/>
                    <a:pt x="69795" y="104263"/>
                  </a:cubicBezTo>
                  <a:cubicBezTo>
                    <a:pt x="67152" y="104263"/>
                    <a:pt x="66932" y="104707"/>
                    <a:pt x="65171" y="108483"/>
                  </a:cubicBezTo>
                  <a:cubicBezTo>
                    <a:pt x="59006" y="122477"/>
                    <a:pt x="47776" y="134915"/>
                    <a:pt x="35666" y="134915"/>
                  </a:cubicBezTo>
                  <a:cubicBezTo>
                    <a:pt x="31042" y="134915"/>
                    <a:pt x="27959" y="132028"/>
                    <a:pt x="27959" y="124032"/>
                  </a:cubicBezTo>
                  <a:cubicBezTo>
                    <a:pt x="27959" y="121810"/>
                    <a:pt x="28840" y="117146"/>
                    <a:pt x="29280" y="114925"/>
                  </a:cubicBezTo>
                  <a:lnTo>
                    <a:pt x="45134" y="51177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30" name="任意形状 10029">
              <a:extLst>
                <a:ext uri="{FF2B5EF4-FFF2-40B4-BE49-F238E27FC236}">
                  <a16:creationId xmlns:a16="http://schemas.microsoft.com/office/drawing/2014/main" id="{B872E30D-CD96-86E9-8036-E4CF4CB00F78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7593788" y="4640661"/>
              <a:ext cx="148846" cy="10883"/>
            </a:xfrm>
            <a:custGeom>
              <a:avLst/>
              <a:gdLst>
                <a:gd name="connsiteX0" fmla="*/ 140257 w 148846"/>
                <a:gd name="connsiteY0" fmla="*/ 10974 h 10883"/>
                <a:gd name="connsiteX1" fmla="*/ 149065 w 148846"/>
                <a:gd name="connsiteY1" fmla="*/ 5643 h 10883"/>
                <a:gd name="connsiteX2" fmla="*/ 140257 w 148846"/>
                <a:gd name="connsiteY2" fmla="*/ 90 h 10883"/>
                <a:gd name="connsiteX3" fmla="*/ 9026 w 148846"/>
                <a:gd name="connsiteY3" fmla="*/ 90 h 10883"/>
                <a:gd name="connsiteX4" fmla="*/ 219 w 148846"/>
                <a:gd name="connsiteY4" fmla="*/ 5421 h 10883"/>
                <a:gd name="connsiteX5" fmla="*/ 9026 w 148846"/>
                <a:gd name="connsiteY5" fmla="*/ 10974 h 10883"/>
                <a:gd name="connsiteX6" fmla="*/ 140257 w 148846"/>
                <a:gd name="connsiteY6" fmla="*/ 10974 h 1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8846" h="10883">
                  <a:moveTo>
                    <a:pt x="140257" y="10974"/>
                  </a:moveTo>
                  <a:cubicBezTo>
                    <a:pt x="143780" y="10974"/>
                    <a:pt x="149065" y="10974"/>
                    <a:pt x="149065" y="5643"/>
                  </a:cubicBezTo>
                  <a:cubicBezTo>
                    <a:pt x="149065" y="90"/>
                    <a:pt x="144001" y="90"/>
                    <a:pt x="140257" y="90"/>
                  </a:cubicBezTo>
                  <a:lnTo>
                    <a:pt x="9026" y="90"/>
                  </a:lnTo>
                  <a:cubicBezTo>
                    <a:pt x="5503" y="90"/>
                    <a:pt x="219" y="90"/>
                    <a:pt x="219" y="5421"/>
                  </a:cubicBezTo>
                  <a:cubicBezTo>
                    <a:pt x="219" y="10974"/>
                    <a:pt x="5283" y="10974"/>
                    <a:pt x="9026" y="10974"/>
                  </a:cubicBezTo>
                  <a:lnTo>
                    <a:pt x="140257" y="10974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31" name="任意形状 10030">
              <a:extLst>
                <a:ext uri="{FF2B5EF4-FFF2-40B4-BE49-F238E27FC236}">
                  <a16:creationId xmlns:a16="http://schemas.microsoft.com/office/drawing/2014/main" id="{99E6C6CF-D52C-8BC3-F46C-D16C84D535E1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7790605" y="4554257"/>
              <a:ext cx="80147" cy="147486"/>
            </a:xfrm>
            <a:custGeom>
              <a:avLst/>
              <a:gdLst>
                <a:gd name="connsiteX0" fmla="*/ 49987 w 80147"/>
                <a:gd name="connsiteY0" fmla="*/ 6309 h 147486"/>
                <a:gd name="connsiteX1" fmla="*/ 43382 w 80147"/>
                <a:gd name="connsiteY1" fmla="*/ 90 h 147486"/>
                <a:gd name="connsiteX2" fmla="*/ 225 w 80147"/>
                <a:gd name="connsiteY2" fmla="*/ 14305 h 147486"/>
                <a:gd name="connsiteX3" fmla="*/ 225 w 80147"/>
                <a:gd name="connsiteY3" fmla="*/ 22302 h 147486"/>
                <a:gd name="connsiteX4" fmla="*/ 32152 w 80147"/>
                <a:gd name="connsiteY4" fmla="*/ 16082 h 147486"/>
                <a:gd name="connsiteX5" fmla="*/ 32152 w 80147"/>
                <a:gd name="connsiteY5" fmla="*/ 129362 h 147486"/>
                <a:gd name="connsiteX6" fmla="*/ 10133 w 80147"/>
                <a:gd name="connsiteY6" fmla="*/ 139580 h 147486"/>
                <a:gd name="connsiteX7" fmla="*/ 1766 w 80147"/>
                <a:gd name="connsiteY7" fmla="*/ 139580 h 147486"/>
                <a:gd name="connsiteX8" fmla="*/ 1766 w 80147"/>
                <a:gd name="connsiteY8" fmla="*/ 147576 h 147486"/>
                <a:gd name="connsiteX9" fmla="*/ 40960 w 80147"/>
                <a:gd name="connsiteY9" fmla="*/ 146688 h 147486"/>
                <a:gd name="connsiteX10" fmla="*/ 80373 w 80147"/>
                <a:gd name="connsiteY10" fmla="*/ 147576 h 147486"/>
                <a:gd name="connsiteX11" fmla="*/ 80373 w 80147"/>
                <a:gd name="connsiteY11" fmla="*/ 139580 h 147486"/>
                <a:gd name="connsiteX12" fmla="*/ 72006 w 80147"/>
                <a:gd name="connsiteY12" fmla="*/ 139580 h 147486"/>
                <a:gd name="connsiteX13" fmla="*/ 49987 w 80147"/>
                <a:gd name="connsiteY13" fmla="*/ 129362 h 147486"/>
                <a:gd name="connsiteX14" fmla="*/ 49987 w 80147"/>
                <a:gd name="connsiteY14" fmla="*/ 6309 h 14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147" h="147486">
                  <a:moveTo>
                    <a:pt x="49987" y="6309"/>
                  </a:moveTo>
                  <a:cubicBezTo>
                    <a:pt x="49987" y="312"/>
                    <a:pt x="49547" y="90"/>
                    <a:pt x="43382" y="90"/>
                  </a:cubicBezTo>
                  <a:cubicBezTo>
                    <a:pt x="29290" y="14083"/>
                    <a:pt x="9253" y="14305"/>
                    <a:pt x="225" y="14305"/>
                  </a:cubicBezTo>
                  <a:lnTo>
                    <a:pt x="225" y="22302"/>
                  </a:lnTo>
                  <a:cubicBezTo>
                    <a:pt x="5510" y="22302"/>
                    <a:pt x="20042" y="22302"/>
                    <a:pt x="32152" y="16082"/>
                  </a:cubicBezTo>
                  <a:lnTo>
                    <a:pt x="32152" y="129362"/>
                  </a:lnTo>
                  <a:cubicBezTo>
                    <a:pt x="32152" y="136692"/>
                    <a:pt x="32152" y="139580"/>
                    <a:pt x="10133" y="139580"/>
                  </a:cubicBezTo>
                  <a:lnTo>
                    <a:pt x="1766" y="139580"/>
                  </a:lnTo>
                  <a:lnTo>
                    <a:pt x="1766" y="147576"/>
                  </a:lnTo>
                  <a:cubicBezTo>
                    <a:pt x="5730" y="147354"/>
                    <a:pt x="32813" y="146688"/>
                    <a:pt x="40960" y="146688"/>
                  </a:cubicBezTo>
                  <a:cubicBezTo>
                    <a:pt x="47785" y="146688"/>
                    <a:pt x="75529" y="147354"/>
                    <a:pt x="80373" y="147576"/>
                  </a:cubicBezTo>
                  <a:lnTo>
                    <a:pt x="80373" y="139580"/>
                  </a:lnTo>
                  <a:lnTo>
                    <a:pt x="72006" y="139580"/>
                  </a:lnTo>
                  <a:cubicBezTo>
                    <a:pt x="49987" y="139580"/>
                    <a:pt x="49987" y="136692"/>
                    <a:pt x="49987" y="129362"/>
                  </a:cubicBezTo>
                  <a:lnTo>
                    <a:pt x="49987" y="6309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32" name="任意形状 10031">
              <a:extLst>
                <a:ext uri="{FF2B5EF4-FFF2-40B4-BE49-F238E27FC236}">
                  <a16:creationId xmlns:a16="http://schemas.microsoft.com/office/drawing/2014/main" id="{B8C8487A-A031-46F2-2C59-7F62D3511162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7995229" y="4469155"/>
              <a:ext cx="209177" cy="211329"/>
            </a:xfrm>
            <a:custGeom>
              <a:avLst/>
              <a:gdLst>
                <a:gd name="connsiteX0" fmla="*/ 111269 w 209177"/>
                <a:gd name="connsiteY0" fmla="*/ 112099 h 211329"/>
                <a:gd name="connsiteX1" fmla="*/ 199029 w 209177"/>
                <a:gd name="connsiteY1" fmla="*/ 112099 h 211329"/>
                <a:gd name="connsiteX2" fmla="*/ 209409 w 209177"/>
                <a:gd name="connsiteY2" fmla="*/ 105753 h 211329"/>
                <a:gd name="connsiteX3" fmla="*/ 199029 w 209177"/>
                <a:gd name="connsiteY3" fmla="*/ 99407 h 211329"/>
                <a:gd name="connsiteX4" fmla="*/ 111269 w 209177"/>
                <a:gd name="connsiteY4" fmla="*/ 99407 h 211329"/>
                <a:gd name="connsiteX5" fmla="*/ 111269 w 209177"/>
                <a:gd name="connsiteY5" fmla="*/ 10560 h 211329"/>
                <a:gd name="connsiteX6" fmla="*/ 104978 w 209177"/>
                <a:gd name="connsiteY6" fmla="*/ 88 h 211329"/>
                <a:gd name="connsiteX7" fmla="*/ 98687 w 209177"/>
                <a:gd name="connsiteY7" fmla="*/ 10560 h 211329"/>
                <a:gd name="connsiteX8" fmla="*/ 98687 w 209177"/>
                <a:gd name="connsiteY8" fmla="*/ 99407 h 211329"/>
                <a:gd name="connsiteX9" fmla="*/ 10612 w 209177"/>
                <a:gd name="connsiteY9" fmla="*/ 99407 h 211329"/>
                <a:gd name="connsiteX10" fmla="*/ 232 w 209177"/>
                <a:gd name="connsiteY10" fmla="*/ 105753 h 211329"/>
                <a:gd name="connsiteX11" fmla="*/ 10612 w 209177"/>
                <a:gd name="connsiteY11" fmla="*/ 112099 h 211329"/>
                <a:gd name="connsiteX12" fmla="*/ 98687 w 209177"/>
                <a:gd name="connsiteY12" fmla="*/ 112099 h 211329"/>
                <a:gd name="connsiteX13" fmla="*/ 98687 w 209177"/>
                <a:gd name="connsiteY13" fmla="*/ 200946 h 211329"/>
                <a:gd name="connsiteX14" fmla="*/ 104978 w 209177"/>
                <a:gd name="connsiteY14" fmla="*/ 211418 h 211329"/>
                <a:gd name="connsiteX15" fmla="*/ 111269 w 209177"/>
                <a:gd name="connsiteY15" fmla="*/ 200946 h 211329"/>
                <a:gd name="connsiteX16" fmla="*/ 111269 w 209177"/>
                <a:gd name="connsiteY16" fmla="*/ 112099 h 21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9177" h="211329">
                  <a:moveTo>
                    <a:pt x="111269" y="112099"/>
                  </a:moveTo>
                  <a:lnTo>
                    <a:pt x="199029" y="112099"/>
                  </a:lnTo>
                  <a:cubicBezTo>
                    <a:pt x="203432" y="112099"/>
                    <a:pt x="209409" y="112099"/>
                    <a:pt x="209409" y="105753"/>
                  </a:cubicBezTo>
                  <a:cubicBezTo>
                    <a:pt x="209409" y="99407"/>
                    <a:pt x="203432" y="99407"/>
                    <a:pt x="199029" y="99407"/>
                  </a:cubicBezTo>
                  <a:lnTo>
                    <a:pt x="111269" y="99407"/>
                  </a:lnTo>
                  <a:lnTo>
                    <a:pt x="111269" y="10560"/>
                  </a:lnTo>
                  <a:cubicBezTo>
                    <a:pt x="111269" y="6117"/>
                    <a:pt x="111269" y="88"/>
                    <a:pt x="104978" y="88"/>
                  </a:cubicBezTo>
                  <a:cubicBezTo>
                    <a:pt x="98687" y="88"/>
                    <a:pt x="98687" y="6117"/>
                    <a:pt x="98687" y="10560"/>
                  </a:cubicBezTo>
                  <a:lnTo>
                    <a:pt x="98687" y="99407"/>
                  </a:lnTo>
                  <a:lnTo>
                    <a:pt x="10612" y="99407"/>
                  </a:lnTo>
                  <a:cubicBezTo>
                    <a:pt x="6208" y="99407"/>
                    <a:pt x="232" y="99407"/>
                    <a:pt x="232" y="105753"/>
                  </a:cubicBezTo>
                  <a:cubicBezTo>
                    <a:pt x="232" y="112099"/>
                    <a:pt x="6208" y="112099"/>
                    <a:pt x="10612" y="112099"/>
                  </a:cubicBezTo>
                  <a:lnTo>
                    <a:pt x="98687" y="112099"/>
                  </a:lnTo>
                  <a:lnTo>
                    <a:pt x="98687" y="200946"/>
                  </a:lnTo>
                  <a:cubicBezTo>
                    <a:pt x="98687" y="205389"/>
                    <a:pt x="98687" y="211418"/>
                    <a:pt x="104978" y="211418"/>
                  </a:cubicBezTo>
                  <a:cubicBezTo>
                    <a:pt x="111269" y="211418"/>
                    <a:pt x="111269" y="205389"/>
                    <a:pt x="111269" y="200946"/>
                  </a:cubicBezTo>
                  <a:lnTo>
                    <a:pt x="111269" y="112099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33" name="任意形状 10032">
              <a:extLst>
                <a:ext uri="{FF2B5EF4-FFF2-40B4-BE49-F238E27FC236}">
                  <a16:creationId xmlns:a16="http://schemas.microsoft.com/office/drawing/2014/main" id="{1D9361CE-7987-1665-9E95-E0DB9BC8825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8323306" y="4416164"/>
              <a:ext cx="72976" cy="317311"/>
            </a:xfrm>
            <a:custGeom>
              <a:avLst/>
              <a:gdLst>
                <a:gd name="connsiteX0" fmla="*/ 73218 w 72976"/>
                <a:gd name="connsiteY0" fmla="*/ 314226 h 317311"/>
                <a:gd name="connsiteX1" fmla="*/ 67870 w 72976"/>
                <a:gd name="connsiteY1" fmla="*/ 307246 h 317311"/>
                <a:gd name="connsiteX2" fmla="*/ 18486 w 72976"/>
                <a:gd name="connsiteY2" fmla="*/ 158744 h 317311"/>
                <a:gd name="connsiteX3" fmla="*/ 69129 w 72976"/>
                <a:gd name="connsiteY3" fmla="*/ 8656 h 317311"/>
                <a:gd name="connsiteX4" fmla="*/ 73218 w 72976"/>
                <a:gd name="connsiteY4" fmla="*/ 3261 h 317311"/>
                <a:gd name="connsiteX5" fmla="*/ 70072 w 72976"/>
                <a:gd name="connsiteY5" fmla="*/ 88 h 317311"/>
                <a:gd name="connsiteX6" fmla="*/ 20059 w 72976"/>
                <a:gd name="connsiteY6" fmla="*/ 61964 h 317311"/>
                <a:gd name="connsiteX7" fmla="*/ 242 w 72976"/>
                <a:gd name="connsiteY7" fmla="*/ 158744 h 317311"/>
                <a:gd name="connsiteX8" fmla="*/ 21002 w 72976"/>
                <a:gd name="connsiteY8" fmla="*/ 257745 h 317311"/>
                <a:gd name="connsiteX9" fmla="*/ 70072 w 72976"/>
                <a:gd name="connsiteY9" fmla="*/ 317400 h 317311"/>
                <a:gd name="connsiteX10" fmla="*/ 73218 w 72976"/>
                <a:gd name="connsiteY10" fmla="*/ 314226 h 31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976" h="317311">
                  <a:moveTo>
                    <a:pt x="73218" y="314226"/>
                  </a:moveTo>
                  <a:cubicBezTo>
                    <a:pt x="73218" y="313275"/>
                    <a:pt x="73218" y="312640"/>
                    <a:pt x="67870" y="307246"/>
                  </a:cubicBezTo>
                  <a:cubicBezTo>
                    <a:pt x="28551" y="267264"/>
                    <a:pt x="18486" y="207293"/>
                    <a:pt x="18486" y="158744"/>
                  </a:cubicBezTo>
                  <a:cubicBezTo>
                    <a:pt x="18486" y="103532"/>
                    <a:pt x="30439" y="48320"/>
                    <a:pt x="69129" y="8656"/>
                  </a:cubicBezTo>
                  <a:cubicBezTo>
                    <a:pt x="73218" y="4848"/>
                    <a:pt x="73218" y="4213"/>
                    <a:pt x="73218" y="3261"/>
                  </a:cubicBezTo>
                  <a:cubicBezTo>
                    <a:pt x="73218" y="1040"/>
                    <a:pt x="71960" y="88"/>
                    <a:pt x="70072" y="88"/>
                  </a:cubicBezTo>
                  <a:cubicBezTo>
                    <a:pt x="66927" y="88"/>
                    <a:pt x="38617" y="21665"/>
                    <a:pt x="20059" y="61964"/>
                  </a:cubicBezTo>
                  <a:cubicBezTo>
                    <a:pt x="4016" y="96868"/>
                    <a:pt x="242" y="132090"/>
                    <a:pt x="242" y="158744"/>
                  </a:cubicBezTo>
                  <a:cubicBezTo>
                    <a:pt x="242" y="183494"/>
                    <a:pt x="3702" y="221889"/>
                    <a:pt x="21002" y="257745"/>
                  </a:cubicBezTo>
                  <a:cubicBezTo>
                    <a:pt x="39875" y="296774"/>
                    <a:pt x="66927" y="317400"/>
                    <a:pt x="70072" y="317400"/>
                  </a:cubicBezTo>
                  <a:cubicBezTo>
                    <a:pt x="71960" y="317400"/>
                    <a:pt x="73218" y="316448"/>
                    <a:pt x="73218" y="314226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34" name="任意形状 10033">
              <a:extLst>
                <a:ext uri="{FF2B5EF4-FFF2-40B4-BE49-F238E27FC236}">
                  <a16:creationId xmlns:a16="http://schemas.microsoft.com/office/drawing/2014/main" id="{55DE9B74-F6F1-69E7-5B99-B6930107C498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8442487" y="4442818"/>
              <a:ext cx="103802" cy="211329"/>
            </a:xfrm>
            <a:custGeom>
              <a:avLst/>
              <a:gdLst>
                <a:gd name="connsiteX0" fmla="*/ 64729 w 103802"/>
                <a:gd name="connsiteY0" fmla="*/ 8338 h 211329"/>
                <a:gd name="connsiteX1" fmla="*/ 57494 w 103802"/>
                <a:gd name="connsiteY1" fmla="*/ 88 h 211329"/>
                <a:gd name="connsiteX2" fmla="*/ 246 w 103802"/>
                <a:gd name="connsiteY2" fmla="*/ 20396 h 211329"/>
                <a:gd name="connsiteX3" fmla="*/ 246 w 103802"/>
                <a:gd name="connsiteY3" fmla="*/ 30233 h 211329"/>
                <a:gd name="connsiteX4" fmla="*/ 41452 w 103802"/>
                <a:gd name="connsiteY4" fmla="*/ 21983 h 211329"/>
                <a:gd name="connsiteX5" fmla="*/ 41452 w 103802"/>
                <a:gd name="connsiteY5" fmla="*/ 186350 h 211329"/>
                <a:gd name="connsiteX6" fmla="*/ 12199 w 103802"/>
                <a:gd name="connsiteY6" fmla="*/ 201581 h 211329"/>
                <a:gd name="connsiteX7" fmla="*/ 2133 w 103802"/>
                <a:gd name="connsiteY7" fmla="*/ 201581 h 211329"/>
                <a:gd name="connsiteX8" fmla="*/ 2133 w 103802"/>
                <a:gd name="connsiteY8" fmla="*/ 211418 h 211329"/>
                <a:gd name="connsiteX9" fmla="*/ 53090 w 103802"/>
                <a:gd name="connsiteY9" fmla="*/ 210466 h 211329"/>
                <a:gd name="connsiteX10" fmla="*/ 104048 w 103802"/>
                <a:gd name="connsiteY10" fmla="*/ 211418 h 211329"/>
                <a:gd name="connsiteX11" fmla="*/ 104048 w 103802"/>
                <a:gd name="connsiteY11" fmla="*/ 201581 h 211329"/>
                <a:gd name="connsiteX12" fmla="*/ 93982 w 103802"/>
                <a:gd name="connsiteY12" fmla="*/ 201581 h 211329"/>
                <a:gd name="connsiteX13" fmla="*/ 64729 w 103802"/>
                <a:gd name="connsiteY13" fmla="*/ 186350 h 211329"/>
                <a:gd name="connsiteX14" fmla="*/ 64729 w 103802"/>
                <a:gd name="connsiteY14" fmla="*/ 8338 h 21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3802" h="211329">
                  <a:moveTo>
                    <a:pt x="64729" y="8338"/>
                  </a:moveTo>
                  <a:cubicBezTo>
                    <a:pt x="64729" y="723"/>
                    <a:pt x="64729" y="88"/>
                    <a:pt x="57494" y="88"/>
                  </a:cubicBezTo>
                  <a:cubicBezTo>
                    <a:pt x="37992" y="20396"/>
                    <a:pt x="10311" y="20396"/>
                    <a:pt x="246" y="20396"/>
                  </a:cubicBezTo>
                  <a:lnTo>
                    <a:pt x="246" y="30233"/>
                  </a:lnTo>
                  <a:cubicBezTo>
                    <a:pt x="6537" y="30233"/>
                    <a:pt x="25095" y="30233"/>
                    <a:pt x="41452" y="21983"/>
                  </a:cubicBezTo>
                  <a:lnTo>
                    <a:pt x="41452" y="186350"/>
                  </a:lnTo>
                  <a:cubicBezTo>
                    <a:pt x="41452" y="197773"/>
                    <a:pt x="40508" y="201581"/>
                    <a:pt x="12199" y="201581"/>
                  </a:cubicBezTo>
                  <a:lnTo>
                    <a:pt x="2133" y="201581"/>
                  </a:lnTo>
                  <a:lnTo>
                    <a:pt x="2133" y="211418"/>
                  </a:lnTo>
                  <a:cubicBezTo>
                    <a:pt x="13142" y="210466"/>
                    <a:pt x="40508" y="210466"/>
                    <a:pt x="53090" y="210466"/>
                  </a:cubicBezTo>
                  <a:cubicBezTo>
                    <a:pt x="65672" y="210466"/>
                    <a:pt x="93038" y="210466"/>
                    <a:pt x="104048" y="211418"/>
                  </a:cubicBezTo>
                  <a:lnTo>
                    <a:pt x="104048" y="201581"/>
                  </a:lnTo>
                  <a:lnTo>
                    <a:pt x="93982" y="201581"/>
                  </a:lnTo>
                  <a:cubicBezTo>
                    <a:pt x="65672" y="201581"/>
                    <a:pt x="64729" y="198091"/>
                    <a:pt x="64729" y="186350"/>
                  </a:cubicBezTo>
                  <a:lnTo>
                    <a:pt x="64729" y="8338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35" name="任意形状 10034">
              <a:extLst>
                <a:ext uri="{FF2B5EF4-FFF2-40B4-BE49-F238E27FC236}">
                  <a16:creationId xmlns:a16="http://schemas.microsoft.com/office/drawing/2014/main" id="{B3E0FE9D-0A6D-BC75-1C42-5A1FCE9ED7DC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8667775" y="4568473"/>
              <a:ext cx="192191" cy="12692"/>
            </a:xfrm>
            <a:custGeom>
              <a:avLst/>
              <a:gdLst>
                <a:gd name="connsiteX0" fmla="*/ 181435 w 192191"/>
                <a:gd name="connsiteY0" fmla="*/ 12781 h 12692"/>
                <a:gd name="connsiteX1" fmla="*/ 192444 w 192191"/>
                <a:gd name="connsiteY1" fmla="*/ 6435 h 12692"/>
                <a:gd name="connsiteX2" fmla="*/ 181435 w 192191"/>
                <a:gd name="connsiteY2" fmla="*/ 88 h 12692"/>
                <a:gd name="connsiteX3" fmla="*/ 11262 w 192191"/>
                <a:gd name="connsiteY3" fmla="*/ 88 h 12692"/>
                <a:gd name="connsiteX4" fmla="*/ 253 w 192191"/>
                <a:gd name="connsiteY4" fmla="*/ 6435 h 12692"/>
                <a:gd name="connsiteX5" fmla="*/ 11262 w 192191"/>
                <a:gd name="connsiteY5" fmla="*/ 12781 h 12692"/>
                <a:gd name="connsiteX6" fmla="*/ 181435 w 192191"/>
                <a:gd name="connsiteY6" fmla="*/ 12781 h 12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91" h="12692">
                  <a:moveTo>
                    <a:pt x="181435" y="12781"/>
                  </a:moveTo>
                  <a:cubicBezTo>
                    <a:pt x="186782" y="12781"/>
                    <a:pt x="192444" y="12781"/>
                    <a:pt x="192444" y="6435"/>
                  </a:cubicBezTo>
                  <a:cubicBezTo>
                    <a:pt x="192444" y="88"/>
                    <a:pt x="186782" y="88"/>
                    <a:pt x="181435" y="88"/>
                  </a:cubicBezTo>
                  <a:lnTo>
                    <a:pt x="11262" y="88"/>
                  </a:lnTo>
                  <a:cubicBezTo>
                    <a:pt x="5915" y="88"/>
                    <a:pt x="253" y="88"/>
                    <a:pt x="253" y="6435"/>
                  </a:cubicBezTo>
                  <a:cubicBezTo>
                    <a:pt x="253" y="12781"/>
                    <a:pt x="5915" y="12781"/>
                    <a:pt x="11262" y="12781"/>
                  </a:cubicBezTo>
                  <a:lnTo>
                    <a:pt x="181435" y="12781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36" name="任意形状 10035">
              <a:extLst>
                <a:ext uri="{FF2B5EF4-FFF2-40B4-BE49-F238E27FC236}">
                  <a16:creationId xmlns:a16="http://schemas.microsoft.com/office/drawing/2014/main" id="{97902EBA-2E91-1EBD-38C7-7403F288EB01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8965615" y="4430125"/>
              <a:ext cx="171470" cy="285580"/>
            </a:xfrm>
            <a:custGeom>
              <a:avLst/>
              <a:gdLst>
                <a:gd name="connsiteX0" fmla="*/ 171734 w 171470"/>
                <a:gd name="connsiteY0" fmla="*/ 43560 h 285580"/>
                <a:gd name="connsiteX1" fmla="*/ 128954 w 171470"/>
                <a:gd name="connsiteY1" fmla="*/ 88 h 285580"/>
                <a:gd name="connsiteX2" fmla="*/ 90894 w 171470"/>
                <a:gd name="connsiteY2" fmla="*/ 13415 h 285580"/>
                <a:gd name="connsiteX3" fmla="*/ 50316 w 171470"/>
                <a:gd name="connsiteY3" fmla="*/ 81003 h 285580"/>
                <a:gd name="connsiteX4" fmla="*/ 303 w 171470"/>
                <a:gd name="connsiteY4" fmla="*/ 282495 h 285580"/>
                <a:gd name="connsiteX5" fmla="*/ 4077 w 171470"/>
                <a:gd name="connsiteY5" fmla="*/ 285668 h 285580"/>
                <a:gd name="connsiteX6" fmla="*/ 7852 w 171470"/>
                <a:gd name="connsiteY6" fmla="*/ 284082 h 285580"/>
                <a:gd name="connsiteX7" fmla="*/ 29871 w 171470"/>
                <a:gd name="connsiteY7" fmla="*/ 196504 h 285580"/>
                <a:gd name="connsiteX8" fmla="*/ 72650 w 171470"/>
                <a:gd name="connsiteY8" fmla="*/ 227283 h 285580"/>
                <a:gd name="connsiteX9" fmla="*/ 133358 w 171470"/>
                <a:gd name="connsiteY9" fmla="*/ 202216 h 285580"/>
                <a:gd name="connsiteX10" fmla="*/ 158522 w 171470"/>
                <a:gd name="connsiteY10" fmla="*/ 143830 h 285580"/>
                <a:gd name="connsiteX11" fmla="*/ 135560 w 171470"/>
                <a:gd name="connsiteY11" fmla="*/ 96551 h 285580"/>
                <a:gd name="connsiteX12" fmla="*/ 171734 w 171470"/>
                <a:gd name="connsiteY12" fmla="*/ 43560 h 285580"/>
                <a:gd name="connsiteX13" fmla="*/ 115114 w 171470"/>
                <a:gd name="connsiteY13" fmla="*/ 96234 h 285580"/>
                <a:gd name="connsiteX14" fmla="*/ 100016 w 171470"/>
                <a:gd name="connsiteY14" fmla="*/ 98455 h 285580"/>
                <a:gd name="connsiteX15" fmla="*/ 86175 w 171470"/>
                <a:gd name="connsiteY15" fmla="*/ 97186 h 285580"/>
                <a:gd name="connsiteX16" fmla="*/ 101588 w 171470"/>
                <a:gd name="connsiteY16" fmla="*/ 94647 h 285580"/>
                <a:gd name="connsiteX17" fmla="*/ 115114 w 171470"/>
                <a:gd name="connsiteY17" fmla="*/ 96234 h 285580"/>
                <a:gd name="connsiteX18" fmla="*/ 154119 w 171470"/>
                <a:gd name="connsiteY18" fmla="*/ 36262 h 285580"/>
                <a:gd name="connsiteX19" fmla="*/ 125809 w 171470"/>
                <a:gd name="connsiteY19" fmla="*/ 91157 h 285580"/>
                <a:gd name="connsiteX20" fmla="*/ 101588 w 171470"/>
                <a:gd name="connsiteY20" fmla="*/ 87349 h 285580"/>
                <a:gd name="connsiteX21" fmla="*/ 77368 w 171470"/>
                <a:gd name="connsiteY21" fmla="*/ 97503 h 285580"/>
                <a:gd name="connsiteX22" fmla="*/ 99072 w 171470"/>
                <a:gd name="connsiteY22" fmla="*/ 105436 h 285580"/>
                <a:gd name="connsiteX23" fmla="*/ 124865 w 171470"/>
                <a:gd name="connsiteY23" fmla="*/ 101311 h 285580"/>
                <a:gd name="connsiteX24" fmla="*/ 138706 w 171470"/>
                <a:gd name="connsiteY24" fmla="*/ 137167 h 285580"/>
                <a:gd name="connsiteX25" fmla="*/ 122978 w 171470"/>
                <a:gd name="connsiteY25" fmla="*/ 191744 h 285580"/>
                <a:gd name="connsiteX26" fmla="*/ 71706 w 171470"/>
                <a:gd name="connsiteY26" fmla="*/ 220302 h 285580"/>
                <a:gd name="connsiteX27" fmla="*/ 35847 w 171470"/>
                <a:gd name="connsiteY27" fmla="*/ 179369 h 285580"/>
                <a:gd name="connsiteX28" fmla="*/ 37420 w 171470"/>
                <a:gd name="connsiteY28" fmla="*/ 165407 h 285580"/>
                <a:gd name="connsiteX29" fmla="*/ 57551 w 171470"/>
                <a:gd name="connsiteY29" fmla="*/ 85128 h 285580"/>
                <a:gd name="connsiteX30" fmla="*/ 124865 w 171470"/>
                <a:gd name="connsiteY30" fmla="*/ 7386 h 285580"/>
                <a:gd name="connsiteX31" fmla="*/ 154119 w 171470"/>
                <a:gd name="connsiteY31" fmla="*/ 36262 h 28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1470" h="285580">
                  <a:moveTo>
                    <a:pt x="171734" y="43560"/>
                  </a:moveTo>
                  <a:cubicBezTo>
                    <a:pt x="171734" y="19762"/>
                    <a:pt x="154433" y="88"/>
                    <a:pt x="128954" y="88"/>
                  </a:cubicBezTo>
                  <a:cubicBezTo>
                    <a:pt x="110710" y="88"/>
                    <a:pt x="101903" y="5165"/>
                    <a:pt x="90894" y="13415"/>
                  </a:cubicBezTo>
                  <a:cubicBezTo>
                    <a:pt x="73593" y="26108"/>
                    <a:pt x="56293" y="56887"/>
                    <a:pt x="50316" y="81003"/>
                  </a:cubicBezTo>
                  <a:lnTo>
                    <a:pt x="303" y="282495"/>
                  </a:lnTo>
                  <a:cubicBezTo>
                    <a:pt x="-12" y="283765"/>
                    <a:pt x="1561" y="285668"/>
                    <a:pt x="4077" y="285668"/>
                  </a:cubicBezTo>
                  <a:cubicBezTo>
                    <a:pt x="6594" y="285668"/>
                    <a:pt x="7537" y="285034"/>
                    <a:pt x="7852" y="284082"/>
                  </a:cubicBezTo>
                  <a:lnTo>
                    <a:pt x="29871" y="196504"/>
                  </a:lnTo>
                  <a:cubicBezTo>
                    <a:pt x="35847" y="215543"/>
                    <a:pt x="49687" y="227283"/>
                    <a:pt x="72650" y="227283"/>
                  </a:cubicBezTo>
                  <a:cubicBezTo>
                    <a:pt x="95612" y="227283"/>
                    <a:pt x="119203" y="216177"/>
                    <a:pt x="133358" y="202216"/>
                  </a:cubicBezTo>
                  <a:cubicBezTo>
                    <a:pt x="148457" y="187619"/>
                    <a:pt x="158522" y="167311"/>
                    <a:pt x="158522" y="143830"/>
                  </a:cubicBezTo>
                  <a:cubicBezTo>
                    <a:pt x="158522" y="120984"/>
                    <a:pt x="146884" y="104484"/>
                    <a:pt x="135560" y="96551"/>
                  </a:cubicBezTo>
                  <a:cubicBezTo>
                    <a:pt x="153804" y="86080"/>
                    <a:pt x="171734" y="66406"/>
                    <a:pt x="171734" y="43560"/>
                  </a:cubicBezTo>
                  <a:close/>
                  <a:moveTo>
                    <a:pt x="115114" y="96234"/>
                  </a:moveTo>
                  <a:cubicBezTo>
                    <a:pt x="111025" y="97820"/>
                    <a:pt x="107565" y="98455"/>
                    <a:pt x="100016" y="98455"/>
                  </a:cubicBezTo>
                  <a:cubicBezTo>
                    <a:pt x="95612" y="98455"/>
                    <a:pt x="89321" y="98772"/>
                    <a:pt x="86175" y="97186"/>
                  </a:cubicBezTo>
                  <a:cubicBezTo>
                    <a:pt x="86804" y="94012"/>
                    <a:pt x="98128" y="94647"/>
                    <a:pt x="101588" y="94647"/>
                  </a:cubicBezTo>
                  <a:cubicBezTo>
                    <a:pt x="108194" y="94647"/>
                    <a:pt x="111025" y="94647"/>
                    <a:pt x="115114" y="96234"/>
                  </a:cubicBezTo>
                  <a:close/>
                  <a:moveTo>
                    <a:pt x="154119" y="36262"/>
                  </a:moveTo>
                  <a:cubicBezTo>
                    <a:pt x="154119" y="58474"/>
                    <a:pt x="142166" y="81320"/>
                    <a:pt x="125809" y="91157"/>
                  </a:cubicBezTo>
                  <a:cubicBezTo>
                    <a:pt x="117316" y="87984"/>
                    <a:pt x="111025" y="87349"/>
                    <a:pt x="101588" y="87349"/>
                  </a:cubicBezTo>
                  <a:cubicBezTo>
                    <a:pt x="94983" y="87349"/>
                    <a:pt x="77368" y="87032"/>
                    <a:pt x="77368" y="97503"/>
                  </a:cubicBezTo>
                  <a:cubicBezTo>
                    <a:pt x="77053" y="106388"/>
                    <a:pt x="93410" y="105436"/>
                    <a:pt x="99072" y="105436"/>
                  </a:cubicBezTo>
                  <a:cubicBezTo>
                    <a:pt x="110710" y="105436"/>
                    <a:pt x="115429" y="105118"/>
                    <a:pt x="124865" y="101311"/>
                  </a:cubicBezTo>
                  <a:cubicBezTo>
                    <a:pt x="136818" y="112734"/>
                    <a:pt x="138391" y="122570"/>
                    <a:pt x="138706" y="137167"/>
                  </a:cubicBezTo>
                  <a:cubicBezTo>
                    <a:pt x="139335" y="155571"/>
                    <a:pt x="131785" y="179369"/>
                    <a:pt x="122978" y="191744"/>
                  </a:cubicBezTo>
                  <a:cubicBezTo>
                    <a:pt x="110710" y="208879"/>
                    <a:pt x="89635" y="220302"/>
                    <a:pt x="71706" y="220302"/>
                  </a:cubicBezTo>
                  <a:cubicBezTo>
                    <a:pt x="47800" y="220302"/>
                    <a:pt x="35847" y="201898"/>
                    <a:pt x="35847" y="179369"/>
                  </a:cubicBezTo>
                  <a:cubicBezTo>
                    <a:pt x="35847" y="176196"/>
                    <a:pt x="35847" y="171436"/>
                    <a:pt x="37420" y="165407"/>
                  </a:cubicBezTo>
                  <a:lnTo>
                    <a:pt x="57551" y="85128"/>
                  </a:lnTo>
                  <a:cubicBezTo>
                    <a:pt x="64471" y="57839"/>
                    <a:pt x="87119" y="7386"/>
                    <a:pt x="124865" y="7386"/>
                  </a:cubicBezTo>
                  <a:cubicBezTo>
                    <a:pt x="143109" y="7386"/>
                    <a:pt x="154119" y="17223"/>
                    <a:pt x="154119" y="36262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37" name="任意形状 10036">
              <a:extLst>
                <a:ext uri="{FF2B5EF4-FFF2-40B4-BE49-F238E27FC236}">
                  <a16:creationId xmlns:a16="http://schemas.microsoft.com/office/drawing/2014/main" id="{F259E153-58C8-CA6C-4DED-A40D63AD0F54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9148009" y="4554257"/>
              <a:ext cx="97322" cy="147486"/>
            </a:xfrm>
            <a:custGeom>
              <a:avLst/>
              <a:gdLst>
                <a:gd name="connsiteX0" fmla="*/ 97591 w 97322"/>
                <a:gd name="connsiteY0" fmla="*/ 107151 h 147486"/>
                <a:gd name="connsiteX1" fmla="*/ 90104 w 97322"/>
                <a:gd name="connsiteY1" fmla="*/ 107151 h 147486"/>
                <a:gd name="connsiteX2" fmla="*/ 84380 w 97322"/>
                <a:gd name="connsiteY2" fmla="*/ 127363 h 147486"/>
                <a:gd name="connsiteX3" fmla="*/ 62581 w 97322"/>
                <a:gd name="connsiteY3" fmla="*/ 128696 h 147486"/>
                <a:gd name="connsiteX4" fmla="*/ 22067 w 97322"/>
                <a:gd name="connsiteY4" fmla="*/ 128696 h 147486"/>
                <a:gd name="connsiteX5" fmla="*/ 66104 w 97322"/>
                <a:gd name="connsiteY5" fmla="*/ 91380 h 147486"/>
                <a:gd name="connsiteX6" fmla="*/ 97591 w 97322"/>
                <a:gd name="connsiteY6" fmla="*/ 43403 h 147486"/>
                <a:gd name="connsiteX7" fmla="*/ 46067 w 97322"/>
                <a:gd name="connsiteY7" fmla="*/ 90 h 147486"/>
                <a:gd name="connsiteX8" fmla="*/ 268 w 97322"/>
                <a:gd name="connsiteY8" fmla="*/ 39849 h 147486"/>
                <a:gd name="connsiteX9" fmla="*/ 11938 w 97322"/>
                <a:gd name="connsiteY9" fmla="*/ 52287 h 147486"/>
                <a:gd name="connsiteX10" fmla="*/ 23608 w 97322"/>
                <a:gd name="connsiteY10" fmla="*/ 40515 h 147486"/>
                <a:gd name="connsiteX11" fmla="*/ 10617 w 97322"/>
                <a:gd name="connsiteY11" fmla="*/ 28743 h 147486"/>
                <a:gd name="connsiteX12" fmla="*/ 42764 w 97322"/>
                <a:gd name="connsiteY12" fmla="*/ 8086 h 147486"/>
                <a:gd name="connsiteX13" fmla="*/ 76233 w 97322"/>
                <a:gd name="connsiteY13" fmla="*/ 43403 h 147486"/>
                <a:gd name="connsiteX14" fmla="*/ 55535 w 97322"/>
                <a:gd name="connsiteY14" fmla="*/ 86049 h 147486"/>
                <a:gd name="connsiteX15" fmla="*/ 2470 w 97322"/>
                <a:gd name="connsiteY15" fmla="*/ 138913 h 147486"/>
                <a:gd name="connsiteX16" fmla="*/ 268 w 97322"/>
                <a:gd name="connsiteY16" fmla="*/ 147576 h 147486"/>
                <a:gd name="connsiteX17" fmla="*/ 90985 w 97322"/>
                <a:gd name="connsiteY17" fmla="*/ 147576 h 147486"/>
                <a:gd name="connsiteX18" fmla="*/ 97591 w 97322"/>
                <a:gd name="connsiteY18" fmla="*/ 107151 h 14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7322" h="147486">
                  <a:moveTo>
                    <a:pt x="97591" y="107151"/>
                  </a:moveTo>
                  <a:lnTo>
                    <a:pt x="90104" y="107151"/>
                  </a:lnTo>
                  <a:cubicBezTo>
                    <a:pt x="89444" y="112037"/>
                    <a:pt x="87242" y="125142"/>
                    <a:pt x="84380" y="127363"/>
                  </a:cubicBezTo>
                  <a:cubicBezTo>
                    <a:pt x="82618" y="128696"/>
                    <a:pt x="65664" y="128696"/>
                    <a:pt x="62581" y="128696"/>
                  </a:cubicBezTo>
                  <a:lnTo>
                    <a:pt x="22067" y="128696"/>
                  </a:lnTo>
                  <a:cubicBezTo>
                    <a:pt x="45186" y="108039"/>
                    <a:pt x="52893" y="101820"/>
                    <a:pt x="66104" y="91380"/>
                  </a:cubicBezTo>
                  <a:cubicBezTo>
                    <a:pt x="82398" y="78275"/>
                    <a:pt x="97591" y="64504"/>
                    <a:pt x="97591" y="43403"/>
                  </a:cubicBezTo>
                  <a:cubicBezTo>
                    <a:pt x="97591" y="16527"/>
                    <a:pt x="74251" y="90"/>
                    <a:pt x="46067" y="90"/>
                  </a:cubicBezTo>
                  <a:cubicBezTo>
                    <a:pt x="18764" y="90"/>
                    <a:pt x="268" y="19414"/>
                    <a:pt x="268" y="39849"/>
                  </a:cubicBezTo>
                  <a:cubicBezTo>
                    <a:pt x="268" y="51177"/>
                    <a:pt x="9736" y="52287"/>
                    <a:pt x="11938" y="52287"/>
                  </a:cubicBezTo>
                  <a:cubicBezTo>
                    <a:pt x="17223" y="52287"/>
                    <a:pt x="23608" y="48511"/>
                    <a:pt x="23608" y="40515"/>
                  </a:cubicBezTo>
                  <a:cubicBezTo>
                    <a:pt x="23608" y="36517"/>
                    <a:pt x="22067" y="28743"/>
                    <a:pt x="10617" y="28743"/>
                  </a:cubicBezTo>
                  <a:cubicBezTo>
                    <a:pt x="17443" y="12973"/>
                    <a:pt x="32416" y="8086"/>
                    <a:pt x="42764" y="8086"/>
                  </a:cubicBezTo>
                  <a:cubicBezTo>
                    <a:pt x="64783" y="8086"/>
                    <a:pt x="76233" y="25411"/>
                    <a:pt x="76233" y="43403"/>
                  </a:cubicBezTo>
                  <a:cubicBezTo>
                    <a:pt x="76233" y="62727"/>
                    <a:pt x="62581" y="78053"/>
                    <a:pt x="55535" y="86049"/>
                  </a:cubicBezTo>
                  <a:lnTo>
                    <a:pt x="2470" y="138913"/>
                  </a:lnTo>
                  <a:cubicBezTo>
                    <a:pt x="268" y="140913"/>
                    <a:pt x="268" y="141357"/>
                    <a:pt x="268" y="147576"/>
                  </a:cubicBezTo>
                  <a:lnTo>
                    <a:pt x="90985" y="147576"/>
                  </a:lnTo>
                  <a:lnTo>
                    <a:pt x="97591" y="107151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38" name="任意形状 10037">
              <a:extLst>
                <a:ext uri="{FF2B5EF4-FFF2-40B4-BE49-F238E27FC236}">
                  <a16:creationId xmlns:a16="http://schemas.microsoft.com/office/drawing/2014/main" id="{2C6D17DF-6991-CF87-8EE2-6BF7694ED8FC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9293179" y="4416164"/>
              <a:ext cx="72976" cy="317311"/>
            </a:xfrm>
            <a:custGeom>
              <a:avLst/>
              <a:gdLst>
                <a:gd name="connsiteX0" fmla="*/ 73249 w 72976"/>
                <a:gd name="connsiteY0" fmla="*/ 158744 h 317311"/>
                <a:gd name="connsiteX1" fmla="*/ 52489 w 72976"/>
                <a:gd name="connsiteY1" fmla="*/ 59743 h 317311"/>
                <a:gd name="connsiteX2" fmla="*/ 3418 w 72976"/>
                <a:gd name="connsiteY2" fmla="*/ 88 h 317311"/>
                <a:gd name="connsiteX3" fmla="*/ 273 w 72976"/>
                <a:gd name="connsiteY3" fmla="*/ 3261 h 317311"/>
                <a:gd name="connsiteX4" fmla="*/ 6249 w 72976"/>
                <a:gd name="connsiteY4" fmla="*/ 10560 h 317311"/>
                <a:gd name="connsiteX5" fmla="*/ 55005 w 72976"/>
                <a:gd name="connsiteY5" fmla="*/ 158744 h 317311"/>
                <a:gd name="connsiteX6" fmla="*/ 4362 w 72976"/>
                <a:gd name="connsiteY6" fmla="*/ 308832 h 317311"/>
                <a:gd name="connsiteX7" fmla="*/ 273 w 72976"/>
                <a:gd name="connsiteY7" fmla="*/ 314226 h 317311"/>
                <a:gd name="connsiteX8" fmla="*/ 3418 w 72976"/>
                <a:gd name="connsiteY8" fmla="*/ 317400 h 317311"/>
                <a:gd name="connsiteX9" fmla="*/ 53432 w 72976"/>
                <a:gd name="connsiteY9" fmla="*/ 255524 h 317311"/>
                <a:gd name="connsiteX10" fmla="*/ 73249 w 72976"/>
                <a:gd name="connsiteY10" fmla="*/ 158744 h 31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976" h="317311">
                  <a:moveTo>
                    <a:pt x="73249" y="158744"/>
                  </a:moveTo>
                  <a:cubicBezTo>
                    <a:pt x="73249" y="133994"/>
                    <a:pt x="69789" y="95599"/>
                    <a:pt x="52489" y="59743"/>
                  </a:cubicBezTo>
                  <a:cubicBezTo>
                    <a:pt x="33615" y="20714"/>
                    <a:pt x="6564" y="88"/>
                    <a:pt x="3418" y="88"/>
                  </a:cubicBezTo>
                  <a:cubicBezTo>
                    <a:pt x="1531" y="88"/>
                    <a:pt x="273" y="1358"/>
                    <a:pt x="273" y="3261"/>
                  </a:cubicBezTo>
                  <a:cubicBezTo>
                    <a:pt x="273" y="4213"/>
                    <a:pt x="273" y="4848"/>
                    <a:pt x="6249" y="10560"/>
                  </a:cubicBezTo>
                  <a:cubicBezTo>
                    <a:pt x="37075" y="41973"/>
                    <a:pt x="55005" y="92426"/>
                    <a:pt x="55005" y="158744"/>
                  </a:cubicBezTo>
                  <a:cubicBezTo>
                    <a:pt x="55005" y="213004"/>
                    <a:pt x="43367" y="268851"/>
                    <a:pt x="4362" y="308832"/>
                  </a:cubicBezTo>
                  <a:cubicBezTo>
                    <a:pt x="273" y="312640"/>
                    <a:pt x="273" y="313275"/>
                    <a:pt x="273" y="314226"/>
                  </a:cubicBezTo>
                  <a:cubicBezTo>
                    <a:pt x="273" y="316130"/>
                    <a:pt x="1531" y="317400"/>
                    <a:pt x="3418" y="317400"/>
                  </a:cubicBezTo>
                  <a:cubicBezTo>
                    <a:pt x="6564" y="317400"/>
                    <a:pt x="34874" y="295822"/>
                    <a:pt x="53432" y="255524"/>
                  </a:cubicBezTo>
                  <a:cubicBezTo>
                    <a:pt x="69474" y="220620"/>
                    <a:pt x="73249" y="185398"/>
                    <a:pt x="73249" y="158744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39" name="任意形状 10038">
              <a:extLst>
                <a:ext uri="{FF2B5EF4-FFF2-40B4-BE49-F238E27FC236}">
                  <a16:creationId xmlns:a16="http://schemas.microsoft.com/office/drawing/2014/main" id="{A3D0B59C-0BA7-9F67-7D2D-46B306E0944E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9454717" y="4513896"/>
              <a:ext cx="144379" cy="205300"/>
            </a:xfrm>
            <a:custGeom>
              <a:avLst/>
              <a:gdLst>
                <a:gd name="connsiteX0" fmla="*/ 143714 w 144379"/>
                <a:gd name="connsiteY0" fmla="*/ 20714 h 205300"/>
                <a:gd name="connsiteX1" fmla="*/ 144658 w 144379"/>
                <a:gd name="connsiteY1" fmla="*/ 15002 h 205300"/>
                <a:gd name="connsiteX2" fmla="*/ 135536 w 144379"/>
                <a:gd name="connsiteY2" fmla="*/ 6435 h 205300"/>
                <a:gd name="connsiteX3" fmla="*/ 122639 w 144379"/>
                <a:gd name="connsiteY3" fmla="*/ 20079 h 205300"/>
                <a:gd name="connsiteX4" fmla="*/ 93386 w 144379"/>
                <a:gd name="connsiteY4" fmla="*/ 88 h 205300"/>
                <a:gd name="connsiteX5" fmla="*/ 18522 w 144379"/>
                <a:gd name="connsiteY5" fmla="*/ 90205 h 205300"/>
                <a:gd name="connsiteX6" fmla="*/ 60358 w 144379"/>
                <a:gd name="connsiteY6" fmla="*/ 140340 h 205300"/>
                <a:gd name="connsiteX7" fmla="*/ 96846 w 144379"/>
                <a:gd name="connsiteY7" fmla="*/ 121936 h 205300"/>
                <a:gd name="connsiteX8" fmla="*/ 97160 w 144379"/>
                <a:gd name="connsiteY8" fmla="*/ 122253 h 205300"/>
                <a:gd name="connsiteX9" fmla="*/ 86780 w 144379"/>
                <a:gd name="connsiteY9" fmla="*/ 164138 h 205300"/>
                <a:gd name="connsiteX10" fmla="*/ 41485 w 144379"/>
                <a:gd name="connsiteY10" fmla="*/ 198408 h 205300"/>
                <a:gd name="connsiteX11" fmla="*/ 16321 w 144379"/>
                <a:gd name="connsiteY11" fmla="*/ 195235 h 205300"/>
                <a:gd name="connsiteX12" fmla="*/ 29217 w 144379"/>
                <a:gd name="connsiteY12" fmla="*/ 178735 h 205300"/>
                <a:gd name="connsiteX13" fmla="*/ 17264 w 144379"/>
                <a:gd name="connsiteY13" fmla="*/ 167629 h 205300"/>
                <a:gd name="connsiteX14" fmla="*/ 278 w 144379"/>
                <a:gd name="connsiteY14" fmla="*/ 186033 h 205300"/>
                <a:gd name="connsiteX15" fmla="*/ 42114 w 144379"/>
                <a:gd name="connsiteY15" fmla="*/ 205389 h 205300"/>
                <a:gd name="connsiteX16" fmla="*/ 108799 w 144379"/>
                <a:gd name="connsiteY16" fmla="*/ 161600 h 205300"/>
                <a:gd name="connsiteX17" fmla="*/ 143714 w 144379"/>
                <a:gd name="connsiteY17" fmla="*/ 20714 h 205300"/>
                <a:gd name="connsiteX18" fmla="*/ 102822 w 144379"/>
                <a:gd name="connsiteY18" fmla="*/ 99724 h 205300"/>
                <a:gd name="connsiteX19" fmla="*/ 86780 w 144379"/>
                <a:gd name="connsiteY19" fmla="*/ 121936 h 205300"/>
                <a:gd name="connsiteX20" fmla="*/ 61301 w 144379"/>
                <a:gd name="connsiteY20" fmla="*/ 133359 h 205300"/>
                <a:gd name="connsiteX21" fmla="*/ 40856 w 144379"/>
                <a:gd name="connsiteY21" fmla="*/ 104166 h 205300"/>
                <a:gd name="connsiteX22" fmla="*/ 58471 w 144379"/>
                <a:gd name="connsiteY22" fmla="*/ 35310 h 205300"/>
                <a:gd name="connsiteX23" fmla="*/ 93700 w 144379"/>
                <a:gd name="connsiteY23" fmla="*/ 7069 h 205300"/>
                <a:gd name="connsiteX24" fmla="*/ 118865 w 144379"/>
                <a:gd name="connsiteY24" fmla="*/ 34358 h 205300"/>
                <a:gd name="connsiteX25" fmla="*/ 117921 w 144379"/>
                <a:gd name="connsiteY25" fmla="*/ 39118 h 205300"/>
                <a:gd name="connsiteX26" fmla="*/ 102822 w 144379"/>
                <a:gd name="connsiteY26" fmla="*/ 99724 h 2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4379" h="205300">
                  <a:moveTo>
                    <a:pt x="143714" y="20714"/>
                  </a:moveTo>
                  <a:cubicBezTo>
                    <a:pt x="144029" y="18810"/>
                    <a:pt x="144658" y="17223"/>
                    <a:pt x="144658" y="15002"/>
                  </a:cubicBezTo>
                  <a:cubicBezTo>
                    <a:pt x="144658" y="9608"/>
                    <a:pt x="140883" y="6435"/>
                    <a:pt x="135536" y="6435"/>
                  </a:cubicBezTo>
                  <a:cubicBezTo>
                    <a:pt x="132390" y="6435"/>
                    <a:pt x="123897" y="8656"/>
                    <a:pt x="122639" y="20079"/>
                  </a:cubicBezTo>
                  <a:cubicBezTo>
                    <a:pt x="116977" y="8338"/>
                    <a:pt x="105968" y="88"/>
                    <a:pt x="93386" y="88"/>
                  </a:cubicBezTo>
                  <a:cubicBezTo>
                    <a:pt x="57527" y="88"/>
                    <a:pt x="18522" y="44512"/>
                    <a:pt x="18522" y="90205"/>
                  </a:cubicBezTo>
                  <a:cubicBezTo>
                    <a:pt x="18522" y="121619"/>
                    <a:pt x="37710" y="140340"/>
                    <a:pt x="60358" y="140340"/>
                  </a:cubicBezTo>
                  <a:cubicBezTo>
                    <a:pt x="78916" y="140340"/>
                    <a:pt x="93700" y="125426"/>
                    <a:pt x="96846" y="121936"/>
                  </a:cubicBezTo>
                  <a:lnTo>
                    <a:pt x="97160" y="122253"/>
                  </a:lnTo>
                  <a:cubicBezTo>
                    <a:pt x="90555" y="150494"/>
                    <a:pt x="86780" y="163504"/>
                    <a:pt x="86780" y="164138"/>
                  </a:cubicBezTo>
                  <a:cubicBezTo>
                    <a:pt x="85522" y="166994"/>
                    <a:pt x="74827" y="198408"/>
                    <a:pt x="41485" y="198408"/>
                  </a:cubicBezTo>
                  <a:cubicBezTo>
                    <a:pt x="35508" y="198408"/>
                    <a:pt x="25128" y="198091"/>
                    <a:pt x="16321" y="195235"/>
                  </a:cubicBezTo>
                  <a:cubicBezTo>
                    <a:pt x="25757" y="192379"/>
                    <a:pt x="29217" y="184129"/>
                    <a:pt x="29217" y="178735"/>
                  </a:cubicBezTo>
                  <a:cubicBezTo>
                    <a:pt x="29217" y="173658"/>
                    <a:pt x="25757" y="167629"/>
                    <a:pt x="17264" y="167629"/>
                  </a:cubicBezTo>
                  <a:cubicBezTo>
                    <a:pt x="10344" y="167629"/>
                    <a:pt x="278" y="173340"/>
                    <a:pt x="278" y="186033"/>
                  </a:cubicBezTo>
                  <a:cubicBezTo>
                    <a:pt x="278" y="199042"/>
                    <a:pt x="11917" y="205389"/>
                    <a:pt x="42114" y="205389"/>
                  </a:cubicBezTo>
                  <a:cubicBezTo>
                    <a:pt x="81433" y="205389"/>
                    <a:pt x="104081" y="180638"/>
                    <a:pt x="108799" y="161600"/>
                  </a:cubicBezTo>
                  <a:lnTo>
                    <a:pt x="143714" y="20714"/>
                  </a:lnTo>
                  <a:close/>
                  <a:moveTo>
                    <a:pt x="102822" y="99724"/>
                  </a:moveTo>
                  <a:cubicBezTo>
                    <a:pt x="100935" y="107974"/>
                    <a:pt x="93700" y="115907"/>
                    <a:pt x="86780" y="121936"/>
                  </a:cubicBezTo>
                  <a:cubicBezTo>
                    <a:pt x="80175" y="127647"/>
                    <a:pt x="70423" y="133359"/>
                    <a:pt x="61301" y="133359"/>
                  </a:cubicBezTo>
                  <a:cubicBezTo>
                    <a:pt x="45574" y="133359"/>
                    <a:pt x="40856" y="116859"/>
                    <a:pt x="40856" y="104166"/>
                  </a:cubicBezTo>
                  <a:cubicBezTo>
                    <a:pt x="40856" y="88935"/>
                    <a:pt x="49978" y="51493"/>
                    <a:pt x="58471" y="35310"/>
                  </a:cubicBezTo>
                  <a:cubicBezTo>
                    <a:pt x="66963" y="19762"/>
                    <a:pt x="80489" y="7069"/>
                    <a:pt x="93700" y="7069"/>
                  </a:cubicBezTo>
                  <a:cubicBezTo>
                    <a:pt x="114461" y="7069"/>
                    <a:pt x="118865" y="32771"/>
                    <a:pt x="118865" y="34358"/>
                  </a:cubicBezTo>
                  <a:cubicBezTo>
                    <a:pt x="118865" y="35944"/>
                    <a:pt x="118235" y="37848"/>
                    <a:pt x="117921" y="39118"/>
                  </a:cubicBezTo>
                  <a:lnTo>
                    <a:pt x="102822" y="99724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40" name="任意形状 10039">
              <a:extLst>
                <a:ext uri="{FF2B5EF4-FFF2-40B4-BE49-F238E27FC236}">
                  <a16:creationId xmlns:a16="http://schemas.microsoft.com/office/drawing/2014/main" id="{FFBF964D-6CA6-8FB9-E8F9-B7F417C41B30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9625188" y="4375646"/>
              <a:ext cx="97322" cy="147486"/>
            </a:xfrm>
            <a:custGeom>
              <a:avLst/>
              <a:gdLst>
                <a:gd name="connsiteX0" fmla="*/ 97606 w 97322"/>
                <a:gd name="connsiteY0" fmla="*/ 107145 h 147486"/>
                <a:gd name="connsiteX1" fmla="*/ 90120 w 97322"/>
                <a:gd name="connsiteY1" fmla="*/ 107145 h 147486"/>
                <a:gd name="connsiteX2" fmla="*/ 84395 w 97322"/>
                <a:gd name="connsiteY2" fmla="*/ 127358 h 147486"/>
                <a:gd name="connsiteX3" fmla="*/ 62596 w 97322"/>
                <a:gd name="connsiteY3" fmla="*/ 128690 h 147486"/>
                <a:gd name="connsiteX4" fmla="*/ 22082 w 97322"/>
                <a:gd name="connsiteY4" fmla="*/ 128690 h 147486"/>
                <a:gd name="connsiteX5" fmla="*/ 66119 w 97322"/>
                <a:gd name="connsiteY5" fmla="*/ 91375 h 147486"/>
                <a:gd name="connsiteX6" fmla="*/ 97606 w 97322"/>
                <a:gd name="connsiteY6" fmla="*/ 43397 h 147486"/>
                <a:gd name="connsiteX7" fmla="*/ 46082 w 97322"/>
                <a:gd name="connsiteY7" fmla="*/ 84 h 147486"/>
                <a:gd name="connsiteX8" fmla="*/ 283 w 97322"/>
                <a:gd name="connsiteY8" fmla="*/ 39843 h 147486"/>
                <a:gd name="connsiteX9" fmla="*/ 11953 w 97322"/>
                <a:gd name="connsiteY9" fmla="*/ 52282 h 147486"/>
                <a:gd name="connsiteX10" fmla="*/ 23623 w 97322"/>
                <a:gd name="connsiteY10" fmla="*/ 40510 h 147486"/>
                <a:gd name="connsiteX11" fmla="*/ 10632 w 97322"/>
                <a:gd name="connsiteY11" fmla="*/ 28737 h 147486"/>
                <a:gd name="connsiteX12" fmla="*/ 42779 w 97322"/>
                <a:gd name="connsiteY12" fmla="*/ 8080 h 147486"/>
                <a:gd name="connsiteX13" fmla="*/ 76248 w 97322"/>
                <a:gd name="connsiteY13" fmla="*/ 43397 h 147486"/>
                <a:gd name="connsiteX14" fmla="*/ 55550 w 97322"/>
                <a:gd name="connsiteY14" fmla="*/ 86044 h 147486"/>
                <a:gd name="connsiteX15" fmla="*/ 2485 w 97322"/>
                <a:gd name="connsiteY15" fmla="*/ 138908 h 147486"/>
                <a:gd name="connsiteX16" fmla="*/ 283 w 97322"/>
                <a:gd name="connsiteY16" fmla="*/ 147570 h 147486"/>
                <a:gd name="connsiteX17" fmla="*/ 91000 w 97322"/>
                <a:gd name="connsiteY17" fmla="*/ 147570 h 147486"/>
                <a:gd name="connsiteX18" fmla="*/ 97606 w 97322"/>
                <a:gd name="connsiteY18" fmla="*/ 107145 h 14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7322" h="147486">
                  <a:moveTo>
                    <a:pt x="97606" y="107145"/>
                  </a:moveTo>
                  <a:lnTo>
                    <a:pt x="90120" y="107145"/>
                  </a:lnTo>
                  <a:cubicBezTo>
                    <a:pt x="89459" y="112032"/>
                    <a:pt x="87257" y="125137"/>
                    <a:pt x="84395" y="127358"/>
                  </a:cubicBezTo>
                  <a:cubicBezTo>
                    <a:pt x="82633" y="128690"/>
                    <a:pt x="65679" y="128690"/>
                    <a:pt x="62596" y="128690"/>
                  </a:cubicBezTo>
                  <a:lnTo>
                    <a:pt x="22082" y="128690"/>
                  </a:lnTo>
                  <a:cubicBezTo>
                    <a:pt x="45202" y="108033"/>
                    <a:pt x="52908" y="101814"/>
                    <a:pt x="66119" y="91375"/>
                  </a:cubicBezTo>
                  <a:cubicBezTo>
                    <a:pt x="82413" y="78270"/>
                    <a:pt x="97606" y="64498"/>
                    <a:pt x="97606" y="43397"/>
                  </a:cubicBezTo>
                  <a:cubicBezTo>
                    <a:pt x="97606" y="16521"/>
                    <a:pt x="74266" y="84"/>
                    <a:pt x="46082" y="84"/>
                  </a:cubicBezTo>
                  <a:cubicBezTo>
                    <a:pt x="18779" y="84"/>
                    <a:pt x="283" y="19408"/>
                    <a:pt x="283" y="39843"/>
                  </a:cubicBezTo>
                  <a:cubicBezTo>
                    <a:pt x="283" y="51171"/>
                    <a:pt x="9752" y="52282"/>
                    <a:pt x="11953" y="52282"/>
                  </a:cubicBezTo>
                  <a:cubicBezTo>
                    <a:pt x="17238" y="52282"/>
                    <a:pt x="23623" y="48506"/>
                    <a:pt x="23623" y="40510"/>
                  </a:cubicBezTo>
                  <a:cubicBezTo>
                    <a:pt x="23623" y="36512"/>
                    <a:pt x="22082" y="28737"/>
                    <a:pt x="10632" y="28737"/>
                  </a:cubicBezTo>
                  <a:cubicBezTo>
                    <a:pt x="17458" y="12967"/>
                    <a:pt x="32431" y="8080"/>
                    <a:pt x="42779" y="8080"/>
                  </a:cubicBezTo>
                  <a:cubicBezTo>
                    <a:pt x="64798" y="8080"/>
                    <a:pt x="76248" y="25406"/>
                    <a:pt x="76248" y="43397"/>
                  </a:cubicBezTo>
                  <a:cubicBezTo>
                    <a:pt x="76248" y="62721"/>
                    <a:pt x="62596" y="78048"/>
                    <a:pt x="55550" y="86044"/>
                  </a:cubicBezTo>
                  <a:lnTo>
                    <a:pt x="2485" y="138908"/>
                  </a:lnTo>
                  <a:cubicBezTo>
                    <a:pt x="283" y="140907"/>
                    <a:pt x="283" y="141351"/>
                    <a:pt x="283" y="147570"/>
                  </a:cubicBezTo>
                  <a:lnTo>
                    <a:pt x="91000" y="147570"/>
                  </a:lnTo>
                  <a:lnTo>
                    <a:pt x="97606" y="107145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41" name="任意形状 10040">
              <a:extLst>
                <a:ext uri="{FF2B5EF4-FFF2-40B4-BE49-F238E27FC236}">
                  <a16:creationId xmlns:a16="http://schemas.microsoft.com/office/drawing/2014/main" id="{241FAD1A-6BA8-64DA-D825-63466CDDADFE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9609278" y="4593768"/>
              <a:ext cx="74423" cy="141044"/>
            </a:xfrm>
            <a:custGeom>
              <a:avLst/>
              <a:gdLst>
                <a:gd name="connsiteX0" fmla="*/ 45201 w 74423"/>
                <a:gd name="connsiteY0" fmla="*/ 51178 h 141044"/>
                <a:gd name="connsiteX1" fmla="*/ 67660 w 74423"/>
                <a:gd name="connsiteY1" fmla="*/ 51178 h 141044"/>
                <a:gd name="connsiteX2" fmla="*/ 74706 w 74423"/>
                <a:gd name="connsiteY2" fmla="*/ 46291 h 141044"/>
                <a:gd name="connsiteX3" fmla="*/ 68101 w 74423"/>
                <a:gd name="connsiteY3" fmla="*/ 43182 h 141044"/>
                <a:gd name="connsiteX4" fmla="*/ 47183 w 74423"/>
                <a:gd name="connsiteY4" fmla="*/ 43182 h 141044"/>
                <a:gd name="connsiteX5" fmla="*/ 55330 w 74423"/>
                <a:gd name="connsiteY5" fmla="*/ 10308 h 141044"/>
                <a:gd name="connsiteX6" fmla="*/ 55990 w 74423"/>
                <a:gd name="connsiteY6" fmla="*/ 7199 h 141044"/>
                <a:gd name="connsiteX7" fmla="*/ 48504 w 74423"/>
                <a:gd name="connsiteY7" fmla="*/ 91 h 141044"/>
                <a:gd name="connsiteX8" fmla="*/ 38155 w 74423"/>
                <a:gd name="connsiteY8" fmla="*/ 9642 h 141044"/>
                <a:gd name="connsiteX9" fmla="*/ 29788 w 74423"/>
                <a:gd name="connsiteY9" fmla="*/ 43182 h 141044"/>
                <a:gd name="connsiteX10" fmla="*/ 7329 w 74423"/>
                <a:gd name="connsiteY10" fmla="*/ 43182 h 141044"/>
                <a:gd name="connsiteX11" fmla="*/ 283 w 74423"/>
                <a:gd name="connsiteY11" fmla="*/ 48068 h 141044"/>
                <a:gd name="connsiteX12" fmla="*/ 6889 w 74423"/>
                <a:gd name="connsiteY12" fmla="*/ 51178 h 141044"/>
                <a:gd name="connsiteX13" fmla="*/ 27806 w 74423"/>
                <a:gd name="connsiteY13" fmla="*/ 51178 h 141044"/>
                <a:gd name="connsiteX14" fmla="*/ 14815 w 74423"/>
                <a:gd name="connsiteY14" fmla="*/ 103598 h 141044"/>
                <a:gd name="connsiteX15" fmla="*/ 11513 w 74423"/>
                <a:gd name="connsiteY15" fmla="*/ 120034 h 141044"/>
                <a:gd name="connsiteX16" fmla="*/ 35073 w 74423"/>
                <a:gd name="connsiteY16" fmla="*/ 141136 h 141044"/>
                <a:gd name="connsiteX17" fmla="*/ 73385 w 74423"/>
                <a:gd name="connsiteY17" fmla="*/ 107152 h 141044"/>
                <a:gd name="connsiteX18" fmla="*/ 69862 w 74423"/>
                <a:gd name="connsiteY18" fmla="*/ 104264 h 141044"/>
                <a:gd name="connsiteX19" fmla="*/ 65238 w 74423"/>
                <a:gd name="connsiteY19" fmla="*/ 108484 h 141044"/>
                <a:gd name="connsiteX20" fmla="*/ 35733 w 74423"/>
                <a:gd name="connsiteY20" fmla="*/ 134916 h 141044"/>
                <a:gd name="connsiteX21" fmla="*/ 28027 w 74423"/>
                <a:gd name="connsiteY21" fmla="*/ 124033 h 141044"/>
                <a:gd name="connsiteX22" fmla="*/ 29348 w 74423"/>
                <a:gd name="connsiteY22" fmla="*/ 114926 h 141044"/>
                <a:gd name="connsiteX23" fmla="*/ 45201 w 74423"/>
                <a:gd name="connsiteY23" fmla="*/ 51178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201" y="51178"/>
                  </a:moveTo>
                  <a:lnTo>
                    <a:pt x="67660" y="51178"/>
                  </a:lnTo>
                  <a:cubicBezTo>
                    <a:pt x="71844" y="51178"/>
                    <a:pt x="74706" y="51178"/>
                    <a:pt x="74706" y="46291"/>
                  </a:cubicBezTo>
                  <a:cubicBezTo>
                    <a:pt x="74706" y="43182"/>
                    <a:pt x="71844" y="43182"/>
                    <a:pt x="68101" y="43182"/>
                  </a:cubicBezTo>
                  <a:lnTo>
                    <a:pt x="47183" y="43182"/>
                  </a:lnTo>
                  <a:lnTo>
                    <a:pt x="55330" y="10308"/>
                  </a:lnTo>
                  <a:cubicBezTo>
                    <a:pt x="55550" y="9198"/>
                    <a:pt x="55990" y="8087"/>
                    <a:pt x="55990" y="7199"/>
                  </a:cubicBezTo>
                  <a:cubicBezTo>
                    <a:pt x="55990" y="3200"/>
                    <a:pt x="52908" y="91"/>
                    <a:pt x="48504" y="91"/>
                  </a:cubicBezTo>
                  <a:cubicBezTo>
                    <a:pt x="42999" y="91"/>
                    <a:pt x="39696" y="3867"/>
                    <a:pt x="38155" y="9642"/>
                  </a:cubicBezTo>
                  <a:cubicBezTo>
                    <a:pt x="36614" y="15195"/>
                    <a:pt x="39476" y="4533"/>
                    <a:pt x="29788" y="43182"/>
                  </a:cubicBezTo>
                  <a:lnTo>
                    <a:pt x="7329" y="43182"/>
                  </a:lnTo>
                  <a:cubicBezTo>
                    <a:pt x="3146" y="43182"/>
                    <a:pt x="283" y="43182"/>
                    <a:pt x="283" y="48068"/>
                  </a:cubicBezTo>
                  <a:cubicBezTo>
                    <a:pt x="283" y="51178"/>
                    <a:pt x="2925" y="51178"/>
                    <a:pt x="6889" y="51178"/>
                  </a:cubicBezTo>
                  <a:lnTo>
                    <a:pt x="27806" y="51178"/>
                  </a:lnTo>
                  <a:lnTo>
                    <a:pt x="14815" y="103598"/>
                  </a:lnTo>
                  <a:cubicBezTo>
                    <a:pt x="13494" y="109151"/>
                    <a:pt x="11513" y="117147"/>
                    <a:pt x="11513" y="120034"/>
                  </a:cubicBezTo>
                  <a:cubicBezTo>
                    <a:pt x="11513" y="133139"/>
                    <a:pt x="22522" y="141136"/>
                    <a:pt x="35073" y="141136"/>
                  </a:cubicBezTo>
                  <a:cubicBezTo>
                    <a:pt x="59513" y="141136"/>
                    <a:pt x="73385" y="110039"/>
                    <a:pt x="73385" y="107152"/>
                  </a:cubicBezTo>
                  <a:cubicBezTo>
                    <a:pt x="73385" y="104264"/>
                    <a:pt x="70523" y="104264"/>
                    <a:pt x="69862" y="104264"/>
                  </a:cubicBezTo>
                  <a:cubicBezTo>
                    <a:pt x="67220" y="104264"/>
                    <a:pt x="67000" y="104708"/>
                    <a:pt x="65238" y="108484"/>
                  </a:cubicBezTo>
                  <a:cubicBezTo>
                    <a:pt x="59073" y="122478"/>
                    <a:pt x="47843" y="134916"/>
                    <a:pt x="35733" y="134916"/>
                  </a:cubicBezTo>
                  <a:cubicBezTo>
                    <a:pt x="31109" y="134916"/>
                    <a:pt x="28027" y="132029"/>
                    <a:pt x="28027" y="124033"/>
                  </a:cubicBezTo>
                  <a:cubicBezTo>
                    <a:pt x="28027" y="121811"/>
                    <a:pt x="28907" y="117147"/>
                    <a:pt x="29348" y="114926"/>
                  </a:cubicBezTo>
                  <a:lnTo>
                    <a:pt x="45201" y="51178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42" name="任意形状 10041">
              <a:extLst>
                <a:ext uri="{FF2B5EF4-FFF2-40B4-BE49-F238E27FC236}">
                  <a16:creationId xmlns:a16="http://schemas.microsoft.com/office/drawing/2014/main" id="{F2F1B688-AB4E-3B83-7763-3E34DC1F828A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6856557" y="4944807"/>
              <a:ext cx="83985" cy="48865"/>
            </a:xfrm>
            <a:custGeom>
              <a:avLst/>
              <a:gdLst>
                <a:gd name="connsiteX0" fmla="*/ 42345 w 83985"/>
                <a:gd name="connsiteY0" fmla="*/ 104 h 48865"/>
                <a:gd name="connsiteX1" fmla="*/ 195 w 83985"/>
                <a:gd name="connsiteY1" fmla="*/ 43259 h 48865"/>
                <a:gd name="connsiteX2" fmla="*/ 5857 w 83985"/>
                <a:gd name="connsiteY2" fmla="*/ 48970 h 48865"/>
                <a:gd name="connsiteX3" fmla="*/ 42345 w 83985"/>
                <a:gd name="connsiteY3" fmla="*/ 16605 h 48865"/>
                <a:gd name="connsiteX4" fmla="*/ 78519 w 83985"/>
                <a:gd name="connsiteY4" fmla="*/ 48970 h 48865"/>
                <a:gd name="connsiteX5" fmla="*/ 84181 w 83985"/>
                <a:gd name="connsiteY5" fmla="*/ 43259 h 48865"/>
                <a:gd name="connsiteX6" fmla="*/ 42345 w 83985"/>
                <a:gd name="connsiteY6" fmla="*/ 104 h 48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985" h="48865">
                  <a:moveTo>
                    <a:pt x="42345" y="104"/>
                  </a:moveTo>
                  <a:lnTo>
                    <a:pt x="195" y="43259"/>
                  </a:lnTo>
                  <a:lnTo>
                    <a:pt x="5857" y="48970"/>
                  </a:lnTo>
                  <a:lnTo>
                    <a:pt x="42345" y="16605"/>
                  </a:lnTo>
                  <a:lnTo>
                    <a:pt x="78519" y="48970"/>
                  </a:lnTo>
                  <a:lnTo>
                    <a:pt x="84181" y="43259"/>
                  </a:lnTo>
                  <a:lnTo>
                    <a:pt x="42345" y="104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43" name="任意形状 10042">
              <a:extLst>
                <a:ext uri="{FF2B5EF4-FFF2-40B4-BE49-F238E27FC236}">
                  <a16:creationId xmlns:a16="http://schemas.microsoft.com/office/drawing/2014/main" id="{21F8E5FB-2E78-6DE2-0E08-080D208EA76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6769739" y="5024769"/>
              <a:ext cx="257618" cy="143741"/>
            </a:xfrm>
            <a:custGeom>
              <a:avLst/>
              <a:gdLst>
                <a:gd name="connsiteX0" fmla="*/ 18752 w 257618"/>
                <a:gd name="connsiteY0" fmla="*/ 121635 h 143741"/>
                <a:gd name="connsiteX1" fmla="*/ 15921 w 257618"/>
                <a:gd name="connsiteY1" fmla="*/ 135279 h 143741"/>
                <a:gd name="connsiteX2" fmla="*/ 25043 w 257618"/>
                <a:gd name="connsiteY2" fmla="*/ 143846 h 143741"/>
                <a:gd name="connsiteX3" fmla="*/ 36681 w 257618"/>
                <a:gd name="connsiteY3" fmla="*/ 134962 h 143741"/>
                <a:gd name="connsiteX4" fmla="*/ 42658 w 257618"/>
                <a:gd name="connsiteY4" fmla="*/ 111481 h 143741"/>
                <a:gd name="connsiteX5" fmla="*/ 49578 w 257618"/>
                <a:gd name="connsiteY5" fmla="*/ 82923 h 143741"/>
                <a:gd name="connsiteX6" fmla="*/ 54925 w 257618"/>
                <a:gd name="connsiteY6" fmla="*/ 61663 h 143741"/>
                <a:gd name="connsiteX7" fmla="*/ 59014 w 257618"/>
                <a:gd name="connsiteY7" fmla="*/ 45797 h 143741"/>
                <a:gd name="connsiteX8" fmla="*/ 110286 w 257618"/>
                <a:gd name="connsiteY8" fmla="*/ 7085 h 143741"/>
                <a:gd name="connsiteX9" fmla="*/ 127272 w 257618"/>
                <a:gd name="connsiteY9" fmla="*/ 29297 h 143741"/>
                <a:gd name="connsiteX10" fmla="*/ 122554 w 257618"/>
                <a:gd name="connsiteY10" fmla="*/ 55634 h 143741"/>
                <a:gd name="connsiteX11" fmla="*/ 113747 w 257618"/>
                <a:gd name="connsiteY11" fmla="*/ 92442 h 143741"/>
                <a:gd name="connsiteX12" fmla="*/ 107455 w 257618"/>
                <a:gd name="connsiteY12" fmla="*/ 116558 h 143741"/>
                <a:gd name="connsiteX13" fmla="*/ 103366 w 257618"/>
                <a:gd name="connsiteY13" fmla="*/ 135279 h 143741"/>
                <a:gd name="connsiteX14" fmla="*/ 112488 w 257618"/>
                <a:gd name="connsiteY14" fmla="*/ 143846 h 143741"/>
                <a:gd name="connsiteX15" fmla="*/ 126643 w 257618"/>
                <a:gd name="connsiteY15" fmla="*/ 125760 h 143741"/>
                <a:gd name="connsiteX16" fmla="*/ 145516 w 257618"/>
                <a:gd name="connsiteY16" fmla="*/ 49288 h 143741"/>
                <a:gd name="connsiteX17" fmla="*/ 197417 w 257618"/>
                <a:gd name="connsiteY17" fmla="*/ 7085 h 143741"/>
                <a:gd name="connsiteX18" fmla="*/ 214403 w 257618"/>
                <a:gd name="connsiteY18" fmla="*/ 29297 h 143741"/>
                <a:gd name="connsiteX19" fmla="*/ 194901 w 257618"/>
                <a:gd name="connsiteY19" fmla="*/ 100375 h 143741"/>
                <a:gd name="connsiteX20" fmla="*/ 190812 w 257618"/>
                <a:gd name="connsiteY20" fmla="*/ 117827 h 143741"/>
                <a:gd name="connsiteX21" fmla="*/ 216605 w 257618"/>
                <a:gd name="connsiteY21" fmla="*/ 143846 h 143741"/>
                <a:gd name="connsiteX22" fmla="*/ 257811 w 257618"/>
                <a:gd name="connsiteY22" fmla="*/ 94980 h 143741"/>
                <a:gd name="connsiteX23" fmla="*/ 254037 w 257618"/>
                <a:gd name="connsiteY23" fmla="*/ 91807 h 143741"/>
                <a:gd name="connsiteX24" fmla="*/ 249318 w 257618"/>
                <a:gd name="connsiteY24" fmla="*/ 97519 h 143741"/>
                <a:gd name="connsiteX25" fmla="*/ 217234 w 257618"/>
                <a:gd name="connsiteY25" fmla="*/ 136866 h 143741"/>
                <a:gd name="connsiteX26" fmla="*/ 209685 w 257618"/>
                <a:gd name="connsiteY26" fmla="*/ 126394 h 143741"/>
                <a:gd name="connsiteX27" fmla="*/ 215347 w 257618"/>
                <a:gd name="connsiteY27" fmla="*/ 103865 h 143741"/>
                <a:gd name="connsiteX28" fmla="*/ 234534 w 257618"/>
                <a:gd name="connsiteY28" fmla="*/ 34057 h 143741"/>
                <a:gd name="connsiteX29" fmla="*/ 198361 w 257618"/>
                <a:gd name="connsiteY29" fmla="*/ 104 h 143741"/>
                <a:gd name="connsiteX30" fmla="*/ 147089 w 257618"/>
                <a:gd name="connsiteY30" fmla="*/ 30884 h 143741"/>
                <a:gd name="connsiteX31" fmla="*/ 137023 w 257618"/>
                <a:gd name="connsiteY31" fmla="*/ 8354 h 143741"/>
                <a:gd name="connsiteX32" fmla="*/ 111230 w 257618"/>
                <a:gd name="connsiteY32" fmla="*/ 104 h 143741"/>
                <a:gd name="connsiteX33" fmla="*/ 62160 w 257618"/>
                <a:gd name="connsiteY33" fmla="*/ 27710 h 143741"/>
                <a:gd name="connsiteX34" fmla="*/ 33221 w 257618"/>
                <a:gd name="connsiteY34" fmla="*/ 104 h 143741"/>
                <a:gd name="connsiteX35" fmla="*/ 9944 w 257618"/>
                <a:gd name="connsiteY35" fmla="*/ 18191 h 143741"/>
                <a:gd name="connsiteX36" fmla="*/ 193 w 257618"/>
                <a:gd name="connsiteY36" fmla="*/ 48970 h 143741"/>
                <a:gd name="connsiteX37" fmla="*/ 3968 w 257618"/>
                <a:gd name="connsiteY37" fmla="*/ 52143 h 143741"/>
                <a:gd name="connsiteX38" fmla="*/ 9315 w 257618"/>
                <a:gd name="connsiteY38" fmla="*/ 44845 h 143741"/>
                <a:gd name="connsiteX39" fmla="*/ 32278 w 257618"/>
                <a:gd name="connsiteY39" fmla="*/ 7085 h 143741"/>
                <a:gd name="connsiteX40" fmla="*/ 42029 w 257618"/>
                <a:gd name="connsiteY40" fmla="*/ 21682 h 143741"/>
                <a:gd name="connsiteX41" fmla="*/ 36996 w 257618"/>
                <a:gd name="connsiteY41" fmla="*/ 48336 h 143741"/>
                <a:gd name="connsiteX42" fmla="*/ 18752 w 257618"/>
                <a:gd name="connsiteY42" fmla="*/ 121635 h 14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7618" h="143741">
                  <a:moveTo>
                    <a:pt x="18752" y="121635"/>
                  </a:moveTo>
                  <a:cubicBezTo>
                    <a:pt x="17808" y="126394"/>
                    <a:pt x="15921" y="133692"/>
                    <a:pt x="15921" y="135279"/>
                  </a:cubicBezTo>
                  <a:cubicBezTo>
                    <a:pt x="15921" y="140991"/>
                    <a:pt x="20325" y="143846"/>
                    <a:pt x="25043" y="143846"/>
                  </a:cubicBezTo>
                  <a:cubicBezTo>
                    <a:pt x="28817" y="143846"/>
                    <a:pt x="34479" y="141308"/>
                    <a:pt x="36681" y="134962"/>
                  </a:cubicBezTo>
                  <a:cubicBezTo>
                    <a:pt x="36996" y="134327"/>
                    <a:pt x="40770" y="119413"/>
                    <a:pt x="42658" y="111481"/>
                  </a:cubicBezTo>
                  <a:lnTo>
                    <a:pt x="49578" y="82923"/>
                  </a:lnTo>
                  <a:cubicBezTo>
                    <a:pt x="51465" y="75942"/>
                    <a:pt x="53353" y="68961"/>
                    <a:pt x="54925" y="61663"/>
                  </a:cubicBezTo>
                  <a:cubicBezTo>
                    <a:pt x="56183" y="56268"/>
                    <a:pt x="58700" y="47066"/>
                    <a:pt x="59014" y="45797"/>
                  </a:cubicBezTo>
                  <a:cubicBezTo>
                    <a:pt x="63733" y="35961"/>
                    <a:pt x="80404" y="7085"/>
                    <a:pt x="110286" y="7085"/>
                  </a:cubicBezTo>
                  <a:cubicBezTo>
                    <a:pt x="124441" y="7085"/>
                    <a:pt x="127272" y="18826"/>
                    <a:pt x="127272" y="29297"/>
                  </a:cubicBezTo>
                  <a:cubicBezTo>
                    <a:pt x="127272" y="37230"/>
                    <a:pt x="125070" y="46114"/>
                    <a:pt x="122554" y="55634"/>
                  </a:cubicBezTo>
                  <a:lnTo>
                    <a:pt x="113747" y="92442"/>
                  </a:lnTo>
                  <a:lnTo>
                    <a:pt x="107455" y="116558"/>
                  </a:lnTo>
                  <a:cubicBezTo>
                    <a:pt x="106197" y="122904"/>
                    <a:pt x="103366" y="133692"/>
                    <a:pt x="103366" y="135279"/>
                  </a:cubicBezTo>
                  <a:cubicBezTo>
                    <a:pt x="103366" y="140991"/>
                    <a:pt x="107770" y="143846"/>
                    <a:pt x="112488" y="143846"/>
                  </a:cubicBezTo>
                  <a:cubicBezTo>
                    <a:pt x="122239" y="143846"/>
                    <a:pt x="124127" y="135914"/>
                    <a:pt x="126643" y="125760"/>
                  </a:cubicBezTo>
                  <a:cubicBezTo>
                    <a:pt x="131047" y="107990"/>
                    <a:pt x="142685" y="61663"/>
                    <a:pt x="145516" y="49288"/>
                  </a:cubicBezTo>
                  <a:cubicBezTo>
                    <a:pt x="146460" y="45163"/>
                    <a:pt x="163131" y="7085"/>
                    <a:pt x="197417" y="7085"/>
                  </a:cubicBezTo>
                  <a:cubicBezTo>
                    <a:pt x="210943" y="7085"/>
                    <a:pt x="214403" y="17874"/>
                    <a:pt x="214403" y="29297"/>
                  </a:cubicBezTo>
                  <a:cubicBezTo>
                    <a:pt x="214403" y="47384"/>
                    <a:pt x="201192" y="83557"/>
                    <a:pt x="194901" y="100375"/>
                  </a:cubicBezTo>
                  <a:cubicBezTo>
                    <a:pt x="192070" y="107990"/>
                    <a:pt x="190812" y="111481"/>
                    <a:pt x="190812" y="117827"/>
                  </a:cubicBezTo>
                  <a:cubicBezTo>
                    <a:pt x="190812" y="132740"/>
                    <a:pt x="201821" y="143846"/>
                    <a:pt x="216605" y="143846"/>
                  </a:cubicBezTo>
                  <a:cubicBezTo>
                    <a:pt x="246173" y="143846"/>
                    <a:pt x="257811" y="97519"/>
                    <a:pt x="257811" y="94980"/>
                  </a:cubicBezTo>
                  <a:cubicBezTo>
                    <a:pt x="257811" y="91807"/>
                    <a:pt x="254980" y="91807"/>
                    <a:pt x="254037" y="91807"/>
                  </a:cubicBezTo>
                  <a:cubicBezTo>
                    <a:pt x="250891" y="91807"/>
                    <a:pt x="250891" y="92759"/>
                    <a:pt x="249318" y="97519"/>
                  </a:cubicBezTo>
                  <a:cubicBezTo>
                    <a:pt x="244600" y="114336"/>
                    <a:pt x="234534" y="136866"/>
                    <a:pt x="217234" y="136866"/>
                  </a:cubicBezTo>
                  <a:cubicBezTo>
                    <a:pt x="211887" y="136866"/>
                    <a:pt x="209685" y="133692"/>
                    <a:pt x="209685" y="126394"/>
                  </a:cubicBezTo>
                  <a:cubicBezTo>
                    <a:pt x="209685" y="118461"/>
                    <a:pt x="212516" y="110846"/>
                    <a:pt x="215347" y="103865"/>
                  </a:cubicBezTo>
                  <a:cubicBezTo>
                    <a:pt x="221323" y="87365"/>
                    <a:pt x="234534" y="52143"/>
                    <a:pt x="234534" y="34057"/>
                  </a:cubicBezTo>
                  <a:cubicBezTo>
                    <a:pt x="234534" y="13431"/>
                    <a:pt x="221952" y="104"/>
                    <a:pt x="198361" y="104"/>
                  </a:cubicBezTo>
                  <a:cubicBezTo>
                    <a:pt x="174770" y="104"/>
                    <a:pt x="158727" y="14066"/>
                    <a:pt x="147089" y="30884"/>
                  </a:cubicBezTo>
                  <a:cubicBezTo>
                    <a:pt x="146774" y="26759"/>
                    <a:pt x="145831" y="15970"/>
                    <a:pt x="137023" y="8354"/>
                  </a:cubicBezTo>
                  <a:cubicBezTo>
                    <a:pt x="129160" y="1691"/>
                    <a:pt x="119094" y="104"/>
                    <a:pt x="111230" y="104"/>
                  </a:cubicBezTo>
                  <a:cubicBezTo>
                    <a:pt x="82920" y="104"/>
                    <a:pt x="67507" y="20412"/>
                    <a:pt x="62160" y="27710"/>
                  </a:cubicBezTo>
                  <a:cubicBezTo>
                    <a:pt x="60587" y="9624"/>
                    <a:pt x="47376" y="104"/>
                    <a:pt x="33221" y="104"/>
                  </a:cubicBezTo>
                  <a:cubicBezTo>
                    <a:pt x="18752" y="104"/>
                    <a:pt x="12775" y="12479"/>
                    <a:pt x="9944" y="18191"/>
                  </a:cubicBezTo>
                  <a:cubicBezTo>
                    <a:pt x="4282" y="29297"/>
                    <a:pt x="193" y="48018"/>
                    <a:pt x="193" y="48970"/>
                  </a:cubicBezTo>
                  <a:cubicBezTo>
                    <a:pt x="193" y="52143"/>
                    <a:pt x="3339" y="52143"/>
                    <a:pt x="3968" y="52143"/>
                  </a:cubicBezTo>
                  <a:cubicBezTo>
                    <a:pt x="7113" y="52143"/>
                    <a:pt x="7428" y="51826"/>
                    <a:pt x="9315" y="44845"/>
                  </a:cubicBezTo>
                  <a:cubicBezTo>
                    <a:pt x="14663" y="22316"/>
                    <a:pt x="20954" y="7085"/>
                    <a:pt x="32278" y="7085"/>
                  </a:cubicBezTo>
                  <a:cubicBezTo>
                    <a:pt x="37310" y="7085"/>
                    <a:pt x="42029" y="9624"/>
                    <a:pt x="42029" y="21682"/>
                  </a:cubicBezTo>
                  <a:cubicBezTo>
                    <a:pt x="42029" y="28345"/>
                    <a:pt x="41085" y="31835"/>
                    <a:pt x="36996" y="48336"/>
                  </a:cubicBezTo>
                  <a:lnTo>
                    <a:pt x="18752" y="121635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44" name="任意形状 10043">
              <a:extLst>
                <a:ext uri="{FF2B5EF4-FFF2-40B4-BE49-F238E27FC236}">
                  <a16:creationId xmlns:a16="http://schemas.microsoft.com/office/drawing/2014/main" id="{A92549B0-1F38-FE02-5243-38A55831A544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046046" y="5073793"/>
              <a:ext cx="74423" cy="141044"/>
            </a:xfrm>
            <a:custGeom>
              <a:avLst/>
              <a:gdLst>
                <a:gd name="connsiteX0" fmla="*/ 45120 w 74423"/>
                <a:gd name="connsiteY0" fmla="*/ 51193 h 141044"/>
                <a:gd name="connsiteX1" fmla="*/ 67579 w 74423"/>
                <a:gd name="connsiteY1" fmla="*/ 51193 h 141044"/>
                <a:gd name="connsiteX2" fmla="*/ 74625 w 74423"/>
                <a:gd name="connsiteY2" fmla="*/ 46306 h 141044"/>
                <a:gd name="connsiteX3" fmla="*/ 68019 w 74423"/>
                <a:gd name="connsiteY3" fmla="*/ 43197 h 141044"/>
                <a:gd name="connsiteX4" fmla="*/ 47102 w 74423"/>
                <a:gd name="connsiteY4" fmla="*/ 43197 h 141044"/>
                <a:gd name="connsiteX5" fmla="*/ 55249 w 74423"/>
                <a:gd name="connsiteY5" fmla="*/ 10323 h 141044"/>
                <a:gd name="connsiteX6" fmla="*/ 55909 w 74423"/>
                <a:gd name="connsiteY6" fmla="*/ 7214 h 141044"/>
                <a:gd name="connsiteX7" fmla="*/ 48423 w 74423"/>
                <a:gd name="connsiteY7" fmla="*/ 106 h 141044"/>
                <a:gd name="connsiteX8" fmla="*/ 38074 w 74423"/>
                <a:gd name="connsiteY8" fmla="*/ 9657 h 141044"/>
                <a:gd name="connsiteX9" fmla="*/ 29707 w 74423"/>
                <a:gd name="connsiteY9" fmla="*/ 43197 h 141044"/>
                <a:gd name="connsiteX10" fmla="*/ 7248 w 74423"/>
                <a:gd name="connsiteY10" fmla="*/ 43197 h 141044"/>
                <a:gd name="connsiteX11" fmla="*/ 202 w 74423"/>
                <a:gd name="connsiteY11" fmla="*/ 48083 h 141044"/>
                <a:gd name="connsiteX12" fmla="*/ 6808 w 74423"/>
                <a:gd name="connsiteY12" fmla="*/ 51193 h 141044"/>
                <a:gd name="connsiteX13" fmla="*/ 27725 w 74423"/>
                <a:gd name="connsiteY13" fmla="*/ 51193 h 141044"/>
                <a:gd name="connsiteX14" fmla="*/ 14734 w 74423"/>
                <a:gd name="connsiteY14" fmla="*/ 103613 h 141044"/>
                <a:gd name="connsiteX15" fmla="*/ 11431 w 74423"/>
                <a:gd name="connsiteY15" fmla="*/ 120049 h 141044"/>
                <a:gd name="connsiteX16" fmla="*/ 34991 w 74423"/>
                <a:gd name="connsiteY16" fmla="*/ 141151 h 141044"/>
                <a:gd name="connsiteX17" fmla="*/ 73304 w 74423"/>
                <a:gd name="connsiteY17" fmla="*/ 107167 h 141044"/>
                <a:gd name="connsiteX18" fmla="*/ 69781 w 74423"/>
                <a:gd name="connsiteY18" fmla="*/ 104279 h 141044"/>
                <a:gd name="connsiteX19" fmla="*/ 65157 w 74423"/>
                <a:gd name="connsiteY19" fmla="*/ 108499 h 141044"/>
                <a:gd name="connsiteX20" fmla="*/ 35652 w 74423"/>
                <a:gd name="connsiteY20" fmla="*/ 134931 h 141044"/>
                <a:gd name="connsiteX21" fmla="*/ 27945 w 74423"/>
                <a:gd name="connsiteY21" fmla="*/ 124048 h 141044"/>
                <a:gd name="connsiteX22" fmla="*/ 29267 w 74423"/>
                <a:gd name="connsiteY22" fmla="*/ 114941 h 141044"/>
                <a:gd name="connsiteX23" fmla="*/ 45120 w 74423"/>
                <a:gd name="connsiteY23" fmla="*/ 51193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20" y="51193"/>
                  </a:moveTo>
                  <a:lnTo>
                    <a:pt x="67579" y="51193"/>
                  </a:lnTo>
                  <a:cubicBezTo>
                    <a:pt x="71763" y="51193"/>
                    <a:pt x="74625" y="51193"/>
                    <a:pt x="74625" y="46306"/>
                  </a:cubicBezTo>
                  <a:cubicBezTo>
                    <a:pt x="74625" y="43197"/>
                    <a:pt x="71763" y="43197"/>
                    <a:pt x="68019" y="43197"/>
                  </a:cubicBezTo>
                  <a:lnTo>
                    <a:pt x="47102" y="43197"/>
                  </a:lnTo>
                  <a:lnTo>
                    <a:pt x="55249" y="10323"/>
                  </a:lnTo>
                  <a:cubicBezTo>
                    <a:pt x="55469" y="9213"/>
                    <a:pt x="55909" y="8102"/>
                    <a:pt x="55909" y="7214"/>
                  </a:cubicBezTo>
                  <a:cubicBezTo>
                    <a:pt x="55909" y="3215"/>
                    <a:pt x="52826" y="106"/>
                    <a:pt x="48423" y="106"/>
                  </a:cubicBezTo>
                  <a:cubicBezTo>
                    <a:pt x="42918" y="106"/>
                    <a:pt x="39615" y="3882"/>
                    <a:pt x="38074" y="9657"/>
                  </a:cubicBezTo>
                  <a:cubicBezTo>
                    <a:pt x="36533" y="15210"/>
                    <a:pt x="39395" y="4548"/>
                    <a:pt x="29707" y="43197"/>
                  </a:cubicBezTo>
                  <a:lnTo>
                    <a:pt x="7248" y="43197"/>
                  </a:lnTo>
                  <a:cubicBezTo>
                    <a:pt x="3064" y="43197"/>
                    <a:pt x="202" y="43197"/>
                    <a:pt x="202" y="48083"/>
                  </a:cubicBezTo>
                  <a:cubicBezTo>
                    <a:pt x="202" y="51193"/>
                    <a:pt x="2844" y="51193"/>
                    <a:pt x="6808" y="51193"/>
                  </a:cubicBezTo>
                  <a:lnTo>
                    <a:pt x="27725" y="51193"/>
                  </a:lnTo>
                  <a:lnTo>
                    <a:pt x="14734" y="103613"/>
                  </a:lnTo>
                  <a:cubicBezTo>
                    <a:pt x="13413" y="109166"/>
                    <a:pt x="11431" y="117162"/>
                    <a:pt x="11431" y="120049"/>
                  </a:cubicBezTo>
                  <a:cubicBezTo>
                    <a:pt x="11431" y="133154"/>
                    <a:pt x="22441" y="141151"/>
                    <a:pt x="34991" y="141151"/>
                  </a:cubicBezTo>
                  <a:cubicBezTo>
                    <a:pt x="59432" y="141151"/>
                    <a:pt x="73304" y="110054"/>
                    <a:pt x="73304" y="107167"/>
                  </a:cubicBezTo>
                  <a:cubicBezTo>
                    <a:pt x="73304" y="104279"/>
                    <a:pt x="70441" y="104279"/>
                    <a:pt x="69781" y="104279"/>
                  </a:cubicBezTo>
                  <a:cubicBezTo>
                    <a:pt x="67139" y="104279"/>
                    <a:pt x="66918" y="104723"/>
                    <a:pt x="65157" y="108499"/>
                  </a:cubicBezTo>
                  <a:cubicBezTo>
                    <a:pt x="58992" y="122493"/>
                    <a:pt x="47762" y="134931"/>
                    <a:pt x="35652" y="134931"/>
                  </a:cubicBezTo>
                  <a:cubicBezTo>
                    <a:pt x="31028" y="134931"/>
                    <a:pt x="27945" y="132044"/>
                    <a:pt x="27945" y="124048"/>
                  </a:cubicBezTo>
                  <a:cubicBezTo>
                    <a:pt x="27945" y="121826"/>
                    <a:pt x="28826" y="117162"/>
                    <a:pt x="29267" y="114941"/>
                  </a:cubicBezTo>
                  <a:lnTo>
                    <a:pt x="45120" y="51193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45" name="任意形状 10044">
              <a:extLst>
                <a:ext uri="{FF2B5EF4-FFF2-40B4-BE49-F238E27FC236}">
                  <a16:creationId xmlns:a16="http://schemas.microsoft.com/office/drawing/2014/main" id="{A450FCD2-37D9-4E6D-2063-82960F8BF4E5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252535" y="5048568"/>
              <a:ext cx="209177" cy="74250"/>
            </a:xfrm>
            <a:custGeom>
              <a:avLst/>
              <a:gdLst>
                <a:gd name="connsiteX0" fmla="*/ 198691 w 209177"/>
                <a:gd name="connsiteY0" fmla="*/ 12797 h 74250"/>
                <a:gd name="connsiteX1" fmla="*/ 209385 w 209177"/>
                <a:gd name="connsiteY1" fmla="*/ 6451 h 74250"/>
                <a:gd name="connsiteX2" fmla="*/ 199005 w 209177"/>
                <a:gd name="connsiteY2" fmla="*/ 104 h 74250"/>
                <a:gd name="connsiteX3" fmla="*/ 10588 w 209177"/>
                <a:gd name="connsiteY3" fmla="*/ 104 h 74250"/>
                <a:gd name="connsiteX4" fmla="*/ 208 w 209177"/>
                <a:gd name="connsiteY4" fmla="*/ 6451 h 74250"/>
                <a:gd name="connsiteX5" fmla="*/ 10903 w 209177"/>
                <a:gd name="connsiteY5" fmla="*/ 12797 h 74250"/>
                <a:gd name="connsiteX6" fmla="*/ 198691 w 209177"/>
                <a:gd name="connsiteY6" fmla="*/ 12797 h 74250"/>
                <a:gd name="connsiteX7" fmla="*/ 199005 w 209177"/>
                <a:gd name="connsiteY7" fmla="*/ 74355 h 74250"/>
                <a:gd name="connsiteX8" fmla="*/ 209385 w 209177"/>
                <a:gd name="connsiteY8" fmla="*/ 68009 h 74250"/>
                <a:gd name="connsiteX9" fmla="*/ 198691 w 209177"/>
                <a:gd name="connsiteY9" fmla="*/ 61663 h 74250"/>
                <a:gd name="connsiteX10" fmla="*/ 10903 w 209177"/>
                <a:gd name="connsiteY10" fmla="*/ 61663 h 74250"/>
                <a:gd name="connsiteX11" fmla="*/ 208 w 209177"/>
                <a:gd name="connsiteY11" fmla="*/ 68009 h 74250"/>
                <a:gd name="connsiteX12" fmla="*/ 10588 w 209177"/>
                <a:gd name="connsiteY12" fmla="*/ 74355 h 74250"/>
                <a:gd name="connsiteX13" fmla="*/ 199005 w 209177"/>
                <a:gd name="connsiteY13" fmla="*/ 74355 h 7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177" h="74250">
                  <a:moveTo>
                    <a:pt x="198691" y="12797"/>
                  </a:moveTo>
                  <a:cubicBezTo>
                    <a:pt x="203409" y="12797"/>
                    <a:pt x="209385" y="12797"/>
                    <a:pt x="209385" y="6451"/>
                  </a:cubicBezTo>
                  <a:cubicBezTo>
                    <a:pt x="209385" y="104"/>
                    <a:pt x="203409" y="104"/>
                    <a:pt x="199005" y="104"/>
                  </a:cubicBezTo>
                  <a:lnTo>
                    <a:pt x="10588" y="104"/>
                  </a:lnTo>
                  <a:cubicBezTo>
                    <a:pt x="6185" y="104"/>
                    <a:pt x="208" y="104"/>
                    <a:pt x="208" y="6451"/>
                  </a:cubicBezTo>
                  <a:cubicBezTo>
                    <a:pt x="208" y="12797"/>
                    <a:pt x="6185" y="12797"/>
                    <a:pt x="10903" y="12797"/>
                  </a:cubicBezTo>
                  <a:lnTo>
                    <a:pt x="198691" y="12797"/>
                  </a:lnTo>
                  <a:close/>
                  <a:moveTo>
                    <a:pt x="199005" y="74355"/>
                  </a:moveTo>
                  <a:cubicBezTo>
                    <a:pt x="203409" y="74355"/>
                    <a:pt x="209385" y="74355"/>
                    <a:pt x="209385" y="68009"/>
                  </a:cubicBezTo>
                  <a:cubicBezTo>
                    <a:pt x="209385" y="61663"/>
                    <a:pt x="203409" y="61663"/>
                    <a:pt x="198691" y="61663"/>
                  </a:cubicBezTo>
                  <a:lnTo>
                    <a:pt x="10903" y="61663"/>
                  </a:lnTo>
                  <a:cubicBezTo>
                    <a:pt x="6185" y="61663"/>
                    <a:pt x="208" y="61663"/>
                    <a:pt x="208" y="68009"/>
                  </a:cubicBezTo>
                  <a:cubicBezTo>
                    <a:pt x="208" y="74355"/>
                    <a:pt x="6185" y="74355"/>
                    <a:pt x="10588" y="74355"/>
                  </a:cubicBezTo>
                  <a:lnTo>
                    <a:pt x="199005" y="74355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46" name="任意形状 10045">
              <a:extLst>
                <a:ext uri="{FF2B5EF4-FFF2-40B4-BE49-F238E27FC236}">
                  <a16:creationId xmlns:a16="http://schemas.microsoft.com/office/drawing/2014/main" id="{EAC4A808-8A93-F0C2-B37E-0A01D5C47CA2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576069" y="5024769"/>
              <a:ext cx="257618" cy="143741"/>
            </a:xfrm>
            <a:custGeom>
              <a:avLst/>
              <a:gdLst>
                <a:gd name="connsiteX0" fmla="*/ 18777 w 257618"/>
                <a:gd name="connsiteY0" fmla="*/ 121635 h 143741"/>
                <a:gd name="connsiteX1" fmla="*/ 15946 w 257618"/>
                <a:gd name="connsiteY1" fmla="*/ 135279 h 143741"/>
                <a:gd name="connsiteX2" fmla="*/ 25068 w 257618"/>
                <a:gd name="connsiteY2" fmla="*/ 143846 h 143741"/>
                <a:gd name="connsiteX3" fmla="*/ 36707 w 257618"/>
                <a:gd name="connsiteY3" fmla="*/ 134962 h 143741"/>
                <a:gd name="connsiteX4" fmla="*/ 42683 w 257618"/>
                <a:gd name="connsiteY4" fmla="*/ 111481 h 143741"/>
                <a:gd name="connsiteX5" fmla="*/ 49603 w 257618"/>
                <a:gd name="connsiteY5" fmla="*/ 82923 h 143741"/>
                <a:gd name="connsiteX6" fmla="*/ 54951 w 257618"/>
                <a:gd name="connsiteY6" fmla="*/ 61663 h 143741"/>
                <a:gd name="connsiteX7" fmla="*/ 59040 w 257618"/>
                <a:gd name="connsiteY7" fmla="*/ 45797 h 143741"/>
                <a:gd name="connsiteX8" fmla="*/ 110312 w 257618"/>
                <a:gd name="connsiteY8" fmla="*/ 7085 h 143741"/>
                <a:gd name="connsiteX9" fmla="*/ 127298 w 257618"/>
                <a:gd name="connsiteY9" fmla="*/ 29297 h 143741"/>
                <a:gd name="connsiteX10" fmla="*/ 122580 w 257618"/>
                <a:gd name="connsiteY10" fmla="*/ 55634 h 143741"/>
                <a:gd name="connsiteX11" fmla="*/ 113772 w 257618"/>
                <a:gd name="connsiteY11" fmla="*/ 92442 h 143741"/>
                <a:gd name="connsiteX12" fmla="*/ 107481 w 257618"/>
                <a:gd name="connsiteY12" fmla="*/ 116558 h 143741"/>
                <a:gd name="connsiteX13" fmla="*/ 103392 w 257618"/>
                <a:gd name="connsiteY13" fmla="*/ 135279 h 143741"/>
                <a:gd name="connsiteX14" fmla="*/ 112514 w 257618"/>
                <a:gd name="connsiteY14" fmla="*/ 143846 h 143741"/>
                <a:gd name="connsiteX15" fmla="*/ 126669 w 257618"/>
                <a:gd name="connsiteY15" fmla="*/ 125760 h 143741"/>
                <a:gd name="connsiteX16" fmla="*/ 145542 w 257618"/>
                <a:gd name="connsiteY16" fmla="*/ 49288 h 143741"/>
                <a:gd name="connsiteX17" fmla="*/ 197443 w 257618"/>
                <a:gd name="connsiteY17" fmla="*/ 7085 h 143741"/>
                <a:gd name="connsiteX18" fmla="*/ 214429 w 257618"/>
                <a:gd name="connsiteY18" fmla="*/ 29297 h 143741"/>
                <a:gd name="connsiteX19" fmla="*/ 194926 w 257618"/>
                <a:gd name="connsiteY19" fmla="*/ 100375 h 143741"/>
                <a:gd name="connsiteX20" fmla="*/ 190837 w 257618"/>
                <a:gd name="connsiteY20" fmla="*/ 117827 h 143741"/>
                <a:gd name="connsiteX21" fmla="*/ 216631 w 257618"/>
                <a:gd name="connsiteY21" fmla="*/ 143846 h 143741"/>
                <a:gd name="connsiteX22" fmla="*/ 257837 w 257618"/>
                <a:gd name="connsiteY22" fmla="*/ 94980 h 143741"/>
                <a:gd name="connsiteX23" fmla="*/ 254062 w 257618"/>
                <a:gd name="connsiteY23" fmla="*/ 91807 h 143741"/>
                <a:gd name="connsiteX24" fmla="*/ 249344 w 257618"/>
                <a:gd name="connsiteY24" fmla="*/ 97519 h 143741"/>
                <a:gd name="connsiteX25" fmla="*/ 217260 w 257618"/>
                <a:gd name="connsiteY25" fmla="*/ 136866 h 143741"/>
                <a:gd name="connsiteX26" fmla="*/ 209710 w 257618"/>
                <a:gd name="connsiteY26" fmla="*/ 126394 h 143741"/>
                <a:gd name="connsiteX27" fmla="*/ 215372 w 257618"/>
                <a:gd name="connsiteY27" fmla="*/ 103865 h 143741"/>
                <a:gd name="connsiteX28" fmla="*/ 234560 w 257618"/>
                <a:gd name="connsiteY28" fmla="*/ 34057 h 143741"/>
                <a:gd name="connsiteX29" fmla="*/ 198387 w 257618"/>
                <a:gd name="connsiteY29" fmla="*/ 104 h 143741"/>
                <a:gd name="connsiteX30" fmla="*/ 147115 w 257618"/>
                <a:gd name="connsiteY30" fmla="*/ 30884 h 143741"/>
                <a:gd name="connsiteX31" fmla="*/ 137049 w 257618"/>
                <a:gd name="connsiteY31" fmla="*/ 8354 h 143741"/>
                <a:gd name="connsiteX32" fmla="*/ 111256 w 257618"/>
                <a:gd name="connsiteY32" fmla="*/ 104 h 143741"/>
                <a:gd name="connsiteX33" fmla="*/ 62186 w 257618"/>
                <a:gd name="connsiteY33" fmla="*/ 27710 h 143741"/>
                <a:gd name="connsiteX34" fmla="*/ 33247 w 257618"/>
                <a:gd name="connsiteY34" fmla="*/ 104 h 143741"/>
                <a:gd name="connsiteX35" fmla="*/ 9970 w 257618"/>
                <a:gd name="connsiteY35" fmla="*/ 18191 h 143741"/>
                <a:gd name="connsiteX36" fmla="*/ 219 w 257618"/>
                <a:gd name="connsiteY36" fmla="*/ 48970 h 143741"/>
                <a:gd name="connsiteX37" fmla="*/ 3993 w 257618"/>
                <a:gd name="connsiteY37" fmla="*/ 52143 h 143741"/>
                <a:gd name="connsiteX38" fmla="*/ 9341 w 257618"/>
                <a:gd name="connsiteY38" fmla="*/ 44845 h 143741"/>
                <a:gd name="connsiteX39" fmla="*/ 32303 w 257618"/>
                <a:gd name="connsiteY39" fmla="*/ 7085 h 143741"/>
                <a:gd name="connsiteX40" fmla="*/ 42054 w 257618"/>
                <a:gd name="connsiteY40" fmla="*/ 21682 h 143741"/>
                <a:gd name="connsiteX41" fmla="*/ 37021 w 257618"/>
                <a:gd name="connsiteY41" fmla="*/ 48336 h 143741"/>
                <a:gd name="connsiteX42" fmla="*/ 18777 w 257618"/>
                <a:gd name="connsiteY42" fmla="*/ 121635 h 14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7618" h="143741">
                  <a:moveTo>
                    <a:pt x="18777" y="121635"/>
                  </a:moveTo>
                  <a:cubicBezTo>
                    <a:pt x="17834" y="126394"/>
                    <a:pt x="15946" y="133692"/>
                    <a:pt x="15946" y="135279"/>
                  </a:cubicBezTo>
                  <a:cubicBezTo>
                    <a:pt x="15946" y="140991"/>
                    <a:pt x="20350" y="143846"/>
                    <a:pt x="25068" y="143846"/>
                  </a:cubicBezTo>
                  <a:cubicBezTo>
                    <a:pt x="28843" y="143846"/>
                    <a:pt x="34505" y="141308"/>
                    <a:pt x="36707" y="134962"/>
                  </a:cubicBezTo>
                  <a:cubicBezTo>
                    <a:pt x="37021" y="134327"/>
                    <a:pt x="40796" y="119413"/>
                    <a:pt x="42683" y="111481"/>
                  </a:cubicBezTo>
                  <a:lnTo>
                    <a:pt x="49603" y="82923"/>
                  </a:lnTo>
                  <a:cubicBezTo>
                    <a:pt x="51491" y="75942"/>
                    <a:pt x="53378" y="68961"/>
                    <a:pt x="54951" y="61663"/>
                  </a:cubicBezTo>
                  <a:cubicBezTo>
                    <a:pt x="56209" y="56268"/>
                    <a:pt x="58725" y="47066"/>
                    <a:pt x="59040" y="45797"/>
                  </a:cubicBezTo>
                  <a:cubicBezTo>
                    <a:pt x="63758" y="35961"/>
                    <a:pt x="80430" y="7085"/>
                    <a:pt x="110312" y="7085"/>
                  </a:cubicBezTo>
                  <a:cubicBezTo>
                    <a:pt x="124467" y="7085"/>
                    <a:pt x="127298" y="18826"/>
                    <a:pt x="127298" y="29297"/>
                  </a:cubicBezTo>
                  <a:cubicBezTo>
                    <a:pt x="127298" y="37230"/>
                    <a:pt x="125096" y="46114"/>
                    <a:pt x="122580" y="55634"/>
                  </a:cubicBezTo>
                  <a:lnTo>
                    <a:pt x="113772" y="92442"/>
                  </a:lnTo>
                  <a:lnTo>
                    <a:pt x="107481" y="116558"/>
                  </a:lnTo>
                  <a:cubicBezTo>
                    <a:pt x="106223" y="122904"/>
                    <a:pt x="103392" y="133692"/>
                    <a:pt x="103392" y="135279"/>
                  </a:cubicBezTo>
                  <a:cubicBezTo>
                    <a:pt x="103392" y="140991"/>
                    <a:pt x="107796" y="143846"/>
                    <a:pt x="112514" y="143846"/>
                  </a:cubicBezTo>
                  <a:cubicBezTo>
                    <a:pt x="122265" y="143846"/>
                    <a:pt x="124152" y="135914"/>
                    <a:pt x="126669" y="125760"/>
                  </a:cubicBezTo>
                  <a:cubicBezTo>
                    <a:pt x="131072" y="107990"/>
                    <a:pt x="142711" y="61663"/>
                    <a:pt x="145542" y="49288"/>
                  </a:cubicBezTo>
                  <a:cubicBezTo>
                    <a:pt x="146485" y="45163"/>
                    <a:pt x="163157" y="7085"/>
                    <a:pt x="197443" y="7085"/>
                  </a:cubicBezTo>
                  <a:cubicBezTo>
                    <a:pt x="210969" y="7085"/>
                    <a:pt x="214429" y="17874"/>
                    <a:pt x="214429" y="29297"/>
                  </a:cubicBezTo>
                  <a:cubicBezTo>
                    <a:pt x="214429" y="47384"/>
                    <a:pt x="201218" y="83557"/>
                    <a:pt x="194926" y="100375"/>
                  </a:cubicBezTo>
                  <a:cubicBezTo>
                    <a:pt x="192096" y="107990"/>
                    <a:pt x="190837" y="111481"/>
                    <a:pt x="190837" y="117827"/>
                  </a:cubicBezTo>
                  <a:cubicBezTo>
                    <a:pt x="190837" y="132740"/>
                    <a:pt x="201847" y="143846"/>
                    <a:pt x="216631" y="143846"/>
                  </a:cubicBezTo>
                  <a:cubicBezTo>
                    <a:pt x="246198" y="143846"/>
                    <a:pt x="257837" y="97519"/>
                    <a:pt x="257837" y="94980"/>
                  </a:cubicBezTo>
                  <a:cubicBezTo>
                    <a:pt x="257837" y="91807"/>
                    <a:pt x="255006" y="91807"/>
                    <a:pt x="254062" y="91807"/>
                  </a:cubicBezTo>
                  <a:cubicBezTo>
                    <a:pt x="250917" y="91807"/>
                    <a:pt x="250917" y="92759"/>
                    <a:pt x="249344" y="97519"/>
                  </a:cubicBezTo>
                  <a:cubicBezTo>
                    <a:pt x="244626" y="114336"/>
                    <a:pt x="234560" y="136866"/>
                    <a:pt x="217260" y="136866"/>
                  </a:cubicBezTo>
                  <a:cubicBezTo>
                    <a:pt x="211912" y="136866"/>
                    <a:pt x="209710" y="133692"/>
                    <a:pt x="209710" y="126394"/>
                  </a:cubicBezTo>
                  <a:cubicBezTo>
                    <a:pt x="209710" y="118461"/>
                    <a:pt x="212541" y="110846"/>
                    <a:pt x="215372" y="103865"/>
                  </a:cubicBezTo>
                  <a:cubicBezTo>
                    <a:pt x="221349" y="87365"/>
                    <a:pt x="234560" y="52143"/>
                    <a:pt x="234560" y="34057"/>
                  </a:cubicBezTo>
                  <a:cubicBezTo>
                    <a:pt x="234560" y="13431"/>
                    <a:pt x="221978" y="104"/>
                    <a:pt x="198387" y="104"/>
                  </a:cubicBezTo>
                  <a:cubicBezTo>
                    <a:pt x="174795" y="104"/>
                    <a:pt x="158753" y="14066"/>
                    <a:pt x="147115" y="30884"/>
                  </a:cubicBezTo>
                  <a:cubicBezTo>
                    <a:pt x="146800" y="26759"/>
                    <a:pt x="145856" y="15970"/>
                    <a:pt x="137049" y="8354"/>
                  </a:cubicBezTo>
                  <a:cubicBezTo>
                    <a:pt x="129185" y="1691"/>
                    <a:pt x="119119" y="104"/>
                    <a:pt x="111256" y="104"/>
                  </a:cubicBezTo>
                  <a:cubicBezTo>
                    <a:pt x="82946" y="104"/>
                    <a:pt x="67533" y="20412"/>
                    <a:pt x="62186" y="27710"/>
                  </a:cubicBezTo>
                  <a:cubicBezTo>
                    <a:pt x="60613" y="9624"/>
                    <a:pt x="47402" y="104"/>
                    <a:pt x="33247" y="104"/>
                  </a:cubicBezTo>
                  <a:cubicBezTo>
                    <a:pt x="18777" y="104"/>
                    <a:pt x="12801" y="12479"/>
                    <a:pt x="9970" y="18191"/>
                  </a:cubicBezTo>
                  <a:cubicBezTo>
                    <a:pt x="4308" y="29297"/>
                    <a:pt x="219" y="48018"/>
                    <a:pt x="219" y="48970"/>
                  </a:cubicBezTo>
                  <a:cubicBezTo>
                    <a:pt x="219" y="52143"/>
                    <a:pt x="3364" y="52143"/>
                    <a:pt x="3993" y="52143"/>
                  </a:cubicBezTo>
                  <a:cubicBezTo>
                    <a:pt x="7139" y="52143"/>
                    <a:pt x="7453" y="51826"/>
                    <a:pt x="9341" y="44845"/>
                  </a:cubicBezTo>
                  <a:cubicBezTo>
                    <a:pt x="14688" y="22316"/>
                    <a:pt x="20979" y="7085"/>
                    <a:pt x="32303" y="7085"/>
                  </a:cubicBezTo>
                  <a:cubicBezTo>
                    <a:pt x="37336" y="7085"/>
                    <a:pt x="42054" y="9624"/>
                    <a:pt x="42054" y="21682"/>
                  </a:cubicBezTo>
                  <a:cubicBezTo>
                    <a:pt x="42054" y="28345"/>
                    <a:pt x="41111" y="31835"/>
                    <a:pt x="37021" y="48336"/>
                  </a:cubicBezTo>
                  <a:lnTo>
                    <a:pt x="18777" y="121635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47" name="任意形状 10046">
              <a:extLst>
                <a:ext uri="{FF2B5EF4-FFF2-40B4-BE49-F238E27FC236}">
                  <a16:creationId xmlns:a16="http://schemas.microsoft.com/office/drawing/2014/main" id="{3C20C1D2-B631-53F3-5EFD-4CA82AFEFD5B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852375" y="5073793"/>
              <a:ext cx="74423" cy="141044"/>
            </a:xfrm>
            <a:custGeom>
              <a:avLst/>
              <a:gdLst>
                <a:gd name="connsiteX0" fmla="*/ 45146 w 74423"/>
                <a:gd name="connsiteY0" fmla="*/ 51193 h 141044"/>
                <a:gd name="connsiteX1" fmla="*/ 67605 w 74423"/>
                <a:gd name="connsiteY1" fmla="*/ 51193 h 141044"/>
                <a:gd name="connsiteX2" fmla="*/ 74651 w 74423"/>
                <a:gd name="connsiteY2" fmla="*/ 46306 h 141044"/>
                <a:gd name="connsiteX3" fmla="*/ 68045 w 74423"/>
                <a:gd name="connsiteY3" fmla="*/ 43197 h 141044"/>
                <a:gd name="connsiteX4" fmla="*/ 47127 w 74423"/>
                <a:gd name="connsiteY4" fmla="*/ 43197 h 141044"/>
                <a:gd name="connsiteX5" fmla="*/ 55274 w 74423"/>
                <a:gd name="connsiteY5" fmla="*/ 10323 h 141044"/>
                <a:gd name="connsiteX6" fmla="*/ 55935 w 74423"/>
                <a:gd name="connsiteY6" fmla="*/ 7214 h 141044"/>
                <a:gd name="connsiteX7" fmla="*/ 48448 w 74423"/>
                <a:gd name="connsiteY7" fmla="*/ 106 h 141044"/>
                <a:gd name="connsiteX8" fmla="*/ 38100 w 74423"/>
                <a:gd name="connsiteY8" fmla="*/ 9657 h 141044"/>
                <a:gd name="connsiteX9" fmla="*/ 29732 w 74423"/>
                <a:gd name="connsiteY9" fmla="*/ 43197 h 141044"/>
                <a:gd name="connsiteX10" fmla="*/ 7273 w 74423"/>
                <a:gd name="connsiteY10" fmla="*/ 43197 h 141044"/>
                <a:gd name="connsiteX11" fmla="*/ 227 w 74423"/>
                <a:gd name="connsiteY11" fmla="*/ 48083 h 141044"/>
                <a:gd name="connsiteX12" fmla="*/ 6833 w 74423"/>
                <a:gd name="connsiteY12" fmla="*/ 51193 h 141044"/>
                <a:gd name="connsiteX13" fmla="*/ 27751 w 74423"/>
                <a:gd name="connsiteY13" fmla="*/ 51193 h 141044"/>
                <a:gd name="connsiteX14" fmla="*/ 14760 w 74423"/>
                <a:gd name="connsiteY14" fmla="*/ 103613 h 141044"/>
                <a:gd name="connsiteX15" fmla="*/ 11457 w 74423"/>
                <a:gd name="connsiteY15" fmla="*/ 120049 h 141044"/>
                <a:gd name="connsiteX16" fmla="*/ 35017 w 74423"/>
                <a:gd name="connsiteY16" fmla="*/ 141151 h 141044"/>
                <a:gd name="connsiteX17" fmla="*/ 73329 w 74423"/>
                <a:gd name="connsiteY17" fmla="*/ 107167 h 141044"/>
                <a:gd name="connsiteX18" fmla="*/ 69806 w 74423"/>
                <a:gd name="connsiteY18" fmla="*/ 104279 h 141044"/>
                <a:gd name="connsiteX19" fmla="*/ 65182 w 74423"/>
                <a:gd name="connsiteY19" fmla="*/ 108499 h 141044"/>
                <a:gd name="connsiteX20" fmla="*/ 35678 w 74423"/>
                <a:gd name="connsiteY20" fmla="*/ 134931 h 141044"/>
                <a:gd name="connsiteX21" fmla="*/ 27971 w 74423"/>
                <a:gd name="connsiteY21" fmla="*/ 124048 h 141044"/>
                <a:gd name="connsiteX22" fmla="*/ 29292 w 74423"/>
                <a:gd name="connsiteY22" fmla="*/ 114941 h 141044"/>
                <a:gd name="connsiteX23" fmla="*/ 45146 w 74423"/>
                <a:gd name="connsiteY23" fmla="*/ 51193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46" y="51193"/>
                  </a:moveTo>
                  <a:lnTo>
                    <a:pt x="67605" y="51193"/>
                  </a:lnTo>
                  <a:cubicBezTo>
                    <a:pt x="71788" y="51193"/>
                    <a:pt x="74651" y="51193"/>
                    <a:pt x="74651" y="46306"/>
                  </a:cubicBezTo>
                  <a:cubicBezTo>
                    <a:pt x="74651" y="43197"/>
                    <a:pt x="71788" y="43197"/>
                    <a:pt x="68045" y="43197"/>
                  </a:cubicBezTo>
                  <a:lnTo>
                    <a:pt x="47127" y="43197"/>
                  </a:lnTo>
                  <a:lnTo>
                    <a:pt x="55274" y="10323"/>
                  </a:lnTo>
                  <a:cubicBezTo>
                    <a:pt x="55494" y="9213"/>
                    <a:pt x="55935" y="8102"/>
                    <a:pt x="55935" y="7214"/>
                  </a:cubicBezTo>
                  <a:cubicBezTo>
                    <a:pt x="55935" y="3215"/>
                    <a:pt x="52852" y="106"/>
                    <a:pt x="48448" y="106"/>
                  </a:cubicBezTo>
                  <a:cubicBezTo>
                    <a:pt x="42944" y="106"/>
                    <a:pt x="39641" y="3882"/>
                    <a:pt x="38100" y="9657"/>
                  </a:cubicBezTo>
                  <a:cubicBezTo>
                    <a:pt x="36558" y="15210"/>
                    <a:pt x="39421" y="4548"/>
                    <a:pt x="29732" y="43197"/>
                  </a:cubicBezTo>
                  <a:lnTo>
                    <a:pt x="7273" y="43197"/>
                  </a:lnTo>
                  <a:cubicBezTo>
                    <a:pt x="3090" y="43197"/>
                    <a:pt x="227" y="43197"/>
                    <a:pt x="227" y="48083"/>
                  </a:cubicBezTo>
                  <a:cubicBezTo>
                    <a:pt x="227" y="51193"/>
                    <a:pt x="2870" y="51193"/>
                    <a:pt x="6833" y="51193"/>
                  </a:cubicBezTo>
                  <a:lnTo>
                    <a:pt x="27751" y="51193"/>
                  </a:lnTo>
                  <a:lnTo>
                    <a:pt x="14760" y="103613"/>
                  </a:lnTo>
                  <a:cubicBezTo>
                    <a:pt x="13439" y="109166"/>
                    <a:pt x="11457" y="117162"/>
                    <a:pt x="11457" y="120049"/>
                  </a:cubicBezTo>
                  <a:cubicBezTo>
                    <a:pt x="11457" y="133154"/>
                    <a:pt x="22466" y="141151"/>
                    <a:pt x="35017" y="141151"/>
                  </a:cubicBezTo>
                  <a:cubicBezTo>
                    <a:pt x="59458" y="141151"/>
                    <a:pt x="73329" y="110054"/>
                    <a:pt x="73329" y="107167"/>
                  </a:cubicBezTo>
                  <a:cubicBezTo>
                    <a:pt x="73329" y="104279"/>
                    <a:pt x="70467" y="104279"/>
                    <a:pt x="69806" y="104279"/>
                  </a:cubicBezTo>
                  <a:cubicBezTo>
                    <a:pt x="67164" y="104279"/>
                    <a:pt x="66944" y="104723"/>
                    <a:pt x="65182" y="108499"/>
                  </a:cubicBezTo>
                  <a:cubicBezTo>
                    <a:pt x="59017" y="122493"/>
                    <a:pt x="47788" y="134931"/>
                    <a:pt x="35678" y="134931"/>
                  </a:cubicBezTo>
                  <a:cubicBezTo>
                    <a:pt x="31054" y="134931"/>
                    <a:pt x="27971" y="132044"/>
                    <a:pt x="27971" y="124048"/>
                  </a:cubicBezTo>
                  <a:cubicBezTo>
                    <a:pt x="27971" y="121826"/>
                    <a:pt x="28852" y="117162"/>
                    <a:pt x="29292" y="114941"/>
                  </a:cubicBezTo>
                  <a:lnTo>
                    <a:pt x="45146" y="51193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48" name="任意形状 10047">
              <a:extLst>
                <a:ext uri="{FF2B5EF4-FFF2-40B4-BE49-F238E27FC236}">
                  <a16:creationId xmlns:a16="http://schemas.microsoft.com/office/drawing/2014/main" id="{8DFFE9AB-CE1D-58A5-D4FC-7326F605B0E9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971177" y="4927037"/>
              <a:ext cx="122360" cy="317311"/>
            </a:xfrm>
            <a:custGeom>
              <a:avLst/>
              <a:gdLst>
                <a:gd name="connsiteX0" fmla="*/ 121019 w 122360"/>
                <a:gd name="connsiteY0" fmla="*/ 12162 h 317311"/>
                <a:gd name="connsiteX1" fmla="*/ 122592 w 122360"/>
                <a:gd name="connsiteY1" fmla="*/ 6451 h 317311"/>
                <a:gd name="connsiteX2" fmla="*/ 116301 w 122360"/>
                <a:gd name="connsiteY2" fmla="*/ 104 h 317311"/>
                <a:gd name="connsiteX3" fmla="*/ 110953 w 122360"/>
                <a:gd name="connsiteY3" fmla="*/ 2960 h 317311"/>
                <a:gd name="connsiteX4" fmla="*/ 1804 w 122360"/>
                <a:gd name="connsiteY4" fmla="*/ 305358 h 317311"/>
                <a:gd name="connsiteX5" fmla="*/ 231 w 122360"/>
                <a:gd name="connsiteY5" fmla="*/ 311069 h 317311"/>
                <a:gd name="connsiteX6" fmla="*/ 6522 w 122360"/>
                <a:gd name="connsiteY6" fmla="*/ 317416 h 317311"/>
                <a:gd name="connsiteX7" fmla="*/ 13442 w 122360"/>
                <a:gd name="connsiteY7" fmla="*/ 309800 h 317311"/>
                <a:gd name="connsiteX8" fmla="*/ 121019 w 122360"/>
                <a:gd name="connsiteY8" fmla="*/ 12162 h 31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360" h="317311">
                  <a:moveTo>
                    <a:pt x="121019" y="12162"/>
                  </a:moveTo>
                  <a:cubicBezTo>
                    <a:pt x="122592" y="8037"/>
                    <a:pt x="122592" y="6768"/>
                    <a:pt x="122592" y="6451"/>
                  </a:cubicBezTo>
                  <a:cubicBezTo>
                    <a:pt x="122592" y="2960"/>
                    <a:pt x="119761" y="104"/>
                    <a:pt x="116301" y="104"/>
                  </a:cubicBezTo>
                  <a:cubicBezTo>
                    <a:pt x="114099" y="104"/>
                    <a:pt x="111897" y="1056"/>
                    <a:pt x="110953" y="2960"/>
                  </a:cubicBezTo>
                  <a:lnTo>
                    <a:pt x="1804" y="305358"/>
                  </a:lnTo>
                  <a:cubicBezTo>
                    <a:pt x="231" y="309483"/>
                    <a:pt x="231" y="310752"/>
                    <a:pt x="231" y="311069"/>
                  </a:cubicBezTo>
                  <a:cubicBezTo>
                    <a:pt x="231" y="314560"/>
                    <a:pt x="3062" y="317416"/>
                    <a:pt x="6522" y="317416"/>
                  </a:cubicBezTo>
                  <a:cubicBezTo>
                    <a:pt x="10611" y="317416"/>
                    <a:pt x="11555" y="315194"/>
                    <a:pt x="13442" y="309800"/>
                  </a:cubicBezTo>
                  <a:lnTo>
                    <a:pt x="121019" y="12162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49" name="任意形状 10048">
              <a:extLst>
                <a:ext uri="{FF2B5EF4-FFF2-40B4-BE49-F238E27FC236}">
                  <a16:creationId xmlns:a16="http://schemas.microsoft.com/office/drawing/2014/main" id="{ACFFB1B6-A5A3-AB2F-0646-4EF2A62CC9F1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8211389" y="4895304"/>
              <a:ext cx="82098" cy="380456"/>
            </a:xfrm>
            <a:custGeom>
              <a:avLst/>
              <a:gdLst>
                <a:gd name="connsiteX0" fmla="*/ 82336 w 82098"/>
                <a:gd name="connsiteY0" fmla="*/ 377379 h 380456"/>
                <a:gd name="connsiteX1" fmla="*/ 81078 w 82098"/>
                <a:gd name="connsiteY1" fmla="*/ 374524 h 380456"/>
                <a:gd name="connsiteX2" fmla="*/ 32007 w 82098"/>
                <a:gd name="connsiteY2" fmla="*/ 281551 h 380456"/>
                <a:gd name="connsiteX3" fmla="*/ 21942 w 82098"/>
                <a:gd name="connsiteY3" fmla="*/ 190483 h 380456"/>
                <a:gd name="connsiteX4" fmla="*/ 79505 w 82098"/>
                <a:gd name="connsiteY4" fmla="*/ 7394 h 380456"/>
                <a:gd name="connsiteX5" fmla="*/ 82336 w 82098"/>
                <a:gd name="connsiteY5" fmla="*/ 3269 h 380456"/>
                <a:gd name="connsiteX6" fmla="*/ 78561 w 82098"/>
                <a:gd name="connsiteY6" fmla="*/ 96 h 380456"/>
                <a:gd name="connsiteX7" fmla="*/ 52768 w 82098"/>
                <a:gd name="connsiteY7" fmla="*/ 23895 h 380456"/>
                <a:gd name="connsiteX8" fmla="*/ 238 w 82098"/>
                <a:gd name="connsiteY8" fmla="*/ 190166 h 380456"/>
                <a:gd name="connsiteX9" fmla="*/ 49308 w 82098"/>
                <a:gd name="connsiteY9" fmla="*/ 352629 h 380456"/>
                <a:gd name="connsiteX10" fmla="*/ 78561 w 82098"/>
                <a:gd name="connsiteY10" fmla="*/ 380552 h 380456"/>
                <a:gd name="connsiteX11" fmla="*/ 82336 w 82098"/>
                <a:gd name="connsiteY11" fmla="*/ 377379 h 38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098" h="380456">
                  <a:moveTo>
                    <a:pt x="82336" y="377379"/>
                  </a:moveTo>
                  <a:cubicBezTo>
                    <a:pt x="82336" y="376110"/>
                    <a:pt x="81707" y="375475"/>
                    <a:pt x="81078" y="374524"/>
                  </a:cubicBezTo>
                  <a:cubicBezTo>
                    <a:pt x="66608" y="358975"/>
                    <a:pt x="45219" y="333273"/>
                    <a:pt x="32007" y="281551"/>
                  </a:cubicBezTo>
                  <a:cubicBezTo>
                    <a:pt x="24773" y="252676"/>
                    <a:pt x="21942" y="219993"/>
                    <a:pt x="21942" y="190483"/>
                  </a:cubicBezTo>
                  <a:cubicBezTo>
                    <a:pt x="21942" y="107030"/>
                    <a:pt x="41759" y="48645"/>
                    <a:pt x="79505" y="7394"/>
                  </a:cubicBezTo>
                  <a:cubicBezTo>
                    <a:pt x="82336" y="4539"/>
                    <a:pt x="82336" y="3904"/>
                    <a:pt x="82336" y="3269"/>
                  </a:cubicBezTo>
                  <a:cubicBezTo>
                    <a:pt x="82336" y="96"/>
                    <a:pt x="79819" y="96"/>
                    <a:pt x="78561" y="96"/>
                  </a:cubicBezTo>
                  <a:cubicBezTo>
                    <a:pt x="73843" y="96"/>
                    <a:pt x="56857" y="19135"/>
                    <a:pt x="52768" y="23895"/>
                  </a:cubicBezTo>
                  <a:cubicBezTo>
                    <a:pt x="20684" y="62289"/>
                    <a:pt x="238" y="119405"/>
                    <a:pt x="238" y="190166"/>
                  </a:cubicBezTo>
                  <a:cubicBezTo>
                    <a:pt x="238" y="235224"/>
                    <a:pt x="8101" y="299003"/>
                    <a:pt x="49308" y="352629"/>
                  </a:cubicBezTo>
                  <a:cubicBezTo>
                    <a:pt x="52453" y="356437"/>
                    <a:pt x="72899" y="380552"/>
                    <a:pt x="78561" y="380552"/>
                  </a:cubicBezTo>
                  <a:cubicBezTo>
                    <a:pt x="79819" y="380552"/>
                    <a:pt x="82336" y="380552"/>
                    <a:pt x="82336" y="377379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50" name="任意形状 10049">
              <a:extLst>
                <a:ext uri="{FF2B5EF4-FFF2-40B4-BE49-F238E27FC236}">
                  <a16:creationId xmlns:a16="http://schemas.microsoft.com/office/drawing/2014/main" id="{F43D8B4A-EA1A-D8F3-57F0-CEF3E2D06FA0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8335743" y="4953692"/>
              <a:ext cx="103802" cy="211329"/>
            </a:xfrm>
            <a:custGeom>
              <a:avLst/>
              <a:gdLst>
                <a:gd name="connsiteX0" fmla="*/ 64725 w 103802"/>
                <a:gd name="connsiteY0" fmla="*/ 8354 h 211329"/>
                <a:gd name="connsiteX1" fmla="*/ 57491 w 103802"/>
                <a:gd name="connsiteY1" fmla="*/ 104 h 211329"/>
                <a:gd name="connsiteX2" fmla="*/ 242 w 103802"/>
                <a:gd name="connsiteY2" fmla="*/ 20412 h 211329"/>
                <a:gd name="connsiteX3" fmla="*/ 242 w 103802"/>
                <a:gd name="connsiteY3" fmla="*/ 30249 h 211329"/>
                <a:gd name="connsiteX4" fmla="*/ 41449 w 103802"/>
                <a:gd name="connsiteY4" fmla="*/ 21999 h 211329"/>
                <a:gd name="connsiteX5" fmla="*/ 41449 w 103802"/>
                <a:gd name="connsiteY5" fmla="*/ 186366 h 211329"/>
                <a:gd name="connsiteX6" fmla="*/ 12195 w 103802"/>
                <a:gd name="connsiteY6" fmla="*/ 201597 h 211329"/>
                <a:gd name="connsiteX7" fmla="*/ 2130 w 103802"/>
                <a:gd name="connsiteY7" fmla="*/ 201597 h 211329"/>
                <a:gd name="connsiteX8" fmla="*/ 2130 w 103802"/>
                <a:gd name="connsiteY8" fmla="*/ 211434 h 211329"/>
                <a:gd name="connsiteX9" fmla="*/ 53087 w 103802"/>
                <a:gd name="connsiteY9" fmla="*/ 210482 h 211329"/>
                <a:gd name="connsiteX10" fmla="*/ 104044 w 103802"/>
                <a:gd name="connsiteY10" fmla="*/ 211434 h 211329"/>
                <a:gd name="connsiteX11" fmla="*/ 104044 w 103802"/>
                <a:gd name="connsiteY11" fmla="*/ 201597 h 211329"/>
                <a:gd name="connsiteX12" fmla="*/ 93979 w 103802"/>
                <a:gd name="connsiteY12" fmla="*/ 201597 h 211329"/>
                <a:gd name="connsiteX13" fmla="*/ 64725 w 103802"/>
                <a:gd name="connsiteY13" fmla="*/ 186366 h 211329"/>
                <a:gd name="connsiteX14" fmla="*/ 64725 w 103802"/>
                <a:gd name="connsiteY14" fmla="*/ 8354 h 21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3802" h="211329">
                  <a:moveTo>
                    <a:pt x="64725" y="8354"/>
                  </a:moveTo>
                  <a:cubicBezTo>
                    <a:pt x="64725" y="739"/>
                    <a:pt x="64725" y="104"/>
                    <a:pt x="57491" y="104"/>
                  </a:cubicBezTo>
                  <a:cubicBezTo>
                    <a:pt x="37988" y="20412"/>
                    <a:pt x="10308" y="20412"/>
                    <a:pt x="242" y="20412"/>
                  </a:cubicBezTo>
                  <a:lnTo>
                    <a:pt x="242" y="30249"/>
                  </a:lnTo>
                  <a:cubicBezTo>
                    <a:pt x="6533" y="30249"/>
                    <a:pt x="25092" y="30249"/>
                    <a:pt x="41449" y="21999"/>
                  </a:cubicBezTo>
                  <a:lnTo>
                    <a:pt x="41449" y="186366"/>
                  </a:lnTo>
                  <a:cubicBezTo>
                    <a:pt x="41449" y="197789"/>
                    <a:pt x="40505" y="201597"/>
                    <a:pt x="12195" y="201597"/>
                  </a:cubicBezTo>
                  <a:lnTo>
                    <a:pt x="2130" y="201597"/>
                  </a:lnTo>
                  <a:lnTo>
                    <a:pt x="2130" y="211434"/>
                  </a:lnTo>
                  <a:cubicBezTo>
                    <a:pt x="13139" y="210482"/>
                    <a:pt x="40505" y="210482"/>
                    <a:pt x="53087" y="210482"/>
                  </a:cubicBezTo>
                  <a:cubicBezTo>
                    <a:pt x="65669" y="210482"/>
                    <a:pt x="93035" y="210482"/>
                    <a:pt x="104044" y="211434"/>
                  </a:cubicBezTo>
                  <a:lnTo>
                    <a:pt x="104044" y="201597"/>
                  </a:lnTo>
                  <a:lnTo>
                    <a:pt x="93979" y="201597"/>
                  </a:lnTo>
                  <a:cubicBezTo>
                    <a:pt x="65669" y="201597"/>
                    <a:pt x="64725" y="198107"/>
                    <a:pt x="64725" y="186366"/>
                  </a:cubicBezTo>
                  <a:lnTo>
                    <a:pt x="64725" y="8354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51" name="任意形状 10050">
              <a:extLst>
                <a:ext uri="{FF2B5EF4-FFF2-40B4-BE49-F238E27FC236}">
                  <a16:creationId xmlns:a16="http://schemas.microsoft.com/office/drawing/2014/main" id="{FC2B446D-5011-8F4F-03CF-99A2324A83C6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8561031" y="5079347"/>
              <a:ext cx="192191" cy="12692"/>
            </a:xfrm>
            <a:custGeom>
              <a:avLst/>
              <a:gdLst>
                <a:gd name="connsiteX0" fmla="*/ 181431 w 192191"/>
                <a:gd name="connsiteY0" fmla="*/ 12797 h 12692"/>
                <a:gd name="connsiteX1" fmla="*/ 192441 w 192191"/>
                <a:gd name="connsiteY1" fmla="*/ 6451 h 12692"/>
                <a:gd name="connsiteX2" fmla="*/ 181431 w 192191"/>
                <a:gd name="connsiteY2" fmla="*/ 104 h 12692"/>
                <a:gd name="connsiteX3" fmla="*/ 11259 w 192191"/>
                <a:gd name="connsiteY3" fmla="*/ 104 h 12692"/>
                <a:gd name="connsiteX4" fmla="*/ 249 w 192191"/>
                <a:gd name="connsiteY4" fmla="*/ 6451 h 12692"/>
                <a:gd name="connsiteX5" fmla="*/ 11259 w 192191"/>
                <a:gd name="connsiteY5" fmla="*/ 12797 h 12692"/>
                <a:gd name="connsiteX6" fmla="*/ 181431 w 192191"/>
                <a:gd name="connsiteY6" fmla="*/ 12797 h 12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91" h="12692">
                  <a:moveTo>
                    <a:pt x="181431" y="12797"/>
                  </a:moveTo>
                  <a:cubicBezTo>
                    <a:pt x="186779" y="12797"/>
                    <a:pt x="192441" y="12797"/>
                    <a:pt x="192441" y="6451"/>
                  </a:cubicBezTo>
                  <a:cubicBezTo>
                    <a:pt x="192441" y="104"/>
                    <a:pt x="186779" y="104"/>
                    <a:pt x="181431" y="104"/>
                  </a:cubicBezTo>
                  <a:lnTo>
                    <a:pt x="11259" y="104"/>
                  </a:lnTo>
                  <a:cubicBezTo>
                    <a:pt x="5911" y="104"/>
                    <a:pt x="249" y="104"/>
                    <a:pt x="249" y="6451"/>
                  </a:cubicBezTo>
                  <a:cubicBezTo>
                    <a:pt x="249" y="12797"/>
                    <a:pt x="5911" y="12797"/>
                    <a:pt x="11259" y="12797"/>
                  </a:cubicBezTo>
                  <a:lnTo>
                    <a:pt x="181431" y="12797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52" name="任意形状 10051">
              <a:extLst>
                <a:ext uri="{FF2B5EF4-FFF2-40B4-BE49-F238E27FC236}">
                  <a16:creationId xmlns:a16="http://schemas.microsoft.com/office/drawing/2014/main" id="{858F14B3-648A-F551-F047-D6A097FF0E4D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8858871" y="4940999"/>
              <a:ext cx="171470" cy="285580"/>
            </a:xfrm>
            <a:custGeom>
              <a:avLst/>
              <a:gdLst>
                <a:gd name="connsiteX0" fmla="*/ 171730 w 171470"/>
                <a:gd name="connsiteY0" fmla="*/ 43576 h 285580"/>
                <a:gd name="connsiteX1" fmla="*/ 128951 w 171470"/>
                <a:gd name="connsiteY1" fmla="*/ 104 h 285580"/>
                <a:gd name="connsiteX2" fmla="*/ 90890 w 171470"/>
                <a:gd name="connsiteY2" fmla="*/ 13431 h 285580"/>
                <a:gd name="connsiteX3" fmla="*/ 50313 w 171470"/>
                <a:gd name="connsiteY3" fmla="*/ 81019 h 285580"/>
                <a:gd name="connsiteX4" fmla="*/ 299 w 171470"/>
                <a:gd name="connsiteY4" fmla="*/ 282511 h 285580"/>
                <a:gd name="connsiteX5" fmla="*/ 4074 w 171470"/>
                <a:gd name="connsiteY5" fmla="*/ 285684 h 285580"/>
                <a:gd name="connsiteX6" fmla="*/ 7849 w 171470"/>
                <a:gd name="connsiteY6" fmla="*/ 284098 h 285580"/>
                <a:gd name="connsiteX7" fmla="*/ 29867 w 171470"/>
                <a:gd name="connsiteY7" fmla="*/ 196520 h 285580"/>
                <a:gd name="connsiteX8" fmla="*/ 72646 w 171470"/>
                <a:gd name="connsiteY8" fmla="*/ 227299 h 285580"/>
                <a:gd name="connsiteX9" fmla="*/ 133355 w 171470"/>
                <a:gd name="connsiteY9" fmla="*/ 202232 h 285580"/>
                <a:gd name="connsiteX10" fmla="*/ 158519 w 171470"/>
                <a:gd name="connsiteY10" fmla="*/ 143846 h 285580"/>
                <a:gd name="connsiteX11" fmla="*/ 135557 w 171470"/>
                <a:gd name="connsiteY11" fmla="*/ 96567 h 285580"/>
                <a:gd name="connsiteX12" fmla="*/ 171730 w 171470"/>
                <a:gd name="connsiteY12" fmla="*/ 43576 h 285580"/>
                <a:gd name="connsiteX13" fmla="*/ 115111 w 171470"/>
                <a:gd name="connsiteY13" fmla="*/ 96250 h 285580"/>
                <a:gd name="connsiteX14" fmla="*/ 100012 w 171470"/>
                <a:gd name="connsiteY14" fmla="*/ 98471 h 285580"/>
                <a:gd name="connsiteX15" fmla="*/ 86172 w 171470"/>
                <a:gd name="connsiteY15" fmla="*/ 97202 h 285580"/>
                <a:gd name="connsiteX16" fmla="*/ 101585 w 171470"/>
                <a:gd name="connsiteY16" fmla="*/ 94663 h 285580"/>
                <a:gd name="connsiteX17" fmla="*/ 115111 w 171470"/>
                <a:gd name="connsiteY17" fmla="*/ 96250 h 285580"/>
                <a:gd name="connsiteX18" fmla="*/ 154115 w 171470"/>
                <a:gd name="connsiteY18" fmla="*/ 36278 h 285580"/>
                <a:gd name="connsiteX19" fmla="*/ 125806 w 171470"/>
                <a:gd name="connsiteY19" fmla="*/ 91173 h 285580"/>
                <a:gd name="connsiteX20" fmla="*/ 101585 w 171470"/>
                <a:gd name="connsiteY20" fmla="*/ 87365 h 285580"/>
                <a:gd name="connsiteX21" fmla="*/ 77365 w 171470"/>
                <a:gd name="connsiteY21" fmla="*/ 97519 h 285580"/>
                <a:gd name="connsiteX22" fmla="*/ 99069 w 171470"/>
                <a:gd name="connsiteY22" fmla="*/ 105452 h 285580"/>
                <a:gd name="connsiteX23" fmla="*/ 124862 w 171470"/>
                <a:gd name="connsiteY23" fmla="*/ 101327 h 285580"/>
                <a:gd name="connsiteX24" fmla="*/ 138702 w 171470"/>
                <a:gd name="connsiteY24" fmla="*/ 137183 h 285580"/>
                <a:gd name="connsiteX25" fmla="*/ 122975 w 171470"/>
                <a:gd name="connsiteY25" fmla="*/ 191760 h 285580"/>
                <a:gd name="connsiteX26" fmla="*/ 71703 w 171470"/>
                <a:gd name="connsiteY26" fmla="*/ 220318 h 285580"/>
                <a:gd name="connsiteX27" fmla="*/ 35844 w 171470"/>
                <a:gd name="connsiteY27" fmla="*/ 179385 h 285580"/>
                <a:gd name="connsiteX28" fmla="*/ 37416 w 171470"/>
                <a:gd name="connsiteY28" fmla="*/ 165424 h 285580"/>
                <a:gd name="connsiteX29" fmla="*/ 57548 w 171470"/>
                <a:gd name="connsiteY29" fmla="*/ 85144 h 285580"/>
                <a:gd name="connsiteX30" fmla="*/ 124862 w 171470"/>
                <a:gd name="connsiteY30" fmla="*/ 7403 h 285580"/>
                <a:gd name="connsiteX31" fmla="*/ 154115 w 171470"/>
                <a:gd name="connsiteY31" fmla="*/ 36278 h 28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1470" h="285580">
                  <a:moveTo>
                    <a:pt x="171730" y="43576"/>
                  </a:moveTo>
                  <a:cubicBezTo>
                    <a:pt x="171730" y="19778"/>
                    <a:pt x="154430" y="104"/>
                    <a:pt x="128951" y="104"/>
                  </a:cubicBezTo>
                  <a:cubicBezTo>
                    <a:pt x="110707" y="104"/>
                    <a:pt x="101900" y="5181"/>
                    <a:pt x="90890" y="13431"/>
                  </a:cubicBezTo>
                  <a:cubicBezTo>
                    <a:pt x="73590" y="26124"/>
                    <a:pt x="56290" y="56903"/>
                    <a:pt x="50313" y="81019"/>
                  </a:cubicBezTo>
                  <a:lnTo>
                    <a:pt x="299" y="282511"/>
                  </a:lnTo>
                  <a:cubicBezTo>
                    <a:pt x="-15" y="283781"/>
                    <a:pt x="1557" y="285684"/>
                    <a:pt x="4074" y="285684"/>
                  </a:cubicBezTo>
                  <a:cubicBezTo>
                    <a:pt x="6590" y="285684"/>
                    <a:pt x="7534" y="285050"/>
                    <a:pt x="7849" y="284098"/>
                  </a:cubicBezTo>
                  <a:lnTo>
                    <a:pt x="29867" y="196520"/>
                  </a:lnTo>
                  <a:cubicBezTo>
                    <a:pt x="35844" y="215559"/>
                    <a:pt x="49684" y="227299"/>
                    <a:pt x="72646" y="227299"/>
                  </a:cubicBezTo>
                  <a:cubicBezTo>
                    <a:pt x="95609" y="227299"/>
                    <a:pt x="119200" y="216193"/>
                    <a:pt x="133355" y="202232"/>
                  </a:cubicBezTo>
                  <a:cubicBezTo>
                    <a:pt x="148453" y="187635"/>
                    <a:pt x="158519" y="167327"/>
                    <a:pt x="158519" y="143846"/>
                  </a:cubicBezTo>
                  <a:cubicBezTo>
                    <a:pt x="158519" y="121000"/>
                    <a:pt x="146881" y="104500"/>
                    <a:pt x="135557" y="96567"/>
                  </a:cubicBezTo>
                  <a:cubicBezTo>
                    <a:pt x="153801" y="86096"/>
                    <a:pt x="171730" y="66422"/>
                    <a:pt x="171730" y="43576"/>
                  </a:cubicBezTo>
                  <a:close/>
                  <a:moveTo>
                    <a:pt x="115111" y="96250"/>
                  </a:moveTo>
                  <a:cubicBezTo>
                    <a:pt x="111022" y="97836"/>
                    <a:pt x="107562" y="98471"/>
                    <a:pt x="100012" y="98471"/>
                  </a:cubicBezTo>
                  <a:cubicBezTo>
                    <a:pt x="95609" y="98471"/>
                    <a:pt x="89317" y="98788"/>
                    <a:pt x="86172" y="97202"/>
                  </a:cubicBezTo>
                  <a:cubicBezTo>
                    <a:pt x="86801" y="94028"/>
                    <a:pt x="98125" y="94663"/>
                    <a:pt x="101585" y="94663"/>
                  </a:cubicBezTo>
                  <a:cubicBezTo>
                    <a:pt x="108191" y="94663"/>
                    <a:pt x="111022" y="94663"/>
                    <a:pt x="115111" y="96250"/>
                  </a:cubicBezTo>
                  <a:close/>
                  <a:moveTo>
                    <a:pt x="154115" y="36278"/>
                  </a:moveTo>
                  <a:cubicBezTo>
                    <a:pt x="154115" y="58490"/>
                    <a:pt x="142162" y="81336"/>
                    <a:pt x="125806" y="91173"/>
                  </a:cubicBezTo>
                  <a:cubicBezTo>
                    <a:pt x="117313" y="88000"/>
                    <a:pt x="111022" y="87365"/>
                    <a:pt x="101585" y="87365"/>
                  </a:cubicBezTo>
                  <a:cubicBezTo>
                    <a:pt x="94979" y="87365"/>
                    <a:pt x="77365" y="87048"/>
                    <a:pt x="77365" y="97519"/>
                  </a:cubicBezTo>
                  <a:cubicBezTo>
                    <a:pt x="77050" y="106404"/>
                    <a:pt x="93407" y="105452"/>
                    <a:pt x="99069" y="105452"/>
                  </a:cubicBezTo>
                  <a:cubicBezTo>
                    <a:pt x="110707" y="105452"/>
                    <a:pt x="115425" y="105134"/>
                    <a:pt x="124862" y="101327"/>
                  </a:cubicBezTo>
                  <a:cubicBezTo>
                    <a:pt x="136815" y="112750"/>
                    <a:pt x="138388" y="122586"/>
                    <a:pt x="138702" y="137183"/>
                  </a:cubicBezTo>
                  <a:cubicBezTo>
                    <a:pt x="139331" y="155587"/>
                    <a:pt x="131782" y="179385"/>
                    <a:pt x="122975" y="191760"/>
                  </a:cubicBezTo>
                  <a:cubicBezTo>
                    <a:pt x="110707" y="208895"/>
                    <a:pt x="89632" y="220318"/>
                    <a:pt x="71703" y="220318"/>
                  </a:cubicBezTo>
                  <a:cubicBezTo>
                    <a:pt x="47797" y="220318"/>
                    <a:pt x="35844" y="201914"/>
                    <a:pt x="35844" y="179385"/>
                  </a:cubicBezTo>
                  <a:cubicBezTo>
                    <a:pt x="35844" y="176212"/>
                    <a:pt x="35844" y="171452"/>
                    <a:pt x="37416" y="165424"/>
                  </a:cubicBezTo>
                  <a:lnTo>
                    <a:pt x="57548" y="85144"/>
                  </a:lnTo>
                  <a:cubicBezTo>
                    <a:pt x="64468" y="57855"/>
                    <a:pt x="87116" y="7403"/>
                    <a:pt x="124862" y="7403"/>
                  </a:cubicBezTo>
                  <a:cubicBezTo>
                    <a:pt x="143106" y="7403"/>
                    <a:pt x="154115" y="17239"/>
                    <a:pt x="154115" y="36278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53" name="任意形状 10052">
              <a:extLst>
                <a:ext uri="{FF2B5EF4-FFF2-40B4-BE49-F238E27FC236}">
                  <a16:creationId xmlns:a16="http://schemas.microsoft.com/office/drawing/2014/main" id="{9B69A02C-1441-58CA-9EEB-9B4BCB5C9602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9053242" y="4895182"/>
              <a:ext cx="74423" cy="141044"/>
            </a:xfrm>
            <a:custGeom>
              <a:avLst/>
              <a:gdLst>
                <a:gd name="connsiteX0" fmla="*/ 45184 w 74423"/>
                <a:gd name="connsiteY0" fmla="*/ 51187 h 141044"/>
                <a:gd name="connsiteX1" fmla="*/ 67643 w 74423"/>
                <a:gd name="connsiteY1" fmla="*/ 51187 h 141044"/>
                <a:gd name="connsiteX2" fmla="*/ 74689 w 74423"/>
                <a:gd name="connsiteY2" fmla="*/ 46301 h 141044"/>
                <a:gd name="connsiteX3" fmla="*/ 68083 w 74423"/>
                <a:gd name="connsiteY3" fmla="*/ 43191 h 141044"/>
                <a:gd name="connsiteX4" fmla="*/ 47165 w 74423"/>
                <a:gd name="connsiteY4" fmla="*/ 43191 h 141044"/>
                <a:gd name="connsiteX5" fmla="*/ 55312 w 74423"/>
                <a:gd name="connsiteY5" fmla="*/ 10318 h 141044"/>
                <a:gd name="connsiteX6" fmla="*/ 55973 w 74423"/>
                <a:gd name="connsiteY6" fmla="*/ 7208 h 141044"/>
                <a:gd name="connsiteX7" fmla="*/ 48486 w 74423"/>
                <a:gd name="connsiteY7" fmla="*/ 100 h 141044"/>
                <a:gd name="connsiteX8" fmla="*/ 38138 w 74423"/>
                <a:gd name="connsiteY8" fmla="*/ 9651 h 141044"/>
                <a:gd name="connsiteX9" fmla="*/ 29770 w 74423"/>
                <a:gd name="connsiteY9" fmla="*/ 43191 h 141044"/>
                <a:gd name="connsiteX10" fmla="*/ 7311 w 74423"/>
                <a:gd name="connsiteY10" fmla="*/ 43191 h 141044"/>
                <a:gd name="connsiteX11" fmla="*/ 266 w 74423"/>
                <a:gd name="connsiteY11" fmla="*/ 48078 h 141044"/>
                <a:gd name="connsiteX12" fmla="*/ 6871 w 74423"/>
                <a:gd name="connsiteY12" fmla="*/ 51187 h 141044"/>
                <a:gd name="connsiteX13" fmla="*/ 27789 w 74423"/>
                <a:gd name="connsiteY13" fmla="*/ 51187 h 141044"/>
                <a:gd name="connsiteX14" fmla="*/ 14798 w 74423"/>
                <a:gd name="connsiteY14" fmla="*/ 103607 h 141044"/>
                <a:gd name="connsiteX15" fmla="*/ 11495 w 74423"/>
                <a:gd name="connsiteY15" fmla="*/ 120044 h 141044"/>
                <a:gd name="connsiteX16" fmla="*/ 35055 w 74423"/>
                <a:gd name="connsiteY16" fmla="*/ 141145 h 141044"/>
                <a:gd name="connsiteX17" fmla="*/ 73367 w 74423"/>
                <a:gd name="connsiteY17" fmla="*/ 107161 h 141044"/>
                <a:gd name="connsiteX18" fmla="*/ 69844 w 74423"/>
                <a:gd name="connsiteY18" fmla="*/ 104274 h 141044"/>
                <a:gd name="connsiteX19" fmla="*/ 65221 w 74423"/>
                <a:gd name="connsiteY19" fmla="*/ 108494 h 141044"/>
                <a:gd name="connsiteX20" fmla="*/ 35716 w 74423"/>
                <a:gd name="connsiteY20" fmla="*/ 134926 h 141044"/>
                <a:gd name="connsiteX21" fmla="*/ 28009 w 74423"/>
                <a:gd name="connsiteY21" fmla="*/ 124042 h 141044"/>
                <a:gd name="connsiteX22" fmla="*/ 29330 w 74423"/>
                <a:gd name="connsiteY22" fmla="*/ 114935 h 141044"/>
                <a:gd name="connsiteX23" fmla="*/ 45184 w 74423"/>
                <a:gd name="connsiteY23" fmla="*/ 51187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84" y="51187"/>
                  </a:moveTo>
                  <a:lnTo>
                    <a:pt x="67643" y="51187"/>
                  </a:lnTo>
                  <a:cubicBezTo>
                    <a:pt x="71826" y="51187"/>
                    <a:pt x="74689" y="51187"/>
                    <a:pt x="74689" y="46301"/>
                  </a:cubicBezTo>
                  <a:cubicBezTo>
                    <a:pt x="74689" y="43191"/>
                    <a:pt x="71826" y="43191"/>
                    <a:pt x="68083" y="43191"/>
                  </a:cubicBezTo>
                  <a:lnTo>
                    <a:pt x="47165" y="43191"/>
                  </a:lnTo>
                  <a:lnTo>
                    <a:pt x="55312" y="10318"/>
                  </a:lnTo>
                  <a:cubicBezTo>
                    <a:pt x="55532" y="9207"/>
                    <a:pt x="55973" y="8096"/>
                    <a:pt x="55973" y="7208"/>
                  </a:cubicBezTo>
                  <a:cubicBezTo>
                    <a:pt x="55973" y="3210"/>
                    <a:pt x="52890" y="100"/>
                    <a:pt x="48486" y="100"/>
                  </a:cubicBezTo>
                  <a:cubicBezTo>
                    <a:pt x="42982" y="100"/>
                    <a:pt x="39679" y="3876"/>
                    <a:pt x="38138" y="9651"/>
                  </a:cubicBezTo>
                  <a:cubicBezTo>
                    <a:pt x="36596" y="15204"/>
                    <a:pt x="39459" y="4543"/>
                    <a:pt x="29770" y="43191"/>
                  </a:cubicBezTo>
                  <a:lnTo>
                    <a:pt x="7311" y="43191"/>
                  </a:lnTo>
                  <a:cubicBezTo>
                    <a:pt x="3128" y="43191"/>
                    <a:pt x="266" y="43191"/>
                    <a:pt x="266" y="48078"/>
                  </a:cubicBezTo>
                  <a:cubicBezTo>
                    <a:pt x="266" y="51187"/>
                    <a:pt x="2908" y="51187"/>
                    <a:pt x="6871" y="51187"/>
                  </a:cubicBezTo>
                  <a:lnTo>
                    <a:pt x="27789" y="51187"/>
                  </a:lnTo>
                  <a:lnTo>
                    <a:pt x="14798" y="103607"/>
                  </a:lnTo>
                  <a:cubicBezTo>
                    <a:pt x="13477" y="109160"/>
                    <a:pt x="11495" y="117156"/>
                    <a:pt x="11495" y="120044"/>
                  </a:cubicBezTo>
                  <a:cubicBezTo>
                    <a:pt x="11495" y="133149"/>
                    <a:pt x="22504" y="141145"/>
                    <a:pt x="35055" y="141145"/>
                  </a:cubicBezTo>
                  <a:cubicBezTo>
                    <a:pt x="59496" y="141145"/>
                    <a:pt x="73367" y="110049"/>
                    <a:pt x="73367" y="107161"/>
                  </a:cubicBezTo>
                  <a:cubicBezTo>
                    <a:pt x="73367" y="104274"/>
                    <a:pt x="70505" y="104274"/>
                    <a:pt x="69844" y="104274"/>
                  </a:cubicBezTo>
                  <a:cubicBezTo>
                    <a:pt x="67202" y="104274"/>
                    <a:pt x="66982" y="104718"/>
                    <a:pt x="65221" y="108494"/>
                  </a:cubicBezTo>
                  <a:cubicBezTo>
                    <a:pt x="59055" y="122487"/>
                    <a:pt x="47826" y="134926"/>
                    <a:pt x="35716" y="134926"/>
                  </a:cubicBezTo>
                  <a:cubicBezTo>
                    <a:pt x="31092" y="134926"/>
                    <a:pt x="28009" y="132038"/>
                    <a:pt x="28009" y="124042"/>
                  </a:cubicBezTo>
                  <a:cubicBezTo>
                    <a:pt x="28009" y="121821"/>
                    <a:pt x="28890" y="117156"/>
                    <a:pt x="29330" y="114935"/>
                  </a:cubicBezTo>
                  <a:lnTo>
                    <a:pt x="45184" y="51187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54" name="任意形状 10053">
              <a:extLst>
                <a:ext uri="{FF2B5EF4-FFF2-40B4-BE49-F238E27FC236}">
                  <a16:creationId xmlns:a16="http://schemas.microsoft.com/office/drawing/2014/main" id="{98C2BABD-6227-DA9C-6AF5-9DF5B6ED74A5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9051393" y="5095979"/>
              <a:ext cx="80147" cy="147486"/>
            </a:xfrm>
            <a:custGeom>
              <a:avLst/>
              <a:gdLst>
                <a:gd name="connsiteX0" fmla="*/ 50027 w 80147"/>
                <a:gd name="connsiteY0" fmla="*/ 6326 h 147486"/>
                <a:gd name="connsiteX1" fmla="*/ 43422 w 80147"/>
                <a:gd name="connsiteY1" fmla="*/ 107 h 147486"/>
                <a:gd name="connsiteX2" fmla="*/ 265 w 80147"/>
                <a:gd name="connsiteY2" fmla="*/ 14322 h 147486"/>
                <a:gd name="connsiteX3" fmla="*/ 265 w 80147"/>
                <a:gd name="connsiteY3" fmla="*/ 22319 h 147486"/>
                <a:gd name="connsiteX4" fmla="*/ 32192 w 80147"/>
                <a:gd name="connsiteY4" fmla="*/ 16099 h 147486"/>
                <a:gd name="connsiteX5" fmla="*/ 32192 w 80147"/>
                <a:gd name="connsiteY5" fmla="*/ 129379 h 147486"/>
                <a:gd name="connsiteX6" fmla="*/ 10173 w 80147"/>
                <a:gd name="connsiteY6" fmla="*/ 139597 h 147486"/>
                <a:gd name="connsiteX7" fmla="*/ 1806 w 80147"/>
                <a:gd name="connsiteY7" fmla="*/ 139597 h 147486"/>
                <a:gd name="connsiteX8" fmla="*/ 1806 w 80147"/>
                <a:gd name="connsiteY8" fmla="*/ 147593 h 147486"/>
                <a:gd name="connsiteX9" fmla="*/ 41000 w 80147"/>
                <a:gd name="connsiteY9" fmla="*/ 146705 h 147486"/>
                <a:gd name="connsiteX10" fmla="*/ 80413 w 80147"/>
                <a:gd name="connsiteY10" fmla="*/ 147593 h 147486"/>
                <a:gd name="connsiteX11" fmla="*/ 80413 w 80147"/>
                <a:gd name="connsiteY11" fmla="*/ 139597 h 147486"/>
                <a:gd name="connsiteX12" fmla="*/ 72046 w 80147"/>
                <a:gd name="connsiteY12" fmla="*/ 139597 h 147486"/>
                <a:gd name="connsiteX13" fmla="*/ 50027 w 80147"/>
                <a:gd name="connsiteY13" fmla="*/ 129379 h 147486"/>
                <a:gd name="connsiteX14" fmla="*/ 50027 w 80147"/>
                <a:gd name="connsiteY14" fmla="*/ 6326 h 14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147" h="147486">
                  <a:moveTo>
                    <a:pt x="50027" y="6326"/>
                  </a:moveTo>
                  <a:cubicBezTo>
                    <a:pt x="50027" y="329"/>
                    <a:pt x="49587" y="107"/>
                    <a:pt x="43422" y="107"/>
                  </a:cubicBezTo>
                  <a:cubicBezTo>
                    <a:pt x="29330" y="14100"/>
                    <a:pt x="9293" y="14322"/>
                    <a:pt x="265" y="14322"/>
                  </a:cubicBezTo>
                  <a:lnTo>
                    <a:pt x="265" y="22319"/>
                  </a:lnTo>
                  <a:cubicBezTo>
                    <a:pt x="5549" y="22319"/>
                    <a:pt x="20082" y="22319"/>
                    <a:pt x="32192" y="16099"/>
                  </a:cubicBezTo>
                  <a:lnTo>
                    <a:pt x="32192" y="129379"/>
                  </a:lnTo>
                  <a:cubicBezTo>
                    <a:pt x="32192" y="136709"/>
                    <a:pt x="32192" y="139597"/>
                    <a:pt x="10173" y="139597"/>
                  </a:cubicBezTo>
                  <a:lnTo>
                    <a:pt x="1806" y="139597"/>
                  </a:lnTo>
                  <a:lnTo>
                    <a:pt x="1806" y="147593"/>
                  </a:lnTo>
                  <a:cubicBezTo>
                    <a:pt x="5770" y="147371"/>
                    <a:pt x="32853" y="146705"/>
                    <a:pt x="41000" y="146705"/>
                  </a:cubicBezTo>
                  <a:cubicBezTo>
                    <a:pt x="47825" y="146705"/>
                    <a:pt x="75569" y="147371"/>
                    <a:pt x="80413" y="147593"/>
                  </a:cubicBezTo>
                  <a:lnTo>
                    <a:pt x="80413" y="139597"/>
                  </a:lnTo>
                  <a:lnTo>
                    <a:pt x="72046" y="139597"/>
                  </a:lnTo>
                  <a:cubicBezTo>
                    <a:pt x="50027" y="139597"/>
                    <a:pt x="50027" y="136709"/>
                    <a:pt x="50027" y="129379"/>
                  </a:cubicBezTo>
                  <a:lnTo>
                    <a:pt x="50027" y="6326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55" name="任意形状 10054">
              <a:extLst>
                <a:ext uri="{FF2B5EF4-FFF2-40B4-BE49-F238E27FC236}">
                  <a16:creationId xmlns:a16="http://schemas.microsoft.com/office/drawing/2014/main" id="{44A2BF0D-1ACE-CAEA-4314-BCA3E3D55BDC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9182346" y="4895304"/>
              <a:ext cx="82098" cy="380456"/>
            </a:xfrm>
            <a:custGeom>
              <a:avLst/>
              <a:gdLst>
                <a:gd name="connsiteX0" fmla="*/ 82368 w 82098"/>
                <a:gd name="connsiteY0" fmla="*/ 190483 h 380456"/>
                <a:gd name="connsiteX1" fmla="*/ 33297 w 82098"/>
                <a:gd name="connsiteY1" fmla="*/ 28020 h 380456"/>
                <a:gd name="connsiteX2" fmla="*/ 4044 w 82098"/>
                <a:gd name="connsiteY2" fmla="*/ 96 h 380456"/>
                <a:gd name="connsiteX3" fmla="*/ 269 w 82098"/>
                <a:gd name="connsiteY3" fmla="*/ 3269 h 380456"/>
                <a:gd name="connsiteX4" fmla="*/ 2157 w 82098"/>
                <a:gd name="connsiteY4" fmla="*/ 6443 h 380456"/>
                <a:gd name="connsiteX5" fmla="*/ 50598 w 82098"/>
                <a:gd name="connsiteY5" fmla="*/ 99097 h 380456"/>
                <a:gd name="connsiteX6" fmla="*/ 60663 w 82098"/>
                <a:gd name="connsiteY6" fmla="*/ 190166 h 380456"/>
                <a:gd name="connsiteX7" fmla="*/ 49654 w 82098"/>
                <a:gd name="connsiteY7" fmla="*/ 285676 h 380456"/>
                <a:gd name="connsiteX8" fmla="*/ 3100 w 82098"/>
                <a:gd name="connsiteY8" fmla="*/ 373254 h 380456"/>
                <a:gd name="connsiteX9" fmla="*/ 269 w 82098"/>
                <a:gd name="connsiteY9" fmla="*/ 377379 h 380456"/>
                <a:gd name="connsiteX10" fmla="*/ 4044 w 82098"/>
                <a:gd name="connsiteY10" fmla="*/ 380552 h 380456"/>
                <a:gd name="connsiteX11" fmla="*/ 29837 w 82098"/>
                <a:gd name="connsiteY11" fmla="*/ 356754 h 380456"/>
                <a:gd name="connsiteX12" fmla="*/ 82368 w 82098"/>
                <a:gd name="connsiteY12" fmla="*/ 190483 h 38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2098" h="380456">
                  <a:moveTo>
                    <a:pt x="82368" y="190483"/>
                  </a:moveTo>
                  <a:cubicBezTo>
                    <a:pt x="82368" y="145425"/>
                    <a:pt x="74504" y="81645"/>
                    <a:pt x="33297" y="28020"/>
                  </a:cubicBezTo>
                  <a:cubicBezTo>
                    <a:pt x="30152" y="24212"/>
                    <a:pt x="9706" y="96"/>
                    <a:pt x="4044" y="96"/>
                  </a:cubicBezTo>
                  <a:cubicBezTo>
                    <a:pt x="2471" y="96"/>
                    <a:pt x="269" y="731"/>
                    <a:pt x="269" y="3269"/>
                  </a:cubicBezTo>
                  <a:cubicBezTo>
                    <a:pt x="269" y="4539"/>
                    <a:pt x="899" y="5491"/>
                    <a:pt x="2157" y="6443"/>
                  </a:cubicBezTo>
                  <a:cubicBezTo>
                    <a:pt x="17255" y="22943"/>
                    <a:pt x="37701" y="48645"/>
                    <a:pt x="50598" y="99097"/>
                  </a:cubicBezTo>
                  <a:cubicBezTo>
                    <a:pt x="57832" y="127973"/>
                    <a:pt x="60663" y="160656"/>
                    <a:pt x="60663" y="190166"/>
                  </a:cubicBezTo>
                  <a:cubicBezTo>
                    <a:pt x="60663" y="222214"/>
                    <a:pt x="57832" y="254580"/>
                    <a:pt x="49654" y="285676"/>
                  </a:cubicBezTo>
                  <a:cubicBezTo>
                    <a:pt x="37701" y="330100"/>
                    <a:pt x="19143" y="355485"/>
                    <a:pt x="3100" y="373254"/>
                  </a:cubicBezTo>
                  <a:cubicBezTo>
                    <a:pt x="269" y="376110"/>
                    <a:pt x="269" y="376745"/>
                    <a:pt x="269" y="377379"/>
                  </a:cubicBezTo>
                  <a:cubicBezTo>
                    <a:pt x="269" y="379918"/>
                    <a:pt x="2471" y="380552"/>
                    <a:pt x="4044" y="380552"/>
                  </a:cubicBezTo>
                  <a:cubicBezTo>
                    <a:pt x="8762" y="380552"/>
                    <a:pt x="26063" y="361196"/>
                    <a:pt x="29837" y="356754"/>
                  </a:cubicBezTo>
                  <a:cubicBezTo>
                    <a:pt x="61922" y="318359"/>
                    <a:pt x="82368" y="261243"/>
                    <a:pt x="82368" y="190483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56" name="任意形状 10055">
              <a:extLst>
                <a:ext uri="{FF2B5EF4-FFF2-40B4-BE49-F238E27FC236}">
                  <a16:creationId xmlns:a16="http://schemas.microsoft.com/office/drawing/2014/main" id="{6DDC34EF-5F07-37AE-7DBD-2DD0B9178C92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6932793" y="5455680"/>
              <a:ext cx="83985" cy="48865"/>
            </a:xfrm>
            <a:custGeom>
              <a:avLst/>
              <a:gdLst>
                <a:gd name="connsiteX0" fmla="*/ 42347 w 83985"/>
                <a:gd name="connsiteY0" fmla="*/ 120 h 48865"/>
                <a:gd name="connsiteX1" fmla="*/ 198 w 83985"/>
                <a:gd name="connsiteY1" fmla="*/ 43275 h 48865"/>
                <a:gd name="connsiteX2" fmla="*/ 5859 w 83985"/>
                <a:gd name="connsiteY2" fmla="*/ 48986 h 48865"/>
                <a:gd name="connsiteX3" fmla="*/ 42347 w 83985"/>
                <a:gd name="connsiteY3" fmla="*/ 16621 h 48865"/>
                <a:gd name="connsiteX4" fmla="*/ 78521 w 83985"/>
                <a:gd name="connsiteY4" fmla="*/ 48986 h 48865"/>
                <a:gd name="connsiteX5" fmla="*/ 84183 w 83985"/>
                <a:gd name="connsiteY5" fmla="*/ 43275 h 48865"/>
                <a:gd name="connsiteX6" fmla="*/ 42347 w 83985"/>
                <a:gd name="connsiteY6" fmla="*/ 120 h 48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985" h="48865">
                  <a:moveTo>
                    <a:pt x="42347" y="120"/>
                  </a:moveTo>
                  <a:lnTo>
                    <a:pt x="198" y="43275"/>
                  </a:lnTo>
                  <a:lnTo>
                    <a:pt x="5859" y="48986"/>
                  </a:lnTo>
                  <a:lnTo>
                    <a:pt x="42347" y="16621"/>
                  </a:lnTo>
                  <a:lnTo>
                    <a:pt x="78521" y="48986"/>
                  </a:lnTo>
                  <a:lnTo>
                    <a:pt x="84183" y="43275"/>
                  </a:lnTo>
                  <a:lnTo>
                    <a:pt x="42347" y="120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57" name="任意形状 10056">
              <a:extLst>
                <a:ext uri="{FF2B5EF4-FFF2-40B4-BE49-F238E27FC236}">
                  <a16:creationId xmlns:a16="http://schemas.microsoft.com/office/drawing/2014/main" id="{4443C0D8-0344-31BC-3057-ECD4A91543EA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6893450" y="5535643"/>
              <a:ext cx="138088" cy="143741"/>
            </a:xfrm>
            <a:custGeom>
              <a:avLst/>
              <a:gdLst>
                <a:gd name="connsiteX0" fmla="*/ 138286 w 138088"/>
                <a:gd name="connsiteY0" fmla="*/ 22332 h 143741"/>
                <a:gd name="connsiteX1" fmla="*/ 124445 w 138088"/>
                <a:gd name="connsiteY1" fmla="*/ 120 h 143741"/>
                <a:gd name="connsiteX2" fmla="*/ 109032 w 138088"/>
                <a:gd name="connsiteY2" fmla="*/ 15351 h 143741"/>
                <a:gd name="connsiteX3" fmla="*/ 114065 w 138088"/>
                <a:gd name="connsiteY3" fmla="*/ 24871 h 143741"/>
                <a:gd name="connsiteX4" fmla="*/ 124760 w 138088"/>
                <a:gd name="connsiteY4" fmla="*/ 50890 h 143741"/>
                <a:gd name="connsiteX5" fmla="*/ 68769 w 138088"/>
                <a:gd name="connsiteY5" fmla="*/ 136882 h 143741"/>
                <a:gd name="connsiteX6" fmla="*/ 45493 w 138088"/>
                <a:gd name="connsiteY6" fmla="*/ 109275 h 143741"/>
                <a:gd name="connsiteX7" fmla="*/ 63737 w 138088"/>
                <a:gd name="connsiteY7" fmla="*/ 42005 h 143741"/>
                <a:gd name="connsiteX8" fmla="*/ 67511 w 138088"/>
                <a:gd name="connsiteY8" fmla="*/ 26140 h 143741"/>
                <a:gd name="connsiteX9" fmla="*/ 41718 w 138088"/>
                <a:gd name="connsiteY9" fmla="*/ 120 h 143741"/>
                <a:gd name="connsiteX10" fmla="*/ 197 w 138088"/>
                <a:gd name="connsiteY10" fmla="*/ 48986 h 143741"/>
                <a:gd name="connsiteX11" fmla="*/ 3972 w 138088"/>
                <a:gd name="connsiteY11" fmla="*/ 52159 h 143741"/>
                <a:gd name="connsiteX12" fmla="*/ 9005 w 138088"/>
                <a:gd name="connsiteY12" fmla="*/ 46448 h 143741"/>
                <a:gd name="connsiteX13" fmla="*/ 40774 w 138088"/>
                <a:gd name="connsiteY13" fmla="*/ 7101 h 143741"/>
                <a:gd name="connsiteX14" fmla="*/ 48638 w 138088"/>
                <a:gd name="connsiteY14" fmla="*/ 17255 h 143741"/>
                <a:gd name="connsiteX15" fmla="*/ 43291 w 138088"/>
                <a:gd name="connsiteY15" fmla="*/ 39467 h 143741"/>
                <a:gd name="connsiteX16" fmla="*/ 25361 w 138088"/>
                <a:gd name="connsiteY16" fmla="*/ 104516 h 143741"/>
                <a:gd name="connsiteX17" fmla="*/ 67511 w 138088"/>
                <a:gd name="connsiteY17" fmla="*/ 143862 h 143741"/>
                <a:gd name="connsiteX18" fmla="*/ 138286 w 138088"/>
                <a:gd name="connsiteY18" fmla="*/ 22332 h 14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088" h="143741">
                  <a:moveTo>
                    <a:pt x="138286" y="22332"/>
                  </a:moveTo>
                  <a:cubicBezTo>
                    <a:pt x="138286" y="5197"/>
                    <a:pt x="130107" y="120"/>
                    <a:pt x="124445" y="120"/>
                  </a:cubicBezTo>
                  <a:cubicBezTo>
                    <a:pt x="116581" y="120"/>
                    <a:pt x="109032" y="8371"/>
                    <a:pt x="109032" y="15351"/>
                  </a:cubicBezTo>
                  <a:cubicBezTo>
                    <a:pt x="109032" y="19476"/>
                    <a:pt x="110605" y="21380"/>
                    <a:pt x="114065" y="24871"/>
                  </a:cubicBezTo>
                  <a:cubicBezTo>
                    <a:pt x="120671" y="31217"/>
                    <a:pt x="124760" y="39467"/>
                    <a:pt x="124760" y="50890"/>
                  </a:cubicBezTo>
                  <a:cubicBezTo>
                    <a:pt x="124760" y="64217"/>
                    <a:pt x="105572" y="136882"/>
                    <a:pt x="68769" y="136882"/>
                  </a:cubicBezTo>
                  <a:cubicBezTo>
                    <a:pt x="52727" y="136882"/>
                    <a:pt x="45493" y="125776"/>
                    <a:pt x="45493" y="109275"/>
                  </a:cubicBezTo>
                  <a:cubicBezTo>
                    <a:pt x="45493" y="91506"/>
                    <a:pt x="53986" y="68342"/>
                    <a:pt x="63737" y="42005"/>
                  </a:cubicBezTo>
                  <a:cubicBezTo>
                    <a:pt x="65938" y="36611"/>
                    <a:pt x="67511" y="32169"/>
                    <a:pt x="67511" y="26140"/>
                  </a:cubicBezTo>
                  <a:cubicBezTo>
                    <a:pt x="67511" y="11861"/>
                    <a:pt x="57446" y="120"/>
                    <a:pt x="41718" y="120"/>
                  </a:cubicBezTo>
                  <a:cubicBezTo>
                    <a:pt x="12150" y="120"/>
                    <a:pt x="197" y="46131"/>
                    <a:pt x="197" y="48986"/>
                  </a:cubicBezTo>
                  <a:cubicBezTo>
                    <a:pt x="197" y="52159"/>
                    <a:pt x="3343" y="52159"/>
                    <a:pt x="3972" y="52159"/>
                  </a:cubicBezTo>
                  <a:cubicBezTo>
                    <a:pt x="7117" y="52159"/>
                    <a:pt x="7432" y="51525"/>
                    <a:pt x="9005" y="46448"/>
                  </a:cubicBezTo>
                  <a:cubicBezTo>
                    <a:pt x="18127" y="14399"/>
                    <a:pt x="31652" y="7101"/>
                    <a:pt x="40774" y="7101"/>
                  </a:cubicBezTo>
                  <a:cubicBezTo>
                    <a:pt x="43291" y="7101"/>
                    <a:pt x="48638" y="7101"/>
                    <a:pt x="48638" y="17255"/>
                  </a:cubicBezTo>
                  <a:cubicBezTo>
                    <a:pt x="48638" y="25188"/>
                    <a:pt x="45493" y="33755"/>
                    <a:pt x="43291" y="39467"/>
                  </a:cubicBezTo>
                  <a:cubicBezTo>
                    <a:pt x="29450" y="76275"/>
                    <a:pt x="25361" y="90871"/>
                    <a:pt x="25361" y="104516"/>
                  </a:cubicBezTo>
                  <a:cubicBezTo>
                    <a:pt x="25361" y="138785"/>
                    <a:pt x="53042" y="143862"/>
                    <a:pt x="67511" y="143862"/>
                  </a:cubicBezTo>
                  <a:cubicBezTo>
                    <a:pt x="120356" y="143862"/>
                    <a:pt x="138286" y="38832"/>
                    <a:pt x="138286" y="22332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58" name="任意形状 10057">
              <a:extLst>
                <a:ext uri="{FF2B5EF4-FFF2-40B4-BE49-F238E27FC236}">
                  <a16:creationId xmlns:a16="http://schemas.microsoft.com/office/drawing/2014/main" id="{F2ED0C5D-C2F9-47E3-4FA7-52D6D74A4AAB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7046046" y="5584667"/>
              <a:ext cx="74423" cy="141044"/>
            </a:xfrm>
            <a:custGeom>
              <a:avLst/>
              <a:gdLst>
                <a:gd name="connsiteX0" fmla="*/ 45120 w 74423"/>
                <a:gd name="connsiteY0" fmla="*/ 51209 h 141044"/>
                <a:gd name="connsiteX1" fmla="*/ 67579 w 74423"/>
                <a:gd name="connsiteY1" fmla="*/ 51209 h 141044"/>
                <a:gd name="connsiteX2" fmla="*/ 74625 w 74423"/>
                <a:gd name="connsiteY2" fmla="*/ 46322 h 141044"/>
                <a:gd name="connsiteX3" fmla="*/ 68019 w 74423"/>
                <a:gd name="connsiteY3" fmla="*/ 43213 h 141044"/>
                <a:gd name="connsiteX4" fmla="*/ 47102 w 74423"/>
                <a:gd name="connsiteY4" fmla="*/ 43213 h 141044"/>
                <a:gd name="connsiteX5" fmla="*/ 55249 w 74423"/>
                <a:gd name="connsiteY5" fmla="*/ 10339 h 141044"/>
                <a:gd name="connsiteX6" fmla="*/ 55909 w 74423"/>
                <a:gd name="connsiteY6" fmla="*/ 7230 h 141044"/>
                <a:gd name="connsiteX7" fmla="*/ 48423 w 74423"/>
                <a:gd name="connsiteY7" fmla="*/ 122 h 141044"/>
                <a:gd name="connsiteX8" fmla="*/ 38074 w 74423"/>
                <a:gd name="connsiteY8" fmla="*/ 9673 h 141044"/>
                <a:gd name="connsiteX9" fmla="*/ 29707 w 74423"/>
                <a:gd name="connsiteY9" fmla="*/ 43213 h 141044"/>
                <a:gd name="connsiteX10" fmla="*/ 7248 w 74423"/>
                <a:gd name="connsiteY10" fmla="*/ 43213 h 141044"/>
                <a:gd name="connsiteX11" fmla="*/ 202 w 74423"/>
                <a:gd name="connsiteY11" fmla="*/ 48099 h 141044"/>
                <a:gd name="connsiteX12" fmla="*/ 6808 w 74423"/>
                <a:gd name="connsiteY12" fmla="*/ 51209 h 141044"/>
                <a:gd name="connsiteX13" fmla="*/ 27725 w 74423"/>
                <a:gd name="connsiteY13" fmla="*/ 51209 h 141044"/>
                <a:gd name="connsiteX14" fmla="*/ 14734 w 74423"/>
                <a:gd name="connsiteY14" fmla="*/ 103629 h 141044"/>
                <a:gd name="connsiteX15" fmla="*/ 11431 w 74423"/>
                <a:gd name="connsiteY15" fmla="*/ 120066 h 141044"/>
                <a:gd name="connsiteX16" fmla="*/ 34991 w 74423"/>
                <a:gd name="connsiteY16" fmla="*/ 141167 h 141044"/>
                <a:gd name="connsiteX17" fmla="*/ 73304 w 74423"/>
                <a:gd name="connsiteY17" fmla="*/ 107183 h 141044"/>
                <a:gd name="connsiteX18" fmla="*/ 69781 w 74423"/>
                <a:gd name="connsiteY18" fmla="*/ 104295 h 141044"/>
                <a:gd name="connsiteX19" fmla="*/ 65157 w 74423"/>
                <a:gd name="connsiteY19" fmla="*/ 108515 h 141044"/>
                <a:gd name="connsiteX20" fmla="*/ 35652 w 74423"/>
                <a:gd name="connsiteY20" fmla="*/ 134947 h 141044"/>
                <a:gd name="connsiteX21" fmla="*/ 27945 w 74423"/>
                <a:gd name="connsiteY21" fmla="*/ 124064 h 141044"/>
                <a:gd name="connsiteX22" fmla="*/ 29267 w 74423"/>
                <a:gd name="connsiteY22" fmla="*/ 114957 h 141044"/>
                <a:gd name="connsiteX23" fmla="*/ 45120 w 74423"/>
                <a:gd name="connsiteY23" fmla="*/ 51209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20" y="51209"/>
                  </a:moveTo>
                  <a:lnTo>
                    <a:pt x="67579" y="51209"/>
                  </a:lnTo>
                  <a:cubicBezTo>
                    <a:pt x="71763" y="51209"/>
                    <a:pt x="74625" y="51209"/>
                    <a:pt x="74625" y="46322"/>
                  </a:cubicBezTo>
                  <a:cubicBezTo>
                    <a:pt x="74625" y="43213"/>
                    <a:pt x="71763" y="43213"/>
                    <a:pt x="68019" y="43213"/>
                  </a:cubicBezTo>
                  <a:lnTo>
                    <a:pt x="47102" y="43213"/>
                  </a:lnTo>
                  <a:lnTo>
                    <a:pt x="55249" y="10339"/>
                  </a:lnTo>
                  <a:cubicBezTo>
                    <a:pt x="55469" y="9229"/>
                    <a:pt x="55909" y="8118"/>
                    <a:pt x="55909" y="7230"/>
                  </a:cubicBezTo>
                  <a:cubicBezTo>
                    <a:pt x="55909" y="3232"/>
                    <a:pt x="52826" y="122"/>
                    <a:pt x="48423" y="122"/>
                  </a:cubicBezTo>
                  <a:cubicBezTo>
                    <a:pt x="42918" y="122"/>
                    <a:pt x="39615" y="3898"/>
                    <a:pt x="38074" y="9673"/>
                  </a:cubicBezTo>
                  <a:cubicBezTo>
                    <a:pt x="36533" y="15226"/>
                    <a:pt x="39395" y="4564"/>
                    <a:pt x="29707" y="43213"/>
                  </a:cubicBezTo>
                  <a:lnTo>
                    <a:pt x="7248" y="43213"/>
                  </a:lnTo>
                  <a:cubicBezTo>
                    <a:pt x="3064" y="43213"/>
                    <a:pt x="202" y="43213"/>
                    <a:pt x="202" y="48099"/>
                  </a:cubicBezTo>
                  <a:cubicBezTo>
                    <a:pt x="202" y="51209"/>
                    <a:pt x="2844" y="51209"/>
                    <a:pt x="6808" y="51209"/>
                  </a:cubicBezTo>
                  <a:lnTo>
                    <a:pt x="27725" y="51209"/>
                  </a:lnTo>
                  <a:lnTo>
                    <a:pt x="14734" y="103629"/>
                  </a:lnTo>
                  <a:cubicBezTo>
                    <a:pt x="13413" y="109182"/>
                    <a:pt x="11431" y="117178"/>
                    <a:pt x="11431" y="120066"/>
                  </a:cubicBezTo>
                  <a:cubicBezTo>
                    <a:pt x="11431" y="133170"/>
                    <a:pt x="22441" y="141167"/>
                    <a:pt x="34991" y="141167"/>
                  </a:cubicBezTo>
                  <a:cubicBezTo>
                    <a:pt x="59432" y="141167"/>
                    <a:pt x="73304" y="110070"/>
                    <a:pt x="73304" y="107183"/>
                  </a:cubicBezTo>
                  <a:cubicBezTo>
                    <a:pt x="73304" y="104295"/>
                    <a:pt x="70441" y="104295"/>
                    <a:pt x="69781" y="104295"/>
                  </a:cubicBezTo>
                  <a:cubicBezTo>
                    <a:pt x="67139" y="104295"/>
                    <a:pt x="66918" y="104739"/>
                    <a:pt x="65157" y="108515"/>
                  </a:cubicBezTo>
                  <a:cubicBezTo>
                    <a:pt x="58992" y="122509"/>
                    <a:pt x="47762" y="134947"/>
                    <a:pt x="35652" y="134947"/>
                  </a:cubicBezTo>
                  <a:cubicBezTo>
                    <a:pt x="31028" y="134947"/>
                    <a:pt x="27945" y="132060"/>
                    <a:pt x="27945" y="124064"/>
                  </a:cubicBezTo>
                  <a:cubicBezTo>
                    <a:pt x="27945" y="121842"/>
                    <a:pt x="28826" y="117178"/>
                    <a:pt x="29267" y="114957"/>
                  </a:cubicBezTo>
                  <a:lnTo>
                    <a:pt x="45120" y="51209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59" name="任意形状 10058">
              <a:extLst>
                <a:ext uri="{FF2B5EF4-FFF2-40B4-BE49-F238E27FC236}">
                  <a16:creationId xmlns:a16="http://schemas.microsoft.com/office/drawing/2014/main" id="{F3D85F03-0408-9203-EE3D-4941042A56A9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7252535" y="5559441"/>
              <a:ext cx="209177" cy="74250"/>
            </a:xfrm>
            <a:custGeom>
              <a:avLst/>
              <a:gdLst>
                <a:gd name="connsiteX0" fmla="*/ 198691 w 209177"/>
                <a:gd name="connsiteY0" fmla="*/ 12813 h 74250"/>
                <a:gd name="connsiteX1" fmla="*/ 209385 w 209177"/>
                <a:gd name="connsiteY1" fmla="*/ 6467 h 74250"/>
                <a:gd name="connsiteX2" fmla="*/ 199005 w 209177"/>
                <a:gd name="connsiteY2" fmla="*/ 120 h 74250"/>
                <a:gd name="connsiteX3" fmla="*/ 10588 w 209177"/>
                <a:gd name="connsiteY3" fmla="*/ 120 h 74250"/>
                <a:gd name="connsiteX4" fmla="*/ 208 w 209177"/>
                <a:gd name="connsiteY4" fmla="*/ 6467 h 74250"/>
                <a:gd name="connsiteX5" fmla="*/ 10903 w 209177"/>
                <a:gd name="connsiteY5" fmla="*/ 12813 h 74250"/>
                <a:gd name="connsiteX6" fmla="*/ 198691 w 209177"/>
                <a:gd name="connsiteY6" fmla="*/ 12813 h 74250"/>
                <a:gd name="connsiteX7" fmla="*/ 199005 w 209177"/>
                <a:gd name="connsiteY7" fmla="*/ 74371 h 74250"/>
                <a:gd name="connsiteX8" fmla="*/ 209385 w 209177"/>
                <a:gd name="connsiteY8" fmla="*/ 68025 h 74250"/>
                <a:gd name="connsiteX9" fmla="*/ 198691 w 209177"/>
                <a:gd name="connsiteY9" fmla="*/ 61679 h 74250"/>
                <a:gd name="connsiteX10" fmla="*/ 10903 w 209177"/>
                <a:gd name="connsiteY10" fmla="*/ 61679 h 74250"/>
                <a:gd name="connsiteX11" fmla="*/ 208 w 209177"/>
                <a:gd name="connsiteY11" fmla="*/ 68025 h 74250"/>
                <a:gd name="connsiteX12" fmla="*/ 10588 w 209177"/>
                <a:gd name="connsiteY12" fmla="*/ 74371 h 74250"/>
                <a:gd name="connsiteX13" fmla="*/ 199005 w 209177"/>
                <a:gd name="connsiteY13" fmla="*/ 74371 h 7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177" h="74250">
                  <a:moveTo>
                    <a:pt x="198691" y="12813"/>
                  </a:moveTo>
                  <a:cubicBezTo>
                    <a:pt x="203409" y="12813"/>
                    <a:pt x="209385" y="12813"/>
                    <a:pt x="209385" y="6467"/>
                  </a:cubicBezTo>
                  <a:cubicBezTo>
                    <a:pt x="209385" y="120"/>
                    <a:pt x="203409" y="120"/>
                    <a:pt x="199005" y="120"/>
                  </a:cubicBezTo>
                  <a:lnTo>
                    <a:pt x="10588" y="120"/>
                  </a:lnTo>
                  <a:cubicBezTo>
                    <a:pt x="6185" y="120"/>
                    <a:pt x="208" y="120"/>
                    <a:pt x="208" y="6467"/>
                  </a:cubicBezTo>
                  <a:cubicBezTo>
                    <a:pt x="208" y="12813"/>
                    <a:pt x="6185" y="12813"/>
                    <a:pt x="10903" y="12813"/>
                  </a:cubicBezTo>
                  <a:lnTo>
                    <a:pt x="198691" y="12813"/>
                  </a:lnTo>
                  <a:close/>
                  <a:moveTo>
                    <a:pt x="199005" y="74371"/>
                  </a:moveTo>
                  <a:cubicBezTo>
                    <a:pt x="203409" y="74371"/>
                    <a:pt x="209385" y="74371"/>
                    <a:pt x="209385" y="68025"/>
                  </a:cubicBezTo>
                  <a:cubicBezTo>
                    <a:pt x="209385" y="61679"/>
                    <a:pt x="203409" y="61679"/>
                    <a:pt x="198691" y="61679"/>
                  </a:cubicBezTo>
                  <a:lnTo>
                    <a:pt x="10903" y="61679"/>
                  </a:lnTo>
                  <a:cubicBezTo>
                    <a:pt x="6185" y="61679"/>
                    <a:pt x="208" y="61679"/>
                    <a:pt x="208" y="68025"/>
                  </a:cubicBezTo>
                  <a:cubicBezTo>
                    <a:pt x="208" y="74371"/>
                    <a:pt x="6185" y="74371"/>
                    <a:pt x="10588" y="74371"/>
                  </a:cubicBezTo>
                  <a:lnTo>
                    <a:pt x="199005" y="74371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60" name="任意形状 10059">
              <a:extLst>
                <a:ext uri="{FF2B5EF4-FFF2-40B4-BE49-F238E27FC236}">
                  <a16:creationId xmlns:a16="http://schemas.microsoft.com/office/drawing/2014/main" id="{4D86CEDF-97E1-612C-C620-D2F2DAD5CDE7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7576069" y="5535643"/>
              <a:ext cx="138088" cy="143741"/>
            </a:xfrm>
            <a:custGeom>
              <a:avLst/>
              <a:gdLst>
                <a:gd name="connsiteX0" fmla="*/ 138307 w 138088"/>
                <a:gd name="connsiteY0" fmla="*/ 22332 h 143741"/>
                <a:gd name="connsiteX1" fmla="*/ 124467 w 138088"/>
                <a:gd name="connsiteY1" fmla="*/ 120 h 143741"/>
                <a:gd name="connsiteX2" fmla="*/ 109054 w 138088"/>
                <a:gd name="connsiteY2" fmla="*/ 15351 h 143741"/>
                <a:gd name="connsiteX3" fmla="*/ 114087 w 138088"/>
                <a:gd name="connsiteY3" fmla="*/ 24871 h 143741"/>
                <a:gd name="connsiteX4" fmla="*/ 124781 w 138088"/>
                <a:gd name="connsiteY4" fmla="*/ 50890 h 143741"/>
                <a:gd name="connsiteX5" fmla="*/ 68791 w 138088"/>
                <a:gd name="connsiteY5" fmla="*/ 136882 h 143741"/>
                <a:gd name="connsiteX6" fmla="*/ 45514 w 138088"/>
                <a:gd name="connsiteY6" fmla="*/ 109275 h 143741"/>
                <a:gd name="connsiteX7" fmla="*/ 63758 w 138088"/>
                <a:gd name="connsiteY7" fmla="*/ 42005 h 143741"/>
                <a:gd name="connsiteX8" fmla="*/ 67533 w 138088"/>
                <a:gd name="connsiteY8" fmla="*/ 26140 h 143741"/>
                <a:gd name="connsiteX9" fmla="*/ 41740 w 138088"/>
                <a:gd name="connsiteY9" fmla="*/ 120 h 143741"/>
                <a:gd name="connsiteX10" fmla="*/ 219 w 138088"/>
                <a:gd name="connsiteY10" fmla="*/ 48986 h 143741"/>
                <a:gd name="connsiteX11" fmla="*/ 3993 w 138088"/>
                <a:gd name="connsiteY11" fmla="*/ 52159 h 143741"/>
                <a:gd name="connsiteX12" fmla="*/ 9026 w 138088"/>
                <a:gd name="connsiteY12" fmla="*/ 46448 h 143741"/>
                <a:gd name="connsiteX13" fmla="*/ 40796 w 138088"/>
                <a:gd name="connsiteY13" fmla="*/ 7101 h 143741"/>
                <a:gd name="connsiteX14" fmla="*/ 48660 w 138088"/>
                <a:gd name="connsiteY14" fmla="*/ 17255 h 143741"/>
                <a:gd name="connsiteX15" fmla="*/ 43312 w 138088"/>
                <a:gd name="connsiteY15" fmla="*/ 39467 h 143741"/>
                <a:gd name="connsiteX16" fmla="*/ 25383 w 138088"/>
                <a:gd name="connsiteY16" fmla="*/ 104516 h 143741"/>
                <a:gd name="connsiteX17" fmla="*/ 67533 w 138088"/>
                <a:gd name="connsiteY17" fmla="*/ 143862 h 143741"/>
                <a:gd name="connsiteX18" fmla="*/ 138307 w 138088"/>
                <a:gd name="connsiteY18" fmla="*/ 22332 h 14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088" h="143741">
                  <a:moveTo>
                    <a:pt x="138307" y="22332"/>
                  </a:moveTo>
                  <a:cubicBezTo>
                    <a:pt x="138307" y="5197"/>
                    <a:pt x="130129" y="120"/>
                    <a:pt x="124467" y="120"/>
                  </a:cubicBezTo>
                  <a:cubicBezTo>
                    <a:pt x="116603" y="120"/>
                    <a:pt x="109054" y="8371"/>
                    <a:pt x="109054" y="15351"/>
                  </a:cubicBezTo>
                  <a:cubicBezTo>
                    <a:pt x="109054" y="19476"/>
                    <a:pt x="110627" y="21380"/>
                    <a:pt x="114087" y="24871"/>
                  </a:cubicBezTo>
                  <a:cubicBezTo>
                    <a:pt x="120692" y="31217"/>
                    <a:pt x="124781" y="39467"/>
                    <a:pt x="124781" y="50890"/>
                  </a:cubicBezTo>
                  <a:cubicBezTo>
                    <a:pt x="124781" y="64217"/>
                    <a:pt x="105594" y="136882"/>
                    <a:pt x="68791" y="136882"/>
                  </a:cubicBezTo>
                  <a:cubicBezTo>
                    <a:pt x="52749" y="136882"/>
                    <a:pt x="45514" y="125776"/>
                    <a:pt x="45514" y="109275"/>
                  </a:cubicBezTo>
                  <a:cubicBezTo>
                    <a:pt x="45514" y="91506"/>
                    <a:pt x="54007" y="68342"/>
                    <a:pt x="63758" y="42005"/>
                  </a:cubicBezTo>
                  <a:cubicBezTo>
                    <a:pt x="65960" y="36611"/>
                    <a:pt x="67533" y="32169"/>
                    <a:pt x="67533" y="26140"/>
                  </a:cubicBezTo>
                  <a:cubicBezTo>
                    <a:pt x="67533" y="11861"/>
                    <a:pt x="57467" y="120"/>
                    <a:pt x="41740" y="120"/>
                  </a:cubicBezTo>
                  <a:cubicBezTo>
                    <a:pt x="12172" y="120"/>
                    <a:pt x="219" y="46131"/>
                    <a:pt x="219" y="48986"/>
                  </a:cubicBezTo>
                  <a:cubicBezTo>
                    <a:pt x="219" y="52159"/>
                    <a:pt x="3364" y="52159"/>
                    <a:pt x="3993" y="52159"/>
                  </a:cubicBezTo>
                  <a:cubicBezTo>
                    <a:pt x="7139" y="52159"/>
                    <a:pt x="7453" y="51525"/>
                    <a:pt x="9026" y="46448"/>
                  </a:cubicBezTo>
                  <a:cubicBezTo>
                    <a:pt x="18148" y="14399"/>
                    <a:pt x="31674" y="7101"/>
                    <a:pt x="40796" y="7101"/>
                  </a:cubicBezTo>
                  <a:cubicBezTo>
                    <a:pt x="43312" y="7101"/>
                    <a:pt x="48660" y="7101"/>
                    <a:pt x="48660" y="17255"/>
                  </a:cubicBezTo>
                  <a:cubicBezTo>
                    <a:pt x="48660" y="25188"/>
                    <a:pt x="45514" y="33755"/>
                    <a:pt x="43312" y="39467"/>
                  </a:cubicBezTo>
                  <a:cubicBezTo>
                    <a:pt x="29472" y="76275"/>
                    <a:pt x="25383" y="90871"/>
                    <a:pt x="25383" y="104516"/>
                  </a:cubicBezTo>
                  <a:cubicBezTo>
                    <a:pt x="25383" y="138785"/>
                    <a:pt x="53063" y="143862"/>
                    <a:pt x="67533" y="143862"/>
                  </a:cubicBezTo>
                  <a:cubicBezTo>
                    <a:pt x="120378" y="143862"/>
                    <a:pt x="138307" y="38832"/>
                    <a:pt x="138307" y="22332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61" name="任意形状 10060">
              <a:extLst>
                <a:ext uri="{FF2B5EF4-FFF2-40B4-BE49-F238E27FC236}">
                  <a16:creationId xmlns:a16="http://schemas.microsoft.com/office/drawing/2014/main" id="{BC45D836-C5DA-709C-2D9C-7F5D31E8882B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7728665" y="5584667"/>
              <a:ext cx="74423" cy="141044"/>
            </a:xfrm>
            <a:custGeom>
              <a:avLst/>
              <a:gdLst>
                <a:gd name="connsiteX0" fmla="*/ 45142 w 74423"/>
                <a:gd name="connsiteY0" fmla="*/ 51209 h 141044"/>
                <a:gd name="connsiteX1" fmla="*/ 67601 w 74423"/>
                <a:gd name="connsiteY1" fmla="*/ 51209 h 141044"/>
                <a:gd name="connsiteX2" fmla="*/ 74647 w 74423"/>
                <a:gd name="connsiteY2" fmla="*/ 46322 h 141044"/>
                <a:gd name="connsiteX3" fmla="*/ 68041 w 74423"/>
                <a:gd name="connsiteY3" fmla="*/ 43213 h 141044"/>
                <a:gd name="connsiteX4" fmla="*/ 47123 w 74423"/>
                <a:gd name="connsiteY4" fmla="*/ 43213 h 141044"/>
                <a:gd name="connsiteX5" fmla="*/ 55270 w 74423"/>
                <a:gd name="connsiteY5" fmla="*/ 10339 h 141044"/>
                <a:gd name="connsiteX6" fmla="*/ 55931 w 74423"/>
                <a:gd name="connsiteY6" fmla="*/ 7230 h 141044"/>
                <a:gd name="connsiteX7" fmla="*/ 48444 w 74423"/>
                <a:gd name="connsiteY7" fmla="*/ 122 h 141044"/>
                <a:gd name="connsiteX8" fmla="*/ 38096 w 74423"/>
                <a:gd name="connsiteY8" fmla="*/ 9673 h 141044"/>
                <a:gd name="connsiteX9" fmla="*/ 29729 w 74423"/>
                <a:gd name="connsiteY9" fmla="*/ 43213 h 141044"/>
                <a:gd name="connsiteX10" fmla="*/ 7270 w 74423"/>
                <a:gd name="connsiteY10" fmla="*/ 43213 h 141044"/>
                <a:gd name="connsiteX11" fmla="*/ 224 w 74423"/>
                <a:gd name="connsiteY11" fmla="*/ 48099 h 141044"/>
                <a:gd name="connsiteX12" fmla="*/ 6829 w 74423"/>
                <a:gd name="connsiteY12" fmla="*/ 51209 h 141044"/>
                <a:gd name="connsiteX13" fmla="*/ 27747 w 74423"/>
                <a:gd name="connsiteY13" fmla="*/ 51209 h 141044"/>
                <a:gd name="connsiteX14" fmla="*/ 14756 w 74423"/>
                <a:gd name="connsiteY14" fmla="*/ 103629 h 141044"/>
                <a:gd name="connsiteX15" fmla="*/ 11453 w 74423"/>
                <a:gd name="connsiteY15" fmla="*/ 120066 h 141044"/>
                <a:gd name="connsiteX16" fmla="*/ 35013 w 74423"/>
                <a:gd name="connsiteY16" fmla="*/ 141167 h 141044"/>
                <a:gd name="connsiteX17" fmla="*/ 73325 w 74423"/>
                <a:gd name="connsiteY17" fmla="*/ 107183 h 141044"/>
                <a:gd name="connsiteX18" fmla="*/ 69803 w 74423"/>
                <a:gd name="connsiteY18" fmla="*/ 104295 h 141044"/>
                <a:gd name="connsiteX19" fmla="*/ 65179 w 74423"/>
                <a:gd name="connsiteY19" fmla="*/ 108515 h 141044"/>
                <a:gd name="connsiteX20" fmla="*/ 35674 w 74423"/>
                <a:gd name="connsiteY20" fmla="*/ 134947 h 141044"/>
                <a:gd name="connsiteX21" fmla="*/ 27967 w 74423"/>
                <a:gd name="connsiteY21" fmla="*/ 124064 h 141044"/>
                <a:gd name="connsiteX22" fmla="*/ 29288 w 74423"/>
                <a:gd name="connsiteY22" fmla="*/ 114957 h 141044"/>
                <a:gd name="connsiteX23" fmla="*/ 45142 w 74423"/>
                <a:gd name="connsiteY23" fmla="*/ 51209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42" y="51209"/>
                  </a:moveTo>
                  <a:lnTo>
                    <a:pt x="67601" y="51209"/>
                  </a:lnTo>
                  <a:cubicBezTo>
                    <a:pt x="71784" y="51209"/>
                    <a:pt x="74647" y="51209"/>
                    <a:pt x="74647" y="46322"/>
                  </a:cubicBezTo>
                  <a:cubicBezTo>
                    <a:pt x="74647" y="43213"/>
                    <a:pt x="71784" y="43213"/>
                    <a:pt x="68041" y="43213"/>
                  </a:cubicBezTo>
                  <a:lnTo>
                    <a:pt x="47123" y="43213"/>
                  </a:lnTo>
                  <a:lnTo>
                    <a:pt x="55270" y="10339"/>
                  </a:lnTo>
                  <a:cubicBezTo>
                    <a:pt x="55490" y="9229"/>
                    <a:pt x="55931" y="8118"/>
                    <a:pt x="55931" y="7230"/>
                  </a:cubicBezTo>
                  <a:cubicBezTo>
                    <a:pt x="55931" y="3232"/>
                    <a:pt x="52848" y="122"/>
                    <a:pt x="48444" y="122"/>
                  </a:cubicBezTo>
                  <a:cubicBezTo>
                    <a:pt x="42940" y="122"/>
                    <a:pt x="39637" y="3898"/>
                    <a:pt x="38096" y="9673"/>
                  </a:cubicBezTo>
                  <a:cubicBezTo>
                    <a:pt x="36554" y="15226"/>
                    <a:pt x="39417" y="4564"/>
                    <a:pt x="29729" y="43213"/>
                  </a:cubicBezTo>
                  <a:lnTo>
                    <a:pt x="7270" y="43213"/>
                  </a:lnTo>
                  <a:cubicBezTo>
                    <a:pt x="3086" y="43213"/>
                    <a:pt x="224" y="43213"/>
                    <a:pt x="224" y="48099"/>
                  </a:cubicBezTo>
                  <a:cubicBezTo>
                    <a:pt x="224" y="51209"/>
                    <a:pt x="2866" y="51209"/>
                    <a:pt x="6829" y="51209"/>
                  </a:cubicBezTo>
                  <a:lnTo>
                    <a:pt x="27747" y="51209"/>
                  </a:lnTo>
                  <a:lnTo>
                    <a:pt x="14756" y="103629"/>
                  </a:lnTo>
                  <a:cubicBezTo>
                    <a:pt x="13435" y="109182"/>
                    <a:pt x="11453" y="117178"/>
                    <a:pt x="11453" y="120066"/>
                  </a:cubicBezTo>
                  <a:cubicBezTo>
                    <a:pt x="11453" y="133170"/>
                    <a:pt x="22462" y="141167"/>
                    <a:pt x="35013" y="141167"/>
                  </a:cubicBezTo>
                  <a:cubicBezTo>
                    <a:pt x="59454" y="141167"/>
                    <a:pt x="73325" y="110070"/>
                    <a:pt x="73325" y="107183"/>
                  </a:cubicBezTo>
                  <a:cubicBezTo>
                    <a:pt x="73325" y="104295"/>
                    <a:pt x="70463" y="104295"/>
                    <a:pt x="69803" y="104295"/>
                  </a:cubicBezTo>
                  <a:cubicBezTo>
                    <a:pt x="67160" y="104295"/>
                    <a:pt x="66940" y="104739"/>
                    <a:pt x="65179" y="108515"/>
                  </a:cubicBezTo>
                  <a:cubicBezTo>
                    <a:pt x="59013" y="122509"/>
                    <a:pt x="47784" y="134947"/>
                    <a:pt x="35674" y="134947"/>
                  </a:cubicBezTo>
                  <a:cubicBezTo>
                    <a:pt x="31050" y="134947"/>
                    <a:pt x="27967" y="132060"/>
                    <a:pt x="27967" y="124064"/>
                  </a:cubicBezTo>
                  <a:cubicBezTo>
                    <a:pt x="27967" y="121842"/>
                    <a:pt x="28848" y="117178"/>
                    <a:pt x="29288" y="114957"/>
                  </a:cubicBezTo>
                  <a:lnTo>
                    <a:pt x="45142" y="51209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62" name="任意形状 10061">
              <a:extLst>
                <a:ext uri="{FF2B5EF4-FFF2-40B4-BE49-F238E27FC236}">
                  <a16:creationId xmlns:a16="http://schemas.microsoft.com/office/drawing/2014/main" id="{BB43006D-9BA4-DD33-FC82-C94D7624014A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7847467" y="5437911"/>
              <a:ext cx="122360" cy="317311"/>
            </a:xfrm>
            <a:custGeom>
              <a:avLst/>
              <a:gdLst>
                <a:gd name="connsiteX0" fmla="*/ 121015 w 122360"/>
                <a:gd name="connsiteY0" fmla="*/ 12178 h 317311"/>
                <a:gd name="connsiteX1" fmla="*/ 122588 w 122360"/>
                <a:gd name="connsiteY1" fmla="*/ 6467 h 317311"/>
                <a:gd name="connsiteX2" fmla="*/ 116297 w 122360"/>
                <a:gd name="connsiteY2" fmla="*/ 120 h 317311"/>
                <a:gd name="connsiteX3" fmla="*/ 110949 w 122360"/>
                <a:gd name="connsiteY3" fmla="*/ 2976 h 317311"/>
                <a:gd name="connsiteX4" fmla="*/ 1800 w 122360"/>
                <a:gd name="connsiteY4" fmla="*/ 305374 h 317311"/>
                <a:gd name="connsiteX5" fmla="*/ 227 w 122360"/>
                <a:gd name="connsiteY5" fmla="*/ 311085 h 317311"/>
                <a:gd name="connsiteX6" fmla="*/ 6518 w 122360"/>
                <a:gd name="connsiteY6" fmla="*/ 317432 h 317311"/>
                <a:gd name="connsiteX7" fmla="*/ 13438 w 122360"/>
                <a:gd name="connsiteY7" fmla="*/ 309816 h 317311"/>
                <a:gd name="connsiteX8" fmla="*/ 121015 w 122360"/>
                <a:gd name="connsiteY8" fmla="*/ 12178 h 31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360" h="317311">
                  <a:moveTo>
                    <a:pt x="121015" y="12178"/>
                  </a:moveTo>
                  <a:cubicBezTo>
                    <a:pt x="122588" y="8053"/>
                    <a:pt x="122588" y="6784"/>
                    <a:pt x="122588" y="6467"/>
                  </a:cubicBezTo>
                  <a:cubicBezTo>
                    <a:pt x="122588" y="2976"/>
                    <a:pt x="119757" y="120"/>
                    <a:pt x="116297" y="120"/>
                  </a:cubicBezTo>
                  <a:cubicBezTo>
                    <a:pt x="114095" y="120"/>
                    <a:pt x="111893" y="1072"/>
                    <a:pt x="110949" y="2976"/>
                  </a:cubicBezTo>
                  <a:lnTo>
                    <a:pt x="1800" y="305374"/>
                  </a:lnTo>
                  <a:cubicBezTo>
                    <a:pt x="227" y="309499"/>
                    <a:pt x="227" y="310768"/>
                    <a:pt x="227" y="311085"/>
                  </a:cubicBezTo>
                  <a:cubicBezTo>
                    <a:pt x="227" y="314576"/>
                    <a:pt x="3058" y="317432"/>
                    <a:pt x="6518" y="317432"/>
                  </a:cubicBezTo>
                  <a:cubicBezTo>
                    <a:pt x="10607" y="317432"/>
                    <a:pt x="11551" y="315210"/>
                    <a:pt x="13438" y="309816"/>
                  </a:cubicBezTo>
                  <a:lnTo>
                    <a:pt x="121015" y="12178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63" name="任意形状 10062">
              <a:extLst>
                <a:ext uri="{FF2B5EF4-FFF2-40B4-BE49-F238E27FC236}">
                  <a16:creationId xmlns:a16="http://schemas.microsoft.com/office/drawing/2014/main" id="{97F3265C-26B8-2A5A-2123-4A7B8A8A9BDE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8087679" y="5406178"/>
              <a:ext cx="82098" cy="380456"/>
            </a:xfrm>
            <a:custGeom>
              <a:avLst/>
              <a:gdLst>
                <a:gd name="connsiteX0" fmla="*/ 82332 w 82098"/>
                <a:gd name="connsiteY0" fmla="*/ 377395 h 380456"/>
                <a:gd name="connsiteX1" fmla="*/ 81074 w 82098"/>
                <a:gd name="connsiteY1" fmla="*/ 374540 h 380456"/>
                <a:gd name="connsiteX2" fmla="*/ 32004 w 82098"/>
                <a:gd name="connsiteY2" fmla="*/ 281567 h 380456"/>
                <a:gd name="connsiteX3" fmla="*/ 21938 w 82098"/>
                <a:gd name="connsiteY3" fmla="*/ 190499 h 380456"/>
                <a:gd name="connsiteX4" fmla="*/ 79501 w 82098"/>
                <a:gd name="connsiteY4" fmla="*/ 7410 h 380456"/>
                <a:gd name="connsiteX5" fmla="*/ 82332 w 82098"/>
                <a:gd name="connsiteY5" fmla="*/ 3285 h 380456"/>
                <a:gd name="connsiteX6" fmla="*/ 78557 w 82098"/>
                <a:gd name="connsiteY6" fmla="*/ 112 h 380456"/>
                <a:gd name="connsiteX7" fmla="*/ 52764 w 82098"/>
                <a:gd name="connsiteY7" fmla="*/ 23911 h 380456"/>
                <a:gd name="connsiteX8" fmla="*/ 234 w 82098"/>
                <a:gd name="connsiteY8" fmla="*/ 190182 h 380456"/>
                <a:gd name="connsiteX9" fmla="*/ 49304 w 82098"/>
                <a:gd name="connsiteY9" fmla="*/ 352645 h 380456"/>
                <a:gd name="connsiteX10" fmla="*/ 78557 w 82098"/>
                <a:gd name="connsiteY10" fmla="*/ 380568 h 380456"/>
                <a:gd name="connsiteX11" fmla="*/ 82332 w 82098"/>
                <a:gd name="connsiteY11" fmla="*/ 377395 h 38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098" h="380456">
                  <a:moveTo>
                    <a:pt x="82332" y="377395"/>
                  </a:moveTo>
                  <a:cubicBezTo>
                    <a:pt x="82332" y="376126"/>
                    <a:pt x="81703" y="375492"/>
                    <a:pt x="81074" y="374540"/>
                  </a:cubicBezTo>
                  <a:cubicBezTo>
                    <a:pt x="66604" y="358991"/>
                    <a:pt x="45215" y="333289"/>
                    <a:pt x="32004" y="281567"/>
                  </a:cubicBezTo>
                  <a:cubicBezTo>
                    <a:pt x="24769" y="252692"/>
                    <a:pt x="21938" y="220009"/>
                    <a:pt x="21938" y="190499"/>
                  </a:cubicBezTo>
                  <a:cubicBezTo>
                    <a:pt x="21938" y="107046"/>
                    <a:pt x="41755" y="48661"/>
                    <a:pt x="79501" y="7410"/>
                  </a:cubicBezTo>
                  <a:cubicBezTo>
                    <a:pt x="82332" y="4555"/>
                    <a:pt x="82332" y="3920"/>
                    <a:pt x="82332" y="3285"/>
                  </a:cubicBezTo>
                  <a:cubicBezTo>
                    <a:pt x="82332" y="112"/>
                    <a:pt x="79815" y="112"/>
                    <a:pt x="78557" y="112"/>
                  </a:cubicBezTo>
                  <a:cubicBezTo>
                    <a:pt x="73839" y="112"/>
                    <a:pt x="56853" y="19151"/>
                    <a:pt x="52764" y="23911"/>
                  </a:cubicBezTo>
                  <a:cubicBezTo>
                    <a:pt x="20680" y="62305"/>
                    <a:pt x="234" y="119421"/>
                    <a:pt x="234" y="190182"/>
                  </a:cubicBezTo>
                  <a:cubicBezTo>
                    <a:pt x="234" y="235240"/>
                    <a:pt x="8098" y="299020"/>
                    <a:pt x="49304" y="352645"/>
                  </a:cubicBezTo>
                  <a:cubicBezTo>
                    <a:pt x="52449" y="356453"/>
                    <a:pt x="72895" y="380568"/>
                    <a:pt x="78557" y="380568"/>
                  </a:cubicBezTo>
                  <a:cubicBezTo>
                    <a:pt x="79815" y="380568"/>
                    <a:pt x="82332" y="380568"/>
                    <a:pt x="82332" y="377395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64" name="任意形状 10063">
              <a:extLst>
                <a:ext uri="{FF2B5EF4-FFF2-40B4-BE49-F238E27FC236}">
                  <a16:creationId xmlns:a16="http://schemas.microsoft.com/office/drawing/2014/main" id="{D8930184-E9E2-82CC-C29C-BCC1D99FCC44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8212033" y="5464565"/>
              <a:ext cx="103802" cy="211329"/>
            </a:xfrm>
            <a:custGeom>
              <a:avLst/>
              <a:gdLst>
                <a:gd name="connsiteX0" fmla="*/ 64721 w 103802"/>
                <a:gd name="connsiteY0" fmla="*/ 8370 h 211329"/>
                <a:gd name="connsiteX1" fmla="*/ 57487 w 103802"/>
                <a:gd name="connsiteY1" fmla="*/ 120 h 211329"/>
                <a:gd name="connsiteX2" fmla="*/ 238 w 103802"/>
                <a:gd name="connsiteY2" fmla="*/ 20428 h 211329"/>
                <a:gd name="connsiteX3" fmla="*/ 238 w 103802"/>
                <a:gd name="connsiteY3" fmla="*/ 30265 h 211329"/>
                <a:gd name="connsiteX4" fmla="*/ 41445 w 103802"/>
                <a:gd name="connsiteY4" fmla="*/ 22015 h 211329"/>
                <a:gd name="connsiteX5" fmla="*/ 41445 w 103802"/>
                <a:gd name="connsiteY5" fmla="*/ 186382 h 211329"/>
                <a:gd name="connsiteX6" fmla="*/ 12191 w 103802"/>
                <a:gd name="connsiteY6" fmla="*/ 201613 h 211329"/>
                <a:gd name="connsiteX7" fmla="*/ 2126 w 103802"/>
                <a:gd name="connsiteY7" fmla="*/ 201613 h 211329"/>
                <a:gd name="connsiteX8" fmla="*/ 2126 w 103802"/>
                <a:gd name="connsiteY8" fmla="*/ 211450 h 211329"/>
                <a:gd name="connsiteX9" fmla="*/ 53083 w 103802"/>
                <a:gd name="connsiteY9" fmla="*/ 210498 h 211329"/>
                <a:gd name="connsiteX10" fmla="*/ 104040 w 103802"/>
                <a:gd name="connsiteY10" fmla="*/ 211450 h 211329"/>
                <a:gd name="connsiteX11" fmla="*/ 104040 w 103802"/>
                <a:gd name="connsiteY11" fmla="*/ 201613 h 211329"/>
                <a:gd name="connsiteX12" fmla="*/ 93975 w 103802"/>
                <a:gd name="connsiteY12" fmla="*/ 201613 h 211329"/>
                <a:gd name="connsiteX13" fmla="*/ 64721 w 103802"/>
                <a:gd name="connsiteY13" fmla="*/ 186382 h 211329"/>
                <a:gd name="connsiteX14" fmla="*/ 64721 w 103802"/>
                <a:gd name="connsiteY14" fmla="*/ 8370 h 21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3802" h="211329">
                  <a:moveTo>
                    <a:pt x="64721" y="8370"/>
                  </a:moveTo>
                  <a:cubicBezTo>
                    <a:pt x="64721" y="755"/>
                    <a:pt x="64721" y="120"/>
                    <a:pt x="57487" y="120"/>
                  </a:cubicBezTo>
                  <a:cubicBezTo>
                    <a:pt x="37985" y="20428"/>
                    <a:pt x="10304" y="20428"/>
                    <a:pt x="238" y="20428"/>
                  </a:cubicBezTo>
                  <a:lnTo>
                    <a:pt x="238" y="30265"/>
                  </a:lnTo>
                  <a:cubicBezTo>
                    <a:pt x="6529" y="30265"/>
                    <a:pt x="25088" y="30265"/>
                    <a:pt x="41445" y="22015"/>
                  </a:cubicBezTo>
                  <a:lnTo>
                    <a:pt x="41445" y="186382"/>
                  </a:lnTo>
                  <a:cubicBezTo>
                    <a:pt x="41445" y="197805"/>
                    <a:pt x="40501" y="201613"/>
                    <a:pt x="12191" y="201613"/>
                  </a:cubicBezTo>
                  <a:lnTo>
                    <a:pt x="2126" y="201613"/>
                  </a:lnTo>
                  <a:lnTo>
                    <a:pt x="2126" y="211450"/>
                  </a:lnTo>
                  <a:cubicBezTo>
                    <a:pt x="13135" y="210498"/>
                    <a:pt x="40501" y="210498"/>
                    <a:pt x="53083" y="210498"/>
                  </a:cubicBezTo>
                  <a:cubicBezTo>
                    <a:pt x="65665" y="210498"/>
                    <a:pt x="93031" y="210498"/>
                    <a:pt x="104040" y="211450"/>
                  </a:cubicBezTo>
                  <a:lnTo>
                    <a:pt x="104040" y="201613"/>
                  </a:lnTo>
                  <a:lnTo>
                    <a:pt x="93975" y="201613"/>
                  </a:lnTo>
                  <a:cubicBezTo>
                    <a:pt x="65665" y="201613"/>
                    <a:pt x="64721" y="198123"/>
                    <a:pt x="64721" y="186382"/>
                  </a:cubicBezTo>
                  <a:lnTo>
                    <a:pt x="64721" y="8370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65" name="任意形状 10064">
              <a:extLst>
                <a:ext uri="{FF2B5EF4-FFF2-40B4-BE49-F238E27FC236}">
                  <a16:creationId xmlns:a16="http://schemas.microsoft.com/office/drawing/2014/main" id="{D6030D1C-E785-274E-0169-EB65041F3A2C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8437321" y="5590220"/>
              <a:ext cx="192191" cy="12692"/>
            </a:xfrm>
            <a:custGeom>
              <a:avLst/>
              <a:gdLst>
                <a:gd name="connsiteX0" fmla="*/ 181428 w 192191"/>
                <a:gd name="connsiteY0" fmla="*/ 12813 h 12692"/>
                <a:gd name="connsiteX1" fmla="*/ 192437 w 192191"/>
                <a:gd name="connsiteY1" fmla="*/ 6467 h 12692"/>
                <a:gd name="connsiteX2" fmla="*/ 181428 w 192191"/>
                <a:gd name="connsiteY2" fmla="*/ 120 h 12692"/>
                <a:gd name="connsiteX3" fmla="*/ 11255 w 192191"/>
                <a:gd name="connsiteY3" fmla="*/ 120 h 12692"/>
                <a:gd name="connsiteX4" fmla="*/ 245 w 192191"/>
                <a:gd name="connsiteY4" fmla="*/ 6467 h 12692"/>
                <a:gd name="connsiteX5" fmla="*/ 11255 w 192191"/>
                <a:gd name="connsiteY5" fmla="*/ 12813 h 12692"/>
                <a:gd name="connsiteX6" fmla="*/ 181428 w 192191"/>
                <a:gd name="connsiteY6" fmla="*/ 12813 h 12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91" h="12692">
                  <a:moveTo>
                    <a:pt x="181428" y="12813"/>
                  </a:moveTo>
                  <a:cubicBezTo>
                    <a:pt x="186775" y="12813"/>
                    <a:pt x="192437" y="12813"/>
                    <a:pt x="192437" y="6467"/>
                  </a:cubicBezTo>
                  <a:cubicBezTo>
                    <a:pt x="192437" y="120"/>
                    <a:pt x="186775" y="120"/>
                    <a:pt x="181428" y="120"/>
                  </a:cubicBezTo>
                  <a:lnTo>
                    <a:pt x="11255" y="120"/>
                  </a:lnTo>
                  <a:cubicBezTo>
                    <a:pt x="5907" y="120"/>
                    <a:pt x="245" y="120"/>
                    <a:pt x="245" y="6467"/>
                  </a:cubicBezTo>
                  <a:cubicBezTo>
                    <a:pt x="245" y="12813"/>
                    <a:pt x="5907" y="12813"/>
                    <a:pt x="11255" y="12813"/>
                  </a:cubicBezTo>
                  <a:lnTo>
                    <a:pt x="181428" y="12813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66" name="任意形状 10065">
              <a:extLst>
                <a:ext uri="{FF2B5EF4-FFF2-40B4-BE49-F238E27FC236}">
                  <a16:creationId xmlns:a16="http://schemas.microsoft.com/office/drawing/2014/main" id="{965100D7-644A-C727-6EB8-C756B225A816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8735161" y="5451873"/>
              <a:ext cx="171470" cy="285580"/>
            </a:xfrm>
            <a:custGeom>
              <a:avLst/>
              <a:gdLst>
                <a:gd name="connsiteX0" fmla="*/ 171726 w 171470"/>
                <a:gd name="connsiteY0" fmla="*/ 43592 h 285580"/>
                <a:gd name="connsiteX1" fmla="*/ 128947 w 171470"/>
                <a:gd name="connsiteY1" fmla="*/ 120 h 285580"/>
                <a:gd name="connsiteX2" fmla="*/ 90886 w 171470"/>
                <a:gd name="connsiteY2" fmla="*/ 13447 h 285580"/>
                <a:gd name="connsiteX3" fmla="*/ 50309 w 171470"/>
                <a:gd name="connsiteY3" fmla="*/ 81035 h 285580"/>
                <a:gd name="connsiteX4" fmla="*/ 295 w 171470"/>
                <a:gd name="connsiteY4" fmla="*/ 282527 h 285580"/>
                <a:gd name="connsiteX5" fmla="*/ 4070 w 171470"/>
                <a:gd name="connsiteY5" fmla="*/ 285701 h 285580"/>
                <a:gd name="connsiteX6" fmla="*/ 7845 w 171470"/>
                <a:gd name="connsiteY6" fmla="*/ 284114 h 285580"/>
                <a:gd name="connsiteX7" fmla="*/ 29863 w 171470"/>
                <a:gd name="connsiteY7" fmla="*/ 196536 h 285580"/>
                <a:gd name="connsiteX8" fmla="*/ 72642 w 171470"/>
                <a:gd name="connsiteY8" fmla="*/ 227315 h 285580"/>
                <a:gd name="connsiteX9" fmla="*/ 133351 w 171470"/>
                <a:gd name="connsiteY9" fmla="*/ 202248 h 285580"/>
                <a:gd name="connsiteX10" fmla="*/ 158515 w 171470"/>
                <a:gd name="connsiteY10" fmla="*/ 143862 h 285580"/>
                <a:gd name="connsiteX11" fmla="*/ 135553 w 171470"/>
                <a:gd name="connsiteY11" fmla="*/ 96583 h 285580"/>
                <a:gd name="connsiteX12" fmla="*/ 171726 w 171470"/>
                <a:gd name="connsiteY12" fmla="*/ 43592 h 285580"/>
                <a:gd name="connsiteX13" fmla="*/ 115107 w 171470"/>
                <a:gd name="connsiteY13" fmla="*/ 96266 h 285580"/>
                <a:gd name="connsiteX14" fmla="*/ 100008 w 171470"/>
                <a:gd name="connsiteY14" fmla="*/ 98487 h 285580"/>
                <a:gd name="connsiteX15" fmla="*/ 86168 w 171470"/>
                <a:gd name="connsiteY15" fmla="*/ 97218 h 285580"/>
                <a:gd name="connsiteX16" fmla="*/ 101581 w 171470"/>
                <a:gd name="connsiteY16" fmla="*/ 94679 h 285580"/>
                <a:gd name="connsiteX17" fmla="*/ 115107 w 171470"/>
                <a:gd name="connsiteY17" fmla="*/ 96266 h 285580"/>
                <a:gd name="connsiteX18" fmla="*/ 154111 w 171470"/>
                <a:gd name="connsiteY18" fmla="*/ 36294 h 285580"/>
                <a:gd name="connsiteX19" fmla="*/ 125802 w 171470"/>
                <a:gd name="connsiteY19" fmla="*/ 91189 h 285580"/>
                <a:gd name="connsiteX20" fmla="*/ 101581 w 171470"/>
                <a:gd name="connsiteY20" fmla="*/ 87381 h 285580"/>
                <a:gd name="connsiteX21" fmla="*/ 77361 w 171470"/>
                <a:gd name="connsiteY21" fmla="*/ 97535 h 285580"/>
                <a:gd name="connsiteX22" fmla="*/ 99065 w 171470"/>
                <a:gd name="connsiteY22" fmla="*/ 105468 h 285580"/>
                <a:gd name="connsiteX23" fmla="*/ 124858 w 171470"/>
                <a:gd name="connsiteY23" fmla="*/ 101343 h 285580"/>
                <a:gd name="connsiteX24" fmla="*/ 138698 w 171470"/>
                <a:gd name="connsiteY24" fmla="*/ 137199 h 285580"/>
                <a:gd name="connsiteX25" fmla="*/ 122971 w 171470"/>
                <a:gd name="connsiteY25" fmla="*/ 191776 h 285580"/>
                <a:gd name="connsiteX26" fmla="*/ 71699 w 171470"/>
                <a:gd name="connsiteY26" fmla="*/ 220334 h 285580"/>
                <a:gd name="connsiteX27" fmla="*/ 35840 w 171470"/>
                <a:gd name="connsiteY27" fmla="*/ 179401 h 285580"/>
                <a:gd name="connsiteX28" fmla="*/ 37412 w 171470"/>
                <a:gd name="connsiteY28" fmla="*/ 165440 h 285580"/>
                <a:gd name="connsiteX29" fmla="*/ 57544 w 171470"/>
                <a:gd name="connsiteY29" fmla="*/ 85160 h 285580"/>
                <a:gd name="connsiteX30" fmla="*/ 124858 w 171470"/>
                <a:gd name="connsiteY30" fmla="*/ 7419 h 285580"/>
                <a:gd name="connsiteX31" fmla="*/ 154111 w 171470"/>
                <a:gd name="connsiteY31" fmla="*/ 36294 h 28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1470" h="285580">
                  <a:moveTo>
                    <a:pt x="171726" y="43592"/>
                  </a:moveTo>
                  <a:cubicBezTo>
                    <a:pt x="171726" y="19794"/>
                    <a:pt x="154426" y="120"/>
                    <a:pt x="128947" y="120"/>
                  </a:cubicBezTo>
                  <a:cubicBezTo>
                    <a:pt x="110703" y="120"/>
                    <a:pt x="101896" y="5197"/>
                    <a:pt x="90886" y="13447"/>
                  </a:cubicBezTo>
                  <a:cubicBezTo>
                    <a:pt x="73586" y="26140"/>
                    <a:pt x="56286" y="56919"/>
                    <a:pt x="50309" y="81035"/>
                  </a:cubicBezTo>
                  <a:lnTo>
                    <a:pt x="295" y="282527"/>
                  </a:lnTo>
                  <a:cubicBezTo>
                    <a:pt x="-19" y="283797"/>
                    <a:pt x="1554" y="285701"/>
                    <a:pt x="4070" y="285701"/>
                  </a:cubicBezTo>
                  <a:cubicBezTo>
                    <a:pt x="6586" y="285701"/>
                    <a:pt x="7530" y="285066"/>
                    <a:pt x="7845" y="284114"/>
                  </a:cubicBezTo>
                  <a:lnTo>
                    <a:pt x="29863" y="196536"/>
                  </a:lnTo>
                  <a:cubicBezTo>
                    <a:pt x="35840" y="215575"/>
                    <a:pt x="49680" y="227315"/>
                    <a:pt x="72642" y="227315"/>
                  </a:cubicBezTo>
                  <a:cubicBezTo>
                    <a:pt x="95605" y="227315"/>
                    <a:pt x="119196" y="216209"/>
                    <a:pt x="133351" y="202248"/>
                  </a:cubicBezTo>
                  <a:cubicBezTo>
                    <a:pt x="148449" y="187651"/>
                    <a:pt x="158515" y="167343"/>
                    <a:pt x="158515" y="143862"/>
                  </a:cubicBezTo>
                  <a:cubicBezTo>
                    <a:pt x="158515" y="121016"/>
                    <a:pt x="146877" y="104516"/>
                    <a:pt x="135553" y="96583"/>
                  </a:cubicBezTo>
                  <a:cubicBezTo>
                    <a:pt x="153797" y="86112"/>
                    <a:pt x="171726" y="66438"/>
                    <a:pt x="171726" y="43592"/>
                  </a:cubicBezTo>
                  <a:close/>
                  <a:moveTo>
                    <a:pt x="115107" y="96266"/>
                  </a:moveTo>
                  <a:cubicBezTo>
                    <a:pt x="111018" y="97852"/>
                    <a:pt x="107558" y="98487"/>
                    <a:pt x="100008" y="98487"/>
                  </a:cubicBezTo>
                  <a:cubicBezTo>
                    <a:pt x="95605" y="98487"/>
                    <a:pt x="89314" y="98804"/>
                    <a:pt x="86168" y="97218"/>
                  </a:cubicBezTo>
                  <a:cubicBezTo>
                    <a:pt x="86797" y="94045"/>
                    <a:pt x="98121" y="94679"/>
                    <a:pt x="101581" y="94679"/>
                  </a:cubicBezTo>
                  <a:cubicBezTo>
                    <a:pt x="108187" y="94679"/>
                    <a:pt x="111018" y="94679"/>
                    <a:pt x="115107" y="96266"/>
                  </a:cubicBezTo>
                  <a:close/>
                  <a:moveTo>
                    <a:pt x="154111" y="36294"/>
                  </a:moveTo>
                  <a:cubicBezTo>
                    <a:pt x="154111" y="58506"/>
                    <a:pt x="142158" y="81352"/>
                    <a:pt x="125802" y="91189"/>
                  </a:cubicBezTo>
                  <a:cubicBezTo>
                    <a:pt x="117309" y="88016"/>
                    <a:pt x="111018" y="87381"/>
                    <a:pt x="101581" y="87381"/>
                  </a:cubicBezTo>
                  <a:cubicBezTo>
                    <a:pt x="94976" y="87381"/>
                    <a:pt x="77361" y="87064"/>
                    <a:pt x="77361" y="97535"/>
                  </a:cubicBezTo>
                  <a:cubicBezTo>
                    <a:pt x="77046" y="106420"/>
                    <a:pt x="93403" y="105468"/>
                    <a:pt x="99065" y="105468"/>
                  </a:cubicBezTo>
                  <a:cubicBezTo>
                    <a:pt x="110703" y="105468"/>
                    <a:pt x="115421" y="105150"/>
                    <a:pt x="124858" y="101343"/>
                  </a:cubicBezTo>
                  <a:cubicBezTo>
                    <a:pt x="136811" y="112766"/>
                    <a:pt x="138384" y="122603"/>
                    <a:pt x="138698" y="137199"/>
                  </a:cubicBezTo>
                  <a:cubicBezTo>
                    <a:pt x="139327" y="155603"/>
                    <a:pt x="131778" y="179401"/>
                    <a:pt x="122971" y="191776"/>
                  </a:cubicBezTo>
                  <a:cubicBezTo>
                    <a:pt x="110703" y="208911"/>
                    <a:pt x="89628" y="220334"/>
                    <a:pt x="71699" y="220334"/>
                  </a:cubicBezTo>
                  <a:cubicBezTo>
                    <a:pt x="47793" y="220334"/>
                    <a:pt x="35840" y="201930"/>
                    <a:pt x="35840" y="179401"/>
                  </a:cubicBezTo>
                  <a:cubicBezTo>
                    <a:pt x="35840" y="176228"/>
                    <a:pt x="35840" y="171468"/>
                    <a:pt x="37412" y="165440"/>
                  </a:cubicBezTo>
                  <a:lnTo>
                    <a:pt x="57544" y="85160"/>
                  </a:lnTo>
                  <a:cubicBezTo>
                    <a:pt x="64464" y="57871"/>
                    <a:pt x="87112" y="7419"/>
                    <a:pt x="124858" y="7419"/>
                  </a:cubicBezTo>
                  <a:cubicBezTo>
                    <a:pt x="143102" y="7419"/>
                    <a:pt x="154111" y="17255"/>
                    <a:pt x="154111" y="36294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67" name="任意形状 10066">
              <a:extLst>
                <a:ext uri="{FF2B5EF4-FFF2-40B4-BE49-F238E27FC236}">
                  <a16:creationId xmlns:a16="http://schemas.microsoft.com/office/drawing/2014/main" id="{F7451BA8-302E-ABD8-0632-9D0A5EC72EF8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8929532" y="5406055"/>
              <a:ext cx="74423" cy="141044"/>
            </a:xfrm>
            <a:custGeom>
              <a:avLst/>
              <a:gdLst>
                <a:gd name="connsiteX0" fmla="*/ 45180 w 74423"/>
                <a:gd name="connsiteY0" fmla="*/ 51203 h 141044"/>
                <a:gd name="connsiteX1" fmla="*/ 67639 w 74423"/>
                <a:gd name="connsiteY1" fmla="*/ 51203 h 141044"/>
                <a:gd name="connsiteX2" fmla="*/ 74685 w 74423"/>
                <a:gd name="connsiteY2" fmla="*/ 46317 h 141044"/>
                <a:gd name="connsiteX3" fmla="*/ 68079 w 74423"/>
                <a:gd name="connsiteY3" fmla="*/ 43207 h 141044"/>
                <a:gd name="connsiteX4" fmla="*/ 47161 w 74423"/>
                <a:gd name="connsiteY4" fmla="*/ 43207 h 141044"/>
                <a:gd name="connsiteX5" fmla="*/ 55308 w 74423"/>
                <a:gd name="connsiteY5" fmla="*/ 10334 h 141044"/>
                <a:gd name="connsiteX6" fmla="*/ 55969 w 74423"/>
                <a:gd name="connsiteY6" fmla="*/ 7224 h 141044"/>
                <a:gd name="connsiteX7" fmla="*/ 48482 w 74423"/>
                <a:gd name="connsiteY7" fmla="*/ 116 h 141044"/>
                <a:gd name="connsiteX8" fmla="*/ 38134 w 74423"/>
                <a:gd name="connsiteY8" fmla="*/ 9667 h 141044"/>
                <a:gd name="connsiteX9" fmla="*/ 29767 w 74423"/>
                <a:gd name="connsiteY9" fmla="*/ 43207 h 141044"/>
                <a:gd name="connsiteX10" fmla="*/ 7308 w 74423"/>
                <a:gd name="connsiteY10" fmla="*/ 43207 h 141044"/>
                <a:gd name="connsiteX11" fmla="*/ 262 w 74423"/>
                <a:gd name="connsiteY11" fmla="*/ 48094 h 141044"/>
                <a:gd name="connsiteX12" fmla="*/ 6867 w 74423"/>
                <a:gd name="connsiteY12" fmla="*/ 51203 h 141044"/>
                <a:gd name="connsiteX13" fmla="*/ 27785 w 74423"/>
                <a:gd name="connsiteY13" fmla="*/ 51203 h 141044"/>
                <a:gd name="connsiteX14" fmla="*/ 14794 w 74423"/>
                <a:gd name="connsiteY14" fmla="*/ 103623 h 141044"/>
                <a:gd name="connsiteX15" fmla="*/ 11491 w 74423"/>
                <a:gd name="connsiteY15" fmla="*/ 120060 h 141044"/>
                <a:gd name="connsiteX16" fmla="*/ 35051 w 74423"/>
                <a:gd name="connsiteY16" fmla="*/ 141161 h 141044"/>
                <a:gd name="connsiteX17" fmla="*/ 73363 w 74423"/>
                <a:gd name="connsiteY17" fmla="*/ 107177 h 141044"/>
                <a:gd name="connsiteX18" fmla="*/ 69841 w 74423"/>
                <a:gd name="connsiteY18" fmla="*/ 104290 h 141044"/>
                <a:gd name="connsiteX19" fmla="*/ 65217 w 74423"/>
                <a:gd name="connsiteY19" fmla="*/ 108510 h 141044"/>
                <a:gd name="connsiteX20" fmla="*/ 35712 w 74423"/>
                <a:gd name="connsiteY20" fmla="*/ 134942 h 141044"/>
                <a:gd name="connsiteX21" fmla="*/ 28005 w 74423"/>
                <a:gd name="connsiteY21" fmla="*/ 124058 h 141044"/>
                <a:gd name="connsiteX22" fmla="*/ 29326 w 74423"/>
                <a:gd name="connsiteY22" fmla="*/ 114951 h 141044"/>
                <a:gd name="connsiteX23" fmla="*/ 45180 w 74423"/>
                <a:gd name="connsiteY23" fmla="*/ 51203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80" y="51203"/>
                  </a:moveTo>
                  <a:lnTo>
                    <a:pt x="67639" y="51203"/>
                  </a:lnTo>
                  <a:cubicBezTo>
                    <a:pt x="71822" y="51203"/>
                    <a:pt x="74685" y="51203"/>
                    <a:pt x="74685" y="46317"/>
                  </a:cubicBezTo>
                  <a:cubicBezTo>
                    <a:pt x="74685" y="43207"/>
                    <a:pt x="71822" y="43207"/>
                    <a:pt x="68079" y="43207"/>
                  </a:cubicBezTo>
                  <a:lnTo>
                    <a:pt x="47161" y="43207"/>
                  </a:lnTo>
                  <a:lnTo>
                    <a:pt x="55308" y="10334"/>
                  </a:lnTo>
                  <a:cubicBezTo>
                    <a:pt x="55528" y="9223"/>
                    <a:pt x="55969" y="8113"/>
                    <a:pt x="55969" y="7224"/>
                  </a:cubicBezTo>
                  <a:cubicBezTo>
                    <a:pt x="55969" y="3226"/>
                    <a:pt x="52886" y="116"/>
                    <a:pt x="48482" y="116"/>
                  </a:cubicBezTo>
                  <a:cubicBezTo>
                    <a:pt x="42978" y="116"/>
                    <a:pt x="39675" y="3892"/>
                    <a:pt x="38134" y="9667"/>
                  </a:cubicBezTo>
                  <a:cubicBezTo>
                    <a:pt x="36592" y="15220"/>
                    <a:pt x="39455" y="4559"/>
                    <a:pt x="29767" y="43207"/>
                  </a:cubicBezTo>
                  <a:lnTo>
                    <a:pt x="7308" y="43207"/>
                  </a:lnTo>
                  <a:cubicBezTo>
                    <a:pt x="3124" y="43207"/>
                    <a:pt x="262" y="43207"/>
                    <a:pt x="262" y="48094"/>
                  </a:cubicBezTo>
                  <a:cubicBezTo>
                    <a:pt x="262" y="51203"/>
                    <a:pt x="2904" y="51203"/>
                    <a:pt x="6867" y="51203"/>
                  </a:cubicBezTo>
                  <a:lnTo>
                    <a:pt x="27785" y="51203"/>
                  </a:lnTo>
                  <a:lnTo>
                    <a:pt x="14794" y="103623"/>
                  </a:lnTo>
                  <a:cubicBezTo>
                    <a:pt x="13473" y="109176"/>
                    <a:pt x="11491" y="117172"/>
                    <a:pt x="11491" y="120060"/>
                  </a:cubicBezTo>
                  <a:cubicBezTo>
                    <a:pt x="11491" y="133165"/>
                    <a:pt x="22500" y="141161"/>
                    <a:pt x="35051" y="141161"/>
                  </a:cubicBezTo>
                  <a:cubicBezTo>
                    <a:pt x="59492" y="141161"/>
                    <a:pt x="73363" y="110065"/>
                    <a:pt x="73363" y="107177"/>
                  </a:cubicBezTo>
                  <a:cubicBezTo>
                    <a:pt x="73363" y="104290"/>
                    <a:pt x="70501" y="104290"/>
                    <a:pt x="69841" y="104290"/>
                  </a:cubicBezTo>
                  <a:cubicBezTo>
                    <a:pt x="67198" y="104290"/>
                    <a:pt x="66978" y="104734"/>
                    <a:pt x="65217" y="108510"/>
                  </a:cubicBezTo>
                  <a:cubicBezTo>
                    <a:pt x="59051" y="122503"/>
                    <a:pt x="47822" y="134942"/>
                    <a:pt x="35712" y="134942"/>
                  </a:cubicBezTo>
                  <a:cubicBezTo>
                    <a:pt x="31088" y="134942"/>
                    <a:pt x="28005" y="132054"/>
                    <a:pt x="28005" y="124058"/>
                  </a:cubicBezTo>
                  <a:cubicBezTo>
                    <a:pt x="28005" y="121837"/>
                    <a:pt x="28886" y="117172"/>
                    <a:pt x="29326" y="114951"/>
                  </a:cubicBezTo>
                  <a:lnTo>
                    <a:pt x="45180" y="51203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68" name="任意形状 10067">
              <a:extLst>
                <a:ext uri="{FF2B5EF4-FFF2-40B4-BE49-F238E27FC236}">
                  <a16:creationId xmlns:a16="http://schemas.microsoft.com/office/drawing/2014/main" id="{E025AAB2-CFA2-B0C0-83D2-B4E04E47C747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8917555" y="5606853"/>
              <a:ext cx="97322" cy="147486"/>
            </a:xfrm>
            <a:custGeom>
              <a:avLst/>
              <a:gdLst>
                <a:gd name="connsiteX0" fmla="*/ 97584 w 97322"/>
                <a:gd name="connsiteY0" fmla="*/ 107184 h 147486"/>
                <a:gd name="connsiteX1" fmla="*/ 90097 w 97322"/>
                <a:gd name="connsiteY1" fmla="*/ 107184 h 147486"/>
                <a:gd name="connsiteX2" fmla="*/ 84372 w 97322"/>
                <a:gd name="connsiteY2" fmla="*/ 127396 h 147486"/>
                <a:gd name="connsiteX3" fmla="*/ 62574 w 97322"/>
                <a:gd name="connsiteY3" fmla="*/ 128729 h 147486"/>
                <a:gd name="connsiteX4" fmla="*/ 22060 w 97322"/>
                <a:gd name="connsiteY4" fmla="*/ 128729 h 147486"/>
                <a:gd name="connsiteX5" fmla="*/ 66097 w 97322"/>
                <a:gd name="connsiteY5" fmla="*/ 91413 h 147486"/>
                <a:gd name="connsiteX6" fmla="*/ 97584 w 97322"/>
                <a:gd name="connsiteY6" fmla="*/ 43436 h 147486"/>
                <a:gd name="connsiteX7" fmla="*/ 46060 w 97322"/>
                <a:gd name="connsiteY7" fmla="*/ 123 h 147486"/>
                <a:gd name="connsiteX8" fmla="*/ 261 w 97322"/>
                <a:gd name="connsiteY8" fmla="*/ 39882 h 147486"/>
                <a:gd name="connsiteX9" fmla="*/ 11931 w 97322"/>
                <a:gd name="connsiteY9" fmla="*/ 52321 h 147486"/>
                <a:gd name="connsiteX10" fmla="*/ 23601 w 97322"/>
                <a:gd name="connsiteY10" fmla="*/ 40548 h 147486"/>
                <a:gd name="connsiteX11" fmla="*/ 10610 w 97322"/>
                <a:gd name="connsiteY11" fmla="*/ 28776 h 147486"/>
                <a:gd name="connsiteX12" fmla="*/ 42757 w 97322"/>
                <a:gd name="connsiteY12" fmla="*/ 8119 h 147486"/>
                <a:gd name="connsiteX13" fmla="*/ 76225 w 97322"/>
                <a:gd name="connsiteY13" fmla="*/ 43436 h 147486"/>
                <a:gd name="connsiteX14" fmla="*/ 55528 w 97322"/>
                <a:gd name="connsiteY14" fmla="*/ 86082 h 147486"/>
                <a:gd name="connsiteX15" fmla="*/ 2463 w 97322"/>
                <a:gd name="connsiteY15" fmla="*/ 138947 h 147486"/>
                <a:gd name="connsiteX16" fmla="*/ 261 w 97322"/>
                <a:gd name="connsiteY16" fmla="*/ 147609 h 147486"/>
                <a:gd name="connsiteX17" fmla="*/ 90978 w 97322"/>
                <a:gd name="connsiteY17" fmla="*/ 147609 h 147486"/>
                <a:gd name="connsiteX18" fmla="*/ 97584 w 97322"/>
                <a:gd name="connsiteY18" fmla="*/ 107184 h 14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7322" h="147486">
                  <a:moveTo>
                    <a:pt x="97584" y="107184"/>
                  </a:moveTo>
                  <a:lnTo>
                    <a:pt x="90097" y="107184"/>
                  </a:lnTo>
                  <a:cubicBezTo>
                    <a:pt x="89437" y="112070"/>
                    <a:pt x="87235" y="125175"/>
                    <a:pt x="84372" y="127396"/>
                  </a:cubicBezTo>
                  <a:cubicBezTo>
                    <a:pt x="82611" y="128729"/>
                    <a:pt x="65656" y="128729"/>
                    <a:pt x="62574" y="128729"/>
                  </a:cubicBezTo>
                  <a:lnTo>
                    <a:pt x="22060" y="128729"/>
                  </a:lnTo>
                  <a:cubicBezTo>
                    <a:pt x="45179" y="108072"/>
                    <a:pt x="52886" y="101853"/>
                    <a:pt x="66097" y="91413"/>
                  </a:cubicBezTo>
                  <a:cubicBezTo>
                    <a:pt x="82391" y="78308"/>
                    <a:pt x="97584" y="64537"/>
                    <a:pt x="97584" y="43436"/>
                  </a:cubicBezTo>
                  <a:cubicBezTo>
                    <a:pt x="97584" y="16560"/>
                    <a:pt x="74244" y="123"/>
                    <a:pt x="46060" y="123"/>
                  </a:cubicBezTo>
                  <a:cubicBezTo>
                    <a:pt x="18757" y="123"/>
                    <a:pt x="261" y="19447"/>
                    <a:pt x="261" y="39882"/>
                  </a:cubicBezTo>
                  <a:cubicBezTo>
                    <a:pt x="261" y="51210"/>
                    <a:pt x="9729" y="52321"/>
                    <a:pt x="11931" y="52321"/>
                  </a:cubicBezTo>
                  <a:cubicBezTo>
                    <a:pt x="17215" y="52321"/>
                    <a:pt x="23601" y="48545"/>
                    <a:pt x="23601" y="40548"/>
                  </a:cubicBezTo>
                  <a:cubicBezTo>
                    <a:pt x="23601" y="36550"/>
                    <a:pt x="22060" y="28776"/>
                    <a:pt x="10610" y="28776"/>
                  </a:cubicBezTo>
                  <a:cubicBezTo>
                    <a:pt x="17436" y="13006"/>
                    <a:pt x="32408" y="8119"/>
                    <a:pt x="42757" y="8119"/>
                  </a:cubicBezTo>
                  <a:cubicBezTo>
                    <a:pt x="64776" y="8119"/>
                    <a:pt x="76225" y="25444"/>
                    <a:pt x="76225" y="43436"/>
                  </a:cubicBezTo>
                  <a:cubicBezTo>
                    <a:pt x="76225" y="62760"/>
                    <a:pt x="62574" y="78086"/>
                    <a:pt x="55528" y="86082"/>
                  </a:cubicBezTo>
                  <a:lnTo>
                    <a:pt x="2463" y="138947"/>
                  </a:lnTo>
                  <a:cubicBezTo>
                    <a:pt x="261" y="140946"/>
                    <a:pt x="261" y="141390"/>
                    <a:pt x="261" y="147609"/>
                  </a:cubicBezTo>
                  <a:lnTo>
                    <a:pt x="90978" y="147609"/>
                  </a:lnTo>
                  <a:lnTo>
                    <a:pt x="97584" y="107184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69" name="任意形状 10068">
              <a:extLst>
                <a:ext uri="{FF2B5EF4-FFF2-40B4-BE49-F238E27FC236}">
                  <a16:creationId xmlns:a16="http://schemas.microsoft.com/office/drawing/2014/main" id="{41229647-7CD6-F89F-9D8B-134D96B6B0DE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9058635" y="5406178"/>
              <a:ext cx="82098" cy="380456"/>
            </a:xfrm>
            <a:custGeom>
              <a:avLst/>
              <a:gdLst>
                <a:gd name="connsiteX0" fmla="*/ 82364 w 82098"/>
                <a:gd name="connsiteY0" fmla="*/ 190499 h 380456"/>
                <a:gd name="connsiteX1" fmla="*/ 33294 w 82098"/>
                <a:gd name="connsiteY1" fmla="*/ 28036 h 380456"/>
                <a:gd name="connsiteX2" fmla="*/ 4040 w 82098"/>
                <a:gd name="connsiteY2" fmla="*/ 112 h 380456"/>
                <a:gd name="connsiteX3" fmla="*/ 266 w 82098"/>
                <a:gd name="connsiteY3" fmla="*/ 3285 h 380456"/>
                <a:gd name="connsiteX4" fmla="*/ 2153 w 82098"/>
                <a:gd name="connsiteY4" fmla="*/ 6459 h 380456"/>
                <a:gd name="connsiteX5" fmla="*/ 50594 w 82098"/>
                <a:gd name="connsiteY5" fmla="*/ 99113 h 380456"/>
                <a:gd name="connsiteX6" fmla="*/ 60660 w 82098"/>
                <a:gd name="connsiteY6" fmla="*/ 190182 h 380456"/>
                <a:gd name="connsiteX7" fmla="*/ 49650 w 82098"/>
                <a:gd name="connsiteY7" fmla="*/ 285692 h 380456"/>
                <a:gd name="connsiteX8" fmla="*/ 3097 w 82098"/>
                <a:gd name="connsiteY8" fmla="*/ 373270 h 380456"/>
                <a:gd name="connsiteX9" fmla="*/ 266 w 82098"/>
                <a:gd name="connsiteY9" fmla="*/ 377395 h 380456"/>
                <a:gd name="connsiteX10" fmla="*/ 4040 w 82098"/>
                <a:gd name="connsiteY10" fmla="*/ 380568 h 380456"/>
                <a:gd name="connsiteX11" fmla="*/ 29833 w 82098"/>
                <a:gd name="connsiteY11" fmla="*/ 356770 h 380456"/>
                <a:gd name="connsiteX12" fmla="*/ 82364 w 82098"/>
                <a:gd name="connsiteY12" fmla="*/ 190499 h 38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2098" h="380456">
                  <a:moveTo>
                    <a:pt x="82364" y="190499"/>
                  </a:moveTo>
                  <a:cubicBezTo>
                    <a:pt x="82364" y="145441"/>
                    <a:pt x="74500" y="81661"/>
                    <a:pt x="33294" y="28036"/>
                  </a:cubicBezTo>
                  <a:cubicBezTo>
                    <a:pt x="30148" y="24228"/>
                    <a:pt x="9702" y="112"/>
                    <a:pt x="4040" y="112"/>
                  </a:cubicBezTo>
                  <a:cubicBezTo>
                    <a:pt x="2467" y="112"/>
                    <a:pt x="266" y="747"/>
                    <a:pt x="266" y="3285"/>
                  </a:cubicBezTo>
                  <a:cubicBezTo>
                    <a:pt x="266" y="4555"/>
                    <a:pt x="895" y="5507"/>
                    <a:pt x="2153" y="6459"/>
                  </a:cubicBezTo>
                  <a:cubicBezTo>
                    <a:pt x="17251" y="22959"/>
                    <a:pt x="37697" y="48661"/>
                    <a:pt x="50594" y="99113"/>
                  </a:cubicBezTo>
                  <a:cubicBezTo>
                    <a:pt x="57829" y="127989"/>
                    <a:pt x="60660" y="160672"/>
                    <a:pt x="60660" y="190182"/>
                  </a:cubicBezTo>
                  <a:cubicBezTo>
                    <a:pt x="60660" y="222230"/>
                    <a:pt x="57829" y="254596"/>
                    <a:pt x="49650" y="285692"/>
                  </a:cubicBezTo>
                  <a:cubicBezTo>
                    <a:pt x="37697" y="330116"/>
                    <a:pt x="19139" y="355501"/>
                    <a:pt x="3097" y="373270"/>
                  </a:cubicBezTo>
                  <a:cubicBezTo>
                    <a:pt x="266" y="376126"/>
                    <a:pt x="266" y="376761"/>
                    <a:pt x="266" y="377395"/>
                  </a:cubicBezTo>
                  <a:cubicBezTo>
                    <a:pt x="266" y="379934"/>
                    <a:pt x="2467" y="380568"/>
                    <a:pt x="4040" y="380568"/>
                  </a:cubicBezTo>
                  <a:cubicBezTo>
                    <a:pt x="8758" y="380568"/>
                    <a:pt x="26059" y="361213"/>
                    <a:pt x="29833" y="356770"/>
                  </a:cubicBezTo>
                  <a:cubicBezTo>
                    <a:pt x="61918" y="318375"/>
                    <a:pt x="82364" y="261259"/>
                    <a:pt x="82364" y="190499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70" name="任意形状 10069">
              <a:extLst>
                <a:ext uri="{FF2B5EF4-FFF2-40B4-BE49-F238E27FC236}">
                  <a16:creationId xmlns:a16="http://schemas.microsoft.com/office/drawing/2014/main" id="{2B2CCF23-3565-D3D1-301D-C25C99D4A6D3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6693271" y="6128366"/>
              <a:ext cx="129909" cy="227194"/>
            </a:xfrm>
            <a:custGeom>
              <a:avLst/>
              <a:gdLst>
                <a:gd name="connsiteX0" fmla="*/ 130101 w 129909"/>
                <a:gd name="connsiteY0" fmla="*/ 65190 h 227194"/>
                <a:gd name="connsiteX1" fmla="*/ 92354 w 129909"/>
                <a:gd name="connsiteY1" fmla="*/ 142 h 227194"/>
                <a:gd name="connsiteX2" fmla="*/ 191 w 129909"/>
                <a:gd name="connsiteY2" fmla="*/ 162288 h 227194"/>
                <a:gd name="connsiteX3" fmla="*/ 37937 w 129909"/>
                <a:gd name="connsiteY3" fmla="*/ 227336 h 227194"/>
                <a:gd name="connsiteX4" fmla="*/ 130101 w 129909"/>
                <a:gd name="connsiteY4" fmla="*/ 65190 h 227194"/>
                <a:gd name="connsiteX5" fmla="*/ 33533 w 129909"/>
                <a:gd name="connsiteY5" fmla="*/ 108662 h 227194"/>
                <a:gd name="connsiteX6" fmla="*/ 57754 w 129909"/>
                <a:gd name="connsiteY6" fmla="*/ 40440 h 227194"/>
                <a:gd name="connsiteX7" fmla="*/ 92040 w 129909"/>
                <a:gd name="connsiteY7" fmla="*/ 7122 h 227194"/>
                <a:gd name="connsiteX8" fmla="*/ 109340 w 129909"/>
                <a:gd name="connsiteY8" fmla="*/ 45517 h 227194"/>
                <a:gd name="connsiteX9" fmla="*/ 99275 w 129909"/>
                <a:gd name="connsiteY9" fmla="*/ 108662 h 227194"/>
                <a:gd name="connsiteX10" fmla="*/ 33533 w 129909"/>
                <a:gd name="connsiteY10" fmla="*/ 108662 h 227194"/>
                <a:gd name="connsiteX11" fmla="*/ 96444 w 129909"/>
                <a:gd name="connsiteY11" fmla="*/ 118816 h 227194"/>
                <a:gd name="connsiteX12" fmla="*/ 74425 w 129909"/>
                <a:gd name="connsiteY12" fmla="*/ 183230 h 227194"/>
                <a:gd name="connsiteX13" fmla="*/ 37937 w 129909"/>
                <a:gd name="connsiteY13" fmla="*/ 220356 h 227194"/>
                <a:gd name="connsiteX14" fmla="*/ 20951 w 129909"/>
                <a:gd name="connsiteY14" fmla="*/ 181644 h 227194"/>
                <a:gd name="connsiteX15" fmla="*/ 31017 w 129909"/>
                <a:gd name="connsiteY15" fmla="*/ 118816 h 227194"/>
                <a:gd name="connsiteX16" fmla="*/ 96444 w 129909"/>
                <a:gd name="connsiteY16" fmla="*/ 118816 h 227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909" h="227194">
                  <a:moveTo>
                    <a:pt x="130101" y="65190"/>
                  </a:moveTo>
                  <a:cubicBezTo>
                    <a:pt x="130101" y="44248"/>
                    <a:pt x="124439" y="142"/>
                    <a:pt x="92354" y="142"/>
                  </a:cubicBezTo>
                  <a:cubicBezTo>
                    <a:pt x="48632" y="142"/>
                    <a:pt x="191" y="89623"/>
                    <a:pt x="191" y="162288"/>
                  </a:cubicBezTo>
                  <a:cubicBezTo>
                    <a:pt x="191" y="192115"/>
                    <a:pt x="9313" y="227336"/>
                    <a:pt x="37937" y="227336"/>
                  </a:cubicBezTo>
                  <a:cubicBezTo>
                    <a:pt x="82289" y="227336"/>
                    <a:pt x="130101" y="136268"/>
                    <a:pt x="130101" y="65190"/>
                  </a:cubicBezTo>
                  <a:close/>
                  <a:moveTo>
                    <a:pt x="33533" y="108662"/>
                  </a:moveTo>
                  <a:cubicBezTo>
                    <a:pt x="38881" y="88354"/>
                    <a:pt x="45172" y="62969"/>
                    <a:pt x="57754" y="40440"/>
                  </a:cubicBezTo>
                  <a:cubicBezTo>
                    <a:pt x="66247" y="24892"/>
                    <a:pt x="77885" y="7122"/>
                    <a:pt x="92040" y="7122"/>
                  </a:cubicBezTo>
                  <a:cubicBezTo>
                    <a:pt x="107453" y="7122"/>
                    <a:pt x="109340" y="27430"/>
                    <a:pt x="109340" y="45517"/>
                  </a:cubicBezTo>
                  <a:cubicBezTo>
                    <a:pt x="109340" y="61065"/>
                    <a:pt x="106824" y="77248"/>
                    <a:pt x="99275" y="108662"/>
                  </a:cubicBezTo>
                  <a:lnTo>
                    <a:pt x="33533" y="108662"/>
                  </a:lnTo>
                  <a:close/>
                  <a:moveTo>
                    <a:pt x="96444" y="118816"/>
                  </a:moveTo>
                  <a:cubicBezTo>
                    <a:pt x="92984" y="133412"/>
                    <a:pt x="86378" y="160384"/>
                    <a:pt x="74425" y="183230"/>
                  </a:cubicBezTo>
                  <a:cubicBezTo>
                    <a:pt x="63416" y="204807"/>
                    <a:pt x="51463" y="220356"/>
                    <a:pt x="37937" y="220356"/>
                  </a:cubicBezTo>
                  <a:cubicBezTo>
                    <a:pt x="27557" y="220356"/>
                    <a:pt x="20951" y="211154"/>
                    <a:pt x="20951" y="181644"/>
                  </a:cubicBezTo>
                  <a:cubicBezTo>
                    <a:pt x="20951" y="168317"/>
                    <a:pt x="22838" y="149913"/>
                    <a:pt x="31017" y="118816"/>
                  </a:cubicBezTo>
                  <a:lnTo>
                    <a:pt x="96444" y="118816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71" name="任意形状 10070">
              <a:extLst>
                <a:ext uri="{FF2B5EF4-FFF2-40B4-BE49-F238E27FC236}">
                  <a16:creationId xmlns:a16="http://schemas.microsoft.com/office/drawing/2014/main" id="{FA248F53-D592-4F11-B88A-520F52D41B3F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6941451" y="6235617"/>
              <a:ext cx="209177" cy="74250"/>
            </a:xfrm>
            <a:custGeom>
              <a:avLst/>
              <a:gdLst>
                <a:gd name="connsiteX0" fmla="*/ 198681 w 209177"/>
                <a:gd name="connsiteY0" fmla="*/ 12834 h 74250"/>
                <a:gd name="connsiteX1" fmla="*/ 209376 w 209177"/>
                <a:gd name="connsiteY1" fmla="*/ 6488 h 74250"/>
                <a:gd name="connsiteX2" fmla="*/ 198995 w 209177"/>
                <a:gd name="connsiteY2" fmla="*/ 142 h 74250"/>
                <a:gd name="connsiteX3" fmla="*/ 10579 w 209177"/>
                <a:gd name="connsiteY3" fmla="*/ 142 h 74250"/>
                <a:gd name="connsiteX4" fmla="*/ 198 w 209177"/>
                <a:gd name="connsiteY4" fmla="*/ 6488 h 74250"/>
                <a:gd name="connsiteX5" fmla="*/ 10893 w 209177"/>
                <a:gd name="connsiteY5" fmla="*/ 12834 h 74250"/>
                <a:gd name="connsiteX6" fmla="*/ 198681 w 209177"/>
                <a:gd name="connsiteY6" fmla="*/ 12834 h 74250"/>
                <a:gd name="connsiteX7" fmla="*/ 198995 w 209177"/>
                <a:gd name="connsiteY7" fmla="*/ 74392 h 74250"/>
                <a:gd name="connsiteX8" fmla="*/ 209376 w 209177"/>
                <a:gd name="connsiteY8" fmla="*/ 68046 h 74250"/>
                <a:gd name="connsiteX9" fmla="*/ 198681 w 209177"/>
                <a:gd name="connsiteY9" fmla="*/ 61700 h 74250"/>
                <a:gd name="connsiteX10" fmla="*/ 10893 w 209177"/>
                <a:gd name="connsiteY10" fmla="*/ 61700 h 74250"/>
                <a:gd name="connsiteX11" fmla="*/ 198 w 209177"/>
                <a:gd name="connsiteY11" fmla="*/ 68046 h 74250"/>
                <a:gd name="connsiteX12" fmla="*/ 10579 w 209177"/>
                <a:gd name="connsiteY12" fmla="*/ 74392 h 74250"/>
                <a:gd name="connsiteX13" fmla="*/ 198995 w 209177"/>
                <a:gd name="connsiteY13" fmla="*/ 74392 h 7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177" h="74250">
                  <a:moveTo>
                    <a:pt x="198681" y="12834"/>
                  </a:moveTo>
                  <a:cubicBezTo>
                    <a:pt x="203399" y="12834"/>
                    <a:pt x="209376" y="12834"/>
                    <a:pt x="209376" y="6488"/>
                  </a:cubicBezTo>
                  <a:cubicBezTo>
                    <a:pt x="209376" y="142"/>
                    <a:pt x="203399" y="142"/>
                    <a:pt x="198995" y="142"/>
                  </a:cubicBezTo>
                  <a:lnTo>
                    <a:pt x="10579" y="142"/>
                  </a:lnTo>
                  <a:cubicBezTo>
                    <a:pt x="6175" y="142"/>
                    <a:pt x="198" y="142"/>
                    <a:pt x="198" y="6488"/>
                  </a:cubicBezTo>
                  <a:cubicBezTo>
                    <a:pt x="198" y="12834"/>
                    <a:pt x="6175" y="12834"/>
                    <a:pt x="10893" y="12834"/>
                  </a:cubicBezTo>
                  <a:lnTo>
                    <a:pt x="198681" y="12834"/>
                  </a:lnTo>
                  <a:close/>
                  <a:moveTo>
                    <a:pt x="198995" y="74392"/>
                  </a:moveTo>
                  <a:cubicBezTo>
                    <a:pt x="203399" y="74392"/>
                    <a:pt x="209376" y="74392"/>
                    <a:pt x="209376" y="68046"/>
                  </a:cubicBezTo>
                  <a:cubicBezTo>
                    <a:pt x="209376" y="61700"/>
                    <a:pt x="203399" y="61700"/>
                    <a:pt x="198681" y="61700"/>
                  </a:cubicBezTo>
                  <a:lnTo>
                    <a:pt x="10893" y="61700"/>
                  </a:lnTo>
                  <a:cubicBezTo>
                    <a:pt x="6175" y="61700"/>
                    <a:pt x="198" y="61700"/>
                    <a:pt x="198" y="68046"/>
                  </a:cubicBezTo>
                  <a:cubicBezTo>
                    <a:pt x="198" y="74392"/>
                    <a:pt x="6175" y="74392"/>
                    <a:pt x="10579" y="74392"/>
                  </a:cubicBezTo>
                  <a:lnTo>
                    <a:pt x="198995" y="74392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72" name="任意形状 10071">
              <a:extLst>
                <a:ext uri="{FF2B5EF4-FFF2-40B4-BE49-F238E27FC236}">
                  <a16:creationId xmlns:a16="http://schemas.microsoft.com/office/drawing/2014/main" id="{A44FBD12-4645-D58B-4621-3513D77FF096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7269073" y="6128366"/>
              <a:ext cx="129909" cy="227194"/>
            </a:xfrm>
            <a:custGeom>
              <a:avLst/>
              <a:gdLst>
                <a:gd name="connsiteX0" fmla="*/ 130119 w 129909"/>
                <a:gd name="connsiteY0" fmla="*/ 65190 h 227194"/>
                <a:gd name="connsiteX1" fmla="*/ 92373 w 129909"/>
                <a:gd name="connsiteY1" fmla="*/ 142 h 227194"/>
                <a:gd name="connsiteX2" fmla="*/ 209 w 129909"/>
                <a:gd name="connsiteY2" fmla="*/ 162288 h 227194"/>
                <a:gd name="connsiteX3" fmla="*/ 37955 w 129909"/>
                <a:gd name="connsiteY3" fmla="*/ 227336 h 227194"/>
                <a:gd name="connsiteX4" fmla="*/ 130119 w 129909"/>
                <a:gd name="connsiteY4" fmla="*/ 65190 h 227194"/>
                <a:gd name="connsiteX5" fmla="*/ 33551 w 129909"/>
                <a:gd name="connsiteY5" fmla="*/ 108662 h 227194"/>
                <a:gd name="connsiteX6" fmla="*/ 57772 w 129909"/>
                <a:gd name="connsiteY6" fmla="*/ 40440 h 227194"/>
                <a:gd name="connsiteX7" fmla="*/ 92058 w 129909"/>
                <a:gd name="connsiteY7" fmla="*/ 7122 h 227194"/>
                <a:gd name="connsiteX8" fmla="*/ 109358 w 129909"/>
                <a:gd name="connsiteY8" fmla="*/ 45517 h 227194"/>
                <a:gd name="connsiteX9" fmla="*/ 99293 w 129909"/>
                <a:gd name="connsiteY9" fmla="*/ 108662 h 227194"/>
                <a:gd name="connsiteX10" fmla="*/ 33551 w 129909"/>
                <a:gd name="connsiteY10" fmla="*/ 108662 h 227194"/>
                <a:gd name="connsiteX11" fmla="*/ 96462 w 129909"/>
                <a:gd name="connsiteY11" fmla="*/ 118816 h 227194"/>
                <a:gd name="connsiteX12" fmla="*/ 74443 w 129909"/>
                <a:gd name="connsiteY12" fmla="*/ 183230 h 227194"/>
                <a:gd name="connsiteX13" fmla="*/ 37955 w 129909"/>
                <a:gd name="connsiteY13" fmla="*/ 220356 h 227194"/>
                <a:gd name="connsiteX14" fmla="*/ 20969 w 129909"/>
                <a:gd name="connsiteY14" fmla="*/ 181644 h 227194"/>
                <a:gd name="connsiteX15" fmla="*/ 31035 w 129909"/>
                <a:gd name="connsiteY15" fmla="*/ 118816 h 227194"/>
                <a:gd name="connsiteX16" fmla="*/ 96462 w 129909"/>
                <a:gd name="connsiteY16" fmla="*/ 118816 h 227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909" h="227194">
                  <a:moveTo>
                    <a:pt x="130119" y="65190"/>
                  </a:moveTo>
                  <a:cubicBezTo>
                    <a:pt x="130119" y="44248"/>
                    <a:pt x="124457" y="142"/>
                    <a:pt x="92373" y="142"/>
                  </a:cubicBezTo>
                  <a:cubicBezTo>
                    <a:pt x="48650" y="142"/>
                    <a:pt x="209" y="89623"/>
                    <a:pt x="209" y="162288"/>
                  </a:cubicBezTo>
                  <a:cubicBezTo>
                    <a:pt x="209" y="192115"/>
                    <a:pt x="9331" y="227336"/>
                    <a:pt x="37955" y="227336"/>
                  </a:cubicBezTo>
                  <a:cubicBezTo>
                    <a:pt x="82307" y="227336"/>
                    <a:pt x="130119" y="136268"/>
                    <a:pt x="130119" y="65190"/>
                  </a:cubicBezTo>
                  <a:close/>
                  <a:moveTo>
                    <a:pt x="33551" y="108662"/>
                  </a:moveTo>
                  <a:cubicBezTo>
                    <a:pt x="38899" y="88354"/>
                    <a:pt x="45190" y="62969"/>
                    <a:pt x="57772" y="40440"/>
                  </a:cubicBezTo>
                  <a:cubicBezTo>
                    <a:pt x="66265" y="24892"/>
                    <a:pt x="77903" y="7122"/>
                    <a:pt x="92058" y="7122"/>
                  </a:cubicBezTo>
                  <a:cubicBezTo>
                    <a:pt x="107471" y="7122"/>
                    <a:pt x="109358" y="27430"/>
                    <a:pt x="109358" y="45517"/>
                  </a:cubicBezTo>
                  <a:cubicBezTo>
                    <a:pt x="109358" y="61065"/>
                    <a:pt x="106842" y="77248"/>
                    <a:pt x="99293" y="108662"/>
                  </a:cubicBezTo>
                  <a:lnTo>
                    <a:pt x="33551" y="108662"/>
                  </a:lnTo>
                  <a:close/>
                  <a:moveTo>
                    <a:pt x="96462" y="118816"/>
                  </a:moveTo>
                  <a:cubicBezTo>
                    <a:pt x="93002" y="133412"/>
                    <a:pt x="86396" y="160384"/>
                    <a:pt x="74443" y="183230"/>
                  </a:cubicBezTo>
                  <a:cubicBezTo>
                    <a:pt x="63434" y="204807"/>
                    <a:pt x="51481" y="220356"/>
                    <a:pt x="37955" y="220356"/>
                  </a:cubicBezTo>
                  <a:cubicBezTo>
                    <a:pt x="27575" y="220356"/>
                    <a:pt x="20969" y="211154"/>
                    <a:pt x="20969" y="181644"/>
                  </a:cubicBezTo>
                  <a:cubicBezTo>
                    <a:pt x="20969" y="168317"/>
                    <a:pt x="22857" y="149913"/>
                    <a:pt x="31035" y="118816"/>
                  </a:cubicBezTo>
                  <a:lnTo>
                    <a:pt x="96462" y="118816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73" name="任意形状 10072">
              <a:extLst>
                <a:ext uri="{FF2B5EF4-FFF2-40B4-BE49-F238E27FC236}">
                  <a16:creationId xmlns:a16="http://schemas.microsoft.com/office/drawing/2014/main" id="{246D2381-726C-4650-D4F7-8F2C59114C0D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7508271" y="6266397"/>
              <a:ext cx="192191" cy="12692"/>
            </a:xfrm>
            <a:custGeom>
              <a:avLst/>
              <a:gdLst>
                <a:gd name="connsiteX0" fmla="*/ 181398 w 192191"/>
                <a:gd name="connsiteY0" fmla="*/ 12834 h 12692"/>
                <a:gd name="connsiteX1" fmla="*/ 192407 w 192191"/>
                <a:gd name="connsiteY1" fmla="*/ 6488 h 12692"/>
                <a:gd name="connsiteX2" fmla="*/ 181398 w 192191"/>
                <a:gd name="connsiteY2" fmla="*/ 142 h 12692"/>
                <a:gd name="connsiteX3" fmla="*/ 11225 w 192191"/>
                <a:gd name="connsiteY3" fmla="*/ 142 h 12692"/>
                <a:gd name="connsiteX4" fmla="*/ 216 w 192191"/>
                <a:gd name="connsiteY4" fmla="*/ 6488 h 12692"/>
                <a:gd name="connsiteX5" fmla="*/ 11225 w 192191"/>
                <a:gd name="connsiteY5" fmla="*/ 12834 h 12692"/>
                <a:gd name="connsiteX6" fmla="*/ 181398 w 192191"/>
                <a:gd name="connsiteY6" fmla="*/ 12834 h 12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91" h="12692">
                  <a:moveTo>
                    <a:pt x="181398" y="12834"/>
                  </a:moveTo>
                  <a:cubicBezTo>
                    <a:pt x="186745" y="12834"/>
                    <a:pt x="192407" y="12834"/>
                    <a:pt x="192407" y="6488"/>
                  </a:cubicBezTo>
                  <a:cubicBezTo>
                    <a:pt x="192407" y="142"/>
                    <a:pt x="186745" y="142"/>
                    <a:pt x="181398" y="142"/>
                  </a:cubicBezTo>
                  <a:lnTo>
                    <a:pt x="11225" y="142"/>
                  </a:lnTo>
                  <a:cubicBezTo>
                    <a:pt x="5878" y="142"/>
                    <a:pt x="216" y="142"/>
                    <a:pt x="216" y="6488"/>
                  </a:cubicBezTo>
                  <a:cubicBezTo>
                    <a:pt x="216" y="12834"/>
                    <a:pt x="5878" y="12834"/>
                    <a:pt x="11225" y="12834"/>
                  </a:cubicBezTo>
                  <a:lnTo>
                    <a:pt x="181398" y="12834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74" name="任意形状 10073">
              <a:extLst>
                <a:ext uri="{FF2B5EF4-FFF2-40B4-BE49-F238E27FC236}">
                  <a16:creationId xmlns:a16="http://schemas.microsoft.com/office/drawing/2014/main" id="{7AF1B6B1-9F43-9203-D206-D5FF0BC7BFF0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7805837" y="6211819"/>
              <a:ext cx="146895" cy="208790"/>
            </a:xfrm>
            <a:custGeom>
              <a:avLst/>
              <a:gdLst>
                <a:gd name="connsiteX0" fmla="*/ 144605 w 146895"/>
                <a:gd name="connsiteY0" fmla="*/ 52498 h 208790"/>
                <a:gd name="connsiteX1" fmla="*/ 147122 w 146895"/>
                <a:gd name="connsiteY1" fmla="*/ 34094 h 208790"/>
                <a:gd name="connsiteX2" fmla="*/ 110948 w 146895"/>
                <a:gd name="connsiteY2" fmla="*/ 142 h 208790"/>
                <a:gd name="connsiteX3" fmla="*/ 62193 w 146895"/>
                <a:gd name="connsiteY3" fmla="*/ 27748 h 208790"/>
                <a:gd name="connsiteX4" fmla="*/ 33254 w 146895"/>
                <a:gd name="connsiteY4" fmla="*/ 142 h 208790"/>
                <a:gd name="connsiteX5" fmla="*/ 9977 w 146895"/>
                <a:gd name="connsiteY5" fmla="*/ 18228 h 208790"/>
                <a:gd name="connsiteX6" fmla="*/ 226 w 146895"/>
                <a:gd name="connsiteY6" fmla="*/ 49008 h 208790"/>
                <a:gd name="connsiteX7" fmla="*/ 4001 w 146895"/>
                <a:gd name="connsiteY7" fmla="*/ 52181 h 208790"/>
                <a:gd name="connsiteX8" fmla="*/ 9348 w 146895"/>
                <a:gd name="connsiteY8" fmla="*/ 44883 h 208790"/>
                <a:gd name="connsiteX9" fmla="*/ 32310 w 146895"/>
                <a:gd name="connsiteY9" fmla="*/ 7122 h 208790"/>
                <a:gd name="connsiteX10" fmla="*/ 42061 w 146895"/>
                <a:gd name="connsiteY10" fmla="*/ 21719 h 208790"/>
                <a:gd name="connsiteX11" fmla="*/ 37029 w 146895"/>
                <a:gd name="connsiteY11" fmla="*/ 48373 h 208790"/>
                <a:gd name="connsiteX12" fmla="*/ 18785 w 146895"/>
                <a:gd name="connsiteY12" fmla="*/ 121672 h 208790"/>
                <a:gd name="connsiteX13" fmla="*/ 15954 w 146895"/>
                <a:gd name="connsiteY13" fmla="*/ 135316 h 208790"/>
                <a:gd name="connsiteX14" fmla="*/ 25076 w 146895"/>
                <a:gd name="connsiteY14" fmla="*/ 143884 h 208790"/>
                <a:gd name="connsiteX15" fmla="*/ 36714 w 146895"/>
                <a:gd name="connsiteY15" fmla="*/ 134999 h 208790"/>
                <a:gd name="connsiteX16" fmla="*/ 42691 w 146895"/>
                <a:gd name="connsiteY16" fmla="*/ 111518 h 208790"/>
                <a:gd name="connsiteX17" fmla="*/ 49611 w 146895"/>
                <a:gd name="connsiteY17" fmla="*/ 82960 h 208790"/>
                <a:gd name="connsiteX18" fmla="*/ 54958 w 146895"/>
                <a:gd name="connsiteY18" fmla="*/ 61700 h 208790"/>
                <a:gd name="connsiteX19" fmla="*/ 58418 w 146895"/>
                <a:gd name="connsiteY19" fmla="*/ 47421 h 208790"/>
                <a:gd name="connsiteX20" fmla="*/ 79808 w 146895"/>
                <a:gd name="connsiteY20" fmla="*/ 18228 h 208790"/>
                <a:gd name="connsiteX21" fmla="*/ 110005 w 146895"/>
                <a:gd name="connsiteY21" fmla="*/ 7122 h 208790"/>
                <a:gd name="connsiteX22" fmla="*/ 126991 w 146895"/>
                <a:gd name="connsiteY22" fmla="*/ 29334 h 208790"/>
                <a:gd name="connsiteX23" fmla="*/ 123845 w 146895"/>
                <a:gd name="connsiteY23" fmla="*/ 49325 h 208790"/>
                <a:gd name="connsiteX24" fmla="*/ 87986 w 146895"/>
                <a:gd name="connsiteY24" fmla="*/ 195288 h 208790"/>
                <a:gd name="connsiteX25" fmla="*/ 87042 w 146895"/>
                <a:gd name="connsiteY25" fmla="*/ 200365 h 208790"/>
                <a:gd name="connsiteX26" fmla="*/ 95850 w 146895"/>
                <a:gd name="connsiteY26" fmla="*/ 208932 h 208790"/>
                <a:gd name="connsiteX27" fmla="*/ 108746 w 146895"/>
                <a:gd name="connsiteY27" fmla="*/ 196240 h 208790"/>
                <a:gd name="connsiteX28" fmla="*/ 144605 w 146895"/>
                <a:gd name="connsiteY28" fmla="*/ 52498 h 208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46895" h="208790">
                  <a:moveTo>
                    <a:pt x="144605" y="52498"/>
                  </a:moveTo>
                  <a:cubicBezTo>
                    <a:pt x="146178" y="46786"/>
                    <a:pt x="147122" y="42661"/>
                    <a:pt x="147122" y="34094"/>
                  </a:cubicBezTo>
                  <a:cubicBezTo>
                    <a:pt x="147122" y="13469"/>
                    <a:pt x="134540" y="142"/>
                    <a:pt x="110948" y="142"/>
                  </a:cubicBezTo>
                  <a:cubicBezTo>
                    <a:pt x="86099" y="142"/>
                    <a:pt x="69742" y="16642"/>
                    <a:pt x="62193" y="27748"/>
                  </a:cubicBezTo>
                  <a:cubicBezTo>
                    <a:pt x="60620" y="9661"/>
                    <a:pt x="47409" y="142"/>
                    <a:pt x="33254" y="142"/>
                  </a:cubicBezTo>
                  <a:cubicBezTo>
                    <a:pt x="18785" y="142"/>
                    <a:pt x="12808" y="12517"/>
                    <a:pt x="9977" y="18228"/>
                  </a:cubicBezTo>
                  <a:cubicBezTo>
                    <a:pt x="4315" y="29017"/>
                    <a:pt x="226" y="48056"/>
                    <a:pt x="226" y="49008"/>
                  </a:cubicBezTo>
                  <a:cubicBezTo>
                    <a:pt x="226" y="52181"/>
                    <a:pt x="3372" y="52181"/>
                    <a:pt x="4001" y="52181"/>
                  </a:cubicBezTo>
                  <a:cubicBezTo>
                    <a:pt x="7146" y="52181"/>
                    <a:pt x="7461" y="51863"/>
                    <a:pt x="9348" y="44883"/>
                  </a:cubicBezTo>
                  <a:cubicBezTo>
                    <a:pt x="14695" y="22353"/>
                    <a:pt x="20986" y="7122"/>
                    <a:pt x="32310" y="7122"/>
                  </a:cubicBezTo>
                  <a:cubicBezTo>
                    <a:pt x="37658" y="7122"/>
                    <a:pt x="42061" y="9661"/>
                    <a:pt x="42061" y="21719"/>
                  </a:cubicBezTo>
                  <a:cubicBezTo>
                    <a:pt x="42061" y="28382"/>
                    <a:pt x="41118" y="31873"/>
                    <a:pt x="37029" y="48373"/>
                  </a:cubicBezTo>
                  <a:lnTo>
                    <a:pt x="18785" y="121672"/>
                  </a:lnTo>
                  <a:cubicBezTo>
                    <a:pt x="17841" y="126432"/>
                    <a:pt x="15954" y="133730"/>
                    <a:pt x="15954" y="135316"/>
                  </a:cubicBezTo>
                  <a:cubicBezTo>
                    <a:pt x="15954" y="141028"/>
                    <a:pt x="20357" y="143884"/>
                    <a:pt x="25076" y="143884"/>
                  </a:cubicBezTo>
                  <a:cubicBezTo>
                    <a:pt x="28850" y="143884"/>
                    <a:pt x="34512" y="141345"/>
                    <a:pt x="36714" y="134999"/>
                  </a:cubicBezTo>
                  <a:cubicBezTo>
                    <a:pt x="37029" y="134364"/>
                    <a:pt x="40803" y="119451"/>
                    <a:pt x="42691" y="111518"/>
                  </a:cubicBezTo>
                  <a:lnTo>
                    <a:pt x="49611" y="82960"/>
                  </a:lnTo>
                  <a:cubicBezTo>
                    <a:pt x="51498" y="75979"/>
                    <a:pt x="53385" y="68998"/>
                    <a:pt x="54958" y="61700"/>
                  </a:cubicBezTo>
                  <a:cubicBezTo>
                    <a:pt x="55587" y="59796"/>
                    <a:pt x="58104" y="49325"/>
                    <a:pt x="58418" y="47421"/>
                  </a:cubicBezTo>
                  <a:cubicBezTo>
                    <a:pt x="59362" y="44565"/>
                    <a:pt x="69113" y="26796"/>
                    <a:pt x="79808" y="18228"/>
                  </a:cubicBezTo>
                  <a:cubicBezTo>
                    <a:pt x="86728" y="13151"/>
                    <a:pt x="96479" y="7122"/>
                    <a:pt x="110005" y="7122"/>
                  </a:cubicBezTo>
                  <a:cubicBezTo>
                    <a:pt x="123530" y="7122"/>
                    <a:pt x="126991" y="17911"/>
                    <a:pt x="126991" y="29334"/>
                  </a:cubicBezTo>
                  <a:cubicBezTo>
                    <a:pt x="126991" y="30921"/>
                    <a:pt x="126991" y="36632"/>
                    <a:pt x="123845" y="49325"/>
                  </a:cubicBezTo>
                  <a:lnTo>
                    <a:pt x="87986" y="195288"/>
                  </a:lnTo>
                  <a:cubicBezTo>
                    <a:pt x="87042" y="199096"/>
                    <a:pt x="87042" y="199730"/>
                    <a:pt x="87042" y="200365"/>
                  </a:cubicBezTo>
                  <a:cubicBezTo>
                    <a:pt x="87042" y="205125"/>
                    <a:pt x="90502" y="208932"/>
                    <a:pt x="95850" y="208932"/>
                  </a:cubicBezTo>
                  <a:cubicBezTo>
                    <a:pt x="105601" y="208932"/>
                    <a:pt x="107803" y="199730"/>
                    <a:pt x="108746" y="196240"/>
                  </a:cubicBezTo>
                  <a:lnTo>
                    <a:pt x="144605" y="52498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75" name="任意形状 10074">
              <a:extLst>
                <a:ext uri="{FF2B5EF4-FFF2-40B4-BE49-F238E27FC236}">
                  <a16:creationId xmlns:a16="http://schemas.microsoft.com/office/drawing/2014/main" id="{205DA39F-BE0A-28A2-762B-12D37B3716EA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8581184" y="5917193"/>
              <a:ext cx="83985" cy="48865"/>
            </a:xfrm>
            <a:custGeom>
              <a:avLst/>
              <a:gdLst>
                <a:gd name="connsiteX0" fmla="*/ 42400 w 83985"/>
                <a:gd name="connsiteY0" fmla="*/ 135 h 48865"/>
                <a:gd name="connsiteX1" fmla="*/ 250 w 83985"/>
                <a:gd name="connsiteY1" fmla="*/ 43289 h 48865"/>
                <a:gd name="connsiteX2" fmla="*/ 5912 w 83985"/>
                <a:gd name="connsiteY2" fmla="*/ 49001 h 48865"/>
                <a:gd name="connsiteX3" fmla="*/ 42400 w 83985"/>
                <a:gd name="connsiteY3" fmla="*/ 16635 h 48865"/>
                <a:gd name="connsiteX4" fmla="*/ 78573 w 83985"/>
                <a:gd name="connsiteY4" fmla="*/ 49001 h 48865"/>
                <a:gd name="connsiteX5" fmla="*/ 84235 w 83985"/>
                <a:gd name="connsiteY5" fmla="*/ 43289 h 48865"/>
                <a:gd name="connsiteX6" fmla="*/ 42400 w 83985"/>
                <a:gd name="connsiteY6" fmla="*/ 135 h 48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985" h="48865">
                  <a:moveTo>
                    <a:pt x="42400" y="135"/>
                  </a:moveTo>
                  <a:lnTo>
                    <a:pt x="250" y="43289"/>
                  </a:lnTo>
                  <a:lnTo>
                    <a:pt x="5912" y="49001"/>
                  </a:lnTo>
                  <a:lnTo>
                    <a:pt x="42400" y="16635"/>
                  </a:lnTo>
                  <a:lnTo>
                    <a:pt x="78573" y="49001"/>
                  </a:lnTo>
                  <a:lnTo>
                    <a:pt x="84235" y="43289"/>
                  </a:lnTo>
                  <a:lnTo>
                    <a:pt x="42400" y="135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76" name="任意形状 10075">
              <a:extLst>
                <a:ext uri="{FF2B5EF4-FFF2-40B4-BE49-F238E27FC236}">
                  <a16:creationId xmlns:a16="http://schemas.microsoft.com/office/drawing/2014/main" id="{758E31D8-B25B-0EFA-C772-0D7E965FF3E7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8494366" y="5997156"/>
              <a:ext cx="257618" cy="143741"/>
            </a:xfrm>
            <a:custGeom>
              <a:avLst/>
              <a:gdLst>
                <a:gd name="connsiteX0" fmla="*/ 18806 w 257618"/>
                <a:gd name="connsiteY0" fmla="*/ 121665 h 143741"/>
                <a:gd name="connsiteX1" fmla="*/ 15975 w 257618"/>
                <a:gd name="connsiteY1" fmla="*/ 135309 h 143741"/>
                <a:gd name="connsiteX2" fmla="*/ 25097 w 257618"/>
                <a:gd name="connsiteY2" fmla="*/ 143877 h 143741"/>
                <a:gd name="connsiteX3" fmla="*/ 36736 w 257618"/>
                <a:gd name="connsiteY3" fmla="*/ 134992 h 143741"/>
                <a:gd name="connsiteX4" fmla="*/ 42712 w 257618"/>
                <a:gd name="connsiteY4" fmla="*/ 111511 h 143741"/>
                <a:gd name="connsiteX5" fmla="*/ 49632 w 257618"/>
                <a:gd name="connsiteY5" fmla="*/ 82953 h 143741"/>
                <a:gd name="connsiteX6" fmla="*/ 54980 w 257618"/>
                <a:gd name="connsiteY6" fmla="*/ 61693 h 143741"/>
                <a:gd name="connsiteX7" fmla="*/ 59069 w 257618"/>
                <a:gd name="connsiteY7" fmla="*/ 45828 h 143741"/>
                <a:gd name="connsiteX8" fmla="*/ 110341 w 257618"/>
                <a:gd name="connsiteY8" fmla="*/ 7116 h 143741"/>
                <a:gd name="connsiteX9" fmla="*/ 127327 w 257618"/>
                <a:gd name="connsiteY9" fmla="*/ 29328 h 143741"/>
                <a:gd name="connsiteX10" fmla="*/ 122609 w 257618"/>
                <a:gd name="connsiteY10" fmla="*/ 55664 h 143741"/>
                <a:gd name="connsiteX11" fmla="*/ 113801 w 257618"/>
                <a:gd name="connsiteY11" fmla="*/ 92472 h 143741"/>
                <a:gd name="connsiteX12" fmla="*/ 107510 w 257618"/>
                <a:gd name="connsiteY12" fmla="*/ 116588 h 143741"/>
                <a:gd name="connsiteX13" fmla="*/ 103421 w 257618"/>
                <a:gd name="connsiteY13" fmla="*/ 135309 h 143741"/>
                <a:gd name="connsiteX14" fmla="*/ 112543 w 257618"/>
                <a:gd name="connsiteY14" fmla="*/ 143877 h 143741"/>
                <a:gd name="connsiteX15" fmla="*/ 126698 w 257618"/>
                <a:gd name="connsiteY15" fmla="*/ 125790 h 143741"/>
                <a:gd name="connsiteX16" fmla="*/ 145571 w 257618"/>
                <a:gd name="connsiteY16" fmla="*/ 49318 h 143741"/>
                <a:gd name="connsiteX17" fmla="*/ 197472 w 257618"/>
                <a:gd name="connsiteY17" fmla="*/ 7116 h 143741"/>
                <a:gd name="connsiteX18" fmla="*/ 214458 w 257618"/>
                <a:gd name="connsiteY18" fmla="*/ 29328 h 143741"/>
                <a:gd name="connsiteX19" fmla="*/ 194956 w 257618"/>
                <a:gd name="connsiteY19" fmla="*/ 100405 h 143741"/>
                <a:gd name="connsiteX20" fmla="*/ 190866 w 257618"/>
                <a:gd name="connsiteY20" fmla="*/ 117857 h 143741"/>
                <a:gd name="connsiteX21" fmla="*/ 216660 w 257618"/>
                <a:gd name="connsiteY21" fmla="*/ 143877 h 143741"/>
                <a:gd name="connsiteX22" fmla="*/ 257866 w 257618"/>
                <a:gd name="connsiteY22" fmla="*/ 95011 h 143741"/>
                <a:gd name="connsiteX23" fmla="*/ 254091 w 257618"/>
                <a:gd name="connsiteY23" fmla="*/ 91838 h 143741"/>
                <a:gd name="connsiteX24" fmla="*/ 249373 w 257618"/>
                <a:gd name="connsiteY24" fmla="*/ 97549 h 143741"/>
                <a:gd name="connsiteX25" fmla="*/ 217289 w 257618"/>
                <a:gd name="connsiteY25" fmla="*/ 136896 h 143741"/>
                <a:gd name="connsiteX26" fmla="*/ 209740 w 257618"/>
                <a:gd name="connsiteY26" fmla="*/ 126425 h 143741"/>
                <a:gd name="connsiteX27" fmla="*/ 215401 w 257618"/>
                <a:gd name="connsiteY27" fmla="*/ 103896 h 143741"/>
                <a:gd name="connsiteX28" fmla="*/ 234589 w 257618"/>
                <a:gd name="connsiteY28" fmla="*/ 34087 h 143741"/>
                <a:gd name="connsiteX29" fmla="*/ 198416 w 257618"/>
                <a:gd name="connsiteY29" fmla="*/ 135 h 143741"/>
                <a:gd name="connsiteX30" fmla="*/ 147144 w 257618"/>
                <a:gd name="connsiteY30" fmla="*/ 30914 h 143741"/>
                <a:gd name="connsiteX31" fmla="*/ 137078 w 257618"/>
                <a:gd name="connsiteY31" fmla="*/ 8385 h 143741"/>
                <a:gd name="connsiteX32" fmla="*/ 111285 w 257618"/>
                <a:gd name="connsiteY32" fmla="*/ 135 h 143741"/>
                <a:gd name="connsiteX33" fmla="*/ 62215 w 257618"/>
                <a:gd name="connsiteY33" fmla="*/ 27741 h 143741"/>
                <a:gd name="connsiteX34" fmla="*/ 33276 w 257618"/>
                <a:gd name="connsiteY34" fmla="*/ 135 h 143741"/>
                <a:gd name="connsiteX35" fmla="*/ 9999 w 257618"/>
                <a:gd name="connsiteY35" fmla="*/ 18222 h 143741"/>
                <a:gd name="connsiteX36" fmla="*/ 248 w 257618"/>
                <a:gd name="connsiteY36" fmla="*/ 49001 h 143741"/>
                <a:gd name="connsiteX37" fmla="*/ 4022 w 257618"/>
                <a:gd name="connsiteY37" fmla="*/ 52174 h 143741"/>
                <a:gd name="connsiteX38" fmla="*/ 9370 w 257618"/>
                <a:gd name="connsiteY38" fmla="*/ 44876 h 143741"/>
                <a:gd name="connsiteX39" fmla="*/ 32332 w 257618"/>
                <a:gd name="connsiteY39" fmla="*/ 7116 h 143741"/>
                <a:gd name="connsiteX40" fmla="*/ 42083 w 257618"/>
                <a:gd name="connsiteY40" fmla="*/ 21712 h 143741"/>
                <a:gd name="connsiteX41" fmla="*/ 37050 w 257618"/>
                <a:gd name="connsiteY41" fmla="*/ 48366 h 143741"/>
                <a:gd name="connsiteX42" fmla="*/ 18806 w 257618"/>
                <a:gd name="connsiteY42" fmla="*/ 121665 h 14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7618" h="143741">
                  <a:moveTo>
                    <a:pt x="18806" y="121665"/>
                  </a:moveTo>
                  <a:cubicBezTo>
                    <a:pt x="17863" y="126425"/>
                    <a:pt x="15975" y="133723"/>
                    <a:pt x="15975" y="135309"/>
                  </a:cubicBezTo>
                  <a:cubicBezTo>
                    <a:pt x="15975" y="141021"/>
                    <a:pt x="20379" y="143877"/>
                    <a:pt x="25097" y="143877"/>
                  </a:cubicBezTo>
                  <a:cubicBezTo>
                    <a:pt x="28872" y="143877"/>
                    <a:pt x="34534" y="141338"/>
                    <a:pt x="36736" y="134992"/>
                  </a:cubicBezTo>
                  <a:cubicBezTo>
                    <a:pt x="37050" y="134358"/>
                    <a:pt x="40825" y="119444"/>
                    <a:pt x="42712" y="111511"/>
                  </a:cubicBezTo>
                  <a:lnTo>
                    <a:pt x="49632" y="82953"/>
                  </a:lnTo>
                  <a:cubicBezTo>
                    <a:pt x="51520" y="75972"/>
                    <a:pt x="53407" y="68991"/>
                    <a:pt x="54980" y="61693"/>
                  </a:cubicBezTo>
                  <a:cubicBezTo>
                    <a:pt x="56238" y="56299"/>
                    <a:pt x="58755" y="47097"/>
                    <a:pt x="59069" y="45828"/>
                  </a:cubicBezTo>
                  <a:cubicBezTo>
                    <a:pt x="63787" y="35991"/>
                    <a:pt x="80459" y="7116"/>
                    <a:pt x="110341" y="7116"/>
                  </a:cubicBezTo>
                  <a:cubicBezTo>
                    <a:pt x="124496" y="7116"/>
                    <a:pt x="127327" y="18856"/>
                    <a:pt x="127327" y="29328"/>
                  </a:cubicBezTo>
                  <a:cubicBezTo>
                    <a:pt x="127327" y="37260"/>
                    <a:pt x="125125" y="46145"/>
                    <a:pt x="122609" y="55664"/>
                  </a:cubicBezTo>
                  <a:lnTo>
                    <a:pt x="113801" y="92472"/>
                  </a:lnTo>
                  <a:lnTo>
                    <a:pt x="107510" y="116588"/>
                  </a:lnTo>
                  <a:cubicBezTo>
                    <a:pt x="106252" y="122934"/>
                    <a:pt x="103421" y="133723"/>
                    <a:pt x="103421" y="135309"/>
                  </a:cubicBezTo>
                  <a:cubicBezTo>
                    <a:pt x="103421" y="141021"/>
                    <a:pt x="107825" y="143877"/>
                    <a:pt x="112543" y="143877"/>
                  </a:cubicBezTo>
                  <a:cubicBezTo>
                    <a:pt x="122294" y="143877"/>
                    <a:pt x="124181" y="135944"/>
                    <a:pt x="126698" y="125790"/>
                  </a:cubicBezTo>
                  <a:cubicBezTo>
                    <a:pt x="131101" y="108021"/>
                    <a:pt x="142740" y="61693"/>
                    <a:pt x="145571" y="49318"/>
                  </a:cubicBezTo>
                  <a:cubicBezTo>
                    <a:pt x="146515" y="45193"/>
                    <a:pt x="163186" y="7116"/>
                    <a:pt x="197472" y="7116"/>
                  </a:cubicBezTo>
                  <a:cubicBezTo>
                    <a:pt x="210998" y="7116"/>
                    <a:pt x="214458" y="17904"/>
                    <a:pt x="214458" y="29328"/>
                  </a:cubicBezTo>
                  <a:cubicBezTo>
                    <a:pt x="214458" y="47414"/>
                    <a:pt x="201247" y="83588"/>
                    <a:pt x="194956" y="100405"/>
                  </a:cubicBezTo>
                  <a:cubicBezTo>
                    <a:pt x="192125" y="108021"/>
                    <a:pt x="190866" y="111511"/>
                    <a:pt x="190866" y="117857"/>
                  </a:cubicBezTo>
                  <a:cubicBezTo>
                    <a:pt x="190866" y="132771"/>
                    <a:pt x="201876" y="143877"/>
                    <a:pt x="216660" y="143877"/>
                  </a:cubicBezTo>
                  <a:cubicBezTo>
                    <a:pt x="246228" y="143877"/>
                    <a:pt x="257866" y="97549"/>
                    <a:pt x="257866" y="95011"/>
                  </a:cubicBezTo>
                  <a:cubicBezTo>
                    <a:pt x="257866" y="91838"/>
                    <a:pt x="255035" y="91838"/>
                    <a:pt x="254091" y="91838"/>
                  </a:cubicBezTo>
                  <a:cubicBezTo>
                    <a:pt x="250946" y="91838"/>
                    <a:pt x="250946" y="92790"/>
                    <a:pt x="249373" y="97549"/>
                  </a:cubicBezTo>
                  <a:cubicBezTo>
                    <a:pt x="244655" y="114367"/>
                    <a:pt x="234589" y="136896"/>
                    <a:pt x="217289" y="136896"/>
                  </a:cubicBezTo>
                  <a:cubicBezTo>
                    <a:pt x="211941" y="136896"/>
                    <a:pt x="209740" y="133723"/>
                    <a:pt x="209740" y="126425"/>
                  </a:cubicBezTo>
                  <a:cubicBezTo>
                    <a:pt x="209740" y="118492"/>
                    <a:pt x="212570" y="110876"/>
                    <a:pt x="215401" y="103896"/>
                  </a:cubicBezTo>
                  <a:cubicBezTo>
                    <a:pt x="221378" y="87395"/>
                    <a:pt x="234589" y="52174"/>
                    <a:pt x="234589" y="34087"/>
                  </a:cubicBezTo>
                  <a:cubicBezTo>
                    <a:pt x="234589" y="13462"/>
                    <a:pt x="222007" y="135"/>
                    <a:pt x="198416" y="135"/>
                  </a:cubicBezTo>
                  <a:cubicBezTo>
                    <a:pt x="174824" y="135"/>
                    <a:pt x="158782" y="14097"/>
                    <a:pt x="147144" y="30914"/>
                  </a:cubicBezTo>
                  <a:cubicBezTo>
                    <a:pt x="146829" y="26789"/>
                    <a:pt x="145885" y="16000"/>
                    <a:pt x="137078" y="8385"/>
                  </a:cubicBezTo>
                  <a:cubicBezTo>
                    <a:pt x="129214" y="1721"/>
                    <a:pt x="119149" y="135"/>
                    <a:pt x="111285" y="135"/>
                  </a:cubicBezTo>
                  <a:cubicBezTo>
                    <a:pt x="82975" y="135"/>
                    <a:pt x="67562" y="20443"/>
                    <a:pt x="62215" y="27741"/>
                  </a:cubicBezTo>
                  <a:cubicBezTo>
                    <a:pt x="60642" y="9654"/>
                    <a:pt x="47431" y="135"/>
                    <a:pt x="33276" y="135"/>
                  </a:cubicBezTo>
                  <a:cubicBezTo>
                    <a:pt x="18806" y="135"/>
                    <a:pt x="12830" y="12510"/>
                    <a:pt x="9999" y="18222"/>
                  </a:cubicBezTo>
                  <a:cubicBezTo>
                    <a:pt x="4337" y="29328"/>
                    <a:pt x="248" y="48049"/>
                    <a:pt x="248" y="49001"/>
                  </a:cubicBezTo>
                  <a:cubicBezTo>
                    <a:pt x="248" y="52174"/>
                    <a:pt x="3393" y="52174"/>
                    <a:pt x="4022" y="52174"/>
                  </a:cubicBezTo>
                  <a:cubicBezTo>
                    <a:pt x="7168" y="52174"/>
                    <a:pt x="7483" y="51857"/>
                    <a:pt x="9370" y="44876"/>
                  </a:cubicBezTo>
                  <a:cubicBezTo>
                    <a:pt x="14717" y="22347"/>
                    <a:pt x="21008" y="7116"/>
                    <a:pt x="32332" y="7116"/>
                  </a:cubicBezTo>
                  <a:cubicBezTo>
                    <a:pt x="37365" y="7116"/>
                    <a:pt x="42083" y="9654"/>
                    <a:pt x="42083" y="21712"/>
                  </a:cubicBezTo>
                  <a:cubicBezTo>
                    <a:pt x="42083" y="28376"/>
                    <a:pt x="41140" y="31866"/>
                    <a:pt x="37050" y="48366"/>
                  </a:cubicBezTo>
                  <a:lnTo>
                    <a:pt x="18806" y="121665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77" name="任意形状 10076">
              <a:extLst>
                <a:ext uri="{FF2B5EF4-FFF2-40B4-BE49-F238E27FC236}">
                  <a16:creationId xmlns:a16="http://schemas.microsoft.com/office/drawing/2014/main" id="{FC25F08E-7232-A060-1753-937AE2ABBCDC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8770673" y="6046180"/>
              <a:ext cx="74423" cy="141044"/>
            </a:xfrm>
            <a:custGeom>
              <a:avLst/>
              <a:gdLst>
                <a:gd name="connsiteX0" fmla="*/ 45175 w 74423"/>
                <a:gd name="connsiteY0" fmla="*/ 51223 h 141044"/>
                <a:gd name="connsiteX1" fmla="*/ 67634 w 74423"/>
                <a:gd name="connsiteY1" fmla="*/ 51223 h 141044"/>
                <a:gd name="connsiteX2" fmla="*/ 74680 w 74423"/>
                <a:gd name="connsiteY2" fmla="*/ 46337 h 141044"/>
                <a:gd name="connsiteX3" fmla="*/ 68074 w 74423"/>
                <a:gd name="connsiteY3" fmla="*/ 43227 h 141044"/>
                <a:gd name="connsiteX4" fmla="*/ 47156 w 74423"/>
                <a:gd name="connsiteY4" fmla="*/ 43227 h 141044"/>
                <a:gd name="connsiteX5" fmla="*/ 55303 w 74423"/>
                <a:gd name="connsiteY5" fmla="*/ 10354 h 141044"/>
                <a:gd name="connsiteX6" fmla="*/ 55964 w 74423"/>
                <a:gd name="connsiteY6" fmla="*/ 7244 h 141044"/>
                <a:gd name="connsiteX7" fmla="*/ 48477 w 74423"/>
                <a:gd name="connsiteY7" fmla="*/ 136 h 141044"/>
                <a:gd name="connsiteX8" fmla="*/ 38129 w 74423"/>
                <a:gd name="connsiteY8" fmla="*/ 9687 h 141044"/>
                <a:gd name="connsiteX9" fmla="*/ 29762 w 74423"/>
                <a:gd name="connsiteY9" fmla="*/ 43227 h 141044"/>
                <a:gd name="connsiteX10" fmla="*/ 7303 w 74423"/>
                <a:gd name="connsiteY10" fmla="*/ 43227 h 141044"/>
                <a:gd name="connsiteX11" fmla="*/ 257 w 74423"/>
                <a:gd name="connsiteY11" fmla="*/ 48114 h 141044"/>
                <a:gd name="connsiteX12" fmla="*/ 6862 w 74423"/>
                <a:gd name="connsiteY12" fmla="*/ 51223 h 141044"/>
                <a:gd name="connsiteX13" fmla="*/ 27780 w 74423"/>
                <a:gd name="connsiteY13" fmla="*/ 51223 h 141044"/>
                <a:gd name="connsiteX14" fmla="*/ 14789 w 74423"/>
                <a:gd name="connsiteY14" fmla="*/ 103643 h 141044"/>
                <a:gd name="connsiteX15" fmla="*/ 11486 w 74423"/>
                <a:gd name="connsiteY15" fmla="*/ 120080 h 141044"/>
                <a:gd name="connsiteX16" fmla="*/ 35046 w 74423"/>
                <a:gd name="connsiteY16" fmla="*/ 141181 h 141044"/>
                <a:gd name="connsiteX17" fmla="*/ 73358 w 74423"/>
                <a:gd name="connsiteY17" fmla="*/ 107197 h 141044"/>
                <a:gd name="connsiteX18" fmla="*/ 69836 w 74423"/>
                <a:gd name="connsiteY18" fmla="*/ 104310 h 141044"/>
                <a:gd name="connsiteX19" fmla="*/ 65212 w 74423"/>
                <a:gd name="connsiteY19" fmla="*/ 108530 h 141044"/>
                <a:gd name="connsiteX20" fmla="*/ 35707 w 74423"/>
                <a:gd name="connsiteY20" fmla="*/ 134962 h 141044"/>
                <a:gd name="connsiteX21" fmla="*/ 28000 w 74423"/>
                <a:gd name="connsiteY21" fmla="*/ 124078 h 141044"/>
                <a:gd name="connsiteX22" fmla="*/ 29321 w 74423"/>
                <a:gd name="connsiteY22" fmla="*/ 114971 h 141044"/>
                <a:gd name="connsiteX23" fmla="*/ 45175 w 74423"/>
                <a:gd name="connsiteY23" fmla="*/ 51223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75" y="51223"/>
                  </a:moveTo>
                  <a:lnTo>
                    <a:pt x="67634" y="51223"/>
                  </a:lnTo>
                  <a:cubicBezTo>
                    <a:pt x="71817" y="51223"/>
                    <a:pt x="74680" y="51223"/>
                    <a:pt x="74680" y="46337"/>
                  </a:cubicBezTo>
                  <a:cubicBezTo>
                    <a:pt x="74680" y="43227"/>
                    <a:pt x="71817" y="43227"/>
                    <a:pt x="68074" y="43227"/>
                  </a:cubicBezTo>
                  <a:lnTo>
                    <a:pt x="47156" y="43227"/>
                  </a:lnTo>
                  <a:lnTo>
                    <a:pt x="55303" y="10354"/>
                  </a:lnTo>
                  <a:cubicBezTo>
                    <a:pt x="55523" y="9243"/>
                    <a:pt x="55964" y="8133"/>
                    <a:pt x="55964" y="7244"/>
                  </a:cubicBezTo>
                  <a:cubicBezTo>
                    <a:pt x="55964" y="3246"/>
                    <a:pt x="52881" y="136"/>
                    <a:pt x="48477" y="136"/>
                  </a:cubicBezTo>
                  <a:cubicBezTo>
                    <a:pt x="42973" y="136"/>
                    <a:pt x="39670" y="3912"/>
                    <a:pt x="38129" y="9687"/>
                  </a:cubicBezTo>
                  <a:cubicBezTo>
                    <a:pt x="36587" y="15240"/>
                    <a:pt x="39450" y="4579"/>
                    <a:pt x="29762" y="43227"/>
                  </a:cubicBezTo>
                  <a:lnTo>
                    <a:pt x="7303" y="43227"/>
                  </a:lnTo>
                  <a:cubicBezTo>
                    <a:pt x="3119" y="43227"/>
                    <a:pt x="257" y="43227"/>
                    <a:pt x="257" y="48114"/>
                  </a:cubicBezTo>
                  <a:cubicBezTo>
                    <a:pt x="257" y="51223"/>
                    <a:pt x="2899" y="51223"/>
                    <a:pt x="6862" y="51223"/>
                  </a:cubicBezTo>
                  <a:lnTo>
                    <a:pt x="27780" y="51223"/>
                  </a:lnTo>
                  <a:lnTo>
                    <a:pt x="14789" y="103643"/>
                  </a:lnTo>
                  <a:cubicBezTo>
                    <a:pt x="13468" y="109196"/>
                    <a:pt x="11486" y="117192"/>
                    <a:pt x="11486" y="120080"/>
                  </a:cubicBezTo>
                  <a:cubicBezTo>
                    <a:pt x="11486" y="133185"/>
                    <a:pt x="22495" y="141181"/>
                    <a:pt x="35046" y="141181"/>
                  </a:cubicBezTo>
                  <a:cubicBezTo>
                    <a:pt x="59487" y="141181"/>
                    <a:pt x="73358" y="110085"/>
                    <a:pt x="73358" y="107197"/>
                  </a:cubicBezTo>
                  <a:cubicBezTo>
                    <a:pt x="73358" y="104310"/>
                    <a:pt x="70496" y="104310"/>
                    <a:pt x="69836" y="104310"/>
                  </a:cubicBezTo>
                  <a:cubicBezTo>
                    <a:pt x="67193" y="104310"/>
                    <a:pt x="66973" y="104754"/>
                    <a:pt x="65212" y="108530"/>
                  </a:cubicBezTo>
                  <a:cubicBezTo>
                    <a:pt x="59046" y="122523"/>
                    <a:pt x="47817" y="134962"/>
                    <a:pt x="35707" y="134962"/>
                  </a:cubicBezTo>
                  <a:cubicBezTo>
                    <a:pt x="31083" y="134962"/>
                    <a:pt x="28000" y="132074"/>
                    <a:pt x="28000" y="124078"/>
                  </a:cubicBezTo>
                  <a:cubicBezTo>
                    <a:pt x="28000" y="121857"/>
                    <a:pt x="28881" y="117192"/>
                    <a:pt x="29321" y="114971"/>
                  </a:cubicBezTo>
                  <a:lnTo>
                    <a:pt x="45175" y="51223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78" name="任意形状 10077">
              <a:extLst>
                <a:ext uri="{FF2B5EF4-FFF2-40B4-BE49-F238E27FC236}">
                  <a16:creationId xmlns:a16="http://schemas.microsoft.com/office/drawing/2014/main" id="{22FE995D-0DA9-5E2A-CE1B-921661A618C0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8001931" y="6266397"/>
              <a:ext cx="1353555" cy="12691"/>
            </a:xfrm>
            <a:custGeom>
              <a:avLst/>
              <a:gdLst>
                <a:gd name="connsiteX0" fmla="*/ 0 w 1353555"/>
                <a:gd name="connsiteY0" fmla="*/ 0 h 12691"/>
                <a:gd name="connsiteX1" fmla="*/ 1353556 w 1353555"/>
                <a:gd name="connsiteY1" fmla="*/ 0 h 12691"/>
                <a:gd name="connsiteX2" fmla="*/ 1353556 w 1353555"/>
                <a:gd name="connsiteY2" fmla="*/ 12692 h 12691"/>
                <a:gd name="connsiteX3" fmla="*/ 0 w 1353555"/>
                <a:gd name="connsiteY3" fmla="*/ 12692 h 1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3555" h="12691">
                  <a:moveTo>
                    <a:pt x="0" y="0"/>
                  </a:moveTo>
                  <a:lnTo>
                    <a:pt x="1353556" y="0"/>
                  </a:lnTo>
                  <a:lnTo>
                    <a:pt x="1353556" y="12692"/>
                  </a:lnTo>
                  <a:lnTo>
                    <a:pt x="0" y="12692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79" name="任意形状 10078">
              <a:extLst>
                <a:ext uri="{FF2B5EF4-FFF2-40B4-BE49-F238E27FC236}">
                  <a16:creationId xmlns:a16="http://schemas.microsoft.com/office/drawing/2014/main" id="{517BF65C-6052-5CBC-0BD2-DC72CD7B2642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8036532" y="6329855"/>
              <a:ext cx="286242" cy="380773"/>
            </a:xfrm>
            <a:custGeom>
              <a:avLst/>
              <a:gdLst>
                <a:gd name="connsiteX0" fmla="*/ 99002 w 286242"/>
                <a:gd name="connsiteY0" fmla="*/ 380915 h 380773"/>
                <a:gd name="connsiteX1" fmla="*/ 112213 w 286242"/>
                <a:gd name="connsiteY1" fmla="*/ 374569 h 380773"/>
                <a:gd name="connsiteX2" fmla="*/ 284273 w 286242"/>
                <a:gd name="connsiteY2" fmla="*/ 12199 h 380773"/>
                <a:gd name="connsiteX3" fmla="*/ 286475 w 286242"/>
                <a:gd name="connsiteY3" fmla="*/ 6488 h 380773"/>
                <a:gd name="connsiteX4" fmla="*/ 280184 w 286242"/>
                <a:gd name="connsiteY4" fmla="*/ 141 h 380773"/>
                <a:gd name="connsiteX5" fmla="*/ 273264 w 286242"/>
                <a:gd name="connsiteY5" fmla="*/ 6488 h 380773"/>
                <a:gd name="connsiteX6" fmla="*/ 110955 w 286242"/>
                <a:gd name="connsiteY6" fmla="*/ 347914 h 380773"/>
                <a:gd name="connsiteX7" fmla="*/ 43955 w 286242"/>
                <a:gd name="connsiteY7" fmla="*/ 190528 h 380773"/>
                <a:gd name="connsiteX8" fmla="*/ 233 w 286242"/>
                <a:gd name="connsiteY8" fmla="*/ 224480 h 380773"/>
                <a:gd name="connsiteX9" fmla="*/ 4951 w 286242"/>
                <a:gd name="connsiteY9" fmla="*/ 229557 h 380773"/>
                <a:gd name="connsiteX10" fmla="*/ 27284 w 286242"/>
                <a:gd name="connsiteY10" fmla="*/ 212423 h 380773"/>
                <a:gd name="connsiteX11" fmla="*/ 99002 w 286242"/>
                <a:gd name="connsiteY11" fmla="*/ 380915 h 38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242" h="380773">
                  <a:moveTo>
                    <a:pt x="99002" y="380915"/>
                  </a:moveTo>
                  <a:cubicBezTo>
                    <a:pt x="108753" y="380915"/>
                    <a:pt x="109068" y="380597"/>
                    <a:pt x="112213" y="374569"/>
                  </a:cubicBezTo>
                  <a:lnTo>
                    <a:pt x="284273" y="12199"/>
                  </a:lnTo>
                  <a:cubicBezTo>
                    <a:pt x="286475" y="8074"/>
                    <a:pt x="286475" y="7439"/>
                    <a:pt x="286475" y="6488"/>
                  </a:cubicBezTo>
                  <a:cubicBezTo>
                    <a:pt x="286475" y="2997"/>
                    <a:pt x="283959" y="141"/>
                    <a:pt x="280184" y="141"/>
                  </a:cubicBezTo>
                  <a:cubicBezTo>
                    <a:pt x="276095" y="141"/>
                    <a:pt x="274837" y="2997"/>
                    <a:pt x="273264" y="6488"/>
                  </a:cubicBezTo>
                  <a:lnTo>
                    <a:pt x="110955" y="347914"/>
                  </a:lnTo>
                  <a:lnTo>
                    <a:pt x="43955" y="190528"/>
                  </a:lnTo>
                  <a:lnTo>
                    <a:pt x="233" y="224480"/>
                  </a:lnTo>
                  <a:lnTo>
                    <a:pt x="4951" y="229557"/>
                  </a:lnTo>
                  <a:lnTo>
                    <a:pt x="27284" y="212423"/>
                  </a:lnTo>
                  <a:lnTo>
                    <a:pt x="99002" y="380915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80" name="任意形状 10079">
              <a:extLst>
                <a:ext uri="{FF2B5EF4-FFF2-40B4-BE49-F238E27FC236}">
                  <a16:creationId xmlns:a16="http://schemas.microsoft.com/office/drawing/2014/main" id="{EA3C9993-615A-2D0C-34DC-F0AAC290FFC5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8316484" y="6329855"/>
              <a:ext cx="1039002" cy="12691"/>
            </a:xfrm>
            <a:custGeom>
              <a:avLst/>
              <a:gdLst>
                <a:gd name="connsiteX0" fmla="*/ 0 w 1039002"/>
                <a:gd name="connsiteY0" fmla="*/ 0 h 12691"/>
                <a:gd name="connsiteX1" fmla="*/ 1039003 w 1039002"/>
                <a:gd name="connsiteY1" fmla="*/ 0 h 12691"/>
                <a:gd name="connsiteX2" fmla="*/ 1039003 w 1039002"/>
                <a:gd name="connsiteY2" fmla="*/ 12692 h 12691"/>
                <a:gd name="connsiteX3" fmla="*/ 0 w 1039002"/>
                <a:gd name="connsiteY3" fmla="*/ 12692 h 1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9002" h="12691">
                  <a:moveTo>
                    <a:pt x="0" y="0"/>
                  </a:moveTo>
                  <a:lnTo>
                    <a:pt x="1039003" y="0"/>
                  </a:lnTo>
                  <a:lnTo>
                    <a:pt x="1039003" y="12692"/>
                  </a:lnTo>
                  <a:lnTo>
                    <a:pt x="0" y="12692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81" name="任意形状 10080">
              <a:extLst>
                <a:ext uri="{FF2B5EF4-FFF2-40B4-BE49-F238E27FC236}">
                  <a16:creationId xmlns:a16="http://schemas.microsoft.com/office/drawing/2014/main" id="{911BD6EB-5118-B6CB-D9A4-9249DD66CFB3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8347625" y="6375866"/>
              <a:ext cx="72976" cy="317311"/>
            </a:xfrm>
            <a:custGeom>
              <a:avLst/>
              <a:gdLst>
                <a:gd name="connsiteX0" fmla="*/ 73219 w 72976"/>
                <a:gd name="connsiteY0" fmla="*/ 314288 h 317311"/>
                <a:gd name="connsiteX1" fmla="*/ 67871 w 72976"/>
                <a:gd name="connsiteY1" fmla="*/ 307307 h 317311"/>
                <a:gd name="connsiteX2" fmla="*/ 18487 w 72976"/>
                <a:gd name="connsiteY2" fmla="*/ 158805 h 317311"/>
                <a:gd name="connsiteX3" fmla="*/ 69129 w 72976"/>
                <a:gd name="connsiteY3" fmla="*/ 8717 h 317311"/>
                <a:gd name="connsiteX4" fmla="*/ 73219 w 72976"/>
                <a:gd name="connsiteY4" fmla="*/ 3323 h 317311"/>
                <a:gd name="connsiteX5" fmla="*/ 70073 w 72976"/>
                <a:gd name="connsiteY5" fmla="*/ 150 h 317311"/>
                <a:gd name="connsiteX6" fmla="*/ 20059 w 72976"/>
                <a:gd name="connsiteY6" fmla="*/ 62026 h 317311"/>
                <a:gd name="connsiteX7" fmla="*/ 242 w 72976"/>
                <a:gd name="connsiteY7" fmla="*/ 158805 h 317311"/>
                <a:gd name="connsiteX8" fmla="*/ 21003 w 72976"/>
                <a:gd name="connsiteY8" fmla="*/ 257807 h 317311"/>
                <a:gd name="connsiteX9" fmla="*/ 70073 w 72976"/>
                <a:gd name="connsiteY9" fmla="*/ 317461 h 317311"/>
                <a:gd name="connsiteX10" fmla="*/ 73219 w 72976"/>
                <a:gd name="connsiteY10" fmla="*/ 314288 h 31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976" h="317311">
                  <a:moveTo>
                    <a:pt x="73219" y="314288"/>
                  </a:moveTo>
                  <a:cubicBezTo>
                    <a:pt x="73219" y="313336"/>
                    <a:pt x="73219" y="312701"/>
                    <a:pt x="67871" y="307307"/>
                  </a:cubicBezTo>
                  <a:cubicBezTo>
                    <a:pt x="28552" y="267326"/>
                    <a:pt x="18487" y="207354"/>
                    <a:pt x="18487" y="158805"/>
                  </a:cubicBezTo>
                  <a:cubicBezTo>
                    <a:pt x="18487" y="103593"/>
                    <a:pt x="30440" y="48381"/>
                    <a:pt x="69129" y="8717"/>
                  </a:cubicBezTo>
                  <a:cubicBezTo>
                    <a:pt x="73219" y="4910"/>
                    <a:pt x="73219" y="4275"/>
                    <a:pt x="73219" y="3323"/>
                  </a:cubicBezTo>
                  <a:cubicBezTo>
                    <a:pt x="73219" y="1102"/>
                    <a:pt x="71960" y="150"/>
                    <a:pt x="70073" y="150"/>
                  </a:cubicBezTo>
                  <a:cubicBezTo>
                    <a:pt x="66928" y="150"/>
                    <a:pt x="38618" y="21727"/>
                    <a:pt x="20059" y="62026"/>
                  </a:cubicBezTo>
                  <a:cubicBezTo>
                    <a:pt x="4017" y="96930"/>
                    <a:pt x="242" y="132151"/>
                    <a:pt x="242" y="158805"/>
                  </a:cubicBezTo>
                  <a:cubicBezTo>
                    <a:pt x="242" y="183556"/>
                    <a:pt x="3703" y="221950"/>
                    <a:pt x="21003" y="257807"/>
                  </a:cubicBezTo>
                  <a:cubicBezTo>
                    <a:pt x="39876" y="296836"/>
                    <a:pt x="66928" y="317461"/>
                    <a:pt x="70073" y="317461"/>
                  </a:cubicBezTo>
                  <a:cubicBezTo>
                    <a:pt x="71960" y="317461"/>
                    <a:pt x="73219" y="316509"/>
                    <a:pt x="73219" y="314288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82" name="任意形状 10081">
              <a:extLst>
                <a:ext uri="{FF2B5EF4-FFF2-40B4-BE49-F238E27FC236}">
                  <a16:creationId xmlns:a16="http://schemas.microsoft.com/office/drawing/2014/main" id="{F4E2AB6E-CDB6-D23E-CB7D-CA219020B108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8487276" y="6393636"/>
              <a:ext cx="83985" cy="48865"/>
            </a:xfrm>
            <a:custGeom>
              <a:avLst/>
              <a:gdLst>
                <a:gd name="connsiteX0" fmla="*/ 42397 w 83985"/>
                <a:gd name="connsiteY0" fmla="*/ 150 h 48865"/>
                <a:gd name="connsiteX1" fmla="*/ 247 w 83985"/>
                <a:gd name="connsiteY1" fmla="*/ 43304 h 48865"/>
                <a:gd name="connsiteX2" fmla="*/ 5909 w 83985"/>
                <a:gd name="connsiteY2" fmla="*/ 49016 h 48865"/>
                <a:gd name="connsiteX3" fmla="*/ 42397 w 83985"/>
                <a:gd name="connsiteY3" fmla="*/ 16650 h 48865"/>
                <a:gd name="connsiteX4" fmla="*/ 78570 w 83985"/>
                <a:gd name="connsiteY4" fmla="*/ 49016 h 48865"/>
                <a:gd name="connsiteX5" fmla="*/ 84232 w 83985"/>
                <a:gd name="connsiteY5" fmla="*/ 43304 h 48865"/>
                <a:gd name="connsiteX6" fmla="*/ 42397 w 83985"/>
                <a:gd name="connsiteY6" fmla="*/ 150 h 48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985" h="48865">
                  <a:moveTo>
                    <a:pt x="42397" y="150"/>
                  </a:moveTo>
                  <a:lnTo>
                    <a:pt x="247" y="43304"/>
                  </a:lnTo>
                  <a:lnTo>
                    <a:pt x="5909" y="49016"/>
                  </a:lnTo>
                  <a:lnTo>
                    <a:pt x="42397" y="16650"/>
                  </a:lnTo>
                  <a:lnTo>
                    <a:pt x="78570" y="49016"/>
                  </a:lnTo>
                  <a:lnTo>
                    <a:pt x="84232" y="43304"/>
                  </a:lnTo>
                  <a:lnTo>
                    <a:pt x="42397" y="150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83" name="任意形状 10082">
              <a:extLst>
                <a:ext uri="{FF2B5EF4-FFF2-40B4-BE49-F238E27FC236}">
                  <a16:creationId xmlns:a16="http://schemas.microsoft.com/office/drawing/2014/main" id="{513FFBC1-FAC8-7889-56A8-AB309355245B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8447932" y="6473598"/>
              <a:ext cx="138088" cy="143741"/>
            </a:xfrm>
            <a:custGeom>
              <a:avLst/>
              <a:gdLst>
                <a:gd name="connsiteX0" fmla="*/ 138335 w 138088"/>
                <a:gd name="connsiteY0" fmla="*/ 22362 h 143741"/>
                <a:gd name="connsiteX1" fmla="*/ 124494 w 138088"/>
                <a:gd name="connsiteY1" fmla="*/ 150 h 143741"/>
                <a:gd name="connsiteX2" fmla="*/ 109081 w 138088"/>
                <a:gd name="connsiteY2" fmla="*/ 15381 h 143741"/>
                <a:gd name="connsiteX3" fmla="*/ 114114 w 138088"/>
                <a:gd name="connsiteY3" fmla="*/ 24900 h 143741"/>
                <a:gd name="connsiteX4" fmla="*/ 124809 w 138088"/>
                <a:gd name="connsiteY4" fmla="*/ 50920 h 143741"/>
                <a:gd name="connsiteX5" fmla="*/ 68819 w 138088"/>
                <a:gd name="connsiteY5" fmla="*/ 136911 h 143741"/>
                <a:gd name="connsiteX6" fmla="*/ 45542 w 138088"/>
                <a:gd name="connsiteY6" fmla="*/ 109305 h 143741"/>
                <a:gd name="connsiteX7" fmla="*/ 63786 w 138088"/>
                <a:gd name="connsiteY7" fmla="*/ 42035 h 143741"/>
                <a:gd name="connsiteX8" fmla="*/ 67561 w 138088"/>
                <a:gd name="connsiteY8" fmla="*/ 26169 h 143741"/>
                <a:gd name="connsiteX9" fmla="*/ 41767 w 138088"/>
                <a:gd name="connsiteY9" fmla="*/ 150 h 143741"/>
                <a:gd name="connsiteX10" fmla="*/ 246 w 138088"/>
                <a:gd name="connsiteY10" fmla="*/ 49016 h 143741"/>
                <a:gd name="connsiteX11" fmla="*/ 4021 w 138088"/>
                <a:gd name="connsiteY11" fmla="*/ 52189 h 143741"/>
                <a:gd name="connsiteX12" fmla="*/ 9054 w 138088"/>
                <a:gd name="connsiteY12" fmla="*/ 46477 h 143741"/>
                <a:gd name="connsiteX13" fmla="*/ 40824 w 138088"/>
                <a:gd name="connsiteY13" fmla="*/ 7131 h 143741"/>
                <a:gd name="connsiteX14" fmla="*/ 48687 w 138088"/>
                <a:gd name="connsiteY14" fmla="*/ 17285 h 143741"/>
                <a:gd name="connsiteX15" fmla="*/ 43340 w 138088"/>
                <a:gd name="connsiteY15" fmla="*/ 39496 h 143741"/>
                <a:gd name="connsiteX16" fmla="*/ 25411 w 138088"/>
                <a:gd name="connsiteY16" fmla="*/ 104545 h 143741"/>
                <a:gd name="connsiteX17" fmla="*/ 67561 w 138088"/>
                <a:gd name="connsiteY17" fmla="*/ 143892 h 143741"/>
                <a:gd name="connsiteX18" fmla="*/ 138335 w 138088"/>
                <a:gd name="connsiteY18" fmla="*/ 22362 h 14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088" h="143741">
                  <a:moveTo>
                    <a:pt x="138335" y="22362"/>
                  </a:moveTo>
                  <a:cubicBezTo>
                    <a:pt x="138335" y="5227"/>
                    <a:pt x="130156" y="150"/>
                    <a:pt x="124494" y="150"/>
                  </a:cubicBezTo>
                  <a:cubicBezTo>
                    <a:pt x="116631" y="150"/>
                    <a:pt x="109081" y="8400"/>
                    <a:pt x="109081" y="15381"/>
                  </a:cubicBezTo>
                  <a:cubicBezTo>
                    <a:pt x="109081" y="19506"/>
                    <a:pt x="110654" y="21410"/>
                    <a:pt x="114114" y="24900"/>
                  </a:cubicBezTo>
                  <a:cubicBezTo>
                    <a:pt x="120720" y="31246"/>
                    <a:pt x="124809" y="39496"/>
                    <a:pt x="124809" y="50920"/>
                  </a:cubicBezTo>
                  <a:cubicBezTo>
                    <a:pt x="124809" y="64247"/>
                    <a:pt x="105621" y="136911"/>
                    <a:pt x="68819" y="136911"/>
                  </a:cubicBezTo>
                  <a:cubicBezTo>
                    <a:pt x="52777" y="136911"/>
                    <a:pt x="45542" y="125805"/>
                    <a:pt x="45542" y="109305"/>
                  </a:cubicBezTo>
                  <a:cubicBezTo>
                    <a:pt x="45542" y="91535"/>
                    <a:pt x="54035" y="68372"/>
                    <a:pt x="63786" y="42035"/>
                  </a:cubicBezTo>
                  <a:cubicBezTo>
                    <a:pt x="65988" y="36641"/>
                    <a:pt x="67561" y="32198"/>
                    <a:pt x="67561" y="26169"/>
                  </a:cubicBezTo>
                  <a:cubicBezTo>
                    <a:pt x="67561" y="11890"/>
                    <a:pt x="57495" y="150"/>
                    <a:pt x="41767" y="150"/>
                  </a:cubicBezTo>
                  <a:cubicBezTo>
                    <a:pt x="12199" y="150"/>
                    <a:pt x="246" y="46160"/>
                    <a:pt x="246" y="49016"/>
                  </a:cubicBezTo>
                  <a:cubicBezTo>
                    <a:pt x="246" y="52189"/>
                    <a:pt x="3392" y="52189"/>
                    <a:pt x="4021" y="52189"/>
                  </a:cubicBezTo>
                  <a:cubicBezTo>
                    <a:pt x="7167" y="52189"/>
                    <a:pt x="7481" y="51554"/>
                    <a:pt x="9054" y="46477"/>
                  </a:cubicBezTo>
                  <a:cubicBezTo>
                    <a:pt x="18176" y="14429"/>
                    <a:pt x="31702" y="7131"/>
                    <a:pt x="40824" y="7131"/>
                  </a:cubicBezTo>
                  <a:cubicBezTo>
                    <a:pt x="43340" y="7131"/>
                    <a:pt x="48687" y="7131"/>
                    <a:pt x="48687" y="17285"/>
                  </a:cubicBezTo>
                  <a:cubicBezTo>
                    <a:pt x="48687" y="25217"/>
                    <a:pt x="45542" y="33785"/>
                    <a:pt x="43340" y="39496"/>
                  </a:cubicBezTo>
                  <a:cubicBezTo>
                    <a:pt x="29500" y="76305"/>
                    <a:pt x="25411" y="90901"/>
                    <a:pt x="25411" y="104545"/>
                  </a:cubicBezTo>
                  <a:cubicBezTo>
                    <a:pt x="25411" y="138815"/>
                    <a:pt x="53091" y="143892"/>
                    <a:pt x="67561" y="143892"/>
                  </a:cubicBezTo>
                  <a:cubicBezTo>
                    <a:pt x="120405" y="143892"/>
                    <a:pt x="138335" y="38862"/>
                    <a:pt x="138335" y="22362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84" name="任意形状 10083">
              <a:extLst>
                <a:ext uri="{FF2B5EF4-FFF2-40B4-BE49-F238E27FC236}">
                  <a16:creationId xmlns:a16="http://schemas.microsoft.com/office/drawing/2014/main" id="{76D52348-AD37-1C1D-6548-0E6300BB1237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8600529" y="6522622"/>
              <a:ext cx="74423" cy="141044"/>
            </a:xfrm>
            <a:custGeom>
              <a:avLst/>
              <a:gdLst>
                <a:gd name="connsiteX0" fmla="*/ 45169 w 74423"/>
                <a:gd name="connsiteY0" fmla="*/ 51238 h 141044"/>
                <a:gd name="connsiteX1" fmla="*/ 67628 w 74423"/>
                <a:gd name="connsiteY1" fmla="*/ 51238 h 141044"/>
                <a:gd name="connsiteX2" fmla="*/ 74674 w 74423"/>
                <a:gd name="connsiteY2" fmla="*/ 46352 h 141044"/>
                <a:gd name="connsiteX3" fmla="*/ 68069 w 74423"/>
                <a:gd name="connsiteY3" fmla="*/ 43242 h 141044"/>
                <a:gd name="connsiteX4" fmla="*/ 47151 w 74423"/>
                <a:gd name="connsiteY4" fmla="*/ 43242 h 141044"/>
                <a:gd name="connsiteX5" fmla="*/ 55298 w 74423"/>
                <a:gd name="connsiteY5" fmla="*/ 10369 h 141044"/>
                <a:gd name="connsiteX6" fmla="*/ 55958 w 74423"/>
                <a:gd name="connsiteY6" fmla="*/ 7259 h 141044"/>
                <a:gd name="connsiteX7" fmla="*/ 48472 w 74423"/>
                <a:gd name="connsiteY7" fmla="*/ 151 h 141044"/>
                <a:gd name="connsiteX8" fmla="*/ 38123 w 74423"/>
                <a:gd name="connsiteY8" fmla="*/ 9702 h 141044"/>
                <a:gd name="connsiteX9" fmla="*/ 29756 w 74423"/>
                <a:gd name="connsiteY9" fmla="*/ 43242 h 141044"/>
                <a:gd name="connsiteX10" fmla="*/ 7297 w 74423"/>
                <a:gd name="connsiteY10" fmla="*/ 43242 h 141044"/>
                <a:gd name="connsiteX11" fmla="*/ 251 w 74423"/>
                <a:gd name="connsiteY11" fmla="*/ 48129 h 141044"/>
                <a:gd name="connsiteX12" fmla="*/ 6857 w 74423"/>
                <a:gd name="connsiteY12" fmla="*/ 51238 h 141044"/>
                <a:gd name="connsiteX13" fmla="*/ 27774 w 74423"/>
                <a:gd name="connsiteY13" fmla="*/ 51238 h 141044"/>
                <a:gd name="connsiteX14" fmla="*/ 14783 w 74423"/>
                <a:gd name="connsiteY14" fmla="*/ 103658 h 141044"/>
                <a:gd name="connsiteX15" fmla="*/ 11481 w 74423"/>
                <a:gd name="connsiteY15" fmla="*/ 120095 h 141044"/>
                <a:gd name="connsiteX16" fmla="*/ 35041 w 74423"/>
                <a:gd name="connsiteY16" fmla="*/ 141196 h 141044"/>
                <a:gd name="connsiteX17" fmla="*/ 73353 w 74423"/>
                <a:gd name="connsiteY17" fmla="*/ 107212 h 141044"/>
                <a:gd name="connsiteX18" fmla="*/ 69830 w 74423"/>
                <a:gd name="connsiteY18" fmla="*/ 104325 h 141044"/>
                <a:gd name="connsiteX19" fmla="*/ 65206 w 74423"/>
                <a:gd name="connsiteY19" fmla="*/ 108545 h 141044"/>
                <a:gd name="connsiteX20" fmla="*/ 35701 w 74423"/>
                <a:gd name="connsiteY20" fmla="*/ 134977 h 141044"/>
                <a:gd name="connsiteX21" fmla="*/ 27995 w 74423"/>
                <a:gd name="connsiteY21" fmla="*/ 124093 h 141044"/>
                <a:gd name="connsiteX22" fmla="*/ 29316 w 74423"/>
                <a:gd name="connsiteY22" fmla="*/ 114986 h 141044"/>
                <a:gd name="connsiteX23" fmla="*/ 45169 w 74423"/>
                <a:gd name="connsiteY23" fmla="*/ 51238 h 14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423" h="141044">
                  <a:moveTo>
                    <a:pt x="45169" y="51238"/>
                  </a:moveTo>
                  <a:lnTo>
                    <a:pt x="67628" y="51238"/>
                  </a:lnTo>
                  <a:cubicBezTo>
                    <a:pt x="71812" y="51238"/>
                    <a:pt x="74674" y="51238"/>
                    <a:pt x="74674" y="46352"/>
                  </a:cubicBezTo>
                  <a:cubicBezTo>
                    <a:pt x="74674" y="43242"/>
                    <a:pt x="71812" y="43242"/>
                    <a:pt x="68069" y="43242"/>
                  </a:cubicBezTo>
                  <a:lnTo>
                    <a:pt x="47151" y="43242"/>
                  </a:lnTo>
                  <a:lnTo>
                    <a:pt x="55298" y="10369"/>
                  </a:lnTo>
                  <a:cubicBezTo>
                    <a:pt x="55518" y="9258"/>
                    <a:pt x="55958" y="8148"/>
                    <a:pt x="55958" y="7259"/>
                  </a:cubicBezTo>
                  <a:cubicBezTo>
                    <a:pt x="55958" y="3261"/>
                    <a:pt x="52876" y="151"/>
                    <a:pt x="48472" y="151"/>
                  </a:cubicBezTo>
                  <a:cubicBezTo>
                    <a:pt x="42967" y="151"/>
                    <a:pt x="39665" y="3927"/>
                    <a:pt x="38123" y="9702"/>
                  </a:cubicBezTo>
                  <a:cubicBezTo>
                    <a:pt x="36582" y="15255"/>
                    <a:pt x="39444" y="4594"/>
                    <a:pt x="29756" y="43242"/>
                  </a:cubicBezTo>
                  <a:lnTo>
                    <a:pt x="7297" y="43242"/>
                  </a:lnTo>
                  <a:cubicBezTo>
                    <a:pt x="3114" y="43242"/>
                    <a:pt x="251" y="43242"/>
                    <a:pt x="251" y="48129"/>
                  </a:cubicBezTo>
                  <a:cubicBezTo>
                    <a:pt x="251" y="51238"/>
                    <a:pt x="2893" y="51238"/>
                    <a:pt x="6857" y="51238"/>
                  </a:cubicBezTo>
                  <a:lnTo>
                    <a:pt x="27774" y="51238"/>
                  </a:lnTo>
                  <a:lnTo>
                    <a:pt x="14783" y="103658"/>
                  </a:lnTo>
                  <a:cubicBezTo>
                    <a:pt x="13462" y="109211"/>
                    <a:pt x="11481" y="117207"/>
                    <a:pt x="11481" y="120095"/>
                  </a:cubicBezTo>
                  <a:cubicBezTo>
                    <a:pt x="11481" y="133200"/>
                    <a:pt x="22490" y="141196"/>
                    <a:pt x="35041" y="141196"/>
                  </a:cubicBezTo>
                  <a:cubicBezTo>
                    <a:pt x="59481" y="141196"/>
                    <a:pt x="73353" y="110100"/>
                    <a:pt x="73353" y="107212"/>
                  </a:cubicBezTo>
                  <a:cubicBezTo>
                    <a:pt x="73353" y="104325"/>
                    <a:pt x="70491" y="104325"/>
                    <a:pt x="69830" y="104325"/>
                  </a:cubicBezTo>
                  <a:cubicBezTo>
                    <a:pt x="67188" y="104325"/>
                    <a:pt x="66968" y="104769"/>
                    <a:pt x="65206" y="108545"/>
                  </a:cubicBezTo>
                  <a:cubicBezTo>
                    <a:pt x="59041" y="122538"/>
                    <a:pt x="47811" y="134977"/>
                    <a:pt x="35701" y="134977"/>
                  </a:cubicBezTo>
                  <a:cubicBezTo>
                    <a:pt x="31077" y="134977"/>
                    <a:pt x="27995" y="132089"/>
                    <a:pt x="27995" y="124093"/>
                  </a:cubicBezTo>
                  <a:cubicBezTo>
                    <a:pt x="27995" y="121872"/>
                    <a:pt x="28875" y="117207"/>
                    <a:pt x="29316" y="114986"/>
                  </a:cubicBezTo>
                  <a:lnTo>
                    <a:pt x="45169" y="51238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85" name="任意形状 10084">
              <a:extLst>
                <a:ext uri="{FF2B5EF4-FFF2-40B4-BE49-F238E27FC236}">
                  <a16:creationId xmlns:a16="http://schemas.microsoft.com/office/drawing/2014/main" id="{CAC95DB9-6FD5-18DB-B2DB-6E36096C0332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8789543" y="6428857"/>
              <a:ext cx="209177" cy="211329"/>
            </a:xfrm>
            <a:custGeom>
              <a:avLst/>
              <a:gdLst>
                <a:gd name="connsiteX0" fmla="*/ 111294 w 209177"/>
                <a:gd name="connsiteY0" fmla="*/ 112161 h 211329"/>
                <a:gd name="connsiteX1" fmla="*/ 199054 w 209177"/>
                <a:gd name="connsiteY1" fmla="*/ 112161 h 211329"/>
                <a:gd name="connsiteX2" fmla="*/ 209434 w 209177"/>
                <a:gd name="connsiteY2" fmla="*/ 105814 h 211329"/>
                <a:gd name="connsiteX3" fmla="*/ 199054 w 209177"/>
                <a:gd name="connsiteY3" fmla="*/ 99468 h 211329"/>
                <a:gd name="connsiteX4" fmla="*/ 111294 w 209177"/>
                <a:gd name="connsiteY4" fmla="*/ 99468 h 211329"/>
                <a:gd name="connsiteX5" fmla="*/ 111294 w 209177"/>
                <a:gd name="connsiteY5" fmla="*/ 10621 h 211329"/>
                <a:gd name="connsiteX6" fmla="*/ 105003 w 209177"/>
                <a:gd name="connsiteY6" fmla="*/ 150 h 211329"/>
                <a:gd name="connsiteX7" fmla="*/ 98712 w 209177"/>
                <a:gd name="connsiteY7" fmla="*/ 10621 h 211329"/>
                <a:gd name="connsiteX8" fmla="*/ 98712 w 209177"/>
                <a:gd name="connsiteY8" fmla="*/ 99468 h 211329"/>
                <a:gd name="connsiteX9" fmla="*/ 10637 w 209177"/>
                <a:gd name="connsiteY9" fmla="*/ 99468 h 211329"/>
                <a:gd name="connsiteX10" fmla="*/ 257 w 209177"/>
                <a:gd name="connsiteY10" fmla="*/ 105814 h 211329"/>
                <a:gd name="connsiteX11" fmla="*/ 10637 w 209177"/>
                <a:gd name="connsiteY11" fmla="*/ 112161 h 211329"/>
                <a:gd name="connsiteX12" fmla="*/ 98712 w 209177"/>
                <a:gd name="connsiteY12" fmla="*/ 112161 h 211329"/>
                <a:gd name="connsiteX13" fmla="*/ 98712 w 209177"/>
                <a:gd name="connsiteY13" fmla="*/ 201008 h 211329"/>
                <a:gd name="connsiteX14" fmla="*/ 105003 w 209177"/>
                <a:gd name="connsiteY14" fmla="*/ 211479 h 211329"/>
                <a:gd name="connsiteX15" fmla="*/ 111294 w 209177"/>
                <a:gd name="connsiteY15" fmla="*/ 201008 h 211329"/>
                <a:gd name="connsiteX16" fmla="*/ 111294 w 209177"/>
                <a:gd name="connsiteY16" fmla="*/ 112161 h 21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9177" h="211329">
                  <a:moveTo>
                    <a:pt x="111294" y="112161"/>
                  </a:moveTo>
                  <a:lnTo>
                    <a:pt x="199054" y="112161"/>
                  </a:lnTo>
                  <a:cubicBezTo>
                    <a:pt x="203458" y="112161"/>
                    <a:pt x="209434" y="112161"/>
                    <a:pt x="209434" y="105814"/>
                  </a:cubicBezTo>
                  <a:cubicBezTo>
                    <a:pt x="209434" y="99468"/>
                    <a:pt x="203458" y="99468"/>
                    <a:pt x="199054" y="99468"/>
                  </a:cubicBezTo>
                  <a:lnTo>
                    <a:pt x="111294" y="99468"/>
                  </a:lnTo>
                  <a:lnTo>
                    <a:pt x="111294" y="10621"/>
                  </a:lnTo>
                  <a:cubicBezTo>
                    <a:pt x="111294" y="6179"/>
                    <a:pt x="111294" y="150"/>
                    <a:pt x="105003" y="150"/>
                  </a:cubicBezTo>
                  <a:cubicBezTo>
                    <a:pt x="98712" y="150"/>
                    <a:pt x="98712" y="6179"/>
                    <a:pt x="98712" y="10621"/>
                  </a:cubicBezTo>
                  <a:lnTo>
                    <a:pt x="98712" y="99468"/>
                  </a:lnTo>
                  <a:lnTo>
                    <a:pt x="10637" y="99468"/>
                  </a:lnTo>
                  <a:cubicBezTo>
                    <a:pt x="6233" y="99468"/>
                    <a:pt x="257" y="99468"/>
                    <a:pt x="257" y="105814"/>
                  </a:cubicBezTo>
                  <a:cubicBezTo>
                    <a:pt x="257" y="112161"/>
                    <a:pt x="6233" y="112161"/>
                    <a:pt x="10637" y="112161"/>
                  </a:cubicBezTo>
                  <a:lnTo>
                    <a:pt x="98712" y="112161"/>
                  </a:lnTo>
                  <a:lnTo>
                    <a:pt x="98712" y="201008"/>
                  </a:lnTo>
                  <a:cubicBezTo>
                    <a:pt x="98712" y="205450"/>
                    <a:pt x="98712" y="211479"/>
                    <a:pt x="105003" y="211479"/>
                  </a:cubicBezTo>
                  <a:cubicBezTo>
                    <a:pt x="111294" y="211479"/>
                    <a:pt x="111294" y="205450"/>
                    <a:pt x="111294" y="201008"/>
                  </a:cubicBezTo>
                  <a:lnTo>
                    <a:pt x="111294" y="112161"/>
                  </a:ln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86" name="任意形状 10085">
              <a:extLst>
                <a:ext uri="{FF2B5EF4-FFF2-40B4-BE49-F238E27FC236}">
                  <a16:creationId xmlns:a16="http://schemas.microsoft.com/office/drawing/2014/main" id="{BD01D2DB-5029-AED0-B410-BDF3C73E1956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9094658" y="6470108"/>
              <a:ext cx="126764" cy="150722"/>
            </a:xfrm>
            <a:custGeom>
              <a:avLst/>
              <a:gdLst>
                <a:gd name="connsiteX0" fmla="*/ 36440 w 126764"/>
                <a:gd name="connsiteY0" fmla="*/ 71862 h 150722"/>
                <a:gd name="connsiteX1" fmla="*/ 63492 w 126764"/>
                <a:gd name="connsiteY1" fmla="*/ 76305 h 150722"/>
                <a:gd name="connsiteX2" fmla="*/ 88971 w 126764"/>
                <a:gd name="connsiteY2" fmla="*/ 66468 h 150722"/>
                <a:gd name="connsiteX3" fmla="*/ 66008 w 126764"/>
                <a:gd name="connsiteY3" fmla="*/ 57900 h 150722"/>
                <a:gd name="connsiteX4" fmla="*/ 36755 w 126764"/>
                <a:gd name="connsiteY4" fmla="*/ 63929 h 150722"/>
                <a:gd name="connsiteX5" fmla="*/ 24173 w 126764"/>
                <a:gd name="connsiteY5" fmla="*/ 45525 h 150722"/>
                <a:gd name="connsiteX6" fmla="*/ 83309 w 126764"/>
                <a:gd name="connsiteY6" fmla="*/ 14746 h 150722"/>
                <a:gd name="connsiteX7" fmla="*/ 112247 w 126764"/>
                <a:gd name="connsiteY7" fmla="*/ 23631 h 150722"/>
                <a:gd name="connsiteX8" fmla="*/ 118538 w 126764"/>
                <a:gd name="connsiteY8" fmla="*/ 26804 h 150722"/>
                <a:gd name="connsiteX9" fmla="*/ 127031 w 126764"/>
                <a:gd name="connsiteY9" fmla="*/ 18237 h 150722"/>
                <a:gd name="connsiteX10" fmla="*/ 86454 w 126764"/>
                <a:gd name="connsiteY10" fmla="*/ 150 h 150722"/>
                <a:gd name="connsiteX11" fmla="*/ 16309 w 126764"/>
                <a:gd name="connsiteY11" fmla="*/ 45525 h 150722"/>
                <a:gd name="connsiteX12" fmla="*/ 28891 w 126764"/>
                <a:gd name="connsiteY12" fmla="*/ 68054 h 150722"/>
                <a:gd name="connsiteX13" fmla="*/ 267 w 126764"/>
                <a:gd name="connsiteY13" fmla="*/ 110891 h 150722"/>
                <a:gd name="connsiteX14" fmla="*/ 51539 w 126764"/>
                <a:gd name="connsiteY14" fmla="*/ 150873 h 150722"/>
                <a:gd name="connsiteX15" fmla="*/ 110675 w 126764"/>
                <a:gd name="connsiteY15" fmla="*/ 118190 h 150722"/>
                <a:gd name="connsiteX16" fmla="*/ 107215 w 126764"/>
                <a:gd name="connsiteY16" fmla="*/ 115017 h 150722"/>
                <a:gd name="connsiteX17" fmla="*/ 104069 w 126764"/>
                <a:gd name="connsiteY17" fmla="*/ 117238 h 150722"/>
                <a:gd name="connsiteX18" fmla="*/ 54370 w 126764"/>
                <a:gd name="connsiteY18" fmla="*/ 136276 h 150722"/>
                <a:gd name="connsiteX19" fmla="*/ 8445 w 126764"/>
                <a:gd name="connsiteY19" fmla="*/ 108988 h 150722"/>
                <a:gd name="connsiteX20" fmla="*/ 36440 w 126764"/>
                <a:gd name="connsiteY20" fmla="*/ 71862 h 150722"/>
                <a:gd name="connsiteX21" fmla="*/ 46821 w 126764"/>
                <a:gd name="connsiteY21" fmla="*/ 67737 h 150722"/>
                <a:gd name="connsiteX22" fmla="*/ 66008 w 126764"/>
                <a:gd name="connsiteY22" fmla="*/ 64881 h 150722"/>
                <a:gd name="connsiteX23" fmla="*/ 80792 w 126764"/>
                <a:gd name="connsiteY23" fmla="*/ 66785 h 150722"/>
                <a:gd name="connsiteX24" fmla="*/ 63492 w 126764"/>
                <a:gd name="connsiteY24" fmla="*/ 69324 h 150722"/>
                <a:gd name="connsiteX25" fmla="*/ 46821 w 126764"/>
                <a:gd name="connsiteY25" fmla="*/ 67737 h 150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6764" h="150722">
                  <a:moveTo>
                    <a:pt x="36440" y="71862"/>
                  </a:moveTo>
                  <a:cubicBezTo>
                    <a:pt x="46821" y="76305"/>
                    <a:pt x="55943" y="76305"/>
                    <a:pt x="63492" y="76305"/>
                  </a:cubicBezTo>
                  <a:cubicBezTo>
                    <a:pt x="71670" y="76305"/>
                    <a:pt x="88971" y="76305"/>
                    <a:pt x="88971" y="66468"/>
                  </a:cubicBezTo>
                  <a:cubicBezTo>
                    <a:pt x="88971" y="58852"/>
                    <a:pt x="77961" y="57900"/>
                    <a:pt x="66008" y="57900"/>
                  </a:cubicBezTo>
                  <a:cubicBezTo>
                    <a:pt x="59403" y="57900"/>
                    <a:pt x="48393" y="58535"/>
                    <a:pt x="36755" y="63929"/>
                  </a:cubicBezTo>
                  <a:cubicBezTo>
                    <a:pt x="29520" y="60122"/>
                    <a:pt x="24173" y="54093"/>
                    <a:pt x="24173" y="45525"/>
                  </a:cubicBezTo>
                  <a:cubicBezTo>
                    <a:pt x="24173" y="26169"/>
                    <a:pt x="54999" y="14746"/>
                    <a:pt x="83309" y="14746"/>
                  </a:cubicBezTo>
                  <a:cubicBezTo>
                    <a:pt x="88341" y="14746"/>
                    <a:pt x="99665" y="14746"/>
                    <a:pt x="112247" y="23631"/>
                  </a:cubicBezTo>
                  <a:cubicBezTo>
                    <a:pt x="115707" y="26169"/>
                    <a:pt x="116337" y="26804"/>
                    <a:pt x="118538" y="26804"/>
                  </a:cubicBezTo>
                  <a:cubicBezTo>
                    <a:pt x="122628" y="26804"/>
                    <a:pt x="127031" y="22679"/>
                    <a:pt x="127031" y="18237"/>
                  </a:cubicBezTo>
                  <a:cubicBezTo>
                    <a:pt x="127031" y="12208"/>
                    <a:pt x="107844" y="150"/>
                    <a:pt x="86454" y="150"/>
                  </a:cubicBezTo>
                  <a:cubicBezTo>
                    <a:pt x="50281" y="150"/>
                    <a:pt x="16309" y="21410"/>
                    <a:pt x="16309" y="45525"/>
                  </a:cubicBezTo>
                  <a:cubicBezTo>
                    <a:pt x="16309" y="59170"/>
                    <a:pt x="27633" y="67103"/>
                    <a:pt x="28891" y="68054"/>
                  </a:cubicBezTo>
                  <a:cubicBezTo>
                    <a:pt x="10333" y="78526"/>
                    <a:pt x="267" y="96295"/>
                    <a:pt x="267" y="110891"/>
                  </a:cubicBezTo>
                  <a:cubicBezTo>
                    <a:pt x="267" y="131517"/>
                    <a:pt x="18196" y="150873"/>
                    <a:pt x="51539" y="150873"/>
                  </a:cubicBezTo>
                  <a:cubicBezTo>
                    <a:pt x="93060" y="150873"/>
                    <a:pt x="110675" y="122949"/>
                    <a:pt x="110675" y="118190"/>
                  </a:cubicBezTo>
                  <a:cubicBezTo>
                    <a:pt x="110675" y="116286"/>
                    <a:pt x="109102" y="115017"/>
                    <a:pt x="107215" y="115017"/>
                  </a:cubicBezTo>
                  <a:cubicBezTo>
                    <a:pt x="105642" y="115017"/>
                    <a:pt x="104698" y="116286"/>
                    <a:pt x="104069" y="117238"/>
                  </a:cubicBezTo>
                  <a:cubicBezTo>
                    <a:pt x="99665" y="124536"/>
                    <a:pt x="92116" y="136276"/>
                    <a:pt x="54370" y="136276"/>
                  </a:cubicBezTo>
                  <a:cubicBezTo>
                    <a:pt x="35182" y="136276"/>
                    <a:pt x="8445" y="131517"/>
                    <a:pt x="8445" y="108988"/>
                  </a:cubicBezTo>
                  <a:cubicBezTo>
                    <a:pt x="8445" y="98199"/>
                    <a:pt x="17253" y="81382"/>
                    <a:pt x="36440" y="71862"/>
                  </a:cubicBezTo>
                  <a:close/>
                  <a:moveTo>
                    <a:pt x="46821" y="67737"/>
                  </a:moveTo>
                  <a:cubicBezTo>
                    <a:pt x="54055" y="65199"/>
                    <a:pt x="60661" y="64881"/>
                    <a:pt x="66008" y="64881"/>
                  </a:cubicBezTo>
                  <a:cubicBezTo>
                    <a:pt x="73872" y="64881"/>
                    <a:pt x="75130" y="65199"/>
                    <a:pt x="80792" y="66785"/>
                  </a:cubicBezTo>
                  <a:cubicBezTo>
                    <a:pt x="76074" y="69006"/>
                    <a:pt x="75445" y="69324"/>
                    <a:pt x="63492" y="69324"/>
                  </a:cubicBezTo>
                  <a:cubicBezTo>
                    <a:pt x="56572" y="69324"/>
                    <a:pt x="52797" y="69324"/>
                    <a:pt x="46821" y="67737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  <p:sp>
          <p:nvSpPr>
            <p:cNvPr id="10087" name="任意形状 10086">
              <a:extLst>
                <a:ext uri="{FF2B5EF4-FFF2-40B4-BE49-F238E27FC236}">
                  <a16:creationId xmlns:a16="http://schemas.microsoft.com/office/drawing/2014/main" id="{CA6B93F0-0B3F-9151-59B2-2CF7F7964C71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9251090" y="6375866"/>
              <a:ext cx="72976" cy="317311"/>
            </a:xfrm>
            <a:custGeom>
              <a:avLst/>
              <a:gdLst>
                <a:gd name="connsiteX0" fmla="*/ 73248 w 72976"/>
                <a:gd name="connsiteY0" fmla="*/ 158805 h 317311"/>
                <a:gd name="connsiteX1" fmla="*/ 52487 w 72976"/>
                <a:gd name="connsiteY1" fmla="*/ 59804 h 317311"/>
                <a:gd name="connsiteX2" fmla="*/ 3417 w 72976"/>
                <a:gd name="connsiteY2" fmla="*/ 150 h 317311"/>
                <a:gd name="connsiteX3" fmla="*/ 272 w 72976"/>
                <a:gd name="connsiteY3" fmla="*/ 3323 h 317311"/>
                <a:gd name="connsiteX4" fmla="*/ 6248 w 72976"/>
                <a:gd name="connsiteY4" fmla="*/ 10621 h 317311"/>
                <a:gd name="connsiteX5" fmla="*/ 55004 w 72976"/>
                <a:gd name="connsiteY5" fmla="*/ 158805 h 317311"/>
                <a:gd name="connsiteX6" fmla="*/ 4361 w 72976"/>
                <a:gd name="connsiteY6" fmla="*/ 308894 h 317311"/>
                <a:gd name="connsiteX7" fmla="*/ 272 w 72976"/>
                <a:gd name="connsiteY7" fmla="*/ 314288 h 317311"/>
                <a:gd name="connsiteX8" fmla="*/ 3417 w 72976"/>
                <a:gd name="connsiteY8" fmla="*/ 317461 h 317311"/>
                <a:gd name="connsiteX9" fmla="*/ 53431 w 72976"/>
                <a:gd name="connsiteY9" fmla="*/ 255585 h 317311"/>
                <a:gd name="connsiteX10" fmla="*/ 73248 w 72976"/>
                <a:gd name="connsiteY10" fmla="*/ 158805 h 31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976" h="317311">
                  <a:moveTo>
                    <a:pt x="73248" y="158805"/>
                  </a:moveTo>
                  <a:cubicBezTo>
                    <a:pt x="73248" y="134055"/>
                    <a:pt x="69788" y="95661"/>
                    <a:pt x="52487" y="59804"/>
                  </a:cubicBezTo>
                  <a:cubicBezTo>
                    <a:pt x="33614" y="20775"/>
                    <a:pt x="6563" y="150"/>
                    <a:pt x="3417" y="150"/>
                  </a:cubicBezTo>
                  <a:cubicBezTo>
                    <a:pt x="1530" y="150"/>
                    <a:pt x="272" y="1419"/>
                    <a:pt x="272" y="3323"/>
                  </a:cubicBezTo>
                  <a:cubicBezTo>
                    <a:pt x="272" y="4275"/>
                    <a:pt x="272" y="4910"/>
                    <a:pt x="6248" y="10621"/>
                  </a:cubicBezTo>
                  <a:cubicBezTo>
                    <a:pt x="37074" y="42035"/>
                    <a:pt x="55004" y="92487"/>
                    <a:pt x="55004" y="158805"/>
                  </a:cubicBezTo>
                  <a:cubicBezTo>
                    <a:pt x="55004" y="213066"/>
                    <a:pt x="43365" y="268912"/>
                    <a:pt x="4361" y="308894"/>
                  </a:cubicBezTo>
                  <a:cubicBezTo>
                    <a:pt x="272" y="312701"/>
                    <a:pt x="272" y="313336"/>
                    <a:pt x="272" y="314288"/>
                  </a:cubicBezTo>
                  <a:cubicBezTo>
                    <a:pt x="272" y="316192"/>
                    <a:pt x="1530" y="317461"/>
                    <a:pt x="3417" y="317461"/>
                  </a:cubicBezTo>
                  <a:cubicBezTo>
                    <a:pt x="6563" y="317461"/>
                    <a:pt x="34872" y="295884"/>
                    <a:pt x="53431" y="255585"/>
                  </a:cubicBezTo>
                  <a:cubicBezTo>
                    <a:pt x="69473" y="220681"/>
                    <a:pt x="73248" y="185460"/>
                    <a:pt x="73248" y="158805"/>
                  </a:cubicBezTo>
                  <a:close/>
                </a:path>
              </a:pathLst>
            </a:custGeom>
            <a:solidFill>
              <a:srgbClr val="000000"/>
            </a:solidFill>
            <a:ln w="177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/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62BCE0C-0D44-E99B-8D80-E6EC67FF3C2E}"/>
              </a:ext>
            </a:extLst>
      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5908420" y="1811970"/>
            <a:ext cx="4870620" cy="296803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B9C0408-167D-6ADC-9D98-12B68F184344}"/>
              </a:ext>
            </a:extLst>
          </p:cNvPr>
          <p:cNvSpPr/>
          <p:nvPr/>
        </p:nvSpPr>
        <p:spPr>
          <a:xfrm>
            <a:off x="6010445" y="4618342"/>
            <a:ext cx="4666569" cy="323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b="1" dirty="0">
                <a:solidFill>
                  <a:srgbClr val="C00000"/>
                </a:solidFill>
              </a:rPr>
              <a:t>带动量的优化算法可以逃离一些鞍点或局部极小</a:t>
            </a:r>
          </a:p>
        </p:txBody>
      </p:sp>
    </p:spTree>
    <p:extLst>
      <p:ext uri="{BB962C8B-B14F-4D97-AF65-F5344CB8AC3E}">
        <p14:creationId xmlns:p14="http://schemas.microsoft.com/office/powerpoint/2010/main" val="25915417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9BBA7-B90B-0823-17F9-A7011D3C8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5FB7AF7-A2A6-0E38-48E4-6A107A0CC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计算梯度：反向传播（链式法则）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2B013CD-47FD-6867-966D-3B7737113E2F}"/>
                  </a:ext>
                </a:extLst>
              </p:cNvPr>
              <p:cNvSpPr txBox="1"/>
              <p:nvPr/>
            </p:nvSpPr>
            <p:spPr>
              <a:xfrm>
                <a:off x="519029" y="749453"/>
                <a:ext cx="10750061" cy="5580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000" b="0" i="0" u="none" strike="noStrike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假设一个三层神经网络（两个隐藏层）有以下结构：</a:t>
                </a:r>
                <a:endParaRPr lang="en-US" altLang="zh-CN" sz="2000" b="0" i="0" u="none" strike="noStrike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b="1" i="0" u="none" strike="noStrike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输入层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：特征维度为 </a:t>
                </a:r>
                <a14:m>
                  <m:oMath xmlns:m="http://schemas.openxmlformats.org/officeDocument/2006/math">
                    <m:r>
                      <a:rPr lang="en-US" altLang="zh-CN" sz="2000" b="0" i="1" u="none" strike="noStrike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𝑑</m:t>
                    </m:r>
                  </m:oMath>
                </a14:m>
                <a:r>
                  <a:rPr lang="zh-CN" altLang="en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输入为 </a:t>
                </a:r>
                <a:r>
                  <a:rPr lang="en-US" altLang="zh-CN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u="none" strike="noStrike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b="0" i="1" u="none" strike="noStrike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altLang="zh-CN" sz="2000" dirty="0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b="1" i="0" u="none" strike="noStrike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第一隐藏层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" altLang="zh-CN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个神经元，激活函数为 </a:t>
                </a:r>
                <a14:m>
                  <m:oMath xmlns:m="http://schemas.openxmlformats.org/officeDocument/2006/math">
                    <m:r>
                      <a:rPr lang="en-US" altLang="zh-CN" sz="2000" b="0" i="1" u="none" strike="noStrike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zh-CN" altLang="en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权重矩阵为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u="none" strike="noStrike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altLang="zh-CN" sz="20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b="1" i="0" u="none" strike="noStrike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第</a:t>
                </a:r>
                <a:r>
                  <a:rPr lang="zh-CN" altLang="en-US" sz="2000" b="1" dirty="0">
                    <a:solidFill>
                      <a:srgbClr val="B6151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二</a:t>
                </a:r>
                <a:r>
                  <a:rPr lang="zh-CN" altLang="en-US" sz="2000" b="1" i="0" u="none" strike="noStrike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隐藏层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" altLang="zh-CN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个神经元，激活函数为 </a:t>
                </a:r>
                <a14:m>
                  <m:oMath xmlns:m="http://schemas.openxmlformats.org/officeDocument/2006/math">
                    <m:r>
                      <a:rPr lang="en-US" altLang="zh-CN" sz="2000" b="0" i="1" u="none" strike="noStrike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zh-CN" altLang="en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权重矩阵为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u="none" strike="noStrike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endParaRPr lang="en-US" altLang="zh-CN" sz="20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lang="zh-CN" altLang="en-US" sz="2000" b="1" i="0" u="none" strike="noStrike" dirty="0">
                    <a:solidFill>
                      <a:srgbClr val="B61516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输出层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：有 </a:t>
                </a:r>
                <a14:m>
                  <m:oMath xmlns:m="http://schemas.openxmlformats.org/officeDocument/2006/math">
                    <m:r>
                      <a:rPr lang="en-US" altLang="zh-CN" sz="2000" b="0" i="1" u="none" strike="noStrike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2000" b="0" i="1" u="none" strike="noStrike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" altLang="zh-CN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个神经元，无激活函数，权重矩阵为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p>
                          <m:sSupPr>
                            <m:ctrlPr>
                              <a:rPr lang="en-US" altLang="zh-CN" sz="2000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0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endParaRPr lang="en-US" altLang="zh-CN" sz="20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endParaRPr lang="en-US" altLang="zh-CN" sz="2000" dirty="0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r>
                  <a:rPr lang="zh-CN" altLang="en-US" sz="2000" b="1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第一隐藏层的输出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:endParaRPr lang="en-US" altLang="zh-CN" sz="20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000" b="0" i="1" u="none" strike="noStrike" smtClean="0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u="none" strike="noStrike" smtClean="0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b="0" i="1" u="none" strike="noStrike" smtClean="0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,      </m:t>
                      </m:r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altLang="zh-CN" sz="20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r>
                  <a:rPr lang="zh-CN" altLang="en-US" sz="2000" b="1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第</a:t>
                </a:r>
                <a:r>
                  <a:rPr lang="zh-CN" altLang="en-US" sz="2000" b="1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二</a:t>
                </a:r>
                <a:r>
                  <a:rPr lang="zh-CN" altLang="en-US" sz="2000" b="1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隐藏层的输出：</a:t>
                </a:r>
                <a:endParaRPr lang="en-US" altLang="zh-CN" sz="2000" b="1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,      </m:t>
                      </m:r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altLang="zh-CN" sz="20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r>
                  <a:rPr lang="zh-CN" altLang="en-US" sz="2000" b="1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输出层的输出：</a:t>
                </a:r>
                <a:endParaRPr lang="en-US" altLang="zh-CN" sz="2000" b="1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b="0" i="1" u="none" strike="noStrike" smtClean="0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u="none" strike="noStrike" smtClean="0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altLang="zh-CN" sz="2000" b="0" i="1" u="none" strike="noStrike" dirty="0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altLang="zh-CN" sz="20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r>
                  <a:rPr lang="zh-CN" altLang="en-US" sz="2000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为了简单，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考虑</a:t>
                </a:r>
                <a:r>
                  <a:rPr lang="zh-CN" altLang="en-US" sz="2000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如下</a:t>
                </a: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损失函数：</a:t>
                </a:r>
                <a:endParaRPr lang="en-US" altLang="zh-CN" sz="20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lit/>
                        </m:rP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2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CN" sz="2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|</m:t>
                      </m:r>
                      <m:sSubSup>
                        <m:sSubSupPr>
                          <m:ctrl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lit/>
                            </m:rP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u="none" strike="noStrike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000" b="0" i="1" u="none" strike="noStrike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" sz="2000" b="0" i="0" u="none" strike="noStrike" dirty="0">
                  <a:solidFill>
                    <a:srgbClr val="C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2B013CD-47FD-6867-966D-3B7737113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029" y="749453"/>
                <a:ext cx="10750061" cy="5580054"/>
              </a:xfrm>
              <a:prstGeom prst="rect">
                <a:avLst/>
              </a:prstGeom>
              <a:blipFill>
                <a:blip r:embed="rId2"/>
                <a:stretch>
                  <a:fillRect l="-4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椭圆形标注 1">
                <a:extLst>
                  <a:ext uri="{FF2B5EF4-FFF2-40B4-BE49-F238E27FC236}">
                    <a16:creationId xmlns:a16="http://schemas.microsoft.com/office/drawing/2014/main" id="{C80CA8A8-3AA5-19DA-542F-2A48C4D9FAC7}"/>
                  </a:ext>
                </a:extLst>
              </p:cNvPr>
              <p:cNvSpPr/>
              <p:nvPr/>
            </p:nvSpPr>
            <p:spPr>
              <a:xfrm>
                <a:off x="8498882" y="4844014"/>
                <a:ext cx="3499413" cy="1264533"/>
              </a:xfrm>
              <a:prstGeom prst="wedgeEllipseCallout">
                <a:avLst>
                  <a:gd name="adj1" fmla="val -89031"/>
                  <a:gd name="adj2" fmla="val -3234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前向传播信息流：</a:t>
                </a:r>
                <a:endParaRPr kumimoji="1" lang="en-US" altLang="zh-CN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𝒙</m:t>
                      </m:r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sSub>
                        <m:sSubPr>
                          <m:ctrlP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𝑾</m:t>
                          </m:r>
                        </m:e>
                        <m:sub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𝝈</m:t>
                      </m:r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sSub>
                        <m:sSubPr>
                          <m:ctrlP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𝑾</m:t>
                          </m:r>
                        </m:e>
                        <m:sub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𝝈</m:t>
                      </m:r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sSub>
                        <m:sSubPr>
                          <m:ctrlP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𝑾</m:t>
                          </m:r>
                        </m:e>
                        <m:sub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𝟑</m:t>
                          </m:r>
                        </m:sub>
                      </m:sSub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acc>
                        <m:accPr>
                          <m:chr m:val="̂"/>
                          <m:ctrlP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accPr>
                        <m:e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kumimoji="1" lang="zh-CN" altLang="en-US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椭圆形标注 1">
                <a:extLst>
                  <a:ext uri="{FF2B5EF4-FFF2-40B4-BE49-F238E27FC236}">
                    <a16:creationId xmlns:a16="http://schemas.microsoft.com/office/drawing/2014/main" id="{C80CA8A8-3AA5-19DA-542F-2A48C4D9FA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8882" y="4844014"/>
                <a:ext cx="3499413" cy="1264533"/>
              </a:xfrm>
              <a:prstGeom prst="wedgeEllipseCallout">
                <a:avLst>
                  <a:gd name="adj1" fmla="val -89031"/>
                  <a:gd name="adj2" fmla="val -3234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7427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3C807-B903-3323-65A1-B40436FAA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52C3FB6-10A1-BA26-A9CC-5F2E48B91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计算梯度：反向传播（链式法则）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D8B932C-5F60-241C-FFDA-18949DDC3FD8}"/>
                  </a:ext>
                </a:extLst>
              </p:cNvPr>
              <p:cNvSpPr txBox="1"/>
              <p:nvPr/>
            </p:nvSpPr>
            <p:spPr>
              <a:xfrm>
                <a:off x="451877" y="777106"/>
                <a:ext cx="11335731" cy="55676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200" b="1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输出层的梯度计算：</a:t>
                </a:r>
                <a:endParaRPr lang="en-US" altLang="zh-CN" sz="2200" dirty="0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2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损失函数对输出层的输出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2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" altLang="zh-CN" sz="22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2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的梯度，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</m:oMath>
                </a14:m>
                <a:r>
                  <a:rPr lang="zh-CN" altLang="en-US" sz="22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:endParaRPr lang="en-US" altLang="zh-CN" sz="22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200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kumimoji="1" lang="en-US" altLang="zh-CN" sz="2200" b="0" i="0" u="none" strike="noStrike" dirty="0" smtClean="0">
                          <a:solidFill>
                            <a:srgbClr val="B61516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kumimoji="1" lang="en-US" altLang="zh-CN" sz="2200" b="0" i="0" u="none" strike="noStrike" dirty="0" smtClean="0">
                          <a:solidFill>
                            <a:srgbClr val="B61516"/>
                          </a:solidFill>
                          <a:effectLst/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kumimoji="1" lang="en-US" altLang="zh-CN" sz="2200" i="1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p>
                            <m:sSup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kumimoji="1" lang="en-US" altLang="zh-CN" sz="2200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2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损失函数对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2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2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2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的梯度</a:t>
                </a:r>
                <a:r>
                  <a:rPr lang="zh-CN" altLang="en-US" sz="2200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（链式法则），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CN" altLang="en-US" sz="22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:endParaRPr lang="en-US" altLang="zh-CN" sz="22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200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2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zh-CN" sz="22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200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kumimoji="1" lang="en-US" altLang="zh-CN" sz="22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2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1" lang="en-US" altLang="zh-CN" sz="22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kumimoji="1" lang="en-US" altLang="zh-CN" sz="22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sSubSup>
                        <m:sSubSupPr>
                          <m:ctrlP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a:rPr kumimoji="1" lang="en-US" altLang="zh-CN" sz="2200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p>
                            <m:sSup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kumimoji="1" lang="en-US" altLang="zh-CN" sz="22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2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损失函数对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2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2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b>
                        <m:r>
                          <a:rPr lang="en-US" altLang="zh-CN" sz="22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zh-CN" altLang="en-US" sz="22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的梯度，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CN" altLang="en-US" sz="22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:endParaRPr lang="en-US" altLang="zh-CN" sz="22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200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200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2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200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d>
                        <m:dPr>
                          <m:ctrlP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kumimoji="1" lang="en-US" altLang="zh-CN" sz="22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2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1" lang="en-US" altLang="zh-CN" sz="22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kumimoji="1" lang="en-US" altLang="zh-CN" sz="22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a:rPr kumimoji="1" lang="en-US" altLang="zh-CN" sz="2200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2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1" lang="en-US" altLang="zh-CN" sz="2200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kumimoji="1" lang="zh-CN" altLang="en-US" sz="22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D8B932C-5F60-241C-FFDA-18949DDC3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877" y="777106"/>
                <a:ext cx="11335731" cy="5567678"/>
              </a:xfrm>
              <a:prstGeom prst="rect">
                <a:avLst/>
              </a:prstGeom>
              <a:blipFill>
                <a:blip r:embed="rId2"/>
                <a:stretch>
                  <a:fillRect l="-6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椭圆形标注 1">
            <a:extLst>
              <a:ext uri="{FF2B5EF4-FFF2-40B4-BE49-F238E27FC236}">
                <a16:creationId xmlns:a16="http://schemas.microsoft.com/office/drawing/2014/main" id="{78EFA8DA-4814-82BF-1E8B-C3E112C5448B}"/>
              </a:ext>
            </a:extLst>
          </p:cNvPr>
          <p:cNvSpPr/>
          <p:nvPr/>
        </p:nvSpPr>
        <p:spPr>
          <a:xfrm>
            <a:off x="8518967" y="2546430"/>
            <a:ext cx="2708476" cy="882570"/>
          </a:xfrm>
          <a:prstGeom prst="wedgeEllipseCallout">
            <a:avLst>
              <a:gd name="adj1" fmla="val -61151"/>
              <a:gd name="adj2" fmla="val 11364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计算过程需要检查维数是否一致</a:t>
            </a:r>
          </a:p>
        </p:txBody>
      </p:sp>
    </p:spTree>
    <p:extLst>
      <p:ext uri="{BB962C8B-B14F-4D97-AF65-F5344CB8AC3E}">
        <p14:creationId xmlns:p14="http://schemas.microsoft.com/office/powerpoint/2010/main" val="7337733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F05F1-DF60-BA32-9B54-077544E14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BC68676-CD00-EF73-1837-1BB09F277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计算梯度：反向传播（链式法则）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690F62E-F67F-0D40-402F-56118DCD1D37}"/>
                  </a:ext>
                </a:extLst>
              </p:cNvPr>
              <p:cNvSpPr txBox="1"/>
              <p:nvPr/>
            </p:nvSpPr>
            <p:spPr>
              <a:xfrm>
                <a:off x="486750" y="793263"/>
                <a:ext cx="10896358" cy="5447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第二</a:t>
                </a:r>
                <a:r>
                  <a:rPr lang="zh-CN" altLang="en-US" sz="2000" b="1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隐藏层的梯度计算</a:t>
                </a:r>
                <a:r>
                  <a:rPr lang="en-US" altLang="zh-CN" sz="2000" b="1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:</a:t>
                </a:r>
                <a:endParaRPr lang="en-US" altLang="zh-CN" sz="2000" b="1" dirty="0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损失函数对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b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的梯度，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:endParaRPr lang="en-US" altLang="zh-CN" sz="20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d>
                        <m:dPr>
                          <m:ctrlPr>
                            <a:rPr kumimoji="1" lang="en-US" altLang="zh-CN" sz="20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kumimoji="1" lang="en-US" altLang="zh-CN" sz="20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1" lang="en-US" altLang="zh-CN" sz="20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a:rPr kumimoji="1" lang="en-US" altLang="zh-CN" sz="2000" b="0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⊙</m:t>
                      </m:r>
                      <m:r>
                        <a:rPr kumimoji="1" lang="en-US" altLang="zh-CN" sz="2000" b="0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sz="2000" b="0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sSub>
                        <m:sSubPr>
                          <m:ctrlP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000" b="0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kumimoji="1" lang="zh-CN" altLang="en-US" sz="20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kumimoji="1" lang="zh-CN" altLang="en-US" sz="20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⊙</m:t>
                    </m:r>
                  </m:oMath>
                </a14:m>
                <a:r>
                  <a:rPr kumimoji="1" lang="en-US" altLang="zh-CN" sz="20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0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表示两个对象逐元素相乘</a:t>
                </a:r>
                <a:endParaRPr kumimoji="1" lang="en-US" altLang="zh-CN" sz="20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损失函数对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b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的梯度，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:endParaRPr lang="en-US" altLang="zh-CN" sz="20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d>
                        <m:dPr>
                          <m:ctrlPr>
                            <a:rPr kumimoji="1" lang="en-US" altLang="zh-CN" sz="20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kumimoji="1" lang="en-US" altLang="zh-CN" sz="20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1" lang="en-US" altLang="zh-CN" sz="20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a:rPr kumimoji="1" lang="en-US" altLang="zh-CN" sz="2000" b="0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⊙</m:t>
                      </m:r>
                      <m:sSup>
                        <m:sSupPr>
                          <m:ctrlP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000" b="0" i="1" dirty="0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dirty="0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000" b="0" i="1" dirty="0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kumimoji="1" lang="zh-CN" altLang="en-US" sz="20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损失函数对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b>
                        <m:r>
                          <a:rPr lang="en-US" altLang="zh-CN" sz="20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的梯度，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CN" altLang="en-US" sz="20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:endParaRPr lang="en-US" altLang="zh-CN" sz="20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Sup>
                        <m:sSubSup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d>
                        <m:dPr>
                          <m:ctrlPr>
                            <a:rPr kumimoji="1" lang="en-US" altLang="zh-CN" sz="2000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kumimoji="1" lang="en-US" altLang="zh-CN" sz="20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1" lang="en-US" altLang="zh-CN" sz="20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a:rPr kumimoji="1" lang="en-US" altLang="zh-CN" sz="2000" b="0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⊙</m:t>
                      </m:r>
                      <m:sSup>
                        <m:sSupPr>
                          <m:ctrlP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1" lang="en-US" altLang="zh-CN" sz="20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000" b="0" i="1" dirty="0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dirty="0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000" b="0" i="1" dirty="0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000" b="0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kumimoji="1" lang="zh-CN" altLang="en-US" sz="20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690F62E-F67F-0D40-402F-56118DCD1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50" y="793263"/>
                <a:ext cx="10896358" cy="5447710"/>
              </a:xfrm>
              <a:prstGeom prst="rect">
                <a:avLst/>
              </a:prstGeom>
              <a:blipFill>
                <a:blip r:embed="rId2"/>
                <a:stretch>
                  <a:fillRect l="-5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1305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29D3B-82FA-F634-0C91-70E1FCACB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A1DE815-93E5-51F9-C0F1-3A118B434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反向传播（链式法则）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C7743CE-76BE-0752-2862-DC52949CF449}"/>
                  </a:ext>
                </a:extLst>
              </p:cNvPr>
              <p:cNvSpPr txBox="1"/>
              <p:nvPr/>
            </p:nvSpPr>
            <p:spPr>
              <a:xfrm>
                <a:off x="381243" y="945663"/>
                <a:ext cx="11429515" cy="4698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第一</a:t>
                </a:r>
                <a:r>
                  <a:rPr lang="zh-CN" altLang="en-US" sz="2400" b="1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隐藏层的梯度计算</a:t>
                </a:r>
                <a:r>
                  <a:rPr lang="en-US" altLang="zh-CN" sz="2400" b="1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:</a:t>
                </a:r>
                <a:endParaRPr lang="en-US" altLang="zh-CN" sz="2400" b="1" dirty="0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损失函数对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4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b>
                        <m:r>
                          <a:rPr lang="en-US" altLang="zh-CN" sz="24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zh-CN" altLang="en-US" sz="24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的梯度，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CN" altLang="en-US" sz="24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:endParaRPr lang="en-US" altLang="zh-CN" sz="24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Sup>
                        <m:sSub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d>
                        <m:dPr>
                          <m:ctrlPr>
                            <a:rPr kumimoji="1" lang="en-US" altLang="zh-CN" sz="240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kumimoji="1" lang="en-US" altLang="zh-CN" sz="24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4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1" lang="en-US" altLang="zh-CN" sz="24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kumimoji="1" lang="en-US" altLang="zh-CN" sz="24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a:rPr kumimoji="1" lang="en-US" altLang="zh-CN" sz="2400" i="1" dirty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⊙</m:t>
                      </m:r>
                      <m:sSup>
                        <m:sSupPr>
                          <m:ctrlP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400" i="1" dirty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 dirty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400" i="1" dirty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400" i="1" dirty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kumimoji="1" lang="en-US" altLang="zh-CN" sz="2400" b="0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kumimoji="1" lang="en-US" altLang="zh-CN" sz="2400" i="1" dirty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⊙</m:t>
                      </m:r>
                      <m:sSup>
                        <m:sSupPr>
                          <m:ctrlP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400" i="1" dirty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 dirty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400" b="0" i="1" dirty="0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⊙</m:t>
                    </m:r>
                  </m:oMath>
                </a14:m>
                <a:r>
                  <a:rPr kumimoji="1" lang="en-US" altLang="zh-CN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表示两个对象逐元素相乘</a:t>
                </a:r>
                <a:endPara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损失函数对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sz="2400" b="0" i="1" u="none" strike="noStrike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b>
                        <m:r>
                          <a:rPr lang="en-US" altLang="zh-CN" sz="2400" b="0" i="1" u="none" strike="noStrike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zh-CN" altLang="en-US" sz="24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的梯度，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zh-CN" altLang="en-US" sz="2400" b="0" i="0" u="none" strike="noStrike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:endParaRPr lang="en-US" altLang="zh-CN" sz="2400" b="0" i="0" u="none" strike="noStrike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[[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Sup>
                        <m:sSub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d>
                        <m:dPr>
                          <m:ctrlPr>
                            <a:rPr kumimoji="1" lang="en-US" altLang="zh-CN" sz="240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kumimoji="1" lang="en-US" altLang="zh-CN" sz="24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400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1" lang="en-US" altLang="zh-CN" sz="24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kumimoji="1" lang="en-US" altLang="zh-CN" sz="2400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a:rPr kumimoji="1" lang="en-US" altLang="zh-CN" sz="2400" i="1" dirty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⊙</m:t>
                      </m:r>
                      <m:sSup>
                        <m:sSupPr>
                          <m:ctrlP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400" i="1" dirty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 dirty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400" i="1" dirty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400" i="1" dirty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kumimoji="1" lang="en-US" altLang="zh-CN" sz="2400" b="0" i="1" dirty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kumimoji="1" lang="en-US" altLang="zh-CN" sz="2400" i="1" dirty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⊙</m:t>
                      </m:r>
                      <m:sSup>
                        <m:sSupPr>
                          <m:ctrlP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400" i="1" dirty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 dirty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sz="2400" i="1" dirty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kumimoji="1" lang="en-US" altLang="zh-CN" sz="24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400" b="0" i="1" dirty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kumimoji="1" lang="en-US" altLang="zh-CN" sz="2400" i="1" dirty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a:rPr kumimoji="1" lang="en-US" altLang="zh-CN" sz="2400" b="0" i="1" dirty="0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C7743CE-76BE-0752-2862-DC52949CF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3" y="945663"/>
                <a:ext cx="11429515" cy="4698722"/>
              </a:xfrm>
              <a:prstGeom prst="rect">
                <a:avLst/>
              </a:prstGeom>
              <a:blipFill>
                <a:blip r:embed="rId2"/>
                <a:stretch>
                  <a:fillRect l="-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椭圆形标注 1">
                <a:extLst>
                  <a:ext uri="{FF2B5EF4-FFF2-40B4-BE49-F238E27FC236}">
                    <a16:creationId xmlns:a16="http://schemas.microsoft.com/office/drawing/2014/main" id="{CE848C4B-405E-3ACE-A7B0-99C28AB18271}"/>
                  </a:ext>
                </a:extLst>
              </p:cNvPr>
              <p:cNvSpPr/>
              <p:nvPr/>
            </p:nvSpPr>
            <p:spPr>
              <a:xfrm>
                <a:off x="6740326" y="3295024"/>
                <a:ext cx="4896090" cy="882570"/>
              </a:xfrm>
              <a:prstGeom prst="wedgeEllipseCallout">
                <a:avLst>
                  <a:gd name="adj1" fmla="val -72880"/>
                  <a:gd name="adj2" fmla="val 132009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反向传播信息流：</a:t>
                </a:r>
                <a:endParaRPr kumimoji="1" lang="en-US" altLang="zh-CN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accPr>
                        <m:e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𝒚</m:t>
                          </m:r>
                        </m:e>
                      </m:acc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sSub>
                        <m:sSubPr>
                          <m:ctrlP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𝑾</m:t>
                          </m:r>
                        </m:e>
                        <m:sub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𝟑</m:t>
                          </m:r>
                        </m:sub>
                      </m:sSub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𝝈</m:t>
                      </m:r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sSub>
                        <m:sSubPr>
                          <m:ctrlP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𝑾</m:t>
                          </m:r>
                        </m:e>
                        <m:sub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𝝈</m:t>
                      </m:r>
                      <m:r>
                        <a:rPr kumimoji="1" lang="en-US" altLang="zh-CN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r>
                        <a:rPr kumimoji="1" lang="en-US" altLang="zh-CN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𝒙</m:t>
                      </m:r>
                    </m:oMath>
                  </m:oMathPara>
                </a14:m>
                <a:endParaRPr kumimoji="1" lang="zh-CN" altLang="en-US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椭圆形标注 1">
                <a:extLst>
                  <a:ext uri="{FF2B5EF4-FFF2-40B4-BE49-F238E27FC236}">
                    <a16:creationId xmlns:a16="http://schemas.microsoft.com/office/drawing/2014/main" id="{CE848C4B-405E-3ACE-A7B0-99C28AB182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0326" y="3295024"/>
                <a:ext cx="4896090" cy="882570"/>
              </a:xfrm>
              <a:prstGeom prst="wedgeEllipseCallout">
                <a:avLst>
                  <a:gd name="adj1" fmla="val -72880"/>
                  <a:gd name="adj2" fmla="val 132009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16307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95740-D433-C16F-3182-DA656BAF7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AD7753B-9FBD-E025-F257-86F440D1E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反向传播（链式法则）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DF60FAA-83FB-0CFD-A0E2-9DD2044D7612}"/>
                  </a:ext>
                </a:extLst>
              </p:cNvPr>
              <p:cNvSpPr txBox="1"/>
              <p:nvPr/>
            </p:nvSpPr>
            <p:spPr>
              <a:xfrm>
                <a:off x="381242" y="797170"/>
                <a:ext cx="10527323" cy="55020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一般地，对任意 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L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层的全连接网络，记</a:t>
                </a:r>
                <a:endParaRPr kumimoji="1" lang="en-US" altLang="zh-CN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  <m:sup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sup>
                      </m:sSup>
                      <m:sSubSup>
                        <m:sSubSupPr>
                          <m:ctrlP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p>
                      </m:sSubSup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  <m:sup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b="0" i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sSup>
                            <m:sSupPr>
                              <m:ctrlP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sub>
                      </m:sSub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kumimoji="1" lang="en-US" altLang="zh-CN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  <m:sup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sSup>
                        <m:sSupPr>
                          <m:ctrlP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sup>
                      </m:sSup>
                      <m:sSubSup>
                        <m:sSubSupPr>
                          <m:ctrlP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p>
                      </m:sSubSup>
                      <m:r>
                        <a:rPr kumimoji="1" lang="en-US" altLang="zh-CN" i="1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kumimoji="1" lang="en-US" altLang="zh-CN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那么反向传播过程可以按如下公式递推：</a:t>
                </a:r>
                <a:endParaRPr kumimoji="1" lang="en-US" altLang="zh-CN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  <m:sup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  <m:r>
                        <a:rPr kumimoji="1" lang="en-US" altLang="zh-CN" i="1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sSup>
                            <m:sSupPr>
                              <m:ctrlP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sub>
                      </m:sSub>
                      <m:r>
                        <a:rPr kumimoji="1" lang="en-US" altLang="zh-CN" i="1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kumimoji="1" lang="en-US" altLang="zh-CN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  <m:sup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  <m:r>
                        <a:rPr kumimoji="1" lang="en-US" altLang="zh-CN" i="1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US" altLang="zh-CN" b="0" i="1" smtClean="0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b="0" i="1" smtClean="0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kumimoji="1" lang="en-US" altLang="zh-CN" b="0" i="1" smtClean="0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d>
                        <m:dPr>
                          <m:ctrlP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US" altLang="zh-CN" b="0" i="1" smtClean="0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b="0" i="1" smtClean="0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kumimoji="1" lang="en-US" altLang="zh-CN" b="0" i="1" smtClean="0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bSup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⊙</m:t>
                          </m:r>
                          <m:sSubSup>
                            <m:sSubSupPr>
                              <m:ctrlP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US" altLang="zh-CN" b="0" i="1" smtClean="0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b="0" i="1" smtClean="0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kumimoji="1" lang="en-US" altLang="zh-CN" b="0" i="1" smtClean="0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, 1≤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kumimoji="1" lang="en-US" altLang="zh-CN" b="0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b="0" i="0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sSup>
                            <m:sSupPr>
                              <m:ctrlP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sub>
                      </m:sSub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</m:sup>
                          </m:sSubSup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⊙</m:t>
                          </m:r>
                          <m:sSubSup>
                            <m:sSubSupPr>
                              <m:ctrlP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sSup>
                        <m:sSupPr>
                          <m:ctrlP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  <m:sup>
                                  <m: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kumimoji="1" lang="en-US" altLang="zh-CN" b="0" i="1" smtClean="0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kumimoji="1" lang="en-US" altLang="zh-CN" b="0" i="1" smtClean="0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zh-CN" b="0" i="0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, 1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zh-CN" b="0" i="1" smtClean="0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kumimoji="1" lang="en-US" altLang="zh-CN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sSup>
                            <m:sSupPr>
                              <m:ctrlP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sub>
                      </m:sSub>
                      <m:r>
                        <a:rPr kumimoji="1" lang="en-US" altLang="zh-CN" i="1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kumimoji="1" lang="en-US" altLang="zh-CN" i="1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</m:sup>
                          </m:sSubSup>
                          <m:r>
                            <a:rPr kumimoji="1" lang="en-US" altLang="zh-CN" i="1">
                              <a:solidFill>
                                <a:srgbClr val="B61516"/>
                              </a:solidFill>
                              <a:latin typeface="Cambria Math" panose="02040503050406030204" pitchFamily="18" charset="0"/>
                            </a:rPr>
                            <m:t>⊙</m:t>
                          </m:r>
                          <m:sSubSup>
                            <m:sSubSupPr>
                              <m:ctrlP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kumimoji="1" lang="en-US" altLang="zh-CN" i="1">
                                  <a:solidFill>
                                    <a:srgbClr val="B61516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i="1">
                                      <a:solidFill>
                                        <a:srgbClr val="B61516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kumimoji="1" lang="en-US" altLang="zh-CN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, 1</m:t>
                      </m:r>
                      <m:r>
                        <a:rPr kumimoji="1" lang="en-US" altLang="zh-CN" i="1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zh-CN" i="1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kumimoji="1" lang="en-US" altLang="zh-CN" i="1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zh-CN" i="1">
                          <a:solidFill>
                            <a:srgbClr val="B61516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kumimoji="1" lang="en-US" altLang="zh-CN" dirty="0">
                  <a:solidFill>
                    <a:srgbClr val="B6151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DF60FAA-83FB-0CFD-A0E2-9DD2044D7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797170"/>
                <a:ext cx="10527323" cy="5502019"/>
              </a:xfrm>
              <a:prstGeom prst="rect">
                <a:avLst/>
              </a:prstGeom>
              <a:blipFill>
                <a:blip r:embed="rId2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97172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5130E-07D1-F7E5-5095-3C1EC47B5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6ED59BD-FA2F-EF6C-BFF2-91ACF3198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内容小结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31FC1A-9618-F6D9-A66A-B9F69A327B8B}"/>
              </a:ext>
            </a:extLst>
          </p:cNvPr>
          <p:cNvSpPr txBox="1"/>
          <p:nvPr/>
        </p:nvSpPr>
        <p:spPr>
          <a:xfrm>
            <a:off x="260307" y="982023"/>
            <a:ext cx="11818779" cy="5013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深度学习的基本操作对象是矩阵和向量：</a:t>
            </a:r>
            <a:endParaRPr lang="en-US" altLang="zh-CN" sz="2400" b="1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一张 </a:t>
            </a:r>
            <a:r>
              <a:rPr kumimoji="1"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28x28 </a:t>
            </a:r>
            <a:r>
              <a:rPr kumimoji="1"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像素的图像可以展平看成一个 </a:t>
            </a:r>
            <a:r>
              <a:rPr kumimoji="1"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784 </a:t>
            </a:r>
            <a:r>
              <a:rPr kumimoji="1"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维的向量，或</a:t>
            </a:r>
            <a:r>
              <a:rPr kumimoji="1"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28x28 </a:t>
            </a:r>
            <a:r>
              <a:rPr kumimoji="1"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的矩阵</a:t>
            </a:r>
            <a:endParaRPr kumimoji="1" lang="en-US" altLang="zh-CN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权重矩阵可以表示线性变换，作用之后通常叠加非线性激活函数</a:t>
            </a:r>
            <a:endParaRPr lang="en-US" altLang="zh-CN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概率统计：</a:t>
            </a:r>
            <a:endParaRPr lang="en-US" altLang="zh-CN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Softmax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激活函数可以将模型的输出转化为概率分布</a:t>
            </a:r>
            <a:endParaRPr lang="en-US" altLang="zh-CN" sz="2400" b="0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交叉熵和 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散度可以衡量两个概率分布的差异，从而构建损失函数</a:t>
            </a:r>
            <a:endParaRPr lang="en-US" altLang="zh-CN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优化算法基础：</a:t>
            </a:r>
            <a:endParaRPr lang="en-US" altLang="zh-CN" sz="2400" b="1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梯度下降及其衍生算法可以优化损失函数</a:t>
            </a:r>
            <a:endParaRPr lang="en-US" altLang="zh-CN" sz="24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sz="24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通过链式法则可以反向传播求出各层参数的梯度</a:t>
            </a:r>
            <a:endParaRPr lang="en-US" altLang="zh-CN" sz="24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89964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59904-91D4-383B-9CDF-AA97727C0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F9378D1-6655-6A22-8A97-8AA2BF051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B7F879B-A2EE-1D04-E7F4-25D797E6F8EE}"/>
                  </a:ext>
                </a:extLst>
              </p:cNvPr>
              <p:cNvSpPr txBox="1"/>
              <p:nvPr/>
            </p:nvSpPr>
            <p:spPr>
              <a:xfrm>
                <a:off x="82062" y="761979"/>
                <a:ext cx="12109938" cy="5383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1.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设如下两个向量：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𝒖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1, −2, 2</m:t>
                            </m:r>
                          </m:e>
                        </m:d>
                      </m:e>
                      <m:sup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⊤</m:t>
                        </m:r>
                      </m:sup>
                    </m:sSup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𝒗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3, 0, −1</m:t>
                            </m:r>
                          </m:e>
                        </m:d>
                      </m:e>
                      <m:sup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⊤</m:t>
                        </m:r>
                      </m:sup>
                    </m:sSup>
                    <m:r>
                      <a:rPr lang="zh-CN" alt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。</m:t>
                    </m:r>
                  </m:oMath>
                </a14:m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buAutoNum type="arabicParenBoth"/>
                </a:pP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计算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1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𝒖</m:t>
                            </m:r>
                            <m:r>
                              <m:rPr>
                                <m:lit/>
                              </m:r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|</m:t>
                            </m:r>
                          </m:e>
                        </m:d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r>
                      <m:rPr>
                        <m:lit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||</m:t>
                    </m:r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𝒖</m:t>
                    </m:r>
                    <m:r>
                      <m:rPr>
                        <m:lit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r>
                      <m:rPr>
                        <m:lit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||</m:t>
                    </m:r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𝒗</m:t>
                    </m:r>
                    <m:r>
                      <m:rPr>
                        <m:lit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arenBoth"/>
                </a:pP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深度学习中经常使用正则项，请解释使用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||</m:t>
                    </m:r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𝒘</m:t>
                    </m:r>
                    <m:r>
                      <m:rPr>
                        <m:lit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||</m:t>
                    </m:r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𝒘</m:t>
                    </m:r>
                    <m:r>
                      <m:rPr>
                        <m:lit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|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正则化对模型学到的解有什么影响</a:t>
                </a:r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arenBoth"/>
                </a:pP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计算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𝒖</m:t>
                    </m:r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𝒗</m:t>
                    </m:r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的夹角，并解释“特征之间正交”在深度神经网络中的意义</a:t>
                </a:r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2.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图像可以表示为矩阵，每个元素表示像素值。假设一幅 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3×3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的灰度图像矩阵为</a:t>
                </a:r>
                <a:endParaRPr lang="en-US" altLang="zh-CN" sz="16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150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75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将该图像拉长为一个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9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维的向量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𝒗</m:t>
                    </m:r>
                  </m:oMath>
                </a14:m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，并左乘一个反对角矩阵（即从左下角到右上角的元素为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，其他元素全为零的矩阵），再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reshape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回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3x3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的图像</a:t>
                </a:r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3.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考虑矩阵 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𝑀</m:t>
                    </m:r>
                    <m:r>
                      <a:rPr lang="en-US" altLang="zh-CN" sz="16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6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AutoNum type="arabicParenBoth"/>
                </a:pP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计算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𝑀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⊤</m:t>
                        </m:r>
                      </m:sup>
                    </m:sSup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𝑀</m:t>
                    </m:r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并计算其特征值和特征值向量</a:t>
                </a:r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AutoNum type="arabicParenBoth"/>
                </a:pP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写出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𝑀</m:t>
                    </m:r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SVD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分解形式</a:t>
                </a:r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AutoNum type="arabicParenBoth"/>
                </a:pP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利用奇异值分解给出矩阵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𝑀</m:t>
                    </m:r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的秩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近似，并计算近似误差</a:t>
                </a:r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4.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编程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Wingdings" pitchFamily="2" charset="2"/>
                  </a:rPr>
                  <a:t>：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使用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Python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读取一张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MNIST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手写数字图像，对图像矩阵做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SVD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分解并保留前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5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10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20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个奇异值，显示压缩后的图像</a:t>
                </a:r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B7F879B-A2EE-1D04-E7F4-25D797E6F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62" y="761979"/>
                <a:ext cx="12109938" cy="5383590"/>
              </a:xfrm>
              <a:prstGeom prst="rect">
                <a:avLst/>
              </a:prstGeom>
              <a:blipFill>
                <a:blip r:embed="rId2"/>
                <a:stretch>
                  <a:fillRect l="-419" b="-7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24255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95D23-AF5A-844B-4DC4-20D87C6D5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8546F6B-EEEB-4EF0-BDE7-15F642153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0C4D50A-E1C4-BAF2-7AEF-4A6B05146968}"/>
                  </a:ext>
                </a:extLst>
              </p:cNvPr>
              <p:cNvSpPr txBox="1"/>
              <p:nvPr/>
            </p:nvSpPr>
            <p:spPr>
              <a:xfrm>
                <a:off x="186610" y="761979"/>
                <a:ext cx="11818779" cy="5525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5.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假设两个离散分布</a:t>
                </a:r>
                <a:r>
                  <a:rPr lang="zh-CN" altLang="en-US" sz="16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en-US" altLang="zh-CN" sz="16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 </a:t>
                </a:r>
                <a:r>
                  <a:rPr lang="en-US" altLang="zh-CN" sz="1600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q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定义在三个类别上：</a:t>
                </a:r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zh-CN" sz="16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0.1, 0.4, 0.5</m:t>
                          </m:r>
                        </m:e>
                      </m:d>
                      <m:r>
                        <a:rPr lang="en-US" altLang="zh-CN" sz="16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1600" b="1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6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=[0.2, 0.3, 0.5]</m:t>
                      </m:r>
                    </m:oMath>
                  </m:oMathPara>
                </a14:m>
                <a:endParaRPr lang="en-US" altLang="zh-CN" sz="16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   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分别计算 </a:t>
                </a:r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KL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散度</a:t>
                </a:r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D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𝐾𝐿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𝒒</m:t>
                    </m:r>
                    <m:r>
                      <a:rPr lang="en-US" altLang="zh-CN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𝒑</m:t>
                        </m:r>
                      </m:e>
                    </m:d>
                  </m:oMath>
                </a14:m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D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𝐾𝐿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𝒑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𝒒</m:t>
                        </m:r>
                      </m:e>
                    </m:d>
                  </m:oMath>
                </a14:m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, 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以及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CrossEntropy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𝒒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lang="en-US" altLang="zh-CN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𝒑</m:t>
                        </m:r>
                      </m:e>
                    </m:d>
                    <m:r>
                      <a:rPr lang="zh-CN" alt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，</m:t>
                    </m:r>
                    <m:r>
                      <m:rPr>
                        <m:sty m:val="p"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CrossEntropy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𝒑</m:t>
                        </m:r>
                        <m:r>
                          <a:rPr lang="en-US" altLang="zh-CN" sz="1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lang="en-US" altLang="zh-CN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𝒒</m:t>
                        </m:r>
                      </m:e>
                    </m:d>
                  </m:oMath>
                </a14:m>
                <a:endParaRPr lang="en-US" altLang="zh-CN" sz="16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6.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设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𝒑</m:t>
                    </m:r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=[</m:t>
                    </m:r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⋯, </m:t>
                    </m:r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]</m:t>
                    </m:r>
                  </m:oMath>
                </a14:m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是定义在有限集合上的概率分布，熵的定义为</a:t>
                </a:r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𝐻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𝒑</m:t>
                        </m:r>
                      </m:e>
                    </m:d>
                    <m:r>
                      <a:rPr lang="en-US" altLang="zh-CN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𝑖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600" b="0" i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, 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请给出使得熵最大的分布，并证明你   的结果</a:t>
                </a:r>
                <a:endParaRPr lang="en-US" altLang="zh-CN" sz="16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7.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设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𝒑</m:t>
                    </m:r>
                  </m:oMath>
                </a14:m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𝒒</m:t>
                    </m:r>
                  </m:oMath>
                </a14:m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是两个离散概率分布，</a:t>
                </a:r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KL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散度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D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𝐾𝐿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𝒑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𝒒</m:t>
                        </m:r>
                      </m:e>
                    </m:d>
                  </m:oMath>
                </a14:m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总是非负的吗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？如果是，请证明，如果不是，请给出反例</a:t>
                </a:r>
                <a:endParaRPr lang="en-US" altLang="zh-CN" sz="16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8</a:t>
                </a:r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.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考虑如下的二元优化问题：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𝐿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+3</m:t>
                            </m:r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16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AutoNum type="arabicParenBoth"/>
                </a:pP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计算梯度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∇</m:t>
                    </m:r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𝐿</m:t>
                    </m:r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)</m:t>
                    </m:r>
                  </m:oMath>
                </a14:m>
                <a:endParaRPr lang="en-US" altLang="zh-CN" sz="16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AutoNum type="arabicParenBoth"/>
                </a:pP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用初始点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(0, 0)</m:t>
                    </m:r>
                  </m:oMath>
                </a14:m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学习率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𝜂</m:t>
                    </m:r>
                    <m:r>
                      <a:rPr lang="en-US" altLang="zh-CN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=0.1</m:t>
                    </m:r>
                  </m:oMath>
                </a14:m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执行 </a:t>
                </a:r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5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次梯度下降算法，记录每一步的结果</a:t>
                </a:r>
                <a:endParaRPr lang="en-US" altLang="zh-CN" sz="16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AutoNum type="arabicParenBoth"/>
                </a:pP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用初始点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(0, 0)</m:t>
                    </m:r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学习率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𝜂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=0.1</m:t>
                    </m:r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执行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5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次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Adam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算法，记录每一步的结果</a:t>
                </a:r>
                <a:endParaRPr lang="en-US" altLang="zh-CN" sz="1600" b="0" i="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9.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对一个两层神经网络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:=</m:t>
                    </m:r>
                    <m:acc>
                      <m:accPr>
                        <m:chr m:val="̂"/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1600" b="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eLU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zh-CN" altLang="en-US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采样一个数据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1, 1</m:t>
                            </m:r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0.8, 0.2</m:t>
                            </m:r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,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考虑均方误   差损失函数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。计算损失函数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L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关于参数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在如下点处的梯度：</a:t>
                </a:r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其中</m:t>
                      </m:r>
                      <m:r>
                        <a:rPr lang="zh-CN" alt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ReLU</m:t>
                      </m:r>
                      <m:d>
                        <m:dPr>
                          <m:ctrlPr>
                            <a:rPr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1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0C4D50A-E1C4-BAF2-7AEF-4A6B05146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10" y="761979"/>
                <a:ext cx="11818779" cy="5525808"/>
              </a:xfrm>
              <a:prstGeom prst="rect">
                <a:avLst/>
              </a:prstGeom>
              <a:blipFill>
                <a:blip r:embed="rId2"/>
                <a:stretch>
                  <a:fillRect l="-322" b="-294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42610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3.77866"/>
  <p:tag name="ORIGINALWIDTH" val="104.2726"/>
  <p:tag name="OUTPUTTYPE" val="SVG"/>
  <p:tag name="IGUANATEXVERSION" val="160"/>
  <p:tag name="LATEXADDIN" val="\documentclass{article}&#10;\usepackage{amsmath}&#10;\pagestyle{empty}&#10;\begin{document}&#10;&#10;$$&#10;       X = \begin{bmatrix}&#10;       x_{11} &amp; x_{12} &amp; x_{1d} \\&#10;       x_{21} &amp; x_{22} &amp; x_{2d} \\&#10;       \vdots &amp; \vdots &amp; \vdots \\&#10;       x_{n1} &amp; x_{n2} &amp; x_{nd}&#10;       \end{bmatrix}.&#10;$$&#10;&#10;\end{document}"/>
  <p:tag name="IGUANATEXSIZE" val="14"/>
  <p:tag name="IGUANATEXCURSOR" val="245"/>
  <p:tag name="TRANSPARENCY" val="True"/>
  <p:tag name="LATEXENGINEID" val="0"/>
  <p:tag name="TEMPFOLDER" val="/Users/baizhiwei/Library/Containers/com.microsoft.Powerpoint/Data/tmp/TemporaryItems/"/>
  <p:tag name="LATEXFORMHEIGHT" val="426.65"/>
  <p:tag name="LATEXFORMWIDTH" val="513.35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457"/>
  <p:tag name="ORIGINALWIDTH" val="8.209204"/>
  <p:tag name="LATEXADDIN" val="\documentclass{article}&#10;\usepackage{amsmath}&#10;\pagestyle{empty}&#10;\begin{document}&#10;&#10;$$&#10;       X = \begin{bmatrix}&#10;       x_{11} &amp; x_{12} &amp; x_{1d} \\&#10;       x_{21} &amp; x_{22} &amp; x_{2d} \\&#10;       \vdots &amp; \vdots &amp; \vdots \\&#10;       x_{n1} &amp; x_{n2} &amp; x_{nd}&#10;       \end{bmatrix}.&#10;$$&#10;&#10;\end{document}"/>
  <p:tag name="IGUANATEXSIZE" val="14"/>
  <p:tag name="IGUANATEXCURSOR" val="245"/>
  <p:tag name="TRANSPARENCY" val="True"/>
  <p:tag name="LATEXENGINEID" val="0"/>
  <p:tag name="TEMPFOLDER" val="/Users/baizhiwei/Library/Containers/com.microsoft.Powerpoint/Data/tmp/TemporaryItems/"/>
  <p:tag name="LATEXFORMHEIGHT" val="426.65"/>
  <p:tag name="LATEXFORMWIDTH" val="513.35"/>
  <p:tag name="LATEXFORMWRAP" val="True"/>
  <p:tag name="BITMAPVECTOR" val="1"/>
  <p:tag name="EMFCHILD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7"/>
  <p:tag name="ORIGINALWIDTH" val="6.625149"/>
  <p:tag name="EMFCHILD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92277"/>
  <p:tag name="ORIGINALWIDTH" val="3.317547"/>
  <p:tag name="EMFCHILD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95"/>
  <p:tag name="ORIGINALWIDTH" val="0.6873921"/>
  <p:tag name="EMFCHIL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95"/>
  <p:tag name="ORIGINALWIDTH" val="0.6873921"/>
  <p:tag name="EMFCHIL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95"/>
  <p:tag name="ORIGINALWIDTH" val="0.6873921"/>
  <p:tag name="EMFCHIL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92277"/>
  <p:tag name="ORIGINALWIDTH" val="3.317547"/>
  <p:tag name="EMFCHIL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56"/>
  <p:tag name="ORIGINALWIDTH" val="4.961371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38453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38453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56"/>
  <p:tag name="ORIGINALWIDTH" val="4.961371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38453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3.082412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56"/>
  <p:tag name="ORIGINALWIDTH" val="4.961371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38453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09577"/>
  <p:tag name="ORIGINALWIDTH" val="3.584554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56"/>
  <p:tag name="ORIGINALWIDTH" val="4.961371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3.082412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38453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56"/>
  <p:tag name="ORIGINALWIDTH" val="4.961371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3.082412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3.082412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56"/>
  <p:tag name="ORIGINALWIDTH" val="4.961371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3.082412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09577"/>
  <p:tag name="ORIGINALWIDTH" val="3.584554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5"/>
  <p:tag name="ORIGINALWIDTH" val="1.056015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5"/>
  <p:tag name="ORIGINALWIDTH" val="1.056015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5"/>
  <p:tag name="ORIGINALWIDTH" val="1.056015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5"/>
  <p:tag name="ORIGINALWIDTH" val="1.056015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5"/>
  <p:tag name="ORIGINALWIDTH" val="1.056015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5"/>
  <p:tag name="ORIGINALWIDTH" val="1.056015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5"/>
  <p:tag name="ORIGINALWIDTH" val="1.056015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5"/>
  <p:tag name="ORIGINALWIDTH" val="1.056015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5"/>
  <p:tag name="ORIGINALWIDTH" val="1.056015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56"/>
  <p:tag name="ORIGINALWIDTH" val="4.961371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45184"/>
  <p:tag name="ORIGINALWIDTH" val="4.260999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38453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56"/>
  <p:tag name="ORIGINALWIDTH" val="4.961371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45184"/>
  <p:tag name="ORIGINALWIDTH" val="4.260999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3.082412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56"/>
  <p:tag name="ORIGINALWIDTH" val="4.961371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45184"/>
  <p:tag name="ORIGINALWIDTH" val="4.260999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09577"/>
  <p:tag name="ORIGINALWIDTH" val="3.584554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92277"/>
  <p:tag name="ORIGINALWIDTH" val="3.317547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95"/>
  <p:tag name="ORIGINALWIDTH" val="0.6873921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95"/>
  <p:tag name="ORIGINALWIDTH" val="0.6873921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95"/>
  <p:tag name="ORIGINALWIDTH" val="0.6873921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92277"/>
  <p:tag name="ORIGINALWIDTH" val="3.317547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5"/>
  <p:tag name="ORIGINALWIDTH" val="1.056015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5.73392"/>
  <p:tag name="ORIGINALWIDTH" val="21.72525"/>
  <p:tag name="OUTPUTTYPE" val="SVG"/>
  <p:tag name="IGUANATEXVERSION" val="160"/>
  <p:tag name="LATEXADDIN" val="\documentclass{article}&#10;\usepackage{amsmath}&#10;\pagestyle{empty}&#10;\begin{document}&#10;&#10;$$&#10;\left[\begin{array}{l}&#10;1 \\&#10;0 \\&#10;0 \\&#10;\vdots \\&#10;0&#10;\end{array}\right]&#10;$$&#10;&#10;\end{document}"/>
  <p:tag name="IGUANATEXSIZE" val="14"/>
  <p:tag name="IGUANATEXCURSOR" val="133"/>
  <p:tag name="TRANSPARENCY" val="True"/>
  <p:tag name="LATEXENGINEID" val="0"/>
  <p:tag name="TEMPFOLDER" val="/Users/baizhiwei/Library/Containers/com.microsoft.Powerpoint/Data/tmp/TemporaryItems/"/>
  <p:tag name="LATEXFORMHEIGHT" val="426.65"/>
  <p:tag name="LATEXFORMWIDTH" val="513.35"/>
  <p:tag name="LATEXFORMWRAP" val="True"/>
  <p:tag name="BITMAPVECTOR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92278"/>
  <p:tag name="ORIGINALWIDTH" val="3.317548"/>
  <p:tag name="LATEXADDIN" val="\documentclass{article}&#10;\usepackage{amsmath}&#10;\pagestyle{empty}&#10;\begin{document}&#10;&#10;$$&#10;\left[\begin{array}{l}&#10;1 \\&#10;0 \\&#10;0 \\&#10;\vdots \\&#10;0&#10;\end{array}\right]&#10;$$&#10;&#10;\end{document}"/>
  <p:tag name="IGUANATEXSIZE" val="14"/>
  <p:tag name="IGUANATEXCURSOR" val="133"/>
  <p:tag name="TRANSPARENCY" val="True"/>
  <p:tag name="LATEXENGINEID" val="0"/>
  <p:tag name="TEMPFOLDER" val="/Users/baizhiwei/Library/Containers/com.microsoft.Powerpoint/Data/tmp/TemporaryItems/"/>
  <p:tag name="LATEXFORMHEIGHT" val="426.65"/>
  <p:tag name="LATEXFORMWIDTH" val="513.35"/>
  <p:tag name="LATEXFORMWRAP" val="True"/>
  <p:tag name="BITMAPVECTOR" val="1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69"/>
  <p:tag name="ORIGINALWIDTH" val="0.6874016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69"/>
  <p:tag name="ORIGINALWIDTH" val="0.6874016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69"/>
  <p:tag name="ORIGINALWIDTH" val="0.6874016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69"/>
  <p:tag name="ORIGINALWIDTH" val="0.6874016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69"/>
  <p:tag name="ORIGINALWIDTH" val="0.6874016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92278"/>
  <p:tag name="ORIGINALWIDTH" val="3.317548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3.287627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94263"/>
  <p:tag name="EMFCHIL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94263"/>
  <p:tag name="EMFCHIL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6018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6018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6018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94263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92278"/>
  <p:tag name="ORIGINALWIDTH" val="3.317548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69"/>
  <p:tag name="ORIGINALWIDTH" val="0.6874016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69"/>
  <p:tag name="ORIGINALWIDTH" val="0.6874016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69"/>
  <p:tag name="ORIGINALWIDTH" val="0.6874016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69"/>
  <p:tag name="ORIGINALWIDTH" val="0.6874016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97469"/>
  <p:tag name="ORIGINALWIDTH" val="0.6874016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92278"/>
  <p:tag name="ORIGINALWIDTH" val="3.317548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8.21884"/>
  <p:tag name="ORIGINALWIDTH" val="113.065"/>
  <p:tag name="OUTPUTTYPE" val="SVG"/>
  <p:tag name="IGUANATEXVERSION" val="160"/>
  <p:tag name="LATEXADDIN" val="\documentclass{article}&#10;\usepackage{amsmath}&#10;\pagestyle{empty}&#10;\begin{document}&#10;&#10;$$&#10;\begin{gathered}&#10;m_t=\beta_1  m_{t-1}+\left(1-\beta_1\right) g_t \\&#10;v_t=\beta_2  v_{t-1}+\left(1-\beta_2\right) g_t^2 \\&#10;\hat{m}_t=m_t /\left(1-\beta_1^t\right) \\&#10;\hat{v}_t=v_t /\left(1-\beta_2^t\right) \\&#10;\theta=\theta-\eta \frac{\hat{m}_t} {\sqrt{\left(\hat{v}_t+\varepsilon\right)}}&#10;\end{gathered}&#10;$$&#10;&#10;\end{document}"/>
  <p:tag name="IGUANATEXSIZE" val="14"/>
  <p:tag name="IGUANATEXCURSOR" val="369"/>
  <p:tag name="TRANSPARENCY" val="True"/>
  <p:tag name="LATEXENGINEID" val="0"/>
  <p:tag name="TEMPFOLDER" val="/Users/baizhiwei/Library/Containers/com.microsoft.Powerpoint/Data/tmp/TemporaryItems/"/>
  <p:tag name="LATEXFORMHEIGHT" val="426.65"/>
  <p:tag name="LATEXFORMWIDTH" val="513.35"/>
  <p:tag name="LATEXFORMWRAP" val="True"/>
  <p:tag name="BITMAPVECTOR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5"/>
  <p:tag name="ORIGINALWIDTH" val="8.088447"/>
  <p:tag name="LATEXADDIN" val="\documentclass{article}&#10;\usepackage{amsmath}&#10;\pagestyle{empty}&#10;\begin{document}&#10;&#10;$$&#10;\begin{gathered}&#10;m_t=\beta_1  m_{t-1}+\left(1-\beta_1\right) g_t \\&#10;v_t=\beta_2  v_{t-1}+\left(1-\beta_2\right) g_t^2 \\&#10;\hat{m}_t=m_t /\left(1-\beta_1^t\right) \\&#10;\hat{v}_t=v_t /\left(1-\beta_2^t\right) \\&#10;\theta=\theta-\eta \frac{\hat{m}_t} {\sqrt{\left(\hat{v}_t+\varepsilon\right)}}&#10;\end{gathered}&#10;$$&#10;&#10;\end{document}"/>
  <p:tag name="IGUANATEXSIZE" val="14"/>
  <p:tag name="IGUANATEXCURSOR" val="369"/>
  <p:tag name="TRANSPARENCY" val="True"/>
  <p:tag name="LATEXENGINEID" val="0"/>
  <p:tag name="TEMPFOLDER" val="/Users/baizhiwei/Library/Containers/com.microsoft.Powerpoint/Data/tmp/TemporaryItems/"/>
  <p:tag name="LATEXFORMHEIGHT" val="426.65"/>
  <p:tag name="LATEXFORMWIDTH" val="513.35"/>
  <p:tag name="LATEXFORMWRAP" val="True"/>
  <p:tag name="BITMAPVECTOR" val="1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32"/>
  <p:tag name="ORIGINALWIDTH" val="6.567542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66373"/>
  <p:tag name="ORIGINALWIDTH" val="5.383653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7"/>
  <p:tag name="ORIGINALWIDTH" val="2.51638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5"/>
  <p:tag name="ORIGINALWIDTH" val="8.088447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416942"/>
  <p:tag name="ORIGINALWIDTH" val="4.673326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7"/>
  <p:tag name="ORIGINALWIDTH" val="2.51638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11"/>
  <p:tag name="ORIGINALWIDTH" val="6.567542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34"/>
  <p:tag name="ORIGINALWIDTH" val="2.291232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11"/>
  <p:tag name="ORIGINALWIDTH" val="3.259077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915"/>
  <p:tag name="ORIGINALWIDTH" val="6.034231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66373"/>
  <p:tag name="ORIGINALWIDTH" val="5.383653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7"/>
  <p:tag name="ORIGINALWIDTH" val="2.51638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34"/>
  <p:tag name="ORIGINALWIDTH" val="2.291232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817"/>
  <p:tag name="ORIGINALWIDTH" val="4.533075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5"/>
  <p:tag name="ORIGINALWIDTH" val="4.335557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32"/>
  <p:tag name="ORIGINALWIDTH" val="6.567542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66373"/>
  <p:tag name="ORIGINALWIDTH" val="5.383653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7"/>
  <p:tag name="ORIGINALWIDTH" val="3.055624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5"/>
  <p:tag name="ORIGINALWIDTH" val="4.335557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416942"/>
  <p:tag name="ORIGINALWIDTH" val="4.673326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7"/>
  <p:tag name="ORIGINALWIDTH" val="2.51638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11"/>
  <p:tag name="ORIGINALWIDTH" val="6.567542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34"/>
  <p:tag name="ORIGINALWIDTH" val="2.291232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11"/>
  <p:tag name="ORIGINALWIDTH" val="3.259077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915"/>
  <p:tag name="ORIGINALWIDTH" val="6.034231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66373"/>
  <p:tag name="ORIGINALWIDTH" val="5.383653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7"/>
  <p:tag name="ORIGINALWIDTH" val="3.055624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34"/>
  <p:tag name="ORIGINALWIDTH" val="2.291232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817"/>
  <p:tag name="ORIGINALWIDTH" val="4.533075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7"/>
  <p:tag name="ORIGINALWIDTH" val="3.055624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534218"/>
  <p:tag name="ORIGINALWIDTH" val="2.636882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5"/>
  <p:tag name="ORIGINALWIDTH" val="8.088447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32"/>
  <p:tag name="ORIGINALWIDTH" val="6.567542"/>
  <p:tag name="EMFCHILD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5"/>
  <p:tag name="ORIGINALWIDTH" val="8.088447"/>
  <p:tag name="EMFCHILD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34"/>
  <p:tag name="ORIGINALWIDTH" val="3.841743"/>
  <p:tag name="EMFCHILD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452"/>
  <p:tag name="ORIGINALWIDTH" val="2.577635"/>
  <p:tag name="EMFCHILD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11"/>
  <p:tag name="ORIGINALWIDTH" val="3.259077"/>
  <p:tag name="EMFCHILD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915"/>
  <p:tag name="ORIGINALWIDTH" val="6.034231"/>
  <p:tag name="EMFCHILD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66373"/>
  <p:tag name="ORIGINALWIDTH" val="5.383653"/>
  <p:tag name="EMFCHILD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7"/>
  <p:tag name="ORIGINALWIDTH" val="2.51638"/>
  <p:tag name="EMFCHILD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452"/>
  <p:tag name="ORIGINALWIDTH" val="2.577635"/>
  <p:tag name="EMFCHILD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534218"/>
  <p:tag name="ORIGINALWIDTH" val="2.636882"/>
  <p:tag name="EMFCHILD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5"/>
  <p:tag name="ORIGINALWIDTH" val="4.335557"/>
  <p:tag name="EMFCHILD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32"/>
  <p:tag name="ORIGINALWIDTH" val="6.567542"/>
  <p:tag name="EMFCHILD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5"/>
  <p:tag name="ORIGINALWIDTH" val="4.335557"/>
  <p:tag name="EMFCHILD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34"/>
  <p:tag name="ORIGINALWIDTH" val="3.841743"/>
  <p:tag name="EMFCHILD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452"/>
  <p:tag name="ORIGINALWIDTH" val="2.577635"/>
  <p:tag name="EMFCHILD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11"/>
  <p:tag name="ORIGINALWIDTH" val="3.259077"/>
  <p:tag name="EMFCHILD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915"/>
  <p:tag name="ORIGINALWIDTH" val="6.034231"/>
  <p:tag name="EMFCHILD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66373"/>
  <p:tag name="ORIGINALWIDTH" val="5.383653"/>
  <p:tag name="EMFCHILD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7"/>
  <p:tag name="ORIGINALWIDTH" val="3.055624"/>
  <p:tag name="EMFCHILD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452"/>
  <p:tag name="ORIGINALWIDTH" val="2.577635"/>
  <p:tag name="EMFCHILD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33224"/>
  <p:tag name="ORIGINALWIDTH" val="4.07876"/>
  <p:tag name="EMFCHILD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32"/>
  <p:tag name="ORIGINALWIDTH" val="6.567542"/>
  <p:tag name="EMFCHILD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33224"/>
  <p:tag name="ORIGINALWIDTH" val="4.07876"/>
  <p:tag name="EMFCHILD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915"/>
  <p:tag name="ORIGINALWIDTH" val="6.034231"/>
  <p:tag name="EMFCHILD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55393"/>
  <p:tag name="ORIGINALWIDTH" val="4.61207"/>
  <p:tag name="EMFCHILD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534218"/>
  <p:tag name="ORIGINALWIDTH" val="2.636882"/>
  <p:tag name="EMFCHILD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5"/>
  <p:tag name="ORIGINALWIDTH" val="8.088447"/>
  <p:tag name="EMFCHILD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601"/>
  <p:tag name="ORIGINALWIDTH" val="42.49764"/>
  <p:tag name="EMFCHILD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5515"/>
  <p:tag name="ORIGINALWIDTH" val="8.987156"/>
  <p:tag name="EMFCHILD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601"/>
  <p:tag name="ORIGINALWIDTH" val="32.6216"/>
  <p:tag name="EMFCHILD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34"/>
  <p:tag name="ORIGINALWIDTH" val="2.291232"/>
  <p:tag name="EMFCHILD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534218"/>
  <p:tag name="ORIGINALWIDTH" val="2.636882"/>
  <p:tag name="EMFCHILD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5"/>
  <p:tag name="ORIGINALWIDTH" val="4.335557"/>
  <p:tag name="EMFCHILD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8367"/>
  <p:tag name="ORIGINALWIDTH" val="2.336663"/>
  <p:tag name="EMFCHILD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11"/>
  <p:tag name="ORIGINALWIDTH" val="6.567542"/>
  <p:tag name="EMFCHILD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2228"/>
  <p:tag name="ORIGINALWIDTH" val="3.980016"/>
  <p:tag name="EMFCHILD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34"/>
  <p:tag name="ORIGINALWIDTH" val="2.291232"/>
  <p:tag name="EMFCHILD" val="True"/>
</p:tagLst>
</file>

<file path=ppt/theme/theme1.xml><?xml version="1.0" encoding="utf-8"?>
<a:theme xmlns:a="http://schemas.openxmlformats.org/drawingml/2006/main" name="1_自定义设计方案">
  <a:themeElements>
    <a:clrScheme name="潘冬远waxy">
      <a:dk1>
        <a:srgbClr val="B61616"/>
      </a:dk1>
      <a:lt1>
        <a:srgbClr val="FFFFFF"/>
      </a:lt1>
      <a:dk2>
        <a:srgbClr val="242C2D"/>
      </a:dk2>
      <a:lt2>
        <a:srgbClr val="133984"/>
      </a:lt2>
      <a:accent1>
        <a:srgbClr val="D73C1E"/>
      </a:accent1>
      <a:accent2>
        <a:srgbClr val="3769AF"/>
      </a:accent2>
      <a:accent3>
        <a:srgbClr val="EBAA05"/>
      </a:accent3>
      <a:accent4>
        <a:srgbClr val="A0B932"/>
      </a:accent4>
      <a:accent5>
        <a:srgbClr val="82B9BE"/>
      </a:accent5>
      <a:accent6>
        <a:srgbClr val="B4915F"/>
      </a:accent6>
      <a:hlink>
        <a:srgbClr val="196E7D"/>
      </a:hlink>
      <a:folHlink>
        <a:srgbClr val="BEBEBE"/>
      </a:folHlink>
    </a:clrScheme>
    <a:fontScheme name="SJTU标准I">
      <a:majorFont>
        <a:latin typeface="Book Antiqua"/>
        <a:ea typeface="黑体"/>
        <a:cs typeface=""/>
      </a:majorFont>
      <a:minorFont>
        <a:latin typeface="Book Antiqua"/>
        <a:ea typeface="黑体"/>
        <a:cs typeface=""/>
      </a:minorFont>
    </a:fontScheme>
    <a:fmtScheme name="光面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1547</TotalTime>
  <Words>4226</Words>
  <Application>Microsoft Macintosh PowerPoint</Application>
  <PresentationFormat>宽屏</PresentationFormat>
  <Paragraphs>365</Paragraphs>
  <Slides>43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4" baseType="lpstr">
      <vt:lpstr>Google Sans</vt:lpstr>
      <vt:lpstr>微软雅黑</vt:lpstr>
      <vt:lpstr>微软雅黑</vt:lpstr>
      <vt:lpstr>等线</vt:lpstr>
      <vt:lpstr>黑体</vt:lpstr>
      <vt:lpstr>Arial</vt:lpstr>
      <vt:lpstr>Book Antiqua</vt:lpstr>
      <vt:lpstr>Cambria Math</vt:lpstr>
      <vt:lpstr>Noto Sans</vt:lpstr>
      <vt:lpstr>Wingdings</vt:lpstr>
      <vt:lpstr>1_自定义设计方案</vt:lpstr>
      <vt:lpstr>PowerPoint 演示文稿</vt:lpstr>
      <vt:lpstr>目录</vt:lpstr>
      <vt:lpstr>目录</vt:lpstr>
      <vt:lpstr>向量（vector）</vt:lpstr>
      <vt:lpstr>范数（norm）</vt:lpstr>
      <vt:lpstr>距离（distance）</vt:lpstr>
      <vt:lpstr>角度（angle）</vt:lpstr>
      <vt:lpstr>线性相关性（linear dependence）</vt:lpstr>
      <vt:lpstr>矩阵（matrix）</vt:lpstr>
      <vt:lpstr>矩阵乘法(matrix multiplication)</vt:lpstr>
      <vt:lpstr>特殊的矩阵</vt:lpstr>
      <vt:lpstr>矩阵的逆 (inverse)</vt:lpstr>
      <vt:lpstr>矩阵的行列式 (determinant)</vt:lpstr>
      <vt:lpstr>矩阵的特征值（eigenvalue）</vt:lpstr>
      <vt:lpstr>矩阵的奇异值分解（SVD）</vt:lpstr>
      <vt:lpstr>向量和矩阵在神经网络中的应用</vt:lpstr>
      <vt:lpstr>目录</vt:lpstr>
      <vt:lpstr>概率分布</vt:lpstr>
      <vt:lpstr>概率分布的建模</vt:lpstr>
      <vt:lpstr>概率分布的建模</vt:lpstr>
      <vt:lpstr>衡量两个概率分布的差异</vt:lpstr>
      <vt:lpstr>衡量两个概率分布的差异</vt:lpstr>
      <vt:lpstr>目录</vt:lpstr>
      <vt:lpstr>损失函数</vt:lpstr>
      <vt:lpstr>损失函数</vt:lpstr>
      <vt:lpstr>Softmax,困惑度（Perplexity） </vt:lpstr>
      <vt:lpstr>梯度下降法（Gradient Descent, GD）</vt:lpstr>
      <vt:lpstr>梯度下降法（Gradient Descent, GD）</vt:lpstr>
      <vt:lpstr>梯度下降优化算法（Gradient Descent，GD）</vt:lpstr>
      <vt:lpstr>随机梯度下降(Stochastic Gradient Descent, SGD)</vt:lpstr>
      <vt:lpstr>带动量的梯度下降法</vt:lpstr>
      <vt:lpstr>带动量的梯度下降法</vt:lpstr>
      <vt:lpstr>自适应优化方法</vt:lpstr>
      <vt:lpstr>Adam 优化算法</vt:lpstr>
      <vt:lpstr>计算梯度：反向传播（链式法则）</vt:lpstr>
      <vt:lpstr>计算梯度：反向传播（链式法则）</vt:lpstr>
      <vt:lpstr>计算梯度：反向传播（链式法则）</vt:lpstr>
      <vt:lpstr>反向传播（链式法则）</vt:lpstr>
      <vt:lpstr>反向传播（链式法则）</vt:lpstr>
      <vt:lpstr>内容小结</vt:lpstr>
      <vt:lpstr>作业</vt:lpstr>
      <vt:lpstr>作业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Frequency perspective to understand depth effect and robustness of deep learning</dc:title>
  <dc:creator>zhiqin xu</dc:creator>
  <cp:lastModifiedBy>Microsoft Office User</cp:lastModifiedBy>
  <cp:revision>562</cp:revision>
  <dcterms:created xsi:type="dcterms:W3CDTF">2020-06-05T07:59:00Z</dcterms:created>
  <dcterms:modified xsi:type="dcterms:W3CDTF">2025-12-21T04:54:40Z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0FE3EF06A9C74838A2BB9773EB8F8EE0_12</vt:lpwstr>
  </property>
  <property fmtid="{D5CDD505-2E9C-101B-9397-08002B2CF9AE}" pid="3" name="KSOProductBuildVer">
    <vt:lpwstr>2052-12.1.0.19302</vt:lpwstr>
  </property>
</Properties>
</file>