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77" r:id="rId4"/>
    <p:sldId id="260" r:id="rId5"/>
    <p:sldId id="281" r:id="rId6"/>
    <p:sldId id="284" r:id="rId7"/>
    <p:sldId id="282" r:id="rId8"/>
    <p:sldId id="283" r:id="rId9"/>
    <p:sldId id="285" r:id="rId10"/>
    <p:sldId id="286" r:id="rId11"/>
    <p:sldId id="287" r:id="rId12"/>
    <p:sldId id="288" r:id="rId13"/>
    <p:sldId id="290" r:id="rId14"/>
    <p:sldId id="289" r:id="rId15"/>
    <p:sldId id="291" r:id="rId16"/>
    <p:sldId id="292" r:id="rId17"/>
    <p:sldId id="293" r:id="rId18"/>
    <p:sldId id="294" r:id="rId19"/>
    <p:sldId id="295" r:id="rId20"/>
    <p:sldId id="296" r:id="rId21"/>
    <p:sldId id="268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</p14:sldIdLst>
        </p14:section>
        <p14:section name="目录" id="{017F0D12-27D2-490C-910C-815125398AC8}">
          <p14:sldIdLst>
            <p14:sldId id="258"/>
          </p14:sldIdLst>
        </p14:section>
        <p14:section name="过渡页" id="{255FA83B-1C12-40C6-B414-038CF2130AE8}">
          <p14:sldIdLst>
            <p14:sldId id="277"/>
          </p14:sldIdLst>
        </p14:section>
        <p14:section name="内页" id="{C6D91BFE-80F2-473C-AE71-1EA12DA3CD92}">
          <p14:sldIdLst>
            <p14:sldId id="260"/>
            <p14:sldId id="281"/>
            <p14:sldId id="284"/>
            <p14:sldId id="282"/>
            <p14:sldId id="283"/>
            <p14:sldId id="285"/>
            <p14:sldId id="286"/>
            <p14:sldId id="287"/>
            <p14:sldId id="288"/>
            <p14:sldId id="290"/>
            <p14:sldId id="289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封底" id="{2E025735-C41C-4ED5-94AB-BFCE16B95C49}">
          <p14:sldIdLst>
            <p14:sldId id="268"/>
          </p14:sldIdLst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2434" userDrawn="1">
          <p15:clr>
            <a:srgbClr val="A4A3A4"/>
          </p15:clr>
        </p15:guide>
        <p15:guide id="4" orient="horz" pos="21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51EB"/>
    <a:srgbClr val="EDEDED"/>
    <a:srgbClr val="AA1219"/>
    <a:srgbClr val="CC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94" autoAdjust="0"/>
    <p:restoredTop sz="94643" autoAdjust="0"/>
  </p:normalViewPr>
  <p:slideViewPr>
    <p:cSldViewPr snapToGrid="0">
      <p:cViewPr varScale="1">
        <p:scale>
          <a:sx n="88" d="100"/>
          <a:sy n="88" d="100"/>
        </p:scale>
        <p:origin x="96" y="120"/>
      </p:cViewPr>
      <p:guideLst>
        <p:guide pos="3840"/>
        <p:guide pos="2434"/>
        <p:guide orient="horz" pos="21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 showGuides="1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D9358BC-04DF-4455-B949-70BC9175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F56B79-1091-400F-A2A9-6227671170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FF21A8-AF92-4370-9E6D-DA18C0EF5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5F13FF-4C82-4209-AB1F-7FD604644B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4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7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133A512F-7935-4AA0-B8EE-327DA99E1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99AEC58-8F05-45A3-900B-EBD7DE4066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8F4F430E-61A6-4C9B-AB28-E09461FCB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17E19222-08F1-4F61-ACC2-6E16BB7436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70BAF5-028D-41B3-B9C1-DA2C824DF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630356-568D-4951-BB6A-685960A62A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9C00A82-D333-4159-817E-9C7380D16DA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2F7CF06-2AC1-461F-B3BC-23393E41E73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D624B0D-C38A-4A21-9289-4625DBDC6329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71D46B1-BB63-4C6F-B0CE-67B40AD7F8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1B8C26D-FDFA-4BF4-A7CF-B529B7E2DB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98E603D-9283-4A63-8228-31FC2A45BE6E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1622BD5-1061-4C09-9A14-FD1D2E6AED4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64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2AC7F3C-7382-4A84-A86E-90EDDD72E8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>
            <a:extLst>
              <a:ext uri="{FF2B5EF4-FFF2-40B4-BE49-F238E27FC236}">
                <a16:creationId xmlns:a16="http://schemas.microsoft.com/office/drawing/2014/main" id="{3E65EB6F-1E6F-4BA7-9B1A-87394468F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C851C1A8-2647-4778-B954-91350A3936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67E4451-E515-4CD6-9AC2-80FEED5A3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EB66B9-CD9A-4406-B82A-B301F0B2B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/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AED13B5-679B-4E26-81FE-6C898B17DE9C}"/>
              </a:ext>
            </a:extLst>
          </p:cNvPr>
          <p:cNvCxnSpPr>
            <a:cxnSpLocks/>
          </p:cNvCxnSpPr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>
            <a:extLst>
              <a:ext uri="{FF2B5EF4-FFF2-40B4-BE49-F238E27FC236}">
                <a16:creationId xmlns:a16="http://schemas.microsoft.com/office/drawing/2014/main" id="{636D3F5B-DBA0-4275-91FF-D14D16748B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>
            <a:extLst>
              <a:ext uri="{FF2B5EF4-FFF2-40B4-BE49-F238E27FC236}">
                <a16:creationId xmlns:a16="http://schemas.microsoft.com/office/drawing/2014/main" id="{EAF966A0-3FED-4405-A46B-41C9C95D77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>
            <a:extLst>
              <a:ext uri="{FF2B5EF4-FFF2-40B4-BE49-F238E27FC236}">
                <a16:creationId xmlns:a16="http://schemas.microsoft.com/office/drawing/2014/main" id="{5CABA719-CA98-4DC1-BD84-0C9150108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416B96-18E1-4343-823D-E9C854070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F3585C-5A73-4AF1-B357-3035864895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69D545-3D6A-42A2-B6DB-9D6B8FC38E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83CA0A-3CEC-4CF5-883E-6E1BED8E599C}"/>
              </a:ext>
            </a:extLst>
          </p:cNvPr>
          <p:cNvCxnSpPr>
            <a:cxnSpLocks/>
          </p:cNvCxnSpPr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66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6BD71-E314-4A66-99B1-E39EA1F94132}"/>
              </a:ext>
            </a:extLst>
          </p:cNvPr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>
            <a:extLst>
              <a:ext uri="{FF2B5EF4-FFF2-40B4-BE49-F238E27FC236}">
                <a16:creationId xmlns:a16="http://schemas.microsoft.com/office/drawing/2014/main" id="{636D3F5B-DBA0-4275-91FF-D14D16748B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>
            <a:extLst>
              <a:ext uri="{FF2B5EF4-FFF2-40B4-BE49-F238E27FC236}">
                <a16:creationId xmlns:a16="http://schemas.microsoft.com/office/drawing/2014/main" id="{EAF966A0-3FED-4405-A46B-41C9C95D77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>
            <a:extLst>
              <a:ext uri="{FF2B5EF4-FFF2-40B4-BE49-F238E27FC236}">
                <a16:creationId xmlns:a16="http://schemas.microsoft.com/office/drawing/2014/main" id="{5CABA719-CA98-4DC1-BD84-0C9150108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416B96-18E1-4343-823D-E9C854070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F3585C-5A73-4AF1-B357-3035864895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69D545-3D6A-42A2-B6DB-9D6B8FC38E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83CA0A-3CEC-4CF5-883E-6E1BED8E599C}"/>
              </a:ext>
            </a:extLst>
          </p:cNvPr>
          <p:cNvCxnSpPr>
            <a:cxnSpLocks/>
          </p:cNvCxnSpPr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75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98E190D1-AFAC-4AD9-B92E-58B87CBA2BBB}"/>
              </a:ext>
            </a:extLst>
          </p:cNvPr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>
            <a:extLst>
              <a:ext uri="{FF2B5EF4-FFF2-40B4-BE49-F238E27FC236}">
                <a16:creationId xmlns:a16="http://schemas.microsoft.com/office/drawing/2014/main" id="{96682C4B-F3CB-4913-99B2-00AFB7251FA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>
            <a:extLst>
              <a:ext uri="{FF2B5EF4-FFF2-40B4-BE49-F238E27FC236}">
                <a16:creationId xmlns:a16="http://schemas.microsoft.com/office/drawing/2014/main" id="{B5A17264-04D1-4C02-832A-A1DA9484B0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6FA3F28-F930-4C1E-80F2-90C73C8F3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86D724-0E80-4FBA-8317-A8CE5EF380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3A0ABC-646A-4367-9E96-FFDDE79E6B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1E4B9AD9-F42C-42B1-BF19-2BD63A06C2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763BFF2-1BD6-4E69-9E37-FE80DFEC27A8}"/>
              </a:ext>
            </a:extLst>
          </p:cNvPr>
          <p:cNvCxnSpPr>
            <a:cxnSpLocks/>
          </p:cNvCxnSpPr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22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>
            <a:extLst>
              <a:ext uri="{FF2B5EF4-FFF2-40B4-BE49-F238E27FC236}">
                <a16:creationId xmlns:a16="http://schemas.microsoft.com/office/drawing/2014/main" id="{CA3B2481-2E39-4F26-AD96-B5923670EB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C227DB4D-9A52-41BB-8743-E8038C413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B2D05E36-F937-40FD-97BB-9372B5AC93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C80367-1D9F-485B-B0F7-7C45899F9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>
            <a:extLst>
              <a:ext uri="{FF2B5EF4-FFF2-40B4-BE49-F238E27FC236}">
                <a16:creationId xmlns:a16="http://schemas.microsoft.com/office/drawing/2014/main" id="{61CC23B2-BE5F-4680-96CD-C33FF9374D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788FC1A-7F0D-4A9B-AA04-89AD4994A8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0B84F0-53AC-421B-9FBC-62687BB5AA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9E27F61-80B1-40C1-B303-E54548F0A0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6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C54DA7-8689-4800-BC51-1B5E92F91EBD}"/>
              </a:ext>
            </a:extLst>
          </p:cNvPr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E59BA01-ADDE-45EC-AD9A-30B45C126EF8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C4775BF-17D8-45C0-9CB9-425332699B08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0D22151C-5CCD-4390-83DF-F41B623A3BBE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>
                  <a:extLst>
                    <a:ext uri="{FF2B5EF4-FFF2-40B4-BE49-F238E27FC236}">
                      <a16:creationId xmlns:a16="http://schemas.microsoft.com/office/drawing/2014/main" id="{4FA339D9-8197-4F28-8D72-F96BF5158E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081911D-2E44-4FD6-A0AD-907AAE52FACB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92C7D20-4DAB-48D5-B9FE-07311B97C222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2A3E5D-FF59-4C7C-A657-F2CE27FAB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>
            <a:extLst>
              <a:ext uri="{FF2B5EF4-FFF2-40B4-BE49-F238E27FC236}">
                <a16:creationId xmlns:a16="http://schemas.microsoft.com/office/drawing/2014/main" id="{AF8E3962-2329-4680-827B-C4237CDC52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36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78DC3B0-6545-47FD-A372-07AD4DF09697}"/>
              </a:ext>
            </a:extLst>
          </p:cNvPr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499F2E8-30BC-413E-8034-6A7278D4979C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BFD679A7-DAD2-4984-B6F0-7C9ABE4B8F0F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24CD77E-BBF9-4D46-B301-F75D3222F2E0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>
                  <a:extLst>
                    <a:ext uri="{FF2B5EF4-FFF2-40B4-BE49-F238E27FC236}">
                      <a16:creationId xmlns:a16="http://schemas.microsoft.com/office/drawing/2014/main" id="{83E81D97-88FE-44C4-85F5-ABEF155EA0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959A77-64DA-4694-95C2-AD9E38910645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0512A63-1AB8-442E-BAE6-AF2B98235281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D253681-53B8-4661-A94B-736B46C3A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D403F116-EFE8-4DEB-B6FE-4D20752B74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101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3E3E6D-D003-4285-9CD3-F9F948F4D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>
            <a:extLst>
              <a:ext uri="{FF2B5EF4-FFF2-40B4-BE49-F238E27FC236}">
                <a16:creationId xmlns:a16="http://schemas.microsoft.com/office/drawing/2014/main" id="{20F80C42-4A81-4868-AA78-9E4FF9811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998610-38B8-4F4F-8E37-98D574A43924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08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8ACCEA9-8D4D-47C1-AFB3-3E215258EFDB}"/>
              </a:ext>
            </a:extLst>
          </p:cNvPr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>
            <a:extLst>
              <a:ext uri="{FF2B5EF4-FFF2-40B4-BE49-F238E27FC236}">
                <a16:creationId xmlns:a16="http://schemas.microsoft.com/office/drawing/2014/main" id="{62155B61-5059-48B5-87FF-DD4186D22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D934C7A-D80F-46AF-9EA9-3274A652C8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3973" r="3197"/>
          <a:stretch/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A61551-45B8-4979-813A-58420CD05B43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5C5EC2-BF47-4B56-8C74-5186E7035801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F2E2F86-D946-488E-851C-D8455FD8E6B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85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F2A3FF-349C-4A77-B4E4-30B91612AF58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D43C20-4F27-4C91-AEAA-CF5C31A807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/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6616902-5391-4A6F-829E-AD2830E6904C}"/>
              </a:ext>
            </a:extLst>
          </p:cNvPr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C35A62-787F-4D0F-902F-C6A602FEBB80}"/>
              </a:ext>
            </a:extLst>
          </p:cNvPr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30E292-1289-47A7-B19B-DBEC054F4388}"/>
              </a:ext>
            </a:extLst>
          </p:cNvPr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  <p:extLst>
      <p:ext uri="{BB962C8B-B14F-4D97-AF65-F5344CB8AC3E}">
        <p14:creationId xmlns:p14="http://schemas.microsoft.com/office/powerpoint/2010/main" val="284729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2BE1FDF5-4923-43E1-8950-8527649FE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FD0C4E5-D655-41D1-8AC5-975561F1C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DD1933B-16C3-4999-98BD-F73EBEC916D2}"/>
              </a:ext>
            </a:extLst>
          </p:cNvPr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>
            <a:extLst>
              <a:ext uri="{FF2B5EF4-FFF2-40B4-BE49-F238E27FC236}">
                <a16:creationId xmlns:a16="http://schemas.microsoft.com/office/drawing/2014/main" id="{B94F3640-73A4-452A-B43A-9C6BC3DA01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E81BD90-8A64-4ED5-A552-F6BD597FB9AE}"/>
              </a:ext>
            </a:extLst>
          </p:cNvPr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>
            <a:extLst>
              <a:ext uri="{FF2B5EF4-FFF2-40B4-BE49-F238E27FC236}">
                <a16:creationId xmlns:a16="http://schemas.microsoft.com/office/drawing/2014/main" id="{6E06DE62-527A-47C4-87BF-FFC53A66E7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>
            <a:extLst>
              <a:ext uri="{FF2B5EF4-FFF2-40B4-BE49-F238E27FC236}">
                <a16:creationId xmlns:a16="http://schemas.microsoft.com/office/drawing/2014/main" id="{028BE167-9388-4F73-B56C-D2C5AA5D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04C2BD-8375-4CA5-A006-B014FC0FB5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>
            <a:extLst>
              <a:ext uri="{FF2B5EF4-FFF2-40B4-BE49-F238E27FC236}">
                <a16:creationId xmlns:a16="http://schemas.microsoft.com/office/drawing/2014/main" id="{E32F64F0-3B16-41D3-A21E-C57551DE70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079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F48AE7D4-DFEE-4825-B27E-30333F4A9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04CF1101-69DB-4A33-A9E2-33249567E3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64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>
            <a:extLst>
              <a:ext uri="{FF2B5EF4-FFF2-40B4-BE49-F238E27FC236}">
                <a16:creationId xmlns:a16="http://schemas.microsoft.com/office/drawing/2014/main" id="{5723A9D1-EED7-4450-8C0A-D4F40F2B0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D828F617-93F6-4A6A-9A46-2F3977BC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  <p:extLst>
      <p:ext uri="{BB962C8B-B14F-4D97-AF65-F5344CB8AC3E}">
        <p14:creationId xmlns:p14="http://schemas.microsoft.com/office/powerpoint/2010/main" val="263751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>
            <a:extLst>
              <a:ext uri="{FF2B5EF4-FFF2-40B4-BE49-F238E27FC236}">
                <a16:creationId xmlns:a16="http://schemas.microsoft.com/office/drawing/2014/main" id="{033EB741-EFF7-4BA9-9D9F-8D39CB76B557}"/>
              </a:ext>
            </a:extLst>
          </p:cNvPr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340CE4CD-6751-47F9-A2C4-46D3B98564CC}"/>
              </a:ext>
            </a:extLst>
          </p:cNvPr>
          <p:cNvSpPr txBox="1">
            <a:spLocks/>
          </p:cNvSpPr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900DEE-6164-48C3-8797-16E7213B07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E9C0F90-B4B1-48B6-B1D3-91ACC9BAE7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B2C31BE-C0C5-4899-948E-BC783E5331C4}"/>
              </a:ext>
            </a:extLst>
          </p:cNvPr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>
            <a:extLst>
              <a:ext uri="{FF2B5EF4-FFF2-40B4-BE49-F238E27FC236}">
                <a16:creationId xmlns:a16="http://schemas.microsoft.com/office/drawing/2014/main" id="{05619C6E-49A8-4320-BAA1-41C03E721E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rgbClr val="C8161E">
                <a:tint val="45000"/>
                <a:satMod val="400000"/>
              </a:srgb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>
            <a:extLst>
              <a:ext uri="{FF2B5EF4-FFF2-40B4-BE49-F238E27FC236}">
                <a16:creationId xmlns:a16="http://schemas.microsoft.com/office/drawing/2014/main" id="{545C6A52-683F-4BB0-A406-3D050A96C0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05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52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1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8" r:id="rId4"/>
    <p:sldLayoutId id="2147483683" r:id="rId5"/>
    <p:sldLayoutId id="2147483689" r:id="rId6"/>
    <p:sldLayoutId id="2147483682" r:id="rId7"/>
    <p:sldLayoutId id="2147483684" r:id="rId8"/>
    <p:sldLayoutId id="2147483664" r:id="rId9"/>
    <p:sldLayoutId id="2147483677" r:id="rId10"/>
    <p:sldLayoutId id="2147483678" r:id="rId11"/>
    <p:sldLayoutId id="2147483675" r:id="rId12"/>
    <p:sldLayoutId id="2147483690" r:id="rId13"/>
    <p:sldLayoutId id="2147483685" r:id="rId14"/>
    <p:sldLayoutId id="2147483686" r:id="rId15"/>
    <p:sldLayoutId id="2147483691" r:id="rId16"/>
    <p:sldLayoutId id="214748368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Tx/>
        <a:buBlip>
          <a:blip r:embed="rId19"/>
        </a:buBlip>
        <a:defRPr sz="2963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1">
          <p15:clr>
            <a:srgbClr val="F26B43"/>
          </p15:clr>
        </p15:guide>
        <p15:guide id="2" orient="horz" pos="227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227">
          <p15:clr>
            <a:srgbClr val="F26B43"/>
          </p15:clr>
        </p15:guide>
        <p15:guide id="5" orient="horz" pos="2041">
          <p15:clr>
            <a:srgbClr val="F26B43"/>
          </p15:clr>
        </p15:guide>
        <p15:guide id="6" pos="7446" userDrawn="1">
          <p15:clr>
            <a:srgbClr val="F26B43"/>
          </p15:clr>
        </p15:guide>
        <p15:guide id="7" orient="horz" pos="3651">
          <p15:clr>
            <a:srgbClr val="F26B43"/>
          </p15:clr>
        </p15:guide>
        <p15:guide id="8" orient="horz" pos="2514">
          <p15:clr>
            <a:srgbClr val="FDE53C"/>
          </p15:clr>
        </p15:guide>
        <p15:guide id="9" orient="horz" pos="1554">
          <p15:clr>
            <a:srgbClr val="FDE53C"/>
          </p15:clr>
        </p15:guide>
        <p15:guide id="12" pos="2418">
          <p15:clr>
            <a:srgbClr val="A4A3A4"/>
          </p15:clr>
        </p15:guide>
        <p15:guide id="13" pos="4830">
          <p15:clr>
            <a:srgbClr val="A4A3A4"/>
          </p15:clr>
        </p15:guide>
        <p15:guide id="14" orient="horz" pos="1356">
          <p15:clr>
            <a:srgbClr val="A4A3A4"/>
          </p15:clr>
        </p15:guide>
        <p15:guide id="15" orient="horz" pos="271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05ECC-F19C-469E-BAA3-7810EC50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Deep Q-Network</a:t>
            </a:r>
            <a:r>
              <a:rPr lang="zh-CN" altLang="en-US" dirty="0"/>
              <a:t>解决</a:t>
            </a:r>
            <a:r>
              <a:rPr lang="en-US" altLang="zh-CN" dirty="0" err="1"/>
              <a:t>Lunarlander</a:t>
            </a:r>
            <a:r>
              <a:rPr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B5F1DE-2DCC-43FF-880E-DD12920912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53CAF1-A9D1-4E1E-932D-D7D1FAD85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鲁国栋</a:t>
            </a:r>
          </a:p>
        </p:txBody>
      </p:sp>
    </p:spTree>
    <p:extLst>
      <p:ext uri="{BB962C8B-B14F-4D97-AF65-F5344CB8AC3E}">
        <p14:creationId xmlns:p14="http://schemas.microsoft.com/office/powerpoint/2010/main" val="30038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 descr="图片包含 泰迪熊, 建筑, 熊, 装满&#10;&#10;描述已自动生成">
            <a:extLst>
              <a:ext uri="{FF2B5EF4-FFF2-40B4-BE49-F238E27FC236}">
                <a16:creationId xmlns:a16="http://schemas.microsoft.com/office/drawing/2014/main" id="{71FC82FA-0DC3-4228-A6AB-9FB9A0CA56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9" r="20389"/>
          <a:stretch/>
        </p:blipFill>
        <p:spPr/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B8457E3-9FED-46BF-ADA6-6F922D4F2578}"/>
              </a:ext>
            </a:extLst>
          </p:cNvPr>
          <p:cNvSpPr/>
          <p:nvPr/>
        </p:nvSpPr>
        <p:spPr>
          <a:xfrm>
            <a:off x="6494513" y="1218700"/>
            <a:ext cx="4968617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err="1">
                <a:solidFill>
                  <a:schemeClr val="accent2"/>
                </a:solidFill>
              </a:rPr>
              <a:t>Lunarlander</a:t>
            </a:r>
            <a:r>
              <a:rPr lang="zh-CN" altLang="en-US" sz="2800" b="1" dirty="0">
                <a:solidFill>
                  <a:schemeClr val="accent2"/>
                </a:solidFill>
              </a:rPr>
              <a:t>问题的数学刻画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06BA19C-2A59-4169-A9AF-D30EF2FB4DAF}"/>
              </a:ext>
            </a:extLst>
          </p:cNvPr>
          <p:cNvGrpSpPr/>
          <p:nvPr/>
        </p:nvGrpSpPr>
        <p:grpSpPr>
          <a:xfrm>
            <a:off x="5602237" y="1218700"/>
            <a:ext cx="806138" cy="720000"/>
            <a:chOff x="5326012" y="1180600"/>
            <a:chExt cx="806138" cy="7200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D57DE09-A430-406B-A844-CB736CCD4BD9}"/>
                </a:ext>
              </a:extLst>
            </p:cNvPr>
            <p:cNvSpPr/>
            <p:nvPr/>
          </p:nvSpPr>
          <p:spPr>
            <a:xfrm>
              <a:off x="5326012" y="118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1</a:t>
              </a:r>
              <a:endParaRPr lang="zh-CN" altLang="en-US" sz="3200" b="1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44B665-1FA9-44DF-B2BD-11729D313FF8}"/>
                </a:ext>
              </a:extLst>
            </p:cNvPr>
            <p:cNvSpPr/>
            <p:nvPr/>
          </p:nvSpPr>
          <p:spPr>
            <a:xfrm>
              <a:off x="5412150" y="181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0F7BF95-A7BE-458C-BB5C-3769DDFF9E7F}"/>
              </a:ext>
            </a:extLst>
          </p:cNvPr>
          <p:cNvGrpSpPr/>
          <p:nvPr/>
        </p:nvGrpSpPr>
        <p:grpSpPr>
          <a:xfrm>
            <a:off x="5549229" y="2298700"/>
            <a:ext cx="720000" cy="720000"/>
            <a:chOff x="5412150" y="2260600"/>
            <a:chExt cx="720000" cy="72000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B57CAE6-7213-494A-BFF2-E863469AA206}"/>
                </a:ext>
              </a:extLst>
            </p:cNvPr>
            <p:cNvSpPr/>
            <p:nvPr/>
          </p:nvSpPr>
          <p:spPr>
            <a:xfrm>
              <a:off x="5412150" y="226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2</a:t>
              </a:r>
              <a:endParaRPr lang="zh-CN" altLang="en-US" sz="3200" b="1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B2CCAFC-6AE3-4676-9EC2-C1E1035D18FC}"/>
                </a:ext>
              </a:extLst>
            </p:cNvPr>
            <p:cNvSpPr/>
            <p:nvPr/>
          </p:nvSpPr>
          <p:spPr>
            <a:xfrm>
              <a:off x="5412150" y="289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52310B0-6824-49AF-BF4A-B2594D4AD361}"/>
              </a:ext>
            </a:extLst>
          </p:cNvPr>
          <p:cNvGrpSpPr/>
          <p:nvPr/>
        </p:nvGrpSpPr>
        <p:grpSpPr>
          <a:xfrm>
            <a:off x="5595611" y="3378700"/>
            <a:ext cx="720000" cy="720000"/>
            <a:chOff x="5412150" y="3340600"/>
            <a:chExt cx="720000" cy="72000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0DAEC36-4DE0-4B07-AB4B-BBD38DA98017}"/>
                </a:ext>
              </a:extLst>
            </p:cNvPr>
            <p:cNvSpPr/>
            <p:nvPr/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3</a:t>
              </a:r>
              <a:endParaRPr lang="zh-CN" altLang="en-US" sz="3200" b="1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A61687F-3A22-4C28-934B-66A59E06F982}"/>
                </a:ext>
              </a:extLst>
            </p:cNvPr>
            <p:cNvSpPr/>
            <p:nvPr/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3749FA2-9388-4453-BC33-43422119B2C5}"/>
              </a:ext>
            </a:extLst>
          </p:cNvPr>
          <p:cNvGrpSpPr/>
          <p:nvPr/>
        </p:nvGrpSpPr>
        <p:grpSpPr>
          <a:xfrm>
            <a:off x="5588985" y="4458700"/>
            <a:ext cx="720000" cy="720000"/>
            <a:chOff x="5412150" y="4420600"/>
            <a:chExt cx="720000" cy="7200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B674FBB-96AF-4F18-ADC9-13A198FD3217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4</a:t>
              </a:r>
              <a:endParaRPr lang="zh-CN" altLang="en-US" sz="3200" b="1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0CDB4CD-FED7-40DD-81FA-71A09C291886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1D726FC8-315A-4E01-BC76-6016CA1B59E6}"/>
              </a:ext>
            </a:extLst>
          </p:cNvPr>
          <p:cNvSpPr/>
          <p:nvPr/>
        </p:nvSpPr>
        <p:spPr>
          <a:xfrm>
            <a:off x="6494512" y="4458700"/>
            <a:ext cx="4968617" cy="8481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2"/>
                </a:solidFill>
              </a:rPr>
              <a:t>在</a:t>
            </a:r>
            <a:r>
              <a:rPr lang="en-US" altLang="zh-CN" sz="2800" b="1" dirty="0" err="1">
                <a:solidFill>
                  <a:schemeClr val="accent2"/>
                </a:solidFill>
              </a:rPr>
              <a:t>Lunarlander</a:t>
            </a:r>
            <a:r>
              <a:rPr lang="zh-CN" altLang="en-US" sz="2800" b="1" dirty="0">
                <a:solidFill>
                  <a:schemeClr val="accent2"/>
                </a:solidFill>
              </a:rPr>
              <a:t>环境下的训练结果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9D299B-A5C0-495D-BD31-F1A8965CE4F2}"/>
              </a:ext>
            </a:extLst>
          </p:cNvPr>
          <p:cNvSpPr/>
          <p:nvPr/>
        </p:nvSpPr>
        <p:spPr>
          <a:xfrm>
            <a:off x="6494512" y="3378700"/>
            <a:ext cx="4968617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accent2"/>
                </a:solidFill>
              </a:rPr>
              <a:t>Q-network</a:t>
            </a:r>
            <a:r>
              <a:rPr lang="zh-CN" altLang="en-US" sz="2800" b="1" dirty="0">
                <a:solidFill>
                  <a:schemeClr val="accent2"/>
                </a:solidFill>
              </a:rPr>
              <a:t>的训练细节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C9B6454-04CB-4AD1-A51C-807E37232997}"/>
              </a:ext>
            </a:extLst>
          </p:cNvPr>
          <p:cNvSpPr/>
          <p:nvPr/>
        </p:nvSpPr>
        <p:spPr>
          <a:xfrm>
            <a:off x="0" y="0"/>
            <a:ext cx="2032000" cy="1143000"/>
          </a:xfrm>
          <a:prstGeom prst="roundRect">
            <a:avLst>
              <a:gd name="adj" fmla="val 1666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69BE773-43D4-4183-A454-3565166A68EE}"/>
              </a:ext>
            </a:extLst>
          </p:cNvPr>
          <p:cNvSpPr/>
          <p:nvPr/>
        </p:nvSpPr>
        <p:spPr>
          <a:xfrm>
            <a:off x="6494513" y="2298700"/>
            <a:ext cx="4968617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accent2"/>
                </a:solidFill>
              </a:rPr>
              <a:t>Q-learning</a:t>
            </a:r>
            <a:r>
              <a:rPr lang="zh-CN" altLang="en-US" sz="2800" b="1" dirty="0">
                <a:solidFill>
                  <a:schemeClr val="accent2"/>
                </a:solidFill>
              </a:rPr>
              <a:t>与</a:t>
            </a:r>
            <a:r>
              <a:rPr lang="en-US" altLang="zh-CN" sz="2800" b="1" dirty="0">
                <a:solidFill>
                  <a:schemeClr val="accent2"/>
                </a:solidFill>
              </a:rPr>
              <a:t>DQN</a:t>
            </a:r>
            <a:r>
              <a:rPr lang="zh-CN" altLang="en-US" sz="2800" b="1" dirty="0">
                <a:solidFill>
                  <a:schemeClr val="accent2"/>
                </a:solidFill>
              </a:rPr>
              <a:t>介绍</a:t>
            </a:r>
          </a:p>
        </p:txBody>
      </p:sp>
    </p:spTree>
    <p:extLst>
      <p:ext uri="{BB962C8B-B14F-4D97-AF65-F5344CB8AC3E}">
        <p14:creationId xmlns:p14="http://schemas.microsoft.com/office/powerpoint/2010/main" val="40597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 descr="城市的风景&#10;&#10;描述已自动生成">
            <a:extLst>
              <a:ext uri="{FF2B5EF4-FFF2-40B4-BE49-F238E27FC236}">
                <a16:creationId xmlns:a16="http://schemas.microsoft.com/office/drawing/2014/main" id="{D6AA278E-C199-4C5B-BFB5-367EDE94CBA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88" b="28788"/>
          <a:stretch>
            <a:fillRect/>
          </a:stretch>
        </p:blipFill>
        <p:spPr/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6B93CCF2-A03B-4AC3-A4B9-85456E86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j-ea"/>
                <a:ea typeface="+mj-ea"/>
              </a:rPr>
              <a:t>Lunarlander</a:t>
            </a:r>
            <a:r>
              <a:rPr lang="zh-CN" altLang="en-US" dirty="0">
                <a:latin typeface="+mj-ea"/>
                <a:ea typeface="+mj-ea"/>
              </a:rPr>
              <a:t>问题的数学刻画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8FF715-E75B-4FDD-981C-80F0676C67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Lunarlander</a:t>
            </a:r>
            <a:r>
              <a:rPr lang="en-US" altLang="zh-CN" dirty="0"/>
              <a:t> v3</a:t>
            </a:r>
            <a:r>
              <a:rPr lang="zh-CN" altLang="en-US" dirty="0"/>
              <a:t>是</a:t>
            </a:r>
            <a:r>
              <a:rPr lang="en-US" altLang="zh-CN" dirty="0"/>
              <a:t>Gymnasium</a:t>
            </a:r>
            <a:r>
              <a:rPr lang="zh-CN" altLang="en-US" dirty="0"/>
              <a:t>环境下的一个子问题。</a:t>
            </a:r>
            <a:r>
              <a:rPr lang="en-US" altLang="zh-CN" dirty="0"/>
              <a:t>Gymnasium</a:t>
            </a:r>
            <a:r>
              <a:rPr lang="zh-CN" altLang="en-US" dirty="0"/>
              <a:t>环境由</a:t>
            </a:r>
            <a:r>
              <a:rPr lang="en-US" altLang="zh-CN" dirty="0"/>
              <a:t>OpenAI</a:t>
            </a:r>
            <a:r>
              <a:rPr lang="zh-CN" altLang="en-US" dirty="0"/>
              <a:t>搭建，主要用于支持一系列问题的强化学习训练。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2B5E6A3-858A-4A21-8EE4-4235A0E90E7A}"/>
              </a:ext>
            </a:extLst>
          </p:cNvPr>
          <p:cNvGrpSpPr/>
          <p:nvPr/>
        </p:nvGrpSpPr>
        <p:grpSpPr>
          <a:xfrm>
            <a:off x="1048224" y="3047028"/>
            <a:ext cx="2895125" cy="3181080"/>
            <a:chOff x="1048225" y="3047028"/>
            <a:chExt cx="2862842" cy="318108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0307CF1-10ED-4D80-98C6-B73F29EB6C7A}"/>
                </a:ext>
              </a:extLst>
            </p:cNvPr>
            <p:cNvSpPr/>
            <p:nvPr/>
          </p:nvSpPr>
          <p:spPr>
            <a:xfrm>
              <a:off x="1048225" y="3047028"/>
              <a:ext cx="2862842" cy="318003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800" b="1" i="0" u="none" strike="noStrike" kern="0" cap="none" spc="0" normalizeH="0" baseline="0" noProof="0" dirty="0">
                  <a:ln>
                    <a:noFill/>
                  </a:ln>
                  <a:solidFill>
                    <a:srgbClr val="C8161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01</a:t>
              </a:r>
              <a:endParaRPr kumimoji="0" lang="zh-CN" altLang="en-US" sz="13800" b="1" i="0" u="none" strike="noStrike" kern="0" cap="none" spc="0" normalizeH="0" baseline="0" noProof="0" dirty="0">
                <a:ln>
                  <a:noFill/>
                </a:ln>
                <a:solidFill>
                  <a:srgbClr val="C8161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43CF905-55C6-48BC-B9D3-40B10A54FAF7}"/>
                </a:ext>
              </a:extLst>
            </p:cNvPr>
            <p:cNvSpPr/>
            <p:nvPr/>
          </p:nvSpPr>
          <p:spPr>
            <a:xfrm rot="16200000">
              <a:off x="2434933" y="4751974"/>
              <a:ext cx="90000" cy="2862268"/>
            </a:xfrm>
            <a:prstGeom prst="rect">
              <a:avLst/>
            </a:prstGeom>
            <a:solidFill>
              <a:srgbClr val="C8161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134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A048031C-ACCD-4F47-AC1D-F55A1029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Lunarlander</a:t>
            </a:r>
            <a:r>
              <a:rPr lang="zh-CN" altLang="en-US" dirty="0"/>
              <a:t>环境简介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DD1CC97B-827D-430E-B8C4-D5CB49F6B1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2" y="1142440"/>
                <a:ext cx="5963478" cy="499145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 err="1"/>
                  <a:t>Lunarlander</a:t>
                </a:r>
                <a:r>
                  <a:rPr lang="zh-CN" altLang="en-US" dirty="0"/>
                  <a:t>环境：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一个两腿飞行器即将降落到月球表面。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这个飞行器上有</a:t>
                </a:r>
                <a:r>
                  <a:rPr lang="zh-CN" altLang="en-US" b="1" dirty="0"/>
                  <a:t>三个功率可变的引擎</a:t>
                </a:r>
                <a:r>
                  <a:rPr lang="zh-CN" altLang="en-US" dirty="0"/>
                  <a:t>，它们的功率有一个共同的上限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引擎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可以使得飞行器向右旋转，引擎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使其向左旋转；主引擎使其受一个向上的力，减缓因重力作用造成的持续加速。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同一时间内，三个引擎</a:t>
                </a:r>
                <a:r>
                  <a:rPr lang="zh-CN" altLang="en-US" b="1" dirty="0">
                    <a:solidFill>
                      <a:schemeClr val="tx2"/>
                    </a:solidFill>
                  </a:rPr>
                  <a:t>最多只能运行一个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你的目标是，在每个状态下给出一个最佳的运动选择，使得最终飞行器以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较小的速度</a:t>
                </a:r>
                <a:r>
                  <a:rPr lang="zh-CN" altLang="en-US" dirty="0"/>
                  <a:t>，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较小的水平角度</a:t>
                </a:r>
                <a:r>
                  <a:rPr lang="zh-CN" altLang="en-US" dirty="0"/>
                  <a:t>，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较少的燃料使用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平稳</a:t>
                </a:r>
                <a:r>
                  <a:rPr lang="zh-CN" altLang="en-US" dirty="0"/>
                  <a:t>落在月球表面上。</a:t>
                </a:r>
                <a:endParaRPr lang="en-US" altLang="zh-CN" dirty="0"/>
              </a:p>
            </p:txBody>
          </p:sp>
        </mc:Choice>
        <mc:Fallback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DD1CC97B-827D-430E-B8C4-D5CB49F6B1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2" y="1142440"/>
                <a:ext cx="5963478" cy="4991454"/>
              </a:xfrm>
              <a:blipFill>
                <a:blip r:embed="rId2"/>
                <a:stretch>
                  <a:fillRect l="-1227" t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D971154C-58B4-6EAF-6F38-590F20077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06961"/>
            <a:ext cx="6033571" cy="41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2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76964-1333-7366-FC64-8D1B607B9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2752D019-926B-3570-BAED-F441817D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庞特里亚金最大值原理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53CBE9E9-78C1-9A54-AE34-D3DAB9980A0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庞特里亚金最大值原理是最优控制理论中的重要定理，用于刻画连续时间动态系统在控制约束下的最优策略。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/>
                  <a:t>庞特里亚金最大值原理</a:t>
                </a:r>
                <a:r>
                  <a:rPr lang="zh-CN" altLang="en-US" dirty="0"/>
                  <a:t>：对系统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与目标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grow m:val="on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ar-AE" altLang="zh-CN" i="1"/>
                      <m:t> 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zh-CN" altLang="ar-AE" dirty="0"/>
                  <a:t>，</a:t>
                </a:r>
                <a:r>
                  <a:rPr lang="en-US" altLang="zh-CN" dirty="0"/>
                  <a:t>PMP </a:t>
                </a:r>
                <a:r>
                  <a:rPr lang="zh-CN" altLang="en-US" dirty="0"/>
                  <a:t>通过引入伴随变量（协态）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altLang="zh-CN" dirty="0"/>
                  <a:t> </a:t>
                </a:r>
                <a:r>
                  <a:rPr lang="zh-CN" altLang="en-US" dirty="0">
                    <a:solidFill>
                      <a:schemeClr val="accent2"/>
                    </a:solidFill>
                  </a:rPr>
                  <a:t>构造哈密顿量 </a:t>
                </a:r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sepChr m:val=","/>
                        <m:ctrlPr>
                          <a:rPr lang="ar-AE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 b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sepChr m:val=","/>
                        <m:ctrlPr>
                          <a:rPr lang="ar-AE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 b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ar-AE" altLang="zh-CN" b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zh-CN" altLang="ar-AE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zh-CN" altLang="ar-AE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ar-AE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为最优控制，则存在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使得最优轨迹满足状态方程与协态方程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𝜕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𝜕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ar-AE" dirty="0"/>
                  <a:t>，</a:t>
                </a:r>
                <a:r>
                  <a:rPr lang="zh-CN" altLang="en-US" dirty="0"/>
                  <a:t>并且在几乎处处的时刻，最优控制必须在可行集合内使哈密顿量取极值：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∈</m:t>
                    </m:r>
                    <m:func>
                      <m:func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e>
                    </m:func>
                    <m:r>
                      <a:rPr lang="zh-CN" altLang="ar-AE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e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该原理将动态优化转化为“哈密顿系统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逐时刻极值选择”的形式，常用于分析最优控制结构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（例如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在控制受限且 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对 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近似线性时出现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bang-bang 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控制，即某状态量只能取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0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或最大值</a:t>
                </a:r>
                <a:r>
                  <a:rPr lang="zh-CN" altLang="en-US" dirty="0"/>
                  <a:t>）。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以上定理保证了一点：在最优的运动状态下，某个引擎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要么以最高功率运行，要么不运行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从而问题得到简化：动作空间可以抽象为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离散的四个动作</a:t>
                </a:r>
                <a:r>
                  <a:rPr lang="en-US" altLang="zh-CN" dirty="0"/>
                  <a:t>{0, 1, 2, 3}</a:t>
                </a:r>
                <a:r>
                  <a:rPr lang="zh-CN" altLang="en-US" dirty="0"/>
                  <a:t>，分别代表不运行任何引擎，和以全功率运行引擎</a:t>
                </a:r>
                <a:r>
                  <a:rPr lang="en-US" altLang="zh-CN" dirty="0"/>
                  <a:t>k (k=1, 2, 3)  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无需考虑引擎以小功率运行的情况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53CBE9E9-78C1-9A54-AE34-D3DAB9980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522" t="-1709" r="-1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60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4542-5C12-2517-EAAD-538ED10B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50C6BE24-C181-73DF-5214-EAF4347C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强化学习简介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8F81B77C-7CAB-0E7C-F0D9-01239706CE0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我们尝试用强化学习的语言刻画</a:t>
                </a:r>
                <a:r>
                  <a:rPr lang="en-US" altLang="zh-CN" dirty="0" err="1"/>
                  <a:t>Lunarlander</a:t>
                </a:r>
                <a:r>
                  <a:rPr lang="zh-CN" altLang="en-US" dirty="0"/>
                  <a:t>问题。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强化学习是让智能体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通过与环境交互的试错过程</a:t>
                </a:r>
                <a:r>
                  <a:rPr lang="zh-CN" altLang="en-US" dirty="0"/>
                  <a:t>，学习在不同状态下选择动作以最大化长期累计奖励的方法。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其特征是，没有先验的样本，更没有标签，只有状态，动作和奖励。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强化学习中的一次交互通常这样描述：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agent</a:t>
                </a:r>
                <a:r>
                  <a:rPr lang="zh-CN" altLang="en-US" dirty="0"/>
                  <a:t>处在某个</a:t>
                </a:r>
                <a:r>
                  <a:rPr lang="zh-CN" altLang="en-US" b="1" dirty="0"/>
                  <a:t>状态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;   </a:t>
                </a:r>
                <a:r>
                  <a:rPr lang="zh-CN" altLang="en-US" dirty="0"/>
                  <a:t>你选择一个</a:t>
                </a:r>
                <a:r>
                  <a:rPr lang="zh-CN" altLang="en-US" b="1" dirty="0"/>
                  <a:t>动作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环境给你一个</a:t>
                </a:r>
                <a:r>
                  <a:rPr lang="zh-CN" altLang="en-US" b="1" dirty="0"/>
                  <a:t>奖励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，并把你带到新状态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目标：通过长期交互并观察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后，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学习一个策略</a:t>
                </a:r>
                <a:r>
                  <a:rPr lang="zh-CN" altLang="en-US" dirty="0"/>
                  <a:t>，依据策略在每一个状态下选择最优的动作，让长期累计奖励尽可能大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8F81B77C-7CAB-0E7C-F0D9-01239706C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888" t="-733" r="-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77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3804-78C0-276A-0CC4-C63B37B1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52CCD2AD-433D-8907-23D6-D63CDBFF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</a:t>
            </a:r>
            <a:r>
              <a:rPr lang="en-US" altLang="zh-CN" dirty="0" err="1"/>
              <a:t>Lunarlander</a:t>
            </a:r>
            <a:r>
              <a:rPr lang="zh-CN" altLang="en-US" dirty="0"/>
              <a:t>的完整数学刻画</a:t>
            </a:r>
          </a:p>
        </p:txBody>
      </p:sp>
      <p:sp>
        <p:nvSpPr>
          <p:cNvPr id="24" name="内容占位符 23">
            <a:extLst>
              <a:ext uri="{FF2B5EF4-FFF2-40B4-BE49-F238E27FC236}">
                <a16:creationId xmlns:a16="http://schemas.microsoft.com/office/drawing/2014/main" id="{936413EA-3A7F-A97C-B663-00E76C8D6B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2521" y="1142440"/>
            <a:ext cx="11668539" cy="49914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en-US" dirty="0"/>
              <a:t>进一步，我们将整个问题数学化，并给出具体的优化目标：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3100" b="1" dirty="0"/>
              <a:t>动作空间</a:t>
            </a:r>
            <a:r>
              <a:rPr lang="zh-CN" altLang="en-US" dirty="0"/>
              <a:t>：</a:t>
            </a:r>
            <a:r>
              <a:rPr lang="en-US" altLang="zh-CN" dirty="0"/>
              <a:t>{0, 1, 2, 3}</a:t>
            </a:r>
          </a:p>
          <a:p>
            <a:pPr marL="0" indent="0">
              <a:buNone/>
            </a:pPr>
            <a:r>
              <a:rPr lang="zh-CN" altLang="en-US" sz="3100" b="1" dirty="0"/>
              <a:t>行为空间</a:t>
            </a:r>
            <a:r>
              <a:rPr lang="zh-CN" altLang="en-US" dirty="0"/>
              <a:t>：</a:t>
            </a:r>
            <a:r>
              <a:rPr lang="en-US" altLang="zh-CN" dirty="0"/>
              <a:t>Box(8, float32)    </a:t>
            </a:r>
            <a:r>
              <a:rPr lang="zh-CN" altLang="en-US" dirty="0"/>
              <a:t>分别表示：飞行器的</a:t>
            </a:r>
            <a:r>
              <a:rPr lang="en-US" altLang="zh-CN" dirty="0" err="1"/>
              <a:t>x,y</a:t>
            </a:r>
            <a:r>
              <a:rPr lang="zh-CN" altLang="en-US" dirty="0"/>
              <a:t>坐标；</a:t>
            </a:r>
            <a:r>
              <a:rPr lang="en-US" altLang="zh-CN" dirty="0" err="1"/>
              <a:t>x,y</a:t>
            </a:r>
            <a:r>
              <a:rPr lang="zh-CN" altLang="en-US" dirty="0"/>
              <a:t>方向的分速度</a:t>
            </a:r>
            <a:r>
              <a:rPr lang="en-US" altLang="zh-CN" dirty="0"/>
              <a:t>; </a:t>
            </a:r>
            <a:r>
              <a:rPr lang="zh-CN" altLang="en-US" dirty="0"/>
              <a:t>在水平方向的角度；角速度；左腿是否着陆；右腿是否着陆。</a:t>
            </a:r>
            <a:r>
              <a:rPr lang="en-US" altLang="zh-CN" dirty="0"/>
              <a:t>(</a:t>
            </a:r>
            <a:r>
              <a:rPr lang="zh-CN" altLang="en-US" dirty="0"/>
              <a:t>最后两个量由</a:t>
            </a:r>
            <a:r>
              <a:rPr lang="en-US" altLang="zh-CN" dirty="0"/>
              <a:t>{0, 1}</a:t>
            </a:r>
            <a:r>
              <a:rPr lang="zh-CN" altLang="en-US" dirty="0"/>
              <a:t>表示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zh-CN" altLang="en-US" dirty="0"/>
              <a:t>每一个状态的</a:t>
            </a:r>
            <a:r>
              <a:rPr lang="zh-CN" altLang="en-US" b="1" dirty="0"/>
              <a:t>奖励函数</a:t>
            </a:r>
            <a:r>
              <a:rPr lang="en-US" altLang="zh-CN" dirty="0"/>
              <a:t>R</a:t>
            </a:r>
            <a:r>
              <a:rPr lang="zh-CN" altLang="en-US" dirty="0"/>
              <a:t>设计：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飞行器和地面距离越近，</a:t>
            </a:r>
            <a:r>
              <a:rPr lang="en-US" altLang="zh-CN" dirty="0"/>
              <a:t>R</a:t>
            </a:r>
            <a:r>
              <a:rPr lang="zh-CN" altLang="en-US" dirty="0"/>
              <a:t>越大</a:t>
            </a:r>
            <a:r>
              <a:rPr lang="en-US" altLang="zh-CN" dirty="0"/>
              <a:t>    2.</a:t>
            </a:r>
            <a:r>
              <a:rPr lang="zh-CN" altLang="en-US" dirty="0"/>
              <a:t>飞行器的运动速度越小，</a:t>
            </a:r>
            <a:r>
              <a:rPr lang="en-US" altLang="zh-CN" dirty="0"/>
              <a:t>R</a:t>
            </a:r>
            <a:r>
              <a:rPr lang="zh-CN" altLang="en-US" dirty="0"/>
              <a:t>越大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飞行器的水平角度越大，</a:t>
            </a:r>
            <a:r>
              <a:rPr lang="en-US" altLang="zh-CN" dirty="0"/>
              <a:t>R</a:t>
            </a:r>
            <a:r>
              <a:rPr lang="zh-CN" altLang="en-US" dirty="0"/>
              <a:t>越小    </a:t>
            </a:r>
            <a:r>
              <a:rPr lang="en-US" altLang="zh-CN" dirty="0"/>
              <a:t>4.</a:t>
            </a:r>
            <a:r>
              <a:rPr lang="zh-CN" altLang="en-US" dirty="0"/>
              <a:t>飞行器每有一条腿接触地面，</a:t>
            </a:r>
            <a:r>
              <a:rPr lang="en-US" altLang="zh-CN" dirty="0"/>
              <a:t>R</a:t>
            </a:r>
            <a:r>
              <a:rPr lang="zh-CN" altLang="en-US" dirty="0"/>
              <a:t>增加</a:t>
            </a:r>
            <a:r>
              <a:rPr lang="en-US" altLang="zh-CN" dirty="0"/>
              <a:t>10</a:t>
            </a:r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侧向两个引擎每启动一帧，</a:t>
            </a:r>
            <a:r>
              <a:rPr lang="en-US" altLang="zh-CN" dirty="0"/>
              <a:t>R</a:t>
            </a:r>
            <a:r>
              <a:rPr lang="zh-CN" altLang="en-US" dirty="0"/>
              <a:t>减少</a:t>
            </a:r>
            <a:r>
              <a:rPr lang="en-US" altLang="zh-CN" dirty="0"/>
              <a:t>0.03  6.</a:t>
            </a:r>
            <a:r>
              <a:rPr lang="zh-CN" altLang="en-US" dirty="0"/>
              <a:t>主引擎每启动一帧，</a:t>
            </a:r>
            <a:r>
              <a:rPr lang="en-US" altLang="zh-CN" dirty="0"/>
              <a:t>R</a:t>
            </a:r>
            <a:r>
              <a:rPr lang="zh-CN" altLang="en-US" dirty="0"/>
              <a:t>减少</a:t>
            </a:r>
            <a:r>
              <a:rPr lang="en-US" altLang="zh-CN" dirty="0"/>
              <a:t>0.3</a:t>
            </a:r>
          </a:p>
          <a:p>
            <a:pPr marL="0" indent="0">
              <a:buNone/>
            </a:pPr>
            <a:r>
              <a:rPr lang="zh-CN" altLang="en-US" dirty="0"/>
              <a:t>最终，如果飞行器安全降落，</a:t>
            </a:r>
            <a:r>
              <a:rPr lang="en-US" altLang="zh-CN" dirty="0"/>
              <a:t>R</a:t>
            </a:r>
            <a:r>
              <a:rPr lang="zh-CN" altLang="en-US" dirty="0"/>
              <a:t>增加</a:t>
            </a:r>
            <a:r>
              <a:rPr lang="en-US" altLang="zh-CN" dirty="0"/>
              <a:t>100</a:t>
            </a:r>
            <a:r>
              <a:rPr lang="zh-CN" altLang="en-US" dirty="0"/>
              <a:t>；如果飞行器坠毁（无法水平降落），</a:t>
            </a:r>
            <a:r>
              <a:rPr lang="en-US" altLang="zh-CN" dirty="0"/>
              <a:t>R</a:t>
            </a:r>
            <a:r>
              <a:rPr lang="zh-CN" altLang="en-US" dirty="0"/>
              <a:t>减少</a:t>
            </a:r>
            <a:r>
              <a:rPr lang="en-US" altLang="zh-CN" dirty="0"/>
              <a:t>100</a:t>
            </a:r>
          </a:p>
          <a:p>
            <a:pPr marL="0" indent="0">
              <a:buNone/>
            </a:pPr>
            <a:r>
              <a:rPr lang="zh-CN" altLang="en-US" dirty="0"/>
              <a:t>如果一个策略能保证某一时刻达到</a:t>
            </a:r>
            <a:r>
              <a:rPr lang="en-US" altLang="zh-CN" dirty="0"/>
              <a:t>R&gt;=200</a:t>
            </a:r>
            <a:r>
              <a:rPr lang="zh-CN" altLang="en-US" dirty="0"/>
              <a:t>，则称其为一个解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优化目标</a:t>
            </a:r>
            <a:r>
              <a:rPr lang="zh-CN" altLang="en-US" dirty="0"/>
              <a:t>：找到一个策略，使得</a:t>
            </a:r>
            <a:r>
              <a:rPr lang="zh-CN" altLang="en-US" b="1" dirty="0">
                <a:solidFill>
                  <a:schemeClr val="tx2"/>
                </a:solidFill>
              </a:rPr>
              <a:t>在任何初始状态下，按照该策略总能得到一个解</a:t>
            </a:r>
            <a:endParaRPr lang="en-US" altLang="zh-CN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5542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F6A50-401D-55A8-2258-E98BBDE6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 descr="城市的风景&#10;&#10;描述已自动生成">
            <a:extLst>
              <a:ext uri="{FF2B5EF4-FFF2-40B4-BE49-F238E27FC236}">
                <a16:creationId xmlns:a16="http://schemas.microsoft.com/office/drawing/2014/main" id="{4AA1DC31-3C97-D013-D692-1D2A7C7161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88" b="28788"/>
          <a:stretch>
            <a:fillRect/>
          </a:stretch>
        </p:blipFill>
        <p:spPr/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6BDBEE9D-85F9-A6E7-F740-BB408FB8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Q-learning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DQN</a:t>
            </a:r>
            <a:r>
              <a:rPr lang="zh-CN" altLang="en-US" dirty="0">
                <a:solidFill>
                  <a:srgbClr val="FF0000"/>
                </a:solidFill>
              </a:rPr>
              <a:t>介绍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BA6135-E7AE-3A81-E7B3-D7182D30F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/>
                </a:solidFill>
              </a:rPr>
              <a:t>我们将用强化学习给出一个</a:t>
            </a:r>
            <a:r>
              <a:rPr lang="en-US" altLang="zh-CN" dirty="0" err="1">
                <a:solidFill>
                  <a:schemeClr val="accent2"/>
                </a:solidFill>
              </a:rPr>
              <a:t>Lunarlander</a:t>
            </a:r>
            <a:r>
              <a:rPr lang="zh-CN" altLang="en-US" dirty="0">
                <a:solidFill>
                  <a:schemeClr val="accent2"/>
                </a:solidFill>
              </a:rPr>
              <a:t>在任意月球表面的通用策略解。这里先介绍强化学习中的</a:t>
            </a:r>
            <a:r>
              <a:rPr lang="en-US" altLang="zh-CN" dirty="0">
                <a:solidFill>
                  <a:schemeClr val="accent2"/>
                </a:solidFill>
              </a:rPr>
              <a:t>Q-learning</a:t>
            </a:r>
            <a:r>
              <a:rPr lang="zh-CN" altLang="en-US" dirty="0">
                <a:solidFill>
                  <a:schemeClr val="accent2"/>
                </a:solidFill>
              </a:rPr>
              <a:t>与</a:t>
            </a:r>
            <a:r>
              <a:rPr lang="en-US" altLang="zh-CN" dirty="0">
                <a:solidFill>
                  <a:schemeClr val="accent2"/>
                </a:solidFill>
              </a:rPr>
              <a:t>DQN</a:t>
            </a:r>
            <a:r>
              <a:rPr lang="zh-CN" altLang="en-US" dirty="0">
                <a:solidFill>
                  <a:schemeClr val="accent2"/>
                </a:solidFill>
              </a:rPr>
              <a:t>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B9BFDD3-48CC-BACF-26A7-F6A15A83AF6B}"/>
              </a:ext>
            </a:extLst>
          </p:cNvPr>
          <p:cNvGrpSpPr/>
          <p:nvPr/>
        </p:nvGrpSpPr>
        <p:grpSpPr>
          <a:xfrm>
            <a:off x="1048224" y="3047028"/>
            <a:ext cx="2895125" cy="3181080"/>
            <a:chOff x="1048225" y="3047028"/>
            <a:chExt cx="2862842" cy="318108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0F9149C-92F6-1004-7764-2762AACA1F66}"/>
                </a:ext>
              </a:extLst>
            </p:cNvPr>
            <p:cNvSpPr/>
            <p:nvPr/>
          </p:nvSpPr>
          <p:spPr>
            <a:xfrm>
              <a:off x="1048225" y="3047028"/>
              <a:ext cx="2862842" cy="318003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800" b="1" i="0" u="none" strike="noStrike" kern="0" cap="none" spc="0" normalizeH="0" baseline="0" noProof="0" dirty="0">
                  <a:ln>
                    <a:noFill/>
                  </a:ln>
                  <a:solidFill>
                    <a:srgbClr val="C8161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02</a:t>
              </a:r>
              <a:endParaRPr kumimoji="0" lang="zh-CN" altLang="en-US" sz="13800" b="1" i="0" u="none" strike="noStrike" kern="0" cap="none" spc="0" normalizeH="0" baseline="0" noProof="0" dirty="0">
                <a:ln>
                  <a:noFill/>
                </a:ln>
                <a:solidFill>
                  <a:srgbClr val="C8161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B7F5BF-7B71-CA8D-9179-BBE6D2D869A0}"/>
                </a:ext>
              </a:extLst>
            </p:cNvPr>
            <p:cNvSpPr/>
            <p:nvPr/>
          </p:nvSpPr>
          <p:spPr>
            <a:xfrm rot="16200000">
              <a:off x="2434933" y="4751974"/>
              <a:ext cx="90000" cy="2862268"/>
            </a:xfrm>
            <a:prstGeom prst="rect">
              <a:avLst/>
            </a:prstGeom>
            <a:solidFill>
              <a:srgbClr val="C8161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141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430A-A8DC-C7C5-BDEC-7D9E3B47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981E8233-1623-E5B4-62AA-8D6DEB05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*Q-learning --- </a:t>
            </a:r>
            <a:r>
              <a:rPr lang="zh-CN" altLang="en-US" dirty="0"/>
              <a:t>离散状态空间下的强化学习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AB879531-7411-D1D0-7784-F72E179E791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Q-learning </a:t>
                </a:r>
                <a:r>
                  <a:rPr lang="zh-CN" altLang="en-US" dirty="0"/>
                  <a:t>基本想法：学习一个</a:t>
                </a:r>
                <a:r>
                  <a:rPr lang="zh-CN" altLang="en-US" b="1" dirty="0"/>
                  <a:t>动作</a:t>
                </a:r>
                <a:r>
                  <a:rPr lang="en-US" altLang="zh-CN" b="1" dirty="0"/>
                  <a:t>-</a:t>
                </a:r>
                <a:r>
                  <a:rPr lang="zh-CN" altLang="en-US" b="1" dirty="0"/>
                  <a:t>价值函数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zh-CN" altLang="ar-A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，刻画在状态 </a:t>
                </a:r>
                <a:r>
                  <a:rPr lang="en-US" altLang="zh-CN" dirty="0"/>
                  <a:t>s </a:t>
                </a:r>
                <a:r>
                  <a:rPr lang="zh-CN" altLang="en-US" dirty="0"/>
                  <a:t>做动作 </a:t>
                </a:r>
                <a:r>
                  <a:rPr lang="en-US" altLang="zh-CN" dirty="0"/>
                  <a:t>a </a:t>
                </a:r>
                <a:r>
                  <a:rPr lang="zh-CN" altLang="en-US" dirty="0"/>
                  <a:t>后，未来能拿到的</a:t>
                </a:r>
                <a:r>
                  <a:rPr lang="zh-CN" altLang="en-US" b="1" dirty="0"/>
                  <a:t>长期总奖励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完整</a:t>
                </a:r>
                <a:r>
                  <a:rPr lang="en-US" altLang="zh-CN" dirty="0"/>
                  <a:t>learning</a:t>
                </a:r>
                <a:r>
                  <a:rPr lang="zh-CN" altLang="en-US" dirty="0"/>
                  <a:t>流程：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对所有</a:t>
                </a:r>
                <a:r>
                  <a:rPr lang="en-US" altLang="zh-CN" dirty="0"/>
                  <a:t>Q(</a:t>
                </a:r>
                <a:r>
                  <a:rPr lang="en-US" altLang="zh-CN" dirty="0" err="1"/>
                  <a:t>s,a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做初始化。允许直接用零初始化（因为不需要用梯度更新）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2.</a:t>
                </a:r>
                <a:r>
                  <a:rPr lang="zh-CN" altLang="en-US" dirty="0"/>
                  <a:t>生成样本并采样。生成样本的细节将在第三部分讨论。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3.</a:t>
                </a:r>
                <a:r>
                  <a:rPr lang="zh-CN" altLang="en-US" dirty="0"/>
                  <a:t>（核心）逐个更新</a:t>
                </a:r>
                <a:r>
                  <a:rPr lang="en-US" altLang="zh-CN" dirty="0"/>
                  <a:t>Q(</a:t>
                </a:r>
                <a:r>
                  <a:rPr lang="en-US" altLang="zh-CN" dirty="0" err="1"/>
                  <a:t>s,a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。</a:t>
                </a:r>
                <a:r>
                  <a:rPr lang="en-US" altLang="zh-CN" dirty="0"/>
                  <a:t> 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注意到，这里更新的不是参数而是函数函数本身；且没有梯度可用于更新。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为了更新</a:t>
                </a:r>
                <a:r>
                  <a:rPr lang="en-US" altLang="zh-CN" dirty="0"/>
                  <a:t>Q(</a:t>
                </a:r>
                <a:r>
                  <a:rPr lang="en-US" altLang="zh-CN" dirty="0" err="1"/>
                  <a:t>s,a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，先定义</a:t>
                </a:r>
                <a:r>
                  <a:rPr lang="en-US" altLang="zh-CN" b="1" dirty="0"/>
                  <a:t>TD error</a:t>
                </a:r>
                <a:r>
                  <a:rPr lang="zh-CN" altLang="en-US" b="1" dirty="0"/>
                  <a:t>（时序差分误差）</a:t>
                </a:r>
                <a:r>
                  <a:rPr lang="zh-CN" altLang="en-US" dirty="0"/>
                  <a:t>，用于刻画“现实和预期差了多少”   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(s, a, r, s’)</a:t>
                </a:r>
                <a:r>
                  <a:rPr lang="zh-CN" altLang="en-US" dirty="0"/>
                  <a:t>交互下，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TD 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目标为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l-GR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sSub>
                      <m:sSubPr>
                        <m:ctrlPr>
                          <a:rPr lang="el-GR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e>
                      <m:sub>
                        <m:sSup>
                          <m:sSupPr>
                            <m:ctrlPr>
                              <a:rPr lang="el-GR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b="0" dirty="0"/>
                  <a:t>  </a:t>
                </a:r>
                <a:r>
                  <a:rPr lang="zh-CN" altLang="en-US" b="0" dirty="0"/>
                  <a:t>，即用当前奖励和下一步及以后的长期奖励作为目标值以修正</a:t>
                </a:r>
                <a:r>
                  <a:rPr lang="en-US" altLang="zh-CN" b="0" dirty="0"/>
                  <a:t>Q</a:t>
                </a:r>
                <a:r>
                  <a:rPr lang="zh-CN" altLang="en-US" b="0" dirty="0"/>
                  <a:t>    </a:t>
                </a:r>
                <a:r>
                  <a:rPr lang="en-US" altLang="zh-CN" dirty="0"/>
                  <a:t>TD error</a:t>
                </a:r>
                <a:r>
                  <a:rPr lang="zh-CN" altLang="en-US" dirty="0"/>
                  <a:t>定义为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</a:rPr>
                      <m:t>γ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p>
                          <m:sSup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最终，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更新规则为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altLang="zh-CN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b>
                      <m:sSubPr>
                        <m:ctrlPr>
                          <a:rPr lang="el-G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p>
                          <m:sSupPr>
                            <m:ctrlPr>
                              <a:rPr lang="el-GR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:r>
                  <a:rPr lang="el-GR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是折扣</m:t>
                    </m:r>
                  </m:oMath>
                </a14:m>
                <a:r>
                  <a:rPr lang="zh-CN" altLang="en-US" dirty="0"/>
                  <a:t>因子，表示对未来价值的关注程度。</a:t>
                </a:r>
                <a:r>
                  <a:rPr lang="el-GR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越大</m:t>
                    </m:r>
                  </m:oMath>
                </a14:m>
                <a:r>
                  <a:rPr lang="zh-CN" altLang="en-US" dirty="0"/>
                  <a:t>表示越关注未来价值。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4.</a:t>
                </a:r>
                <a:r>
                  <a:rPr lang="zh-CN" altLang="en-US" dirty="0"/>
                  <a:t>完成训练后，在某个状态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下，依照不同动作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得到的</a:t>
                </a:r>
                <a:r>
                  <a:rPr lang="en-US" altLang="zh-CN" dirty="0"/>
                  <a:t>Q(s, a)</a:t>
                </a:r>
                <a:r>
                  <a:rPr lang="zh-CN" altLang="en-US" dirty="0"/>
                  <a:t>大小选择较大的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对应的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作为动作，得到最终策略。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AB879531-7411-D1D0-7784-F72E179E7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470" t="-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82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A3F0-8FDD-150F-5164-7EE35A75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4ADB8CA7-84CD-7DC6-C38B-62AB6D9B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*Deep Q-Network --- </a:t>
            </a:r>
            <a:r>
              <a:rPr lang="zh-CN" altLang="en-US" dirty="0"/>
              <a:t>连续状态空间下的强化学习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9F1A6B0A-D90A-8432-E55F-B85CB7AD04F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注意到，</a:t>
                </a:r>
                <a:r>
                  <a:rPr lang="en-US" altLang="zh-CN" dirty="0"/>
                  <a:t>Q-learning</a:t>
                </a:r>
                <a:r>
                  <a:rPr lang="zh-CN" altLang="en-US" dirty="0"/>
                  <a:t>的基本逻辑是：遍历所有可能</a:t>
                </a:r>
                <a:r>
                  <a:rPr lang="en-US" altLang="zh-CN" dirty="0"/>
                  <a:t>(s, a)</a:t>
                </a:r>
                <a:r>
                  <a:rPr lang="zh-CN" altLang="en-US" dirty="0"/>
                  <a:t>对，逐个更新函数</a:t>
                </a:r>
                <a:r>
                  <a:rPr lang="en-US" altLang="zh-CN" dirty="0"/>
                  <a:t>Q(s, a)</a:t>
                </a:r>
                <a:r>
                  <a:rPr lang="zh-CN" altLang="en-US" dirty="0"/>
                  <a:t>。因此其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只适用于动作空间和状态空间都是离散的环境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对于动作空间离散而状态空间连续的</a:t>
                </a:r>
                <a:r>
                  <a:rPr lang="en-US" altLang="zh-CN" dirty="0" err="1"/>
                  <a:t>Lunarlander</a:t>
                </a:r>
                <a:r>
                  <a:rPr lang="zh-CN" altLang="en-US" dirty="0"/>
                  <a:t>环境，我们引入</a:t>
                </a:r>
                <a:r>
                  <a:rPr lang="en-US" altLang="zh-CN" dirty="0"/>
                  <a:t>DQN</a:t>
                </a:r>
                <a:r>
                  <a:rPr lang="zh-CN" altLang="en-US" dirty="0"/>
                  <a:t>解决问题。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DQN </a:t>
                </a:r>
                <a:r>
                  <a:rPr lang="zh-CN" altLang="en-US" dirty="0"/>
                  <a:t>的做法：用一个神经网络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dirty="0"/>
                  <a:t>来输出每个动作的 </a:t>
                </a:r>
                <a:r>
                  <a:rPr lang="en-US" altLang="zh-CN" dirty="0"/>
                  <a:t>Q </a:t>
                </a:r>
                <a:r>
                  <a:rPr lang="zh-CN" altLang="en-US" dirty="0"/>
                  <a:t>值。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基本假设：认为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关于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具有某种连续性，从而整个函数可以用神经网络拟合。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更新方案从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”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逐个更新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Q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本身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”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转为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”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更新参数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”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更新规则为：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选取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TD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目标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altLang="zh-CN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b>
                      <m:sSubPr>
                        <m:ctrlPr>
                          <a:rPr lang="el-G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p>
                          <m:sSupPr>
                            <m:ctrlPr>
                              <a:rPr lang="el-GR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作为目标函数，用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Smooth-L1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损失函数的梯度来更新参数。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9F1A6B0A-D90A-8432-E55F-B85CB7AD0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888" t="-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71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B218-2534-3632-FDCC-7A174743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 descr="城市的风景&#10;&#10;描述已自动生成">
            <a:extLst>
              <a:ext uri="{FF2B5EF4-FFF2-40B4-BE49-F238E27FC236}">
                <a16:creationId xmlns:a16="http://schemas.microsoft.com/office/drawing/2014/main" id="{D736657B-D577-A236-8EA9-723051319E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88" b="28788"/>
          <a:stretch>
            <a:fillRect/>
          </a:stretch>
        </p:blipFill>
        <p:spPr/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29F5ED8-4674-E600-E062-1D9E294E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Q-network</a:t>
            </a:r>
            <a:r>
              <a:rPr lang="zh-CN" altLang="en-US" dirty="0"/>
              <a:t>的训练细节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2EFC68-4994-2B16-9348-CD92190441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本节我们介绍</a:t>
            </a:r>
            <a:r>
              <a:rPr lang="en-US" altLang="zh-CN" dirty="0"/>
              <a:t>Q-network</a:t>
            </a:r>
            <a:r>
              <a:rPr lang="zh-CN" altLang="en-US" dirty="0"/>
              <a:t>的完整训练流程，以及在</a:t>
            </a:r>
            <a:r>
              <a:rPr lang="en-US" altLang="zh-CN" dirty="0" err="1"/>
              <a:t>Lunarlander</a:t>
            </a:r>
            <a:r>
              <a:rPr lang="zh-CN" altLang="en-US" dirty="0"/>
              <a:t>环境下训练的细节。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C9CA99E-D8B0-6C76-D787-7912E3241040}"/>
              </a:ext>
            </a:extLst>
          </p:cNvPr>
          <p:cNvGrpSpPr/>
          <p:nvPr/>
        </p:nvGrpSpPr>
        <p:grpSpPr>
          <a:xfrm>
            <a:off x="1048224" y="3047028"/>
            <a:ext cx="2895125" cy="3181080"/>
            <a:chOff x="1048225" y="3047028"/>
            <a:chExt cx="2862842" cy="318108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D7034C4-6C89-8CA0-D1F0-39512ABB03C3}"/>
                </a:ext>
              </a:extLst>
            </p:cNvPr>
            <p:cNvSpPr/>
            <p:nvPr/>
          </p:nvSpPr>
          <p:spPr>
            <a:xfrm>
              <a:off x="1048225" y="3047028"/>
              <a:ext cx="2862842" cy="318003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800" b="1" i="0" u="none" strike="noStrike" kern="0" cap="none" spc="0" normalizeH="0" baseline="0" noProof="0" dirty="0">
                  <a:ln>
                    <a:noFill/>
                  </a:ln>
                  <a:solidFill>
                    <a:srgbClr val="C8161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0</a:t>
              </a:r>
              <a:r>
                <a:rPr lang="en-US" altLang="zh-CN" sz="13800" b="1" kern="0" dirty="0">
                  <a:solidFill>
                    <a:srgbClr val="C8161E"/>
                  </a:solidFill>
                  <a:latin typeface="Arial"/>
                  <a:ea typeface="微软雅黑"/>
                </a:rPr>
                <a:t>3</a:t>
              </a:r>
              <a:endParaRPr kumimoji="0" lang="zh-CN" altLang="en-US" sz="13800" b="1" i="0" u="none" strike="noStrike" kern="0" cap="none" spc="0" normalizeH="0" baseline="0" noProof="0" dirty="0">
                <a:ln>
                  <a:noFill/>
                </a:ln>
                <a:solidFill>
                  <a:srgbClr val="C8161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05174F3-117D-02AB-00B3-98E9FE5F3B62}"/>
                </a:ext>
              </a:extLst>
            </p:cNvPr>
            <p:cNvSpPr/>
            <p:nvPr/>
          </p:nvSpPr>
          <p:spPr>
            <a:xfrm rot="16200000">
              <a:off x="2434933" y="4751974"/>
              <a:ext cx="90000" cy="2862268"/>
            </a:xfrm>
            <a:prstGeom prst="rect">
              <a:avLst/>
            </a:prstGeom>
            <a:solidFill>
              <a:srgbClr val="C8161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691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88B2-C4C2-9CE9-F33D-FD6181104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465F24BE-8603-71D3-C42E-5F559AB6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逐</a:t>
            </a:r>
            <a:r>
              <a:rPr lang="en-US" altLang="zh-CN" dirty="0"/>
              <a:t>Episode</a:t>
            </a:r>
            <a:r>
              <a:rPr lang="zh-CN" altLang="en-US" dirty="0"/>
              <a:t>训练流程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553403DA-BCF8-1382-1859-9ECDA638929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不同于神经网络的</a:t>
                </a:r>
                <a:r>
                  <a:rPr lang="en-US" altLang="zh-CN" dirty="0"/>
                  <a:t>epoch-batch</a:t>
                </a:r>
                <a:r>
                  <a:rPr lang="zh-CN" altLang="en-US" dirty="0"/>
                  <a:t>随机采样训练，</a:t>
                </a:r>
                <a:r>
                  <a:rPr lang="en-US" altLang="zh-CN" dirty="0"/>
                  <a:t>DQN</a:t>
                </a:r>
                <a:r>
                  <a:rPr lang="zh-CN" altLang="en-US" dirty="0"/>
                  <a:t>需要先自行生成充分多的样本。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DQN</a:t>
                </a:r>
                <a:r>
                  <a:rPr lang="zh-CN" altLang="en-US" dirty="0"/>
                  <a:t>的训练流程大致如下：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初始化所有参数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2.</a:t>
                </a:r>
                <a:r>
                  <a:rPr lang="zh-CN" altLang="en-US" dirty="0"/>
                  <a:t>循环</a:t>
                </a:r>
                <a:r>
                  <a:rPr lang="en-US" altLang="zh-CN" dirty="0"/>
                  <a:t>episode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</a:t>
                </a:r>
                <a:r>
                  <a:rPr lang="zh-CN" altLang="en-US" sz="2900" b="1" dirty="0"/>
                  <a:t>样本生成</a:t>
                </a:r>
                <a:r>
                  <a:rPr lang="zh-CN" altLang="en-US" dirty="0"/>
                  <a:t>：</a:t>
                </a:r>
                <a:r>
                  <a:rPr lang="el-GR" altLang="zh-CN" dirty="0"/>
                  <a:t>ε-</a:t>
                </a:r>
                <a:r>
                  <a:rPr lang="en-US" altLang="zh-CN" dirty="0"/>
                  <a:t>greedy </a:t>
                </a:r>
                <a:r>
                  <a:rPr lang="zh-CN" altLang="en-US" dirty="0"/>
                  <a:t>选动作，存入 </a:t>
                </a:r>
                <a:r>
                  <a:rPr lang="en-US" altLang="zh-CN" dirty="0"/>
                  <a:t>buffer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(ii)</a:t>
                </a:r>
                <a:r>
                  <a:rPr lang="zh-CN" altLang="en-US" sz="2900" b="1" dirty="0"/>
                  <a:t>采样</a:t>
                </a:r>
                <a:r>
                  <a:rPr lang="zh-CN" altLang="en-US" dirty="0"/>
                  <a:t>：若 </a:t>
                </a:r>
                <a:r>
                  <a:rPr lang="en-US" altLang="zh-CN" dirty="0"/>
                  <a:t>buffer </a:t>
                </a:r>
                <a:r>
                  <a:rPr lang="zh-CN" altLang="en-US" dirty="0"/>
                  <a:t>中的样本足够多，从 </a:t>
                </a:r>
                <a:r>
                  <a:rPr lang="en-US" altLang="zh-CN" dirty="0"/>
                  <a:t>buffer </a:t>
                </a:r>
                <a:r>
                  <a:rPr lang="zh-CN" altLang="en-US" dirty="0"/>
                  <a:t>中采样 </a:t>
                </a:r>
                <a:r>
                  <a:rPr lang="en-US" altLang="zh-CN" dirty="0"/>
                  <a:t>batch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每个</a:t>
                </a:r>
                <a:r>
                  <a:rPr lang="en-US" altLang="zh-CN" dirty="0"/>
                  <a:t>batch</a:t>
                </a:r>
                <a:r>
                  <a:rPr lang="zh-CN" altLang="en-US" b="1" dirty="0"/>
                  <a:t>计算 </a:t>
                </a:r>
                <a:r>
                  <a:rPr lang="en-US" altLang="zh-CN" b="1" dirty="0"/>
                  <a:t>TD </a:t>
                </a:r>
                <a:r>
                  <a:rPr lang="zh-CN" altLang="en-US" b="1" dirty="0"/>
                  <a:t>目标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，得到损失函数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，反向传播，更新参数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(iii)</a:t>
                </a:r>
                <a:r>
                  <a:rPr lang="zh-CN" altLang="en-US" dirty="0"/>
                  <a:t>衰减</a:t>
                </a:r>
                <a:r>
                  <a:rPr lang="el-GR" altLang="zh-CN" dirty="0"/>
                  <a:t>ε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3.</a:t>
                </a:r>
                <a:r>
                  <a:rPr lang="zh-CN" altLang="en-US" dirty="0"/>
                  <a:t>每隔几个</a:t>
                </a:r>
                <a:r>
                  <a:rPr lang="en-US" altLang="zh-CN" dirty="0"/>
                  <a:t>episode</a:t>
                </a:r>
                <a:r>
                  <a:rPr lang="zh-CN" altLang="en-US" dirty="0"/>
                  <a:t>，</a:t>
                </a:r>
                <a:r>
                  <a:rPr lang="zh-CN" altLang="en-US" b="1" dirty="0"/>
                  <a:t>更新目标网络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target network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这里涉及三个重要技术：</a:t>
                </a:r>
                <a:r>
                  <a:rPr lang="el-GR" altLang="zh-CN" dirty="0"/>
                  <a:t> </a:t>
                </a:r>
                <a:r>
                  <a:rPr lang="el-GR" altLang="zh-CN" b="1" dirty="0">
                    <a:solidFill>
                      <a:srgbClr val="FF0000"/>
                    </a:solidFill>
                  </a:rPr>
                  <a:t>ε-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greedy 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样本生成，经验回放，目标网络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553403DA-BCF8-1382-1859-9ECDA6389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470" t="-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85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CFAA6-B516-AB99-78E0-53782A53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E474BA61-C638-256D-A5A4-341272F3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*</a:t>
            </a:r>
            <a:r>
              <a:rPr lang="el-GR" altLang="zh-CN" dirty="0"/>
              <a:t>ε-</a:t>
            </a:r>
            <a:r>
              <a:rPr lang="en-US" altLang="zh-CN" dirty="0"/>
              <a:t>greedy</a:t>
            </a:r>
            <a:r>
              <a:rPr lang="zh-CN" altLang="en-US" dirty="0"/>
              <a:t>样本生成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64D54D4A-A70C-007B-C3B1-7D52578AC87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19269" y="996666"/>
                <a:ext cx="11668539" cy="49914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DQN</a:t>
                </a:r>
                <a:r>
                  <a:rPr lang="zh-CN" altLang="en-US" dirty="0"/>
                  <a:t>一次样本生成流程是：从某个初始状态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出发</m:t>
                    </m:r>
                  </m:oMath>
                </a14:m>
                <a:r>
                  <a:rPr lang="zh-CN" altLang="en-US" dirty="0"/>
                  <a:t>，每次按照某种策略选择一个动作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dirty="0"/>
                  <a:t>，得到状态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，最终得到样本序列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…,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如果完全按照贪心策略最大化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，选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func>
                    <m:r>
                      <a:rPr lang="zh-CN" altLang="ar-AE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作为动作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，缺失了随机探索过程，可能会陷入局部最优（始终在生成同一批样本）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为了解决此问题，</a:t>
                </a:r>
                <a:r>
                  <a:rPr lang="el-GR" altLang="zh-CN" dirty="0"/>
                  <a:t>ε-</a:t>
                </a:r>
                <a:r>
                  <a:rPr lang="en-US" altLang="zh-CN" dirty="0"/>
                  <a:t>greedy</a:t>
                </a:r>
                <a:r>
                  <a:rPr lang="zh-CN" altLang="en-US" dirty="0"/>
                  <a:t>选择动作的策略是：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每步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以概率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随机选一个动作</a:t>
                </a:r>
                <a:r>
                  <a:rPr lang="zh-CN" altLang="en-US" dirty="0"/>
                  <a:t>（探索）；</a:t>
                </a:r>
                <a:r>
                  <a:rPr lang="en-US" altLang="zh-CN" dirty="0"/>
                  <a:t> 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以概率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选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“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当前最佳动作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”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zh-CN" alt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func>
                    <m:r>
                      <a:rPr lang="zh-CN" altLang="ar-AE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ar-AE" dirty="0"/>
                  <a:t>（</a:t>
                </a:r>
                <a:r>
                  <a:rPr lang="zh-CN" altLang="en-US" dirty="0"/>
                  <a:t>利用）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进一步，我们希望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前期探索到充分多样本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后期仅训练收益高的有效样本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训练时先讲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/>
                  <a:t>初始化为一个接近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的数，然后在每个</a:t>
                </a:r>
                <a:r>
                  <a:rPr lang="en-US" altLang="zh-CN" dirty="0"/>
                  <a:t>episode</a:t>
                </a:r>
                <a:r>
                  <a:rPr lang="zh-CN" altLang="en-US" dirty="0"/>
                  <a:t>末尾对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/>
                  <a:t>进行衰减，直到最后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/>
                  <a:t>很小，生成的样本几乎重复。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实验中，相关超参数的设置如下：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64D54D4A-A70C-007B-C3B1-7D52578AC8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19269" y="996666"/>
                <a:ext cx="11668539" cy="4991454"/>
              </a:xfrm>
              <a:blipFill>
                <a:blip r:embed="rId2"/>
                <a:stretch>
                  <a:fillRect l="-784" t="-977" r="-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C910B20-5A33-1E96-D3D3-B81B101CC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1429"/>
            <a:ext cx="12192000" cy="46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64B6-AC96-D240-322F-DBC801C8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9001D71C-E128-6DAF-F6FA-6D9FBFDD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提升稳定性：经验回放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7E6F6C44-710F-966D-34B0-7DF81036A33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直接用神经网络训练</a:t>
                </a:r>
                <a:r>
                  <a:rPr lang="en-US" altLang="zh-CN" dirty="0"/>
                  <a:t>Q-network</a:t>
                </a:r>
                <a:r>
                  <a:rPr lang="zh-CN" altLang="en-US" dirty="0"/>
                  <a:t>非常不稳定。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一个原因是：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神经网络采用逐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batch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采样做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SGD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有一个基本前提：认为样本数据大致满足独立同分布。</a:t>
                </a:r>
                <a:r>
                  <a:rPr lang="zh-CN" altLang="en-US" dirty="0"/>
                  <a:t>然而，强化学习中经过探索生成的样本数据具有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较强的时序相关性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强相关；且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不同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episode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生成的样本之间分布不一致</a:t>
                </a:r>
                <a:r>
                  <a:rPr lang="zh-CN" altLang="en-US" dirty="0"/>
                  <a:t>，会导致“网络追着样本分布跑”。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为了解决以上问题，</a:t>
                </a:r>
                <a:r>
                  <a:rPr lang="en-US" altLang="zh-CN" dirty="0"/>
                  <a:t>DQN</a:t>
                </a:r>
                <a:r>
                  <a:rPr lang="zh-CN" altLang="en-US" dirty="0"/>
                  <a:t>引入了经验回放机制：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在每次样本生成之后，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把现存交互样本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sSup>
                          <m:sSup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𝑑𝑜𝑛𝑒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全部存进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buffer</a:t>
                </a:r>
                <a:r>
                  <a:rPr lang="zh-CN" altLang="en-US" dirty="0"/>
                  <a:t>。这样的</a:t>
                </a:r>
                <a:r>
                  <a:rPr lang="en-US" altLang="zh-CN" dirty="0"/>
                  <a:t>buffer</a:t>
                </a:r>
                <a:r>
                  <a:rPr lang="zh-CN" altLang="en-US" dirty="0"/>
                  <a:t>中包含先前所有</a:t>
                </a:r>
                <a:r>
                  <a:rPr lang="en-US" altLang="zh-CN" dirty="0"/>
                  <a:t>episode</a:t>
                </a:r>
                <a:r>
                  <a:rPr lang="zh-CN" altLang="en-US" dirty="0"/>
                  <a:t>生成的样本，训练时从</a:t>
                </a:r>
                <a:r>
                  <a:rPr lang="en-US" altLang="zh-CN" dirty="0"/>
                  <a:t>buffer</a:t>
                </a:r>
                <a:r>
                  <a:rPr lang="zh-CN" altLang="en-US" dirty="0"/>
                  <a:t>随机采样小批量样本。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经验回放有两个明显的优点：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随机从 </a:t>
                </a:r>
                <a:r>
                  <a:rPr lang="en-US" altLang="zh-CN" dirty="0"/>
                  <a:t>buffer </a:t>
                </a:r>
                <a:r>
                  <a:rPr lang="zh-CN" altLang="en-US" dirty="0"/>
                  <a:t>抽样会让 </a:t>
                </a:r>
                <a:r>
                  <a:rPr lang="en-US" altLang="zh-CN" dirty="0"/>
                  <a:t>batch </a:t>
                </a:r>
                <a:r>
                  <a:rPr lang="zh-CN" altLang="en-US" dirty="0"/>
                  <a:t>中样本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来自不同时间、不同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episode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，相关性大幅降低</a:t>
                </a:r>
                <a:r>
                  <a:rPr lang="zh-CN" altLang="en-US" dirty="0"/>
                  <a:t>，让训练更像监督学习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2.</a:t>
                </a:r>
                <a:r>
                  <a:rPr lang="zh-CN" altLang="en-US" dirty="0"/>
                  <a:t>显著提高样本效率：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一个样本被存入后可以被随机抽取很多次</a:t>
                </a:r>
                <a:r>
                  <a:rPr lang="zh-CN" altLang="en-US" dirty="0"/>
                  <a:t>，样本能被重复利用。</a:t>
                </a:r>
                <a:endParaRPr lang="en-US" altLang="zh-CN" dirty="0"/>
              </a:p>
            </p:txBody>
          </p:sp>
        </mc:Choice>
        <mc:Fallback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7E6F6C44-710F-966D-34B0-7DF81036A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522" t="-733" r="-470" b="-1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23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9407-2A25-BCFA-C8DC-901C796C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ECF7B3F4-AE91-84F4-4406-21990120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提升稳定性：目标网络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EB9DC3B2-7266-8D90-6597-1130A307B9B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DQN </a:t>
                </a:r>
                <a:r>
                  <a:rPr lang="zh-CN" altLang="en-US" dirty="0"/>
                  <a:t>的训练目标（</a:t>
                </a:r>
                <a:r>
                  <a:rPr lang="en-US" altLang="zh-CN" dirty="0"/>
                  <a:t>TD target</a:t>
                </a:r>
                <a:r>
                  <a:rPr lang="zh-CN" altLang="en-US" dirty="0"/>
                  <a:t>）形如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</a:rPr>
                      <m:t>γ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p>
                          <m:sSup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如果只用</a:t>
                </a:r>
                <a:r>
                  <a:rPr lang="en-US" altLang="zh-CN" dirty="0"/>
                  <a:t>Q-network</a:t>
                </a:r>
                <a:r>
                  <a:rPr lang="zh-CN" altLang="en-US" dirty="0"/>
                  <a:t>一个网络训练，会出现以下问题：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若自始至终不改变</a:t>
                </a:r>
                <a:r>
                  <a:rPr lang="en-US" altLang="zh-CN" dirty="0"/>
                  <a:t>TD target</a:t>
                </a:r>
                <a:r>
                  <a:rPr lang="zh-CN" altLang="en-US" dirty="0"/>
                  <a:t>的值，始终使用刚被初始化后的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的值定义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与真实价值差距极大，训练得到的</a:t>
                </a:r>
                <a:r>
                  <a:rPr lang="en-US" altLang="zh-CN" dirty="0"/>
                  <a:t>Q(s, a)</a:t>
                </a:r>
                <a:r>
                  <a:rPr lang="zh-CN" altLang="en-US" dirty="0"/>
                  <a:t>距离</a:t>
                </a:r>
                <a:r>
                  <a:rPr lang="en-US" altLang="zh-CN" dirty="0"/>
                  <a:t>(s, a)</a:t>
                </a:r>
                <a:r>
                  <a:rPr lang="zh-CN" altLang="en-US" dirty="0"/>
                  <a:t>的真实价值会有很大偏差；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若每个</a:t>
                </a:r>
                <a:r>
                  <a:rPr lang="en-US" altLang="zh-CN" dirty="0"/>
                  <a:t>episode</a:t>
                </a:r>
                <a:r>
                  <a:rPr lang="zh-CN" altLang="en-US" dirty="0"/>
                  <a:t>后都用新的</a:t>
                </a:r>
                <a:r>
                  <a:rPr lang="en-US" altLang="zh-CN" dirty="0"/>
                  <a:t>Q(s’, a’)</a:t>
                </a:r>
                <a:r>
                  <a:rPr lang="zh-CN" altLang="en-US" dirty="0"/>
                  <a:t>更新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的值，会导致训练目标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的值随着训练过程快速改变，训练很不稳定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为了使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的值能随着训练过程改变，但又不快速跳跃导致不稳定，</a:t>
                </a:r>
                <a:r>
                  <a:rPr lang="en-US" altLang="zh-CN" dirty="0"/>
                  <a:t>DQN</a:t>
                </a:r>
                <a:r>
                  <a:rPr lang="zh-CN" altLang="en-US" dirty="0"/>
                  <a:t>引入了目标网络机制：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</a:t>
                </a:r>
                <a:r>
                  <a:rPr lang="en-US" altLang="zh-CN" dirty="0"/>
                  <a:t>Q-network</a:t>
                </a:r>
                <a:r>
                  <a:rPr lang="zh-CN" altLang="en-US" dirty="0"/>
                  <a:t>之外引入一个</a:t>
                </a:r>
                <a:r>
                  <a:rPr lang="en-US" altLang="zh-CN" dirty="0"/>
                  <a:t>”</a:t>
                </a:r>
                <a:r>
                  <a:rPr lang="zh-CN" altLang="en-US" dirty="0"/>
                  <a:t>克隆</a:t>
                </a:r>
                <a:r>
                  <a:rPr lang="en-US" altLang="zh-CN" dirty="0"/>
                  <a:t>”target network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其参数初始化和</a:t>
                </a:r>
                <a:r>
                  <a:rPr lang="en-US" altLang="zh-CN" dirty="0"/>
                  <a:t>Q-network</a:t>
                </a:r>
                <a:r>
                  <a:rPr lang="zh-CN" altLang="en-US" dirty="0"/>
                  <a:t>相同，训练过程隔一段时间更新一次</a:t>
                </a:r>
                <a:r>
                  <a:rPr lang="en-US" altLang="zh-CN" dirty="0"/>
                  <a:t>target network</a:t>
                </a:r>
                <a:r>
                  <a:rPr lang="zh-CN" altLang="en-US" dirty="0"/>
                  <a:t>的参数，使其缓慢靠近</a:t>
                </a:r>
                <a:r>
                  <a:rPr lang="en-US" altLang="zh-CN" dirty="0"/>
                  <a:t>Q-network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</a:t>
                </a:r>
                <a:r>
                  <a:rPr lang="en-US" altLang="zh-CN" dirty="0" err="1"/>
                  <a:t>Lunarlander</a:t>
                </a:r>
                <a:r>
                  <a:rPr lang="zh-CN" altLang="en-US" dirty="0"/>
                  <a:t>问题中，我们采用</a:t>
                </a:r>
                <a:r>
                  <a:rPr lang="en-US" altLang="zh-CN" dirty="0"/>
                  <a:t>Soft Updates</a:t>
                </a:r>
                <a:r>
                  <a:rPr lang="zh-CN" altLang="en-US" dirty="0"/>
                  <a:t>更新目标网络参数：在每个</a:t>
                </a:r>
                <a:r>
                  <a:rPr lang="en-US" altLang="zh-CN" dirty="0"/>
                  <a:t>episode</a:t>
                </a:r>
                <a:r>
                  <a:rPr lang="zh-CN" altLang="en-US" dirty="0"/>
                  <a:t>后，按照如下公式更新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ar-AE" altLang="zh-CN">
                          <a:latin typeface="Cambria Math" panose="02040503050406030204" pitchFamily="18" charset="0"/>
                        </a:rPr>
                        <m:t>←</m:t>
                      </m:r>
                      <m:d>
                        <m:d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ar-AE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代表目标网络</m:t>
                    </m:r>
                  </m:oMath>
                </a14:m>
                <a:r>
                  <a:rPr lang="zh-CN" altLang="en-US" dirty="0"/>
                  <a:t>的参数，</a:t>
                </a:r>
                <a14:m>
                  <m:oMath xmlns:m="http://schemas.openxmlformats.org/officeDocument/2006/math">
                    <m:r>
                      <a:rPr lang="zh-CN" altLang="ar-AE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代表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网络的参数，参数</a:t>
                </a:r>
                <a14:m>
                  <m:oMath xmlns:m="http://schemas.openxmlformats.org/officeDocument/2006/math">
                    <m:r>
                      <a:rPr lang="zh-CN" altLang="ar-AE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dirty="0"/>
                  <a:t>控制目标网络“靠近”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网络的速度，一般较小（实验中为</a:t>
                </a:r>
                <a:r>
                  <a:rPr lang="en-US" altLang="zh-CN" dirty="0"/>
                  <a:t>0.005</a:t>
                </a:r>
                <a:r>
                  <a:rPr lang="zh-CN" altLang="en-US" dirty="0"/>
                  <a:t>）</a:t>
                </a:r>
                <a:endParaRPr lang="ar-AE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EB9DC3B2-7266-8D90-6597-1130A307B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313" t="-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33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2422-501F-0485-8F6C-B88420FB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 descr="城市的风景&#10;&#10;描述已自动生成">
            <a:extLst>
              <a:ext uri="{FF2B5EF4-FFF2-40B4-BE49-F238E27FC236}">
                <a16:creationId xmlns:a16="http://schemas.microsoft.com/office/drawing/2014/main" id="{30E88F4C-9FC5-5C0D-C7EA-3560EB34E97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88" b="28788"/>
          <a:stretch>
            <a:fillRect/>
          </a:stretch>
        </p:blipFill>
        <p:spPr/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99EDFFA-8903-617B-FCED-68AA1AD7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实验设置与实验结果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3B2945-F869-4602-402D-EA0D8E0E9B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本节展示了</a:t>
            </a:r>
            <a:r>
              <a:rPr lang="en-US" altLang="zh-CN" dirty="0" err="1"/>
              <a:t>Lunarlander</a:t>
            </a:r>
            <a:r>
              <a:rPr lang="zh-CN" altLang="en-US" dirty="0"/>
              <a:t>环境下实验的超参数设置，以及最终训练结果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EE91DB8-186C-A3E5-7C19-06D2320CE19D}"/>
              </a:ext>
            </a:extLst>
          </p:cNvPr>
          <p:cNvGrpSpPr/>
          <p:nvPr/>
        </p:nvGrpSpPr>
        <p:grpSpPr>
          <a:xfrm>
            <a:off x="1048224" y="3047028"/>
            <a:ext cx="2895125" cy="3181080"/>
            <a:chOff x="1048225" y="3047028"/>
            <a:chExt cx="2862842" cy="318108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AADB90E-4666-CA0E-E770-BA943687FB19}"/>
                </a:ext>
              </a:extLst>
            </p:cNvPr>
            <p:cNvSpPr/>
            <p:nvPr/>
          </p:nvSpPr>
          <p:spPr>
            <a:xfrm>
              <a:off x="1048225" y="3047028"/>
              <a:ext cx="2862842" cy="318003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800" b="1" i="0" u="none" strike="noStrike" kern="0" cap="none" spc="0" normalizeH="0" baseline="0" noProof="0" dirty="0">
                  <a:ln>
                    <a:noFill/>
                  </a:ln>
                  <a:solidFill>
                    <a:srgbClr val="C8161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04</a:t>
              </a:r>
              <a:endParaRPr kumimoji="0" lang="zh-CN" altLang="en-US" sz="13800" b="1" i="0" u="none" strike="noStrike" kern="0" cap="none" spc="0" normalizeH="0" baseline="0" noProof="0" dirty="0">
                <a:ln>
                  <a:noFill/>
                </a:ln>
                <a:solidFill>
                  <a:srgbClr val="C8161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8673DB5-528B-10B3-73BF-D3FFA5AECCCC}"/>
                </a:ext>
              </a:extLst>
            </p:cNvPr>
            <p:cNvSpPr/>
            <p:nvPr/>
          </p:nvSpPr>
          <p:spPr>
            <a:xfrm rot="16200000">
              <a:off x="2434933" y="4751974"/>
              <a:ext cx="90000" cy="2862268"/>
            </a:xfrm>
            <a:prstGeom prst="rect">
              <a:avLst/>
            </a:prstGeom>
            <a:solidFill>
              <a:srgbClr val="C8161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81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074F8-D3F7-499A-424A-836BB3A6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4550A930-59A4-7A54-BEAD-E1144F6E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实验超参数设置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D52EE6F1-D0D4-DDDA-E8FC-D6391F7394C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Episodes</a:t>
                </a:r>
                <a:r>
                  <a:rPr lang="en-US" altLang="zh-CN" dirty="0"/>
                  <a:t>: 600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Learning Rate (</a:t>
                </a:r>
                <a14:m>
                  <m:oMath xmlns:m="http://schemas.openxmlformats.org/officeDocument/2006/math"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zh-CN" b="1" dirty="0"/>
                  <a:t>):</a:t>
                </a:r>
                <a:r>
                  <a:rPr lang="en-US" altLang="zh-CN" dirty="0"/>
                  <a:t> 0.0001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Discount Factor (</a:t>
                </a:r>
                <a14:m>
                  <m:oMath xmlns:m="http://schemas.openxmlformats.org/officeDocument/2006/math">
                    <m:r>
                      <a:rPr lang="el-GR" altLang="zh-CN" b="1" i="1" dirty="0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b="1" dirty="0"/>
                  <a:t>):</a:t>
                </a:r>
                <a:r>
                  <a:rPr lang="en-US" altLang="zh-CN" dirty="0"/>
                  <a:t> 0.99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Replay Buffer Size:</a:t>
                </a:r>
                <a:r>
                  <a:rPr lang="en-US" altLang="zh-CN" dirty="0"/>
                  <a:t> 10,000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Batch Size:</a:t>
                </a:r>
                <a:r>
                  <a:rPr lang="en-US" altLang="zh-CN" dirty="0"/>
                  <a:t> 128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Target Update:</a:t>
                </a:r>
                <a:r>
                  <a:rPr lang="en-US" altLang="zh-CN" dirty="0"/>
                  <a:t> Soft Updates 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TAU = 0.005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Exploration Strategy:</a:t>
                </a:r>
                <a:r>
                  <a:rPr lang="en-US" altLang="zh-CN" dirty="0"/>
                  <a:t> ε-greedy (ε decays from 1.0 to 0.01 with a 0.995 decay factor per episode)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Optimizer:</a:t>
                </a:r>
                <a:r>
                  <a:rPr lang="en-US" altLang="zh-CN" dirty="0"/>
                  <a:t> </a:t>
                </a:r>
                <a:r>
                  <a:rPr lang="en-US" altLang="zh-CN" dirty="0" err="1"/>
                  <a:t>AdamW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/>
                  <a:t>Loss Function:</a:t>
                </a:r>
                <a:r>
                  <a:rPr lang="en-US" altLang="zh-CN" dirty="0"/>
                  <a:t> Smooth L1 loss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4" name="内容占位符 23">
                <a:extLst>
                  <a:ext uri="{FF2B5EF4-FFF2-40B4-BE49-F238E27FC236}">
                    <a16:creationId xmlns:a16="http://schemas.microsoft.com/office/drawing/2014/main" id="{D52EE6F1-D0D4-DDDA-E8FC-D6391F739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32521" y="1142440"/>
                <a:ext cx="11668539" cy="4991454"/>
              </a:xfrm>
              <a:blipFill>
                <a:blip r:embed="rId2"/>
                <a:stretch>
                  <a:fillRect l="-784" t="-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DE71-96AC-DF20-0A22-B9F9EAA7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6FACD8DD-BA66-1551-E816-09FC28D1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训练结果与结论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A135C4-804F-F54D-17F2-BDB65CD81F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122"/>
            <a:ext cx="5554667" cy="31274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37D86D-8D07-945F-471E-7AB47567B2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282" y="921121"/>
            <a:ext cx="5758144" cy="3131701"/>
          </a:xfrm>
          <a:prstGeom prst="rect">
            <a:avLst/>
          </a:prstGeom>
        </p:spPr>
      </p:pic>
      <p:sp>
        <p:nvSpPr>
          <p:cNvPr id="6" name="内容占位符 23">
            <a:extLst>
              <a:ext uri="{FF2B5EF4-FFF2-40B4-BE49-F238E27FC236}">
                <a16:creationId xmlns:a16="http://schemas.microsoft.com/office/drawing/2014/main" id="{646F953C-A12F-AAEA-A58F-4D9DCA132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2278" y="4220817"/>
            <a:ext cx="11628782" cy="1913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左右图分别为训练过程中的</a:t>
            </a:r>
            <a:r>
              <a:rPr lang="en-US" altLang="zh-CN" dirty="0"/>
              <a:t>Loss</a:t>
            </a:r>
            <a:r>
              <a:rPr lang="zh-CN" altLang="en-US" dirty="0"/>
              <a:t>变化和</a:t>
            </a:r>
            <a:r>
              <a:rPr lang="en-US" altLang="zh-CN" dirty="0"/>
              <a:t>Reward</a:t>
            </a:r>
            <a:r>
              <a:rPr lang="zh-CN" altLang="en-US" dirty="0"/>
              <a:t>变化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可以看出在</a:t>
            </a:r>
            <a:r>
              <a:rPr lang="en-US" altLang="zh-CN" dirty="0"/>
              <a:t>600</a:t>
            </a:r>
            <a:r>
              <a:rPr lang="zh-CN" altLang="en-US" dirty="0"/>
              <a:t>个</a:t>
            </a:r>
            <a:r>
              <a:rPr lang="en-US" altLang="zh-CN" dirty="0"/>
              <a:t>episode</a:t>
            </a:r>
            <a:r>
              <a:rPr lang="zh-CN" altLang="en-US" dirty="0"/>
              <a:t>附近，</a:t>
            </a:r>
            <a:r>
              <a:rPr lang="en-US" altLang="zh-CN" dirty="0"/>
              <a:t>Reward</a:t>
            </a:r>
            <a:r>
              <a:rPr lang="zh-CN" altLang="en-US" dirty="0"/>
              <a:t>维持在</a:t>
            </a:r>
            <a:r>
              <a:rPr lang="en-US" altLang="zh-CN" dirty="0"/>
              <a:t>200</a:t>
            </a:r>
            <a:r>
              <a:rPr lang="zh-CN" altLang="en-US" dirty="0"/>
              <a:t>以上，达到了</a:t>
            </a:r>
            <a:r>
              <a:rPr lang="en-US" altLang="zh-CN" dirty="0" err="1"/>
              <a:t>Lunarlander</a:t>
            </a:r>
            <a:r>
              <a:rPr lang="zh-CN" altLang="en-US" dirty="0"/>
              <a:t>问题的要求，从而这样学习到的的策略是一个解。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649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C449-FDAA-3E10-409D-E03ED1AA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7CDBFD09-27AB-17BD-AF2A-73D839D8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拓展研究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3">
                <a:extLst>
                  <a:ext uri="{FF2B5EF4-FFF2-40B4-BE49-F238E27FC236}">
                    <a16:creationId xmlns:a16="http://schemas.microsoft.com/office/drawing/2014/main" id="{B392B9DB-260D-2E26-0EAD-417F1E41CD8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25896" y="1000539"/>
                <a:ext cx="11675164" cy="51333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什么是</a:t>
                </a:r>
                <a:r>
                  <a:rPr lang="en-US" altLang="zh-CN" dirty="0"/>
                  <a:t>smooth L1</a:t>
                </a:r>
                <a:r>
                  <a:rPr lang="zh-CN" altLang="en-US" dirty="0"/>
                  <a:t>损失函数？为什么这个问题中需要使用</a:t>
                </a:r>
                <a:r>
                  <a:rPr lang="en-US" altLang="zh-CN" dirty="0"/>
                  <a:t>smooth L1</a:t>
                </a:r>
                <a:r>
                  <a:rPr lang="zh-CN" altLang="en-US" dirty="0"/>
                  <a:t>损失函数？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Smooth L1</a:t>
                </a:r>
                <a:r>
                  <a:rPr lang="zh-CN" altLang="en-US" dirty="0"/>
                  <a:t>损失函数定义为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ar-AE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ar-AE" altLang="zh-C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∣&lt;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∣−</m:t>
                                </m:r>
                                <m:f>
                                  <m:f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∣≥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它对小误差用平方惩罚，对大误差用线性惩罚。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使用</a:t>
                </a:r>
                <a:r>
                  <a:rPr lang="en-US" altLang="zh-CN" dirty="0"/>
                  <a:t>smooth L1</a:t>
                </a:r>
                <a:r>
                  <a:rPr lang="zh-CN" altLang="en-US" dirty="0"/>
                  <a:t>损失函数是因为</a:t>
                </a:r>
                <a:r>
                  <a:rPr lang="en-US" altLang="zh-CN" dirty="0" err="1"/>
                  <a:t>Lunarlander</a:t>
                </a:r>
                <a:r>
                  <a:rPr lang="zh-CN" altLang="en-US" dirty="0"/>
                  <a:t>问题中，模型训练前期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TD target</a:t>
                </a:r>
                <a:r>
                  <a:rPr lang="zh-CN" altLang="en-US" dirty="0"/>
                  <a:t>可以有很大的偏差，导致梯度过大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在误差小时，损失函数可以像 </a:t>
                </a:r>
                <a:r>
                  <a:rPr lang="en-US" altLang="zh-CN" dirty="0"/>
                  <a:t>MSE </a:t>
                </a:r>
                <a:r>
                  <a:rPr lang="zh-CN" altLang="en-US" dirty="0"/>
                  <a:t>平滑收敛；当误差大时，为了防止梯度过大导致学习不稳定的问题，直接控制梯度模长不超过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，保证学习平滑</a:t>
                </a:r>
              </a:p>
            </p:txBody>
          </p:sp>
        </mc:Choice>
        <mc:Fallback xmlns="">
          <p:sp>
            <p:nvSpPr>
              <p:cNvPr id="6" name="内容占位符 23">
                <a:extLst>
                  <a:ext uri="{FF2B5EF4-FFF2-40B4-BE49-F238E27FC236}">
                    <a16:creationId xmlns:a16="http://schemas.microsoft.com/office/drawing/2014/main" id="{B392B9DB-260D-2E26-0EAD-417F1E41C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25896" y="1000539"/>
                <a:ext cx="11675164" cy="5133354"/>
              </a:xfrm>
              <a:blipFill>
                <a:blip r:embed="rId2"/>
                <a:stretch>
                  <a:fillRect l="-627" t="-831" r="-2193" b="-1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49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D5FF-6DF8-F6C8-14F8-F0602AC03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6D0566F4-0B03-D2D9-FC87-9E4E314B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拓展研究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3">
                <a:extLst>
                  <a:ext uri="{FF2B5EF4-FFF2-40B4-BE49-F238E27FC236}">
                    <a16:creationId xmlns:a16="http://schemas.microsoft.com/office/drawing/2014/main" id="{D3955D54-EB8D-1FFB-434E-60AD49F411E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25896" y="1000539"/>
                <a:ext cx="11675164" cy="51333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2.</a:t>
                </a:r>
                <a:r>
                  <a:rPr lang="zh-CN" altLang="en-US" dirty="0"/>
                  <a:t>为什么</a:t>
                </a:r>
                <a:r>
                  <a:rPr lang="en-US" altLang="zh-CN" dirty="0"/>
                  <a:t>discount factor</a:t>
                </a:r>
                <a:r>
                  <a:rPr lang="zh-CN" altLang="en-US" dirty="0"/>
                  <a:t>必须限制在</a:t>
                </a:r>
                <a:r>
                  <a:rPr lang="en-US" altLang="zh-CN" dirty="0"/>
                  <a:t>(0, 1)</a:t>
                </a:r>
                <a:r>
                  <a:rPr lang="zh-CN" altLang="en-US" dirty="0"/>
                  <a:t>内而不能直接取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？为什么实验中</a:t>
                </a:r>
                <a:r>
                  <a:rPr lang="en-US" altLang="zh-CN" dirty="0"/>
                  <a:t>discount factor</a:t>
                </a:r>
                <a:r>
                  <a:rPr lang="zh-CN" altLang="en-US" dirty="0"/>
                  <a:t>设置的很大（</a:t>
                </a:r>
                <a:r>
                  <a:rPr lang="en-US" altLang="zh-CN" dirty="0"/>
                  <a:t>0.99</a:t>
                </a:r>
                <a:r>
                  <a:rPr lang="zh-CN" altLang="en-US" dirty="0"/>
                  <a:t>）？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注意到</a:t>
                </a:r>
                <a:r>
                  <a:rPr lang="en-US" altLang="zh-CN" dirty="0" err="1"/>
                  <a:t>Lunarlander</a:t>
                </a:r>
                <a:r>
                  <a:rPr lang="zh-CN" altLang="en-US" dirty="0"/>
                  <a:t>问题中</a:t>
                </a:r>
                <a:r>
                  <a:rPr lang="en-US" altLang="zh-CN" dirty="0"/>
                  <a:t>reward</a:t>
                </a:r>
                <a:r>
                  <a:rPr lang="zh-CN" altLang="en-US" dirty="0"/>
                  <a:t>有宽松的上界</a:t>
                </a:r>
                <a:r>
                  <a:rPr lang="en-US" altLang="zh-CN" dirty="0"/>
                  <a:t>r&lt;400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迭代地计算</a:t>
                </a:r>
                <a:r>
                  <a:rPr lang="en-US" altLang="zh-CN" dirty="0"/>
                  <a:t>TD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target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</a:rPr>
                      <m:t>γ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p>
                          <m:sSup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不难得到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的等比数列和控制：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altLang="zh-CN" i="1" dirty="0"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，从而学习到的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也被控制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若</a:t>
                </a:r>
                <a:r>
                  <a:rPr lang="en-US" altLang="zh-CN" dirty="0"/>
                  <a:t>discount factor</a:t>
                </a:r>
                <a:r>
                  <a:rPr lang="zh-CN" altLang="en-US" dirty="0"/>
                  <a:t>直接取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，由于</a:t>
                </a:r>
                <a:r>
                  <a:rPr lang="en-US" altLang="zh-CN" dirty="0" err="1"/>
                  <a:t>Lunarlander</a:t>
                </a:r>
                <a:r>
                  <a:rPr lang="zh-CN" altLang="en-US" dirty="0"/>
                  <a:t>需要进行大量环境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动作交互才能得到解，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的值可能会非常大（灾难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），但损失函数梯度模长总是不超过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，最终导致训练过于缓慢（灾难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discount factor</a:t>
                </a:r>
                <a:r>
                  <a:rPr lang="zh-CN" altLang="en-US" dirty="0"/>
                  <a:t>设置的很大是因为飞行器后续运动的过程重要性仍然很大，考虑长期价值时后续动作价值要有足够大的占比，但不能认为后续动作和当前动作重要性完全相同。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6" name="内容占位符 23">
                <a:extLst>
                  <a:ext uri="{FF2B5EF4-FFF2-40B4-BE49-F238E27FC236}">
                    <a16:creationId xmlns:a16="http://schemas.microsoft.com/office/drawing/2014/main" id="{D3955D54-EB8D-1FFB-434E-60AD49F411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25896" y="1000539"/>
                <a:ext cx="11675164" cy="5133354"/>
              </a:xfrm>
              <a:blipFill>
                <a:blip r:embed="rId2"/>
                <a:stretch>
                  <a:fillRect l="-783" t="-831" r="-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66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EB815C7-3856-4E48-B4E6-B65DA112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116630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  <a:effectLst/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演示文稿1" id="{58207EA5-DF65-41EA-AC31-C4A3CCF3DB63}" vid="{ECDA9F49-FF6D-42F4-A480-1F82BD0E4C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5020</TotalTime>
  <Words>2504</Words>
  <Application>Microsoft Office PowerPoint</Application>
  <PresentationFormat>宽屏</PresentationFormat>
  <Paragraphs>152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Arial</vt:lpstr>
      <vt:lpstr>Cambria Math</vt:lpstr>
      <vt:lpstr>自定义设计方案</vt:lpstr>
      <vt:lpstr>用Deep Q-Network解决Lunarlander问题</vt:lpstr>
      <vt:lpstr>PowerPoint 演示文稿</vt:lpstr>
      <vt:lpstr>Lunarlander问题的数学刻画</vt:lpstr>
      <vt:lpstr>Lunarlander环境简介</vt:lpstr>
      <vt:lpstr>庞特里亚金最大值原理</vt:lpstr>
      <vt:lpstr>*强化学习简介</vt:lpstr>
      <vt:lpstr>*Lunarlander的完整数学刻画</vt:lpstr>
      <vt:lpstr>Q-learning与DQN介绍</vt:lpstr>
      <vt:lpstr>*Q-learning --- 离散状态空间下的强化学习</vt:lpstr>
      <vt:lpstr>*Deep Q-Network --- 连续状态空间下的强化学习</vt:lpstr>
      <vt:lpstr>Q-network的训练细节</vt:lpstr>
      <vt:lpstr>*逐Episode训练流程</vt:lpstr>
      <vt:lpstr>*ε-greedy样本生成</vt:lpstr>
      <vt:lpstr>*提升稳定性：经验回放</vt:lpstr>
      <vt:lpstr>*提升稳定性：目标网络</vt:lpstr>
      <vt:lpstr>实验设置与实验结果</vt:lpstr>
      <vt:lpstr>实验超参数设置</vt:lpstr>
      <vt:lpstr>训练结果与结论</vt:lpstr>
      <vt:lpstr>*拓展研究</vt:lpstr>
      <vt:lpstr>*拓展研究</vt:lpstr>
      <vt:lpstr>谢谢大家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Poni VacanCyy1</cp:lastModifiedBy>
  <cp:revision>283</cp:revision>
  <cp:lastPrinted>2017-10-17T16:00:00Z</cp:lastPrinted>
  <dcterms:created xsi:type="dcterms:W3CDTF">2017-10-17T16:00:00Z</dcterms:created>
  <dcterms:modified xsi:type="dcterms:W3CDTF">2026-01-04T04:51:09Z</dcterms:modified>
  <cp:category>work report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</Properties>
</file>