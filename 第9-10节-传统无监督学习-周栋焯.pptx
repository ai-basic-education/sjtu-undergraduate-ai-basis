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314" r:id="rId2"/>
    <p:sldId id="10354" r:id="rId3"/>
    <p:sldId id="10361" r:id="rId4"/>
    <p:sldId id="10364" r:id="rId5"/>
    <p:sldId id="10437" r:id="rId6"/>
    <p:sldId id="10362" r:id="rId7"/>
    <p:sldId id="10372" r:id="rId8"/>
    <p:sldId id="10375" r:id="rId9"/>
    <p:sldId id="10376" r:id="rId10"/>
    <p:sldId id="10365" r:id="rId11"/>
    <p:sldId id="10373" r:id="rId12"/>
    <p:sldId id="10378" r:id="rId13"/>
    <p:sldId id="10379" r:id="rId14"/>
    <p:sldId id="10405" r:id="rId15"/>
    <p:sldId id="10366" r:id="rId16"/>
    <p:sldId id="10404" r:id="rId17"/>
    <p:sldId id="10381" r:id="rId18"/>
    <p:sldId id="10436" r:id="rId19"/>
    <p:sldId id="10385" r:id="rId20"/>
    <p:sldId id="10363" r:id="rId21"/>
    <p:sldId id="10333" r:id="rId22"/>
    <p:sldId id="10398" r:id="rId23"/>
    <p:sldId id="10399" r:id="rId24"/>
    <p:sldId id="10394" r:id="rId25"/>
    <p:sldId id="10409" r:id="rId26"/>
    <p:sldId id="10428" r:id="rId27"/>
    <p:sldId id="10418" r:id="rId28"/>
    <p:sldId id="10411" r:id="rId29"/>
    <p:sldId id="10396" r:id="rId30"/>
    <p:sldId id="10353" r:id="rId31"/>
    <p:sldId id="10389" r:id="rId32"/>
    <p:sldId id="10434" r:id="rId33"/>
    <p:sldId id="10435" r:id="rId34"/>
    <p:sldId id="10433" r:id="rId35"/>
    <p:sldId id="1032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与目录" id="{E16E27CC-1BBC-AC4E-922C-7D48AA8F4D76}">
          <p14:sldIdLst>
            <p14:sldId id="2314"/>
            <p14:sldId id="10354"/>
          </p14:sldIdLst>
        </p14:section>
        <p14:section name="第一节" id="{9F139EFA-3D2F-524E-B20E-2D2181600DF8}">
          <p14:sldIdLst>
            <p14:sldId id="10361"/>
            <p14:sldId id="10364"/>
            <p14:sldId id="10437"/>
          </p14:sldIdLst>
        </p14:section>
        <p14:section name="第二节" id="{3878EE42-64CB-7341-ACAD-31EAB31AC43E}">
          <p14:sldIdLst>
            <p14:sldId id="10362"/>
            <p14:sldId id="10372"/>
            <p14:sldId id="10375"/>
            <p14:sldId id="10376"/>
            <p14:sldId id="10365"/>
            <p14:sldId id="10373"/>
            <p14:sldId id="10378"/>
            <p14:sldId id="10379"/>
            <p14:sldId id="10405"/>
            <p14:sldId id="10366"/>
            <p14:sldId id="10404"/>
            <p14:sldId id="10381"/>
            <p14:sldId id="10436"/>
            <p14:sldId id="10385"/>
          </p14:sldIdLst>
        </p14:section>
        <p14:section name="第三节" id="{22D38990-B77B-2A41-BF1D-4F768E3CAF5E}">
          <p14:sldIdLst>
            <p14:sldId id="10363"/>
            <p14:sldId id="10333"/>
            <p14:sldId id="10398"/>
            <p14:sldId id="10399"/>
            <p14:sldId id="10394"/>
            <p14:sldId id="10409"/>
            <p14:sldId id="10428"/>
            <p14:sldId id="10418"/>
            <p14:sldId id="10411"/>
            <p14:sldId id="10396"/>
          </p14:sldIdLst>
        </p14:section>
        <p14:section name="总结" id="{BEF27FA2-F71C-194E-BD4E-FCE88338B7C2}">
          <p14:sldIdLst>
            <p14:sldId id="10353"/>
            <p14:sldId id="10389"/>
            <p14:sldId id="10434"/>
            <p14:sldId id="10435"/>
            <p14:sldId id="10433"/>
            <p14:sldId id="10320"/>
          </p14:sldIdLst>
        </p14:section>
        <p14:section name="附录" id="{1A8A6B3C-B633-504A-BFA0-14AA874F5C5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EB964"/>
    <a:srgbClr val="E5F2E0"/>
    <a:srgbClr val="F6DAD7"/>
    <a:srgbClr val="D24735"/>
    <a:srgbClr val="0000FF"/>
    <a:srgbClr val="B61516"/>
    <a:srgbClr val="1D41D5"/>
    <a:srgbClr val="070707"/>
    <a:srgbClr val="002B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7" autoAdjust="0"/>
    <p:restoredTop sz="90879" autoAdjust="0"/>
  </p:normalViewPr>
  <p:slideViewPr>
    <p:cSldViewPr snapToGrid="0">
      <p:cViewPr varScale="1">
        <p:scale>
          <a:sx n="114" d="100"/>
          <a:sy n="114" d="100"/>
        </p:scale>
        <p:origin x="77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-2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7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00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155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22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动画</a:t>
            </a:r>
            <a:r>
              <a:rPr lang="zh-CN" altLang="en-US" dirty="0"/>
              <a:t>，西瓜数据集作为</a:t>
            </a:r>
            <a:r>
              <a:rPr lang="en-US" altLang="zh-CN" dirty="0"/>
              <a:t>tutorial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77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（习题）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869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023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参数不再发生变化</a:t>
            </a:r>
          </a:p>
          <a:p>
            <a:r>
              <a:rPr lang="zh-CN" altLang="en-US" dirty="0"/>
              <a:t> 公式再放一下，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371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CBE2-7BCB-97FB-CD6A-4B9579BE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2BD24-C550-CC87-1F5D-B492B9F0D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208FC-CBB5-7675-7E73-1015ACB0D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参数不再发生变化</a:t>
            </a:r>
          </a:p>
          <a:p>
            <a:r>
              <a:rPr lang="zh-CN" altLang="en-US" dirty="0"/>
              <a:t> 公式再放一下，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DBB07-3E06-8F93-55FD-C3BDCE4AD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977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25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n&gt;2500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905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884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34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93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55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905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846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9655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4118" y="3717192"/>
            <a:ext cx="11523764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98913" y="5387513"/>
            <a:ext cx="63941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236843" y="6229835"/>
            <a:ext cx="571831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437E-93F6-1045-30BB-E70861E9E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页面标题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3F575-2B35-BD81-72E3-40F667AEDD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267D-6A4F-FA05-FC69-0D34F123D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B01B7-8796-3FAB-148C-D82F1FB797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1242" y="927100"/>
            <a:ext cx="11429758" cy="5218113"/>
          </a:xfrm>
        </p:spPr>
        <p:txBody>
          <a:bodyPr/>
          <a:lstStyle/>
          <a:p>
            <a:pPr lvl="0"/>
            <a:r>
              <a:rPr lang="en-US" dirty="0" err="1"/>
              <a:t>一级标题内容</a:t>
            </a:r>
            <a:endParaRPr lang="en-US" dirty="0"/>
          </a:p>
          <a:p>
            <a:pPr lvl="1"/>
            <a:r>
              <a:rPr lang="en-US" dirty="0" err="1"/>
              <a:t>二级标题内容</a:t>
            </a:r>
            <a:endParaRPr lang="en-US" dirty="0"/>
          </a:p>
          <a:p>
            <a:pPr lvl="2"/>
            <a:r>
              <a:rPr lang="en-US" dirty="0" err="1"/>
              <a:t>三级标题内容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8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8" r:id="rId5"/>
    <p:sldLayoutId id="2147483657" r:id="rId6"/>
  </p:sldLayoutIdLst>
  <p:hf hdr="0" ftr="0" dt="0"/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00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gi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6" Type="http://schemas.openxmlformats.org/officeDocument/2006/relationships/image" Target="../media/image15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3" Type="http://schemas.openxmlformats.org/officeDocument/2006/relationships/video" Target="../media/media1.mp4"/><Relationship Id="rId12" Type="http://schemas.openxmlformats.org/officeDocument/2006/relationships/image" Target="../media/image28.emf"/><Relationship Id="rId2" Type="http://schemas.microsoft.com/office/2007/relationships/media" Target="../media/media1.mp4"/><Relationship Id="rId1" Type="http://schemas.openxmlformats.org/officeDocument/2006/relationships/tags" Target="../tags/tag10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27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1.png"/><Relationship Id="rId7" Type="http://schemas.openxmlformats.org/officeDocument/2006/relationships/image" Target="../media/image29.emf"/><Relationship Id="rId12" Type="http://schemas.openxmlformats.org/officeDocument/2006/relationships/image" Target="../media/image5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6" Type="http://schemas.openxmlformats.org/officeDocument/2006/relationships/image" Target="../media/image33.png"/><Relationship Id="rId11" Type="http://schemas.openxmlformats.org/officeDocument/2006/relationships/image" Target="../media/image49.png"/><Relationship Id="rId5" Type="http://schemas.openxmlformats.org/officeDocument/2006/relationships/image" Target="../media/image31.png"/><Relationship Id="rId10" Type="http://schemas.openxmlformats.org/officeDocument/2006/relationships/image" Target="../media/image48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6" Type="http://schemas.openxmlformats.org/officeDocument/2006/relationships/image" Target="../media/image53.png"/><Relationship Id="rId10" Type="http://schemas.openxmlformats.org/officeDocument/2006/relationships/image" Target="../media/image44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2.png"/><Relationship Id="rId10" Type="http://schemas.openxmlformats.org/officeDocument/2006/relationships/image" Target="../media/image55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8.jpg"/><Relationship Id="rId7" Type="http://schemas.openxmlformats.org/officeDocument/2006/relationships/image" Target="../media/image53.jpeg"/><Relationship Id="rId12" Type="http://schemas.openxmlformats.org/officeDocument/2006/relationships/image" Target="../media/image5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6" Type="http://schemas.openxmlformats.org/officeDocument/2006/relationships/image" Target="../media/image104.png"/><Relationship Id="rId11" Type="http://schemas.openxmlformats.org/officeDocument/2006/relationships/image" Target="../media/image140.png"/><Relationship Id="rId5" Type="http://schemas.openxmlformats.org/officeDocument/2006/relationships/image" Target="../media/image103.png"/><Relationship Id="rId10" Type="http://schemas.openxmlformats.org/officeDocument/2006/relationships/image" Target="../media/image130.png"/><Relationship Id="rId9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3" Type="http://schemas.openxmlformats.org/officeDocument/2006/relationships/notesSlide" Target="../notesSlides/notesSlide12.xml"/><Relationship Id="rId12" Type="http://schemas.openxmlformats.org/officeDocument/2006/relationships/image" Target="../media/image11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6" Type="http://schemas.openxmlformats.org/officeDocument/2006/relationships/image" Target="../media/image58.jpg"/><Relationship Id="rId11" Type="http://schemas.openxmlformats.org/officeDocument/2006/relationships/image" Target="../media/image112.png"/><Relationship Id="rId5" Type="http://schemas.openxmlformats.org/officeDocument/2006/relationships/image" Target="../media/image60.png"/><Relationship Id="rId10" Type="http://schemas.openxmlformats.org/officeDocument/2006/relationships/image" Target="../media/image111.png"/><Relationship Id="rId4" Type="http://schemas.openxmlformats.org/officeDocument/2006/relationships/image" Target="../media/image59.png"/><Relationship Id="rId9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8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11" Type="http://schemas.openxmlformats.org/officeDocument/2006/relationships/image" Target="../media/image66.png"/><Relationship Id="rId10" Type="http://schemas.openxmlformats.org/officeDocument/2006/relationships/image" Target="../media/image64.png"/><Relationship Id="rId4" Type="http://schemas.openxmlformats.org/officeDocument/2006/relationships/image" Target="../media/image61.emf"/><Relationship Id="rId9" Type="http://schemas.openxmlformats.org/officeDocument/2006/relationships/image" Target="../media/image63.png"/><Relationship Id="rId1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7" Type="http://schemas.openxmlformats.org/officeDocument/2006/relationships/image" Target="../media/image19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0" Type="http://schemas.openxmlformats.org/officeDocument/2006/relationships/image" Target="../media/image198.png"/><Relationship Id="rId9" Type="http://schemas.openxmlformats.org/officeDocument/2006/relationships/image" Target="../media/image19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13" Type="http://schemas.openxmlformats.org/officeDocument/2006/relationships/image" Target="../media/image71.jpe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19.png"/><Relationship Id="rId12" Type="http://schemas.openxmlformats.org/officeDocument/2006/relationships/image" Target="../media/image7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Relationship Id="rId11" Type="http://schemas.openxmlformats.org/officeDocument/2006/relationships/image" Target="../media/image710.png"/><Relationship Id="rId10" Type="http://schemas.openxmlformats.org/officeDocument/2006/relationships/image" Target="../media/image700.png"/><Relationship Id="rId9" Type="http://schemas.openxmlformats.org/officeDocument/2006/relationships/image" Target="../media/image6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istill.pub/2016/misread-tsne" TargetMode="External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595ACC-32E0-A7D5-35A2-CCA59EB5C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传统机器学习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无监督学习</a:t>
            </a:r>
            <a:endParaRPr lang="en-C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313DCB9-4C48-45D5-B90B-D60BC5B6E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8913" y="4768620"/>
            <a:ext cx="6394174" cy="1542970"/>
          </a:xfrm>
        </p:spPr>
        <p:txBody>
          <a:bodyPr>
            <a:normAutofit/>
          </a:bodyPr>
          <a:lstStyle/>
          <a:p>
            <a:r>
              <a:rPr lang="zh-CN" altLang="en-US" dirty="0"/>
              <a:t>许志钦</a:t>
            </a:r>
            <a:endParaRPr lang="en-US" altLang="zh-CN" dirty="0"/>
          </a:p>
          <a:p>
            <a:r>
              <a:rPr lang="zh-CN" altLang="en-US" dirty="0"/>
              <a:t>上海交通大学</a:t>
            </a:r>
            <a:endParaRPr lang="en-US" altLang="zh-CN" dirty="0"/>
          </a:p>
          <a:p>
            <a:fld id="{EEAB4751-5725-462F-98DA-8C7F578FB545}" type="datetime3">
              <a:rPr lang="zh-CN" altLang="zh-CN"/>
              <a:pPr/>
              <a:t>2025年12月21日星期日</a:t>
            </a:fld>
            <a:endParaRPr lang="en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5717-CE55-6CB0-664E-5AFD66CD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47FC-9D99-12F9-07A3-1C17B95F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E3C73-61A8-2693-3468-F320DBE96ADE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382BF-1385-C859-6151-31817A9F99C4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二、聚类学习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BB8358-CAF0-9647-865B-9028CF4D9677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三、数据降维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EBF7253-C8E2-4D6F-8CEF-980A6FF552C9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2</a:t>
            </a:fld>
            <a:r>
              <a:rPr lang="en-US" altLang="zh-CN">
                <a:solidFill>
                  <a:schemeClr val="bg1"/>
                </a:solidFill>
              </a:rPr>
              <a:t>/34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33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EB4A-D6E3-20A7-E83E-50D22B5D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97205-0F30-7C38-A13E-B8A0566F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B833D-0EFE-574E-1175-0DDF5C73164B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60516F-EB31-9C99-9E5B-DCFC6736CE15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二</a:t>
            </a:r>
            <a:r>
              <a:rPr lang="zh-CN" altLang="en-US" dirty="0"/>
              <a:t>、聚</a:t>
            </a:r>
            <a:r>
              <a:rPr lang="zh-CN" altLang="en-US"/>
              <a:t>类学习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BDD1C8-EC6C-2B91-C9BC-2821DA5D6B4A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三、数据降维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2C77881-00E6-4107-BE87-36257F7B3CAB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r>
              <a:rPr lang="en-US" altLang="zh-CN">
                <a:solidFill>
                  <a:schemeClr val="bg1"/>
                </a:solidFill>
              </a:rPr>
              <a:t>/34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5F28-CDE5-160A-1ECA-A9D4ADF3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无监督学习</a:t>
            </a:r>
            <a:r>
              <a:rPr lang="zh-CN" altLang="en-US" dirty="0"/>
              <a:t>：挖掘数据中隐含的属性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2932A-517F-50B9-F8FF-EDFBCC5E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391"/>
          <a:stretch/>
        </p:blipFill>
        <p:spPr>
          <a:xfrm>
            <a:off x="6834752" y="1129124"/>
            <a:ext cx="4863023" cy="4897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35109C-0A07-7757-5C97-A596A695064D}"/>
              </a:ext>
            </a:extLst>
          </p:cNvPr>
          <p:cNvSpPr txBox="1"/>
          <p:nvPr/>
        </p:nvSpPr>
        <p:spPr>
          <a:xfrm>
            <a:off x="1246786" y="6404838"/>
            <a:ext cx="7479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图片来源网络: </a:t>
            </a:r>
            <a:r>
              <a:rPr lang="en-US" sz="2000" dirty="0">
                <a:solidFill>
                  <a:schemeClr val="bg1"/>
                </a:solidFill>
              </a:rPr>
              <a:t>https://</a:t>
            </a:r>
            <a:r>
              <a:rPr lang="en-US" sz="2000" dirty="0" err="1">
                <a:solidFill>
                  <a:schemeClr val="bg1"/>
                </a:solidFill>
              </a:rPr>
              <a:t>www.sohu.com</a:t>
            </a:r>
            <a:r>
              <a:rPr lang="en-US" sz="2000" dirty="0">
                <a:solidFill>
                  <a:schemeClr val="bg1"/>
                </a:solidFill>
              </a:rPr>
              <a:t>/a/558102435_121124303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A35B8-F3A3-A5B5-E995-A32F0F12EB98}"/>
              </a:ext>
            </a:extLst>
          </p:cNvPr>
          <p:cNvSpPr txBox="1"/>
          <p:nvPr/>
        </p:nvSpPr>
        <p:spPr>
          <a:xfrm>
            <a:off x="450263" y="1110060"/>
            <a:ext cx="2012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b="1" dirty="0">
                <a:solidFill>
                  <a:schemeClr val="tx2"/>
                </a:solidFill>
              </a:rPr>
              <a:t>西瓜的属性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9F72B-4779-1F72-42B9-C768A1484068}"/>
              </a:ext>
            </a:extLst>
          </p:cNvPr>
          <p:cNvSpPr txBox="1"/>
          <p:nvPr/>
        </p:nvSpPr>
        <p:spPr>
          <a:xfrm>
            <a:off x="1131370" y="1781306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tx2"/>
                </a:solidFill>
              </a:rPr>
              <a:t>大小</a:t>
            </a:r>
            <a:r>
              <a:rPr lang="zh-CN" altLang="en-US" sz="2000" dirty="0">
                <a:solidFill>
                  <a:schemeClr val="tx2"/>
                </a:solidFill>
              </a:rPr>
              <a:t>、形状、颜色、花纹、是否有籽</a:t>
            </a: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8DB46-BEC5-8A02-1E0F-B8A10E156D4E}"/>
              </a:ext>
            </a:extLst>
          </p:cNvPr>
          <p:cNvSpPr txBox="1"/>
          <p:nvPr/>
        </p:nvSpPr>
        <p:spPr>
          <a:xfrm>
            <a:off x="721163" y="2683867"/>
            <a:ext cx="5152804" cy="2570917"/>
          </a:xfrm>
          <a:prstGeom prst="roundRect">
            <a:avLst>
              <a:gd name="adj" fmla="val 10520"/>
            </a:avLst>
          </a:prstGeom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聚类任务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按照属性对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进行分类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N" sz="2000" b="1" dirty="0">
                <a:solidFill>
                  <a:schemeClr val="tx2"/>
                </a:solidFill>
              </a:rPr>
              <a:t>降维分析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找到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最关键的属性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密度估计：</a:t>
            </a:r>
            <a:r>
              <a:rPr lang="zh-CN" altLang="en-US" sz="2000" dirty="0">
                <a:solidFill>
                  <a:schemeClr val="tx2"/>
                </a:solidFill>
              </a:rPr>
              <a:t>估计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属性的概率密度分布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异常检测：</a:t>
            </a:r>
            <a:r>
              <a:rPr lang="zh-CN" altLang="en-US" sz="2000" dirty="0">
                <a:solidFill>
                  <a:schemeClr val="tx2"/>
                </a:solidFill>
              </a:rPr>
              <a:t>根据属性判断异常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关联学习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找到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属性之间的关系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DC386-0478-FC0B-6A8A-5341DBC4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4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09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A833-83B8-35C6-596C-80D70AAC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99B5-09ED-6CFC-3C66-749A9C6E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无监督学习</a:t>
            </a:r>
            <a:r>
              <a:rPr lang="zh-CN" altLang="en-US" dirty="0"/>
              <a:t>：挖掘数据中隐含的属性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F4D0BD-0A3C-A873-AFF1-909A6EC9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391"/>
          <a:stretch/>
        </p:blipFill>
        <p:spPr>
          <a:xfrm>
            <a:off x="6834752" y="1129124"/>
            <a:ext cx="4863023" cy="4897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DCF84-F324-C56E-AE10-CD8C95CCD410}"/>
              </a:ext>
            </a:extLst>
          </p:cNvPr>
          <p:cNvSpPr txBox="1"/>
          <p:nvPr/>
        </p:nvSpPr>
        <p:spPr>
          <a:xfrm>
            <a:off x="1246786" y="6404838"/>
            <a:ext cx="7479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图片来源网络: </a:t>
            </a:r>
            <a:r>
              <a:rPr lang="en-US" sz="2000" dirty="0">
                <a:solidFill>
                  <a:schemeClr val="bg1"/>
                </a:solidFill>
              </a:rPr>
              <a:t>https://</a:t>
            </a:r>
            <a:r>
              <a:rPr lang="en-US" sz="2000" dirty="0" err="1">
                <a:solidFill>
                  <a:schemeClr val="bg1"/>
                </a:solidFill>
              </a:rPr>
              <a:t>www.sohu.com</a:t>
            </a:r>
            <a:r>
              <a:rPr lang="en-US" sz="2000" dirty="0">
                <a:solidFill>
                  <a:schemeClr val="bg1"/>
                </a:solidFill>
              </a:rPr>
              <a:t>/a/558102435_121124303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AF93A-912B-1015-15D9-9892686BD3A3}"/>
              </a:ext>
            </a:extLst>
          </p:cNvPr>
          <p:cNvSpPr txBox="1"/>
          <p:nvPr/>
        </p:nvSpPr>
        <p:spPr>
          <a:xfrm>
            <a:off x="450263" y="1110060"/>
            <a:ext cx="2012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b="1" dirty="0">
                <a:solidFill>
                  <a:schemeClr val="tx2"/>
                </a:solidFill>
              </a:rPr>
              <a:t>西瓜的属性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32353-A44D-7D15-09F1-561D8ABB7754}"/>
              </a:ext>
            </a:extLst>
          </p:cNvPr>
          <p:cNvSpPr txBox="1"/>
          <p:nvPr/>
        </p:nvSpPr>
        <p:spPr>
          <a:xfrm>
            <a:off x="1131370" y="1781306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tx2"/>
                </a:solidFill>
              </a:rPr>
              <a:t>大小</a:t>
            </a:r>
            <a:r>
              <a:rPr lang="zh-CN" altLang="en-US" sz="2000" dirty="0">
                <a:solidFill>
                  <a:schemeClr val="tx2"/>
                </a:solidFill>
              </a:rPr>
              <a:t>、形状、颜色、花纹、是否有籽</a:t>
            </a: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DF7AB0-1D61-48ED-0B9B-67DCDD15BD53}"/>
              </a:ext>
            </a:extLst>
          </p:cNvPr>
          <p:cNvSpPr txBox="1"/>
          <p:nvPr/>
        </p:nvSpPr>
        <p:spPr>
          <a:xfrm>
            <a:off x="721163" y="2683867"/>
            <a:ext cx="5152804" cy="2570917"/>
          </a:xfrm>
          <a:prstGeom prst="roundRect">
            <a:avLst>
              <a:gd name="adj" fmla="val 10520"/>
            </a:avLst>
          </a:prstGeom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0000"/>
                </a:solidFill>
              </a:rPr>
              <a:t>聚类任务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</a:rPr>
              <a:t>按照属性对</a:t>
            </a:r>
            <a:r>
              <a:rPr lang="en-US" altLang="zh-CN" sz="2000" dirty="0">
                <a:solidFill>
                  <a:srgbClr val="FF0000"/>
                </a:solidFill>
              </a:rPr>
              <a:t>🍉</a:t>
            </a:r>
            <a:r>
              <a:rPr lang="zh-CN" altLang="en-US" sz="2000" dirty="0">
                <a:solidFill>
                  <a:srgbClr val="FF0000"/>
                </a:solidFill>
              </a:rPr>
              <a:t>进行分类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N" sz="2000" b="1" dirty="0">
                <a:solidFill>
                  <a:srgbClr val="FF0000"/>
                </a:solidFill>
              </a:rPr>
              <a:t>降维分析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</a:rPr>
              <a:t>找到</a:t>
            </a:r>
            <a:r>
              <a:rPr lang="en-US" altLang="zh-CN" sz="2000" dirty="0">
                <a:solidFill>
                  <a:srgbClr val="FF0000"/>
                </a:solidFill>
              </a:rPr>
              <a:t>🍉</a:t>
            </a:r>
            <a:r>
              <a:rPr lang="zh-CN" altLang="en-US" sz="2000" dirty="0">
                <a:solidFill>
                  <a:srgbClr val="FF0000"/>
                </a:solidFill>
              </a:rPr>
              <a:t>最关键的属性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密度估计：</a:t>
            </a:r>
            <a:r>
              <a:rPr lang="zh-CN" altLang="en-US" sz="2000" dirty="0">
                <a:solidFill>
                  <a:schemeClr val="tx2"/>
                </a:solidFill>
              </a:rPr>
              <a:t>估计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属性的概率密度分布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异常检测：</a:t>
            </a:r>
            <a:r>
              <a:rPr lang="zh-CN" altLang="en-US" sz="2000" dirty="0">
                <a:solidFill>
                  <a:schemeClr val="tx2"/>
                </a:solidFill>
              </a:rPr>
              <a:t>根据属性判断异常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关联学习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找到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属性之间的关系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E5B8C-1804-2380-6FEB-4E7B6CEF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5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99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F6B2-B10E-4A38-65EF-D4EC73CF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4D285-7DAC-0EFB-9A92-9357CFD5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A48947-329D-DD13-31F1-BBD6F1408656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</a:t>
            </a:r>
            <a:r>
              <a:rPr lang="zh-CN" altLang="en-US"/>
              <a:t>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AB93E-35CD-1B8D-C416-FA94EC01E478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二、聚类学习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629E19-CBDE-2FA6-AD5D-C925FB9F4A75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三、数据降维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D900C6C-4B9E-4C97-8771-0465E7433FC3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6</a:t>
            </a:fld>
            <a:r>
              <a:rPr lang="en-US" altLang="zh-CN">
                <a:solidFill>
                  <a:schemeClr val="bg1"/>
                </a:solidFill>
              </a:rPr>
              <a:t>/34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7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AC6E-EDEB-9305-62AA-36229520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聚类问题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EB23D-EB84-73C0-3711-09315BAE1A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9221" y="1238376"/>
            <a:ext cx="7873072" cy="209987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zh-CN" altLang="en-US" sz="2000" dirty="0"/>
              <a:t>寻找数据集中的互不相交的子集，每个子集形成“簇”</a:t>
            </a:r>
            <a:endParaRPr lang="en-US" altLang="zh-CN" sz="2000" dirty="0"/>
          </a:p>
          <a:p>
            <a:pPr marL="592500" lvl="1" indent="-342900" algn="l">
              <a:buFont typeface="Wingdings" pitchFamily="2" charset="2"/>
              <a:buChar char="v"/>
            </a:pPr>
            <a:r>
              <a:rPr lang="en-US" sz="1800" dirty="0"/>
              <a:t>(</a:t>
            </a:r>
            <a:r>
              <a:rPr lang="en-US" sz="1800" dirty="0" err="1"/>
              <a:t>有籽瓜</a:t>
            </a:r>
            <a:r>
              <a:rPr lang="zh-CN" altLang="en-US" sz="1800" dirty="0"/>
              <a:t>、无籽瓜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深色瓜、浅色瓜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本地瓜、外地瓜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……</a:t>
            </a:r>
          </a:p>
          <a:p>
            <a:pPr marL="592500" lvl="1" indent="-342900" algn="l">
              <a:buFont typeface="Wingdings" pitchFamily="2" charset="2"/>
              <a:buChar char="v"/>
            </a:pPr>
            <a:r>
              <a:rPr lang="en-US" sz="1800" dirty="0" err="1"/>
              <a:t>非预设的类别</a:t>
            </a:r>
            <a:r>
              <a:rPr lang="zh-CN" altLang="en-US" sz="1800" dirty="0"/>
              <a:t>，自动形成</a:t>
            </a:r>
            <a:r>
              <a:rPr lang="zh-CN" altLang="en-CN" sz="1800" dirty="0"/>
              <a:t>簇结构</a:t>
            </a:r>
            <a:r>
              <a:rPr lang="zh-CN" altLang="en-US" sz="1800" dirty="0"/>
              <a:t>，可以作为其余分析的预处理</a:t>
            </a:r>
            <a:endParaRPr lang="en-CN" altLang="zh-CN" sz="1800" dirty="0"/>
          </a:p>
          <a:p>
            <a:pPr marL="457200" indent="-457200" algn="l">
              <a:buFont typeface="Wingdings" pitchFamily="2" charset="2"/>
              <a:buChar char="v"/>
            </a:pPr>
            <a:r>
              <a:rPr lang="zh-CN" altLang="en-CN" sz="2000" dirty="0"/>
              <a:t>寻找</a:t>
            </a:r>
            <a:r>
              <a:rPr lang="zh-CN" altLang="en-US" sz="2000" dirty="0"/>
              <a:t>“簇内”相似性，“簇间”差异性。</a:t>
            </a:r>
            <a:endParaRPr lang="en-US" altLang="zh-C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4A334-7F2D-3A24-F037-75C796D469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234" y="3095619"/>
            <a:ext cx="3491532" cy="2616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7EAB28-7C06-4EAB-39EA-1F2E70516A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047" y="3095619"/>
            <a:ext cx="3489578" cy="2616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08AD6-24F7-B1BE-CBE0-4632B6C348B9}"/>
              </a:ext>
            </a:extLst>
          </p:cNvPr>
          <p:cNvSpPr txBox="1"/>
          <p:nvPr/>
        </p:nvSpPr>
        <p:spPr>
          <a:xfrm>
            <a:off x="940898" y="3095619"/>
            <a:ext cx="3376880" cy="2247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 err="1"/>
              <a:t>聚类的作用</a:t>
            </a:r>
            <a:r>
              <a:rPr lang="zh-CN" altLang="en-US" sz="2400" b="1" dirty="0"/>
              <a:t>：</a:t>
            </a:r>
            <a:endParaRPr lang="en-US" sz="2400" b="1" dirty="0"/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数据可视化</a:t>
            </a:r>
            <a:endParaRPr lang="en-US" sz="2400" dirty="0"/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CN" sz="2400" dirty="0"/>
              <a:t>寻找潜在数据分类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CN" sz="2400" dirty="0"/>
              <a:t>挖掘数据表征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238E2F1-CAEC-14CA-4C61-DF7CEF23C1E3}"/>
              </a:ext>
            </a:extLst>
          </p:cNvPr>
          <p:cNvSpPr/>
          <p:nvPr/>
        </p:nvSpPr>
        <p:spPr>
          <a:xfrm>
            <a:off x="7782221" y="4177987"/>
            <a:ext cx="634314" cy="451723"/>
          </a:xfrm>
          <a:prstGeom prst="rightArrow">
            <a:avLst/>
          </a:prstGeom>
          <a:solidFill>
            <a:srgbClr val="C00000"/>
          </a:solidFill>
          <a:ln cmpd="sng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4E050E-8B89-CE4F-9D63-E67A30632B0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C9B9B-B324-1C4D-BACD-72433CD003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7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84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CE43-8B37-3B67-5856-AC6F51C9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如何定量刻画聚类效果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BCE6B-ABE1-9BE7-0E5D-4CC41AFA38E3}"/>
              </a:ext>
            </a:extLst>
          </p:cNvPr>
          <p:cNvSpPr txBox="1"/>
          <p:nvPr/>
        </p:nvSpPr>
        <p:spPr>
          <a:xfrm>
            <a:off x="8551531" y="2309523"/>
            <a:ext cx="2743059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CN" sz="2800" b="1" dirty="0">
                <a:latin typeface="+mn-ea"/>
              </a:rPr>
              <a:t>如何计算距离</a:t>
            </a:r>
            <a:r>
              <a:rPr lang="zh-CN" altLang="en-US" sz="2800" b="1" dirty="0">
                <a:latin typeface="+mn-ea"/>
              </a:rPr>
              <a:t>？</a:t>
            </a:r>
            <a:endParaRPr lang="en-CN" sz="2800" b="1" dirty="0">
              <a:latin typeface="+mn-ea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EF1D27F-DD68-D812-B4ED-A2DE8AE2FD78}"/>
              </a:ext>
            </a:extLst>
          </p:cNvPr>
          <p:cNvGrpSpPr/>
          <p:nvPr/>
        </p:nvGrpSpPr>
        <p:grpSpPr>
          <a:xfrm>
            <a:off x="4142318" y="1826047"/>
            <a:ext cx="3512856" cy="1559783"/>
            <a:chOff x="5881877" y="1238811"/>
            <a:chExt cx="3512856" cy="155978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A6AA12C-73F6-6585-9806-320F335CA5D8}"/>
                </a:ext>
              </a:extLst>
            </p:cNvPr>
            <p:cNvGrpSpPr/>
            <p:nvPr/>
          </p:nvGrpSpPr>
          <p:grpSpPr>
            <a:xfrm>
              <a:off x="6883108" y="1259747"/>
              <a:ext cx="848723" cy="694802"/>
              <a:chOff x="7424179" y="1207912"/>
              <a:chExt cx="848723" cy="6948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B24AAD8-DCD0-4E76-5EED-031D441FFB5B}"/>
                  </a:ext>
                </a:extLst>
              </p:cNvPr>
              <p:cNvSpPr/>
              <p:nvPr/>
            </p:nvSpPr>
            <p:spPr>
              <a:xfrm>
                <a:off x="7424179" y="1207912"/>
                <a:ext cx="848723" cy="694802"/>
              </a:xfrm>
              <a:prstGeom prst="ellipse">
                <a:avLst/>
              </a:prstGeom>
              <a:solidFill>
                <a:srgbClr val="FFC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63780692-2C4B-DA01-51BF-BA097F7A9B8F}"/>
                      </a:ext>
                    </a:extLst>
                  </p:cNvPr>
                  <p:cNvSpPr txBox="1"/>
                  <p:nvPr/>
                </p:nvSpPr>
                <p:spPr>
                  <a:xfrm>
                    <a:off x="7696177" y="1376877"/>
                    <a:ext cx="315086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63780692-2C4B-DA01-51BF-BA097F7A9B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6177" y="1376877"/>
                    <a:ext cx="315086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5385" r="-3846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8D6AF63-67CB-76D8-3CB3-6CB7C47F360E}"/>
                </a:ext>
              </a:extLst>
            </p:cNvPr>
            <p:cNvGrpSpPr/>
            <p:nvPr/>
          </p:nvGrpSpPr>
          <p:grpSpPr>
            <a:xfrm>
              <a:off x="7906738" y="1238811"/>
              <a:ext cx="866053" cy="538452"/>
              <a:chOff x="8274824" y="1093215"/>
              <a:chExt cx="866053" cy="538452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4C3689C-C65B-78AA-3848-B40F0038D5B9}"/>
                  </a:ext>
                </a:extLst>
              </p:cNvPr>
              <p:cNvSpPr/>
              <p:nvPr/>
            </p:nvSpPr>
            <p:spPr>
              <a:xfrm rot="19933236">
                <a:off x="8274824" y="1093215"/>
                <a:ext cx="866053" cy="538452"/>
              </a:xfrm>
              <a:prstGeom prst="ellipse">
                <a:avLst/>
              </a:prstGeom>
              <a:solidFill>
                <a:srgbClr val="92D05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81C14F5-3AEF-B429-E6FD-7C55920EBD62}"/>
                      </a:ext>
                    </a:extLst>
                  </p:cNvPr>
                  <p:cNvSpPr txBox="1"/>
                  <p:nvPr/>
                </p:nvSpPr>
                <p:spPr>
                  <a:xfrm>
                    <a:off x="8532019" y="1199286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81C14F5-3AEF-B429-E6FD-7C55920EBD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2019" y="1199286"/>
                    <a:ext cx="321050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385" r="-7692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B2BBA07-086B-3D54-5854-F99397BAF2AB}"/>
                </a:ext>
              </a:extLst>
            </p:cNvPr>
            <p:cNvGrpSpPr/>
            <p:nvPr/>
          </p:nvGrpSpPr>
          <p:grpSpPr>
            <a:xfrm>
              <a:off x="5881877" y="1861422"/>
              <a:ext cx="997474" cy="604964"/>
              <a:chOff x="6635174" y="1733217"/>
              <a:chExt cx="997474" cy="604964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81C0234-8E17-4774-A4CF-1417318E4A7D}"/>
                  </a:ext>
                </a:extLst>
              </p:cNvPr>
              <p:cNvSpPr/>
              <p:nvPr/>
            </p:nvSpPr>
            <p:spPr>
              <a:xfrm rot="21159977">
                <a:off x="6635174" y="1733217"/>
                <a:ext cx="997474" cy="604964"/>
              </a:xfrm>
              <a:prstGeom prst="ellipse">
                <a:avLst/>
              </a:prstGeom>
              <a:solidFill>
                <a:srgbClr val="FF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569B8AF3-78B4-37BC-677E-D1300700FA1D}"/>
                      </a:ext>
                    </a:extLst>
                  </p:cNvPr>
                  <p:cNvSpPr txBox="1"/>
                  <p:nvPr/>
                </p:nvSpPr>
                <p:spPr>
                  <a:xfrm>
                    <a:off x="6973386" y="1885444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569B8AF3-78B4-37BC-677E-D1300700FA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3386" y="1885444"/>
                    <a:ext cx="321050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815" r="-3704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0EC4B75-8004-8B61-2142-906760FDA312}"/>
                </a:ext>
              </a:extLst>
            </p:cNvPr>
            <p:cNvGrpSpPr/>
            <p:nvPr/>
          </p:nvGrpSpPr>
          <p:grpSpPr>
            <a:xfrm>
              <a:off x="8219724" y="1955156"/>
              <a:ext cx="1175009" cy="554367"/>
              <a:chOff x="8187323" y="1775546"/>
              <a:chExt cx="1175009" cy="5543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688D70-67A7-FE46-C3AF-2E78F81B21AA}"/>
                  </a:ext>
                </a:extLst>
              </p:cNvPr>
              <p:cNvSpPr/>
              <p:nvPr/>
            </p:nvSpPr>
            <p:spPr>
              <a:xfrm rot="217564">
                <a:off x="8187323" y="1775546"/>
                <a:ext cx="1175009" cy="554367"/>
              </a:xfrm>
              <a:prstGeom prst="ellipse">
                <a:avLst/>
              </a:prstGeom>
              <a:solidFill>
                <a:srgbClr val="FFFF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59B9040E-B46D-3025-DF50-F269643C83F8}"/>
                      </a:ext>
                    </a:extLst>
                  </p:cNvPr>
                  <p:cNvSpPr txBox="1"/>
                  <p:nvPr/>
                </p:nvSpPr>
                <p:spPr>
                  <a:xfrm>
                    <a:off x="8613188" y="1894011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59B9040E-B46D-3025-DF50-F269643C83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13188" y="1894011"/>
                    <a:ext cx="32105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5385" r="-7692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1A983DC-ECC1-499C-F896-DCDD5FD8F6B1}"/>
                </a:ext>
              </a:extLst>
            </p:cNvPr>
            <p:cNvGrpSpPr/>
            <p:nvPr/>
          </p:nvGrpSpPr>
          <p:grpSpPr>
            <a:xfrm>
              <a:off x="7113999" y="2057649"/>
              <a:ext cx="848723" cy="740945"/>
              <a:chOff x="7515677" y="2054553"/>
              <a:chExt cx="848723" cy="740945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5B9939C-6479-52D2-C8B1-967C8101E1FA}"/>
                  </a:ext>
                </a:extLst>
              </p:cNvPr>
              <p:cNvSpPr/>
              <p:nvPr/>
            </p:nvSpPr>
            <p:spPr>
              <a:xfrm>
                <a:off x="7515677" y="2054553"/>
                <a:ext cx="848723" cy="740945"/>
              </a:xfrm>
              <a:prstGeom prst="ellipse">
                <a:avLst/>
              </a:prstGeom>
              <a:solidFill>
                <a:srgbClr val="0070C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F0C7E96-18AD-23EB-909C-4C401098E546}"/>
                      </a:ext>
                    </a:extLst>
                  </p:cNvPr>
                  <p:cNvSpPr txBox="1"/>
                  <p:nvPr/>
                </p:nvSpPr>
                <p:spPr>
                  <a:xfrm>
                    <a:off x="7810926" y="2233185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F0C7E96-18AD-23EB-909C-4C401098E5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0926" y="2233185"/>
                    <a:ext cx="32105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5385" r="-3846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5B4303-ED99-584C-F2B5-02D2D9CA6DDC}"/>
                  </a:ext>
                </a:extLst>
              </p:cNvPr>
              <p:cNvSpPr txBox="1"/>
              <p:nvPr/>
            </p:nvSpPr>
            <p:spPr>
              <a:xfrm>
                <a:off x="680462" y="3282864"/>
                <a:ext cx="5904437" cy="28377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类内平均距离:         </a:t>
                </a:r>
                <a:endParaRPr lang="en-US" sz="32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sz="24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avg</m:t>
                      </m:r>
                      <m:d>
                        <m:d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  <m:d>
                            <m:dPr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N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N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1⩽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⩽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CN" sz="2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dist</m:t>
                      </m:r>
                      <m:d>
                        <m:d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>
                  <a:solidFill>
                    <a:srgbClr val="000000"/>
                  </a:solidFill>
                </a:endParaRPr>
              </a:p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类内样本分布直径: </a:t>
                </a:r>
                <a:endParaRPr lang="en-US" sz="32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sz="24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diam</m:t>
                      </m:r>
                      <m:d>
                        <m:d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N" sz="2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1⩽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⩽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lim>
                      </m:limLow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 </m:t>
                      </m:r>
                      <m:r>
                        <m:rPr>
                          <m:sty m:val="p"/>
                        </m:rPr>
                        <a:rPr lang="en-CN" sz="2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dist</m:t>
                      </m:r>
                      <m:d>
                        <m:d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5B4303-ED99-584C-F2B5-02D2D9CA6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62" y="3282864"/>
                <a:ext cx="5904437" cy="2837700"/>
              </a:xfrm>
              <a:prstGeom prst="rect">
                <a:avLst/>
              </a:prstGeom>
              <a:blipFill>
                <a:blip r:embed="rId11"/>
                <a:stretch>
                  <a:fillRect l="-1446" t="-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F6F2D2-E744-24DB-5A4F-6C6E15D612AD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4B3BFE-84FD-B86C-0505-912DFAED4459}"/>
                  </a:ext>
                </a:extLst>
              </p:cNvPr>
              <p:cNvSpPr txBox="1"/>
              <p:nvPr/>
            </p:nvSpPr>
            <p:spPr>
              <a:xfrm>
                <a:off x="842446" y="1113908"/>
                <a:ext cx="97147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N" sz="2800" dirty="0">
                    <a:solidFill>
                      <a:srgbClr val="000000"/>
                    </a:solidFill>
                  </a:rPr>
                  <a:t>给定m个样本点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，</a:t>
                </a:r>
                <a:r>
                  <a:rPr lang="en-US" sz="28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2"/>
                    </a:solidFill>
                  </a:rPr>
                  <a:t>，</a:t>
                </a:r>
                <a:r>
                  <a:rPr lang="en-CN" sz="2800" dirty="0">
                    <a:solidFill>
                      <a:srgbClr val="000000"/>
                    </a:solidFill>
                  </a:rPr>
                  <a:t>若将其聚成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5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类：</a:t>
                </a:r>
                <a:endParaRPr lang="en-CN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4B3BFE-84FD-B86C-0505-912DFAED4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46" y="1113908"/>
                <a:ext cx="9714718" cy="523220"/>
              </a:xfrm>
              <a:prstGeom prst="rect">
                <a:avLst/>
              </a:prstGeom>
              <a:blipFill>
                <a:blip r:embed="rId12"/>
                <a:stretch>
                  <a:fillRect l="-1305" t="-16279" b="-325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0DF8013-5FD7-5BB5-2E8A-F2B67B70442E}"/>
              </a:ext>
            </a:extLst>
          </p:cNvPr>
          <p:cNvSpPr txBox="1"/>
          <p:nvPr/>
        </p:nvSpPr>
        <p:spPr>
          <a:xfrm>
            <a:off x="919729" y="1949379"/>
            <a:ext cx="30887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dirty="0">
                <a:solidFill>
                  <a:srgbClr val="000000"/>
                </a:solidFill>
              </a:rPr>
              <a:t>类内距离尽可能小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5E0001-BC3C-CB1E-9D20-4A581A413B0B}"/>
              </a:ext>
            </a:extLst>
          </p:cNvPr>
          <p:cNvSpPr txBox="1"/>
          <p:nvPr/>
        </p:nvSpPr>
        <p:spPr>
          <a:xfrm>
            <a:off x="919729" y="2691732"/>
            <a:ext cx="30887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dirty="0">
                <a:solidFill>
                  <a:srgbClr val="000000"/>
                </a:solidFill>
              </a:rPr>
              <a:t>类间距离尽可能大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FB35B3-DC6E-348B-AE7B-6512B7E93A75}"/>
              </a:ext>
            </a:extLst>
          </p:cNvPr>
          <p:cNvSpPr txBox="1"/>
          <p:nvPr/>
        </p:nvSpPr>
        <p:spPr>
          <a:xfrm>
            <a:off x="8035365" y="1756992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0000"/>
                </a:solidFill>
              </a:rPr>
              <a:t>思考：试构造其他合适的指标？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1F974-9E8E-A586-BAC9-3B30C4C346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8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AD0A08-FE5F-7CA3-36E6-903C56183C4E}"/>
                  </a:ext>
                </a:extLst>
              </p:cNvPr>
              <p:cNvSpPr txBox="1"/>
              <p:nvPr/>
            </p:nvSpPr>
            <p:spPr>
              <a:xfrm>
                <a:off x="6745424" y="3429000"/>
                <a:ext cx="4993290" cy="2285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类间最小距离:       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d>
                        <m:d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N" sz="2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lim>
                      </m:limLow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 </m:t>
                      </m:r>
                      <m:r>
                        <m:rPr>
                          <m:sty m:val="p"/>
                        </m:rPr>
                        <a:rPr lang="en-CN" sz="2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dist</m:t>
                      </m:r>
                      <m:d>
                        <m:dPr>
                          <m:ctrlPr>
                            <a:rPr lang="en-CN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>
                  <a:solidFill>
                    <a:srgbClr val="000000"/>
                  </a:solidFill>
                </a:endParaRPr>
              </a:p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类间中心距离:       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cen</m:t>
                        </m:r>
                      </m:sub>
                    </m:sSub>
                    <m:d>
                      <m:dPr>
                        <m:ctrlPr>
                          <a:rPr lang="en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CN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N" sz="24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dist</m:t>
                    </m:r>
                    <m:d>
                      <m:dPr>
                        <m:ctrlPr>
                          <a:rPr lang="en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2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2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CN" dirty="0">
                    <a:solidFill>
                      <a:srgbClr val="000000"/>
                    </a:solidFill>
                    <a:effectLst/>
                  </a:rPr>
                  <a:t> </a:t>
                </a:r>
                <a:endParaRPr lang="en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AD0A08-FE5F-7CA3-36E6-903C5618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424" y="3429000"/>
                <a:ext cx="4993290" cy="2285369"/>
              </a:xfrm>
              <a:prstGeom prst="rect">
                <a:avLst/>
              </a:prstGeom>
              <a:blipFill>
                <a:blip r:embed="rId13"/>
                <a:stretch>
                  <a:fillRect l="-1709" t="-267" b="-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724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9" grpId="0"/>
      <p:bldP spid="15" grpId="0"/>
      <p:bldP spid="46" grpId="0"/>
      <p:bldP spid="71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67C5-11E5-5675-DC91-E4A245A7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距离定义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09B42-4648-5474-D670-836B2D48DD61}"/>
              </a:ext>
            </a:extLst>
          </p:cNvPr>
          <p:cNvSpPr txBox="1"/>
          <p:nvPr/>
        </p:nvSpPr>
        <p:spPr>
          <a:xfrm>
            <a:off x="784260" y="1106512"/>
            <a:ext cx="3058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b="1" dirty="0">
                <a:solidFill>
                  <a:srgbClr val="000000"/>
                </a:solidFill>
              </a:rPr>
              <a:t>代数中对于距离的定义</a:t>
            </a:r>
            <a:r>
              <a:rPr lang="zh-CN" altLang="en-US" sz="2000" b="1" dirty="0">
                <a:solidFill>
                  <a:srgbClr val="000000"/>
                </a:solidFill>
              </a:rPr>
              <a:t>：</a:t>
            </a:r>
            <a:endParaRPr lang="en-CN" sz="2000" b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CA651-0667-1BB6-DC6D-5B404A62829A}"/>
              </a:ext>
            </a:extLst>
          </p:cNvPr>
          <p:cNvSpPr txBox="1"/>
          <p:nvPr/>
        </p:nvSpPr>
        <p:spPr>
          <a:xfrm>
            <a:off x="1490410" y="6403334"/>
            <a:ext cx="7996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chemeClr val="bg1"/>
                </a:solidFill>
              </a:rPr>
              <a:t>https://heartlessly.github.io/notes/chang-yong-ju-li-suan-fa-xiang-jie/</a:t>
            </a:r>
          </a:p>
        </p:txBody>
      </p:sp>
      <p:pic>
        <p:nvPicPr>
          <p:cNvPr id="5" name="Picture 4" descr="A drawing of a cube&#10;&#10;AI-generated content may be incorrect.">
            <a:extLst>
              <a:ext uri="{FF2B5EF4-FFF2-40B4-BE49-F238E27FC236}">
                <a16:creationId xmlns:a16="http://schemas.microsoft.com/office/drawing/2014/main" id="{7AC8BB00-4190-1833-E00A-1ED4C3EE9B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311" y="3202397"/>
            <a:ext cx="3317605" cy="221556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621AA4-C6A6-6828-5B00-C62457E6D1E9}"/>
              </a:ext>
            </a:extLst>
          </p:cNvPr>
          <p:cNvCxnSpPr/>
          <p:nvPr/>
        </p:nvCxnSpPr>
        <p:spPr>
          <a:xfrm flipV="1">
            <a:off x="5475243" y="3589086"/>
            <a:ext cx="2164466" cy="142368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803E2A-77D3-7989-4113-405C4ED86986}"/>
              </a:ext>
            </a:extLst>
          </p:cNvPr>
          <p:cNvGrpSpPr/>
          <p:nvPr/>
        </p:nvGrpSpPr>
        <p:grpSpPr>
          <a:xfrm>
            <a:off x="5475243" y="3589086"/>
            <a:ext cx="2164466" cy="1848391"/>
            <a:chOff x="5590572" y="4039565"/>
            <a:chExt cx="2164466" cy="184839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5A3095-DB79-0206-8161-465D2CC6C785}"/>
                </a:ext>
              </a:extLst>
            </p:cNvPr>
            <p:cNvCxnSpPr>
              <a:cxnSpLocks/>
            </p:cNvCxnSpPr>
            <p:nvPr/>
          </p:nvCxnSpPr>
          <p:spPr>
            <a:xfrm>
              <a:off x="5590572" y="5482768"/>
              <a:ext cx="1048871" cy="40518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CFCE3E-4387-C09E-EFD7-9F49E6ECD678}"/>
                </a:ext>
              </a:extLst>
            </p:cNvPr>
            <p:cNvCxnSpPr>
              <a:cxnSpLocks/>
            </p:cNvCxnSpPr>
            <p:nvPr/>
          </p:nvCxnSpPr>
          <p:spPr>
            <a:xfrm>
              <a:off x="7755038" y="4039565"/>
              <a:ext cx="0" cy="1485870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614497A-50CE-759C-4B52-49003BFEE3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9443" y="5525435"/>
              <a:ext cx="1115595" cy="31985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248818-FBF8-6155-FBB5-7077986D2C56}"/>
                  </a:ext>
                </a:extLst>
              </p:cNvPr>
              <p:cNvSpPr txBox="1"/>
              <p:nvPr/>
            </p:nvSpPr>
            <p:spPr>
              <a:xfrm>
                <a:off x="774267" y="1618782"/>
                <a:ext cx="2970942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非负性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248818-FBF8-6155-FBB5-7077986D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67" y="1618782"/>
                <a:ext cx="2970942" cy="446917"/>
              </a:xfrm>
              <a:prstGeom prst="rect">
                <a:avLst/>
              </a:prstGeom>
              <a:blipFill>
                <a:blip r:embed="rId6"/>
                <a:stretch>
                  <a:fillRect l="-1702" t="-8333" b="-138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3B8EA4-B6BA-E8C0-D5C4-D089B0D38A78}"/>
                  </a:ext>
                </a:extLst>
              </p:cNvPr>
              <p:cNvSpPr txBox="1"/>
              <p:nvPr/>
            </p:nvSpPr>
            <p:spPr>
              <a:xfrm>
                <a:off x="4743822" y="1613652"/>
                <a:ext cx="4196918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同一性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iff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3B8EA4-B6BA-E8C0-D5C4-D089B0D38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22" y="1613652"/>
                <a:ext cx="4196918" cy="446917"/>
              </a:xfrm>
              <a:prstGeom prst="rect">
                <a:avLst/>
              </a:prstGeom>
              <a:blipFill>
                <a:blip r:embed="rId7"/>
                <a:stretch>
                  <a:fillRect l="-1506" t="-8333" b="-138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D18710-FD86-44B0-89EE-63803E2C4A6F}"/>
                  </a:ext>
                </a:extLst>
              </p:cNvPr>
              <p:cNvSpPr txBox="1"/>
              <p:nvPr/>
            </p:nvSpPr>
            <p:spPr>
              <a:xfrm>
                <a:off x="774267" y="2119593"/>
                <a:ext cx="3883755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000" dirty="0">
                    <a:solidFill>
                      <a:srgbClr val="000000"/>
                    </a:solidFill>
                  </a:rPr>
                  <a:t>对称性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D18710-FD86-44B0-89EE-63803E2C4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67" y="2119593"/>
                <a:ext cx="3883755" cy="446917"/>
              </a:xfrm>
              <a:prstGeom prst="rect">
                <a:avLst/>
              </a:prstGeom>
              <a:blipFill>
                <a:blip r:embed="rId8"/>
                <a:stretch>
                  <a:fillRect l="-1303" t="-8333" b="-1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C77D2-BBF4-76E9-40AF-35331786D883}"/>
                  </a:ext>
                </a:extLst>
              </p:cNvPr>
              <p:cNvSpPr txBox="1"/>
              <p:nvPr/>
            </p:nvSpPr>
            <p:spPr>
              <a:xfrm>
                <a:off x="4743822" y="2167625"/>
                <a:ext cx="6952929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000" dirty="0">
                    <a:solidFill>
                      <a:srgbClr val="000000"/>
                    </a:solidFill>
                  </a:rPr>
                  <a:t>直递性</a:t>
                </a:r>
                <a:r>
                  <a:rPr lang="en-US" sz="2000" dirty="0">
                    <a:solidFill>
                      <a:srgbClr val="000000"/>
                    </a:solidFill>
                  </a:rPr>
                  <a:t>(</a:t>
                </a:r>
                <a:r>
                  <a:rPr lang="en-US" sz="2000" dirty="0" err="1">
                    <a:solidFill>
                      <a:srgbClr val="000000"/>
                    </a:solidFill>
                  </a:rPr>
                  <a:t>三角不等式</a:t>
                </a:r>
                <a:r>
                  <a:rPr lang="en-US" sz="2000" dirty="0">
                    <a:solidFill>
                      <a:srgbClr val="000000"/>
                    </a:solidFill>
                  </a:rPr>
                  <a:t>)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C77D2-BBF4-76E9-40AF-35331786D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22" y="2167625"/>
                <a:ext cx="6952929" cy="446917"/>
              </a:xfrm>
              <a:prstGeom prst="rect">
                <a:avLst/>
              </a:prstGeom>
              <a:blipFill>
                <a:blip r:embed="rId9"/>
                <a:stretch>
                  <a:fillRect l="-911" t="-5556" b="-1944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88FFBAB3-EFDC-9C6D-3EC9-2EA7D6C180CF}"/>
              </a:ext>
            </a:extLst>
          </p:cNvPr>
          <p:cNvGrpSpPr/>
          <p:nvPr/>
        </p:nvGrpSpPr>
        <p:grpSpPr>
          <a:xfrm>
            <a:off x="784260" y="2902925"/>
            <a:ext cx="4592155" cy="2777132"/>
            <a:chOff x="507335" y="2905960"/>
            <a:chExt cx="4592155" cy="27771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F33F0A-BEB4-782B-F924-AAD7FD7629EA}"/>
                </a:ext>
              </a:extLst>
            </p:cNvPr>
            <p:cNvSpPr txBox="1"/>
            <p:nvPr/>
          </p:nvSpPr>
          <p:spPr>
            <a:xfrm>
              <a:off x="507335" y="2905960"/>
              <a:ext cx="1752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b="1" dirty="0">
                  <a:solidFill>
                    <a:srgbClr val="000000"/>
                  </a:solidFill>
                </a:rPr>
                <a:t>最常用的距离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15FD088-CFBF-7509-AC15-EF0B53F8CC64}"/>
                </a:ext>
              </a:extLst>
            </p:cNvPr>
            <p:cNvGrpSpPr/>
            <p:nvPr/>
          </p:nvGrpSpPr>
          <p:grpSpPr>
            <a:xfrm>
              <a:off x="681833" y="3385509"/>
              <a:ext cx="4417657" cy="2297583"/>
              <a:chOff x="681833" y="3385509"/>
              <a:chExt cx="4417657" cy="2297583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3249F8-B267-95F9-5DF7-68EB07589BCD}"/>
                  </a:ext>
                </a:extLst>
              </p:cNvPr>
              <p:cNvSpPr txBox="1"/>
              <p:nvPr/>
            </p:nvSpPr>
            <p:spPr>
              <a:xfrm>
                <a:off x="774267" y="3385509"/>
                <a:ext cx="432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dirty="0">
                    <a:solidFill>
                      <a:srgbClr val="000000"/>
                    </a:solidFill>
                  </a:rPr>
                  <a:t>闵可夫斯基距离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（</a:t>
                </a:r>
                <a:r>
                  <a:rPr lang="en-US" altLang="zh-CN" dirty="0" err="1">
                    <a:solidFill>
                      <a:srgbClr val="000000"/>
                    </a:solidFill>
                  </a:rPr>
                  <a:t>Minkowski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distance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）</a:t>
                </a:r>
                <a:endParaRPr lang="en-CN" dirty="0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D19FE4B-2B57-AED5-125D-01BE432CB7B6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616" y="3816164"/>
                    <a:ext cx="253454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⋯,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D19FE4B-2B57-AED5-125D-01BE432CB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616" y="3816164"/>
                    <a:ext cx="2534540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F241301-B2D9-1BF1-1ED9-5B5AB4396692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616" y="4213067"/>
                    <a:ext cx="2552622" cy="4469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⋯,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F241301-B2D9-1BF1-1ED9-5B5AB43966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616" y="4213067"/>
                    <a:ext cx="2552622" cy="4469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4344E68-0A86-5A6D-5756-20A5BF5A7D2E}"/>
                      </a:ext>
                    </a:extLst>
                  </p:cNvPr>
                  <p:cNvSpPr txBox="1"/>
                  <p:nvPr/>
                </p:nvSpPr>
                <p:spPr>
                  <a:xfrm>
                    <a:off x="681833" y="4580674"/>
                    <a:ext cx="4298806" cy="110241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dist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mk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𝑖𝑢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4344E68-0A86-5A6D-5756-20A5BF5A7D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833" y="4580674"/>
                    <a:ext cx="4298806" cy="110241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72727" b="-131818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F85FEE9-CE45-7329-213E-D3BCEFC0D9D6}"/>
              </a:ext>
            </a:extLst>
          </p:cNvPr>
          <p:cNvGrpSpPr/>
          <p:nvPr/>
        </p:nvGrpSpPr>
        <p:grpSpPr>
          <a:xfrm>
            <a:off x="7857934" y="4565103"/>
            <a:ext cx="3775970" cy="1305084"/>
            <a:chOff x="7973263" y="4756758"/>
            <a:chExt cx="3775970" cy="13050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8A65E2-69AF-8010-7FE7-401D384A5C06}"/>
                </a:ext>
              </a:extLst>
            </p:cNvPr>
            <p:cNvSpPr txBox="1"/>
            <p:nvPr/>
          </p:nvSpPr>
          <p:spPr>
            <a:xfrm>
              <a:off x="7973263" y="4756758"/>
              <a:ext cx="35718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chemeClr val="accent2"/>
                  </a:solidFill>
                </a:rPr>
                <a:t>p=1: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 曼哈顿距离（街区距离）</a:t>
              </a:r>
              <a:endParaRPr lang="en-CN" sz="2000" dirty="0">
                <a:solidFill>
                  <a:schemeClr val="accent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5352EF-7708-C524-DDFF-8468CA2AFE35}"/>
                    </a:ext>
                  </a:extLst>
                </p:cNvPr>
                <p:cNvSpPr txBox="1"/>
                <p:nvPr/>
              </p:nvSpPr>
              <p:spPr>
                <a:xfrm>
                  <a:off x="8363819" y="5129279"/>
                  <a:ext cx="3385414" cy="9325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dist</m:t>
                            </m:r>
                          </m:e>
                          <m:sub>
                            <m: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𝑖𝑢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𝑗𝑢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5352EF-7708-C524-DDFF-8468CA2AF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3819" y="5129279"/>
                  <a:ext cx="3385414" cy="932563"/>
                </a:xfrm>
                <a:prstGeom prst="rect">
                  <a:avLst/>
                </a:prstGeom>
                <a:blipFill>
                  <a:blip r:embed="rId13"/>
                  <a:stretch>
                    <a:fillRect t="-101333" b="-154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D3EC94-8350-3199-2B8B-87CDC5E4C29B}"/>
              </a:ext>
            </a:extLst>
          </p:cNvPr>
          <p:cNvGrpSpPr/>
          <p:nvPr/>
        </p:nvGrpSpPr>
        <p:grpSpPr>
          <a:xfrm>
            <a:off x="7857934" y="3075441"/>
            <a:ext cx="3775970" cy="1382632"/>
            <a:chOff x="7973263" y="3267096"/>
            <a:chExt cx="3775970" cy="1382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D227718-6DD1-2B08-2DC8-DA80BBA42466}"/>
                    </a:ext>
                  </a:extLst>
                </p:cNvPr>
                <p:cNvSpPr txBox="1"/>
                <p:nvPr/>
              </p:nvSpPr>
              <p:spPr>
                <a:xfrm>
                  <a:off x="7973263" y="3360016"/>
                  <a:ext cx="3775970" cy="12897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dist</m:t>
                            </m:r>
                          </m:e>
                          <m:sub>
                            <m: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𝑖𝑢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𝑗𝑢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D227718-6DD1-2B08-2DC8-DA80BBA42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263" y="3360016"/>
                  <a:ext cx="3775970" cy="1289712"/>
                </a:xfrm>
                <a:prstGeom prst="rect">
                  <a:avLst/>
                </a:prstGeom>
                <a:blipFill>
                  <a:blip r:embed="rId14"/>
                  <a:stretch>
                    <a:fillRect t="-59804" b="-102941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C08FC8-9AE7-5413-5793-E10D741DACBD}"/>
                </a:ext>
              </a:extLst>
            </p:cNvPr>
            <p:cNvSpPr txBox="1"/>
            <p:nvPr/>
          </p:nvSpPr>
          <p:spPr>
            <a:xfrm>
              <a:off x="7973263" y="3267096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/>
              </a:lvl1pPr>
            </a:lstStyle>
            <a:p>
              <a:r>
                <a:rPr lang="en-US" dirty="0"/>
                <a:t>p=2: </a:t>
              </a:r>
              <a:r>
                <a:rPr lang="en-US" dirty="0" err="1"/>
                <a:t>欧氏距离</a:t>
              </a:r>
              <a:endParaRPr lang="en-US" altLang="zh-CN" dirty="0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D85700F-25FC-F422-C908-CF96774B28CA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951D3-B7D7-2C1F-7200-B25D302673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9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212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6" grpId="0"/>
      <p:bldP spid="19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CE22-B178-DCF4-6682-8EC7668B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代表性聚类算法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04B40-8BDD-D222-12C0-C0ECE1346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8932" y="1076241"/>
            <a:ext cx="11032067" cy="5068972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K-</a:t>
            </a:r>
            <a:r>
              <a:rPr lang="en-US" dirty="0" err="1">
                <a:solidFill>
                  <a:schemeClr val="tx1"/>
                </a:solidFill>
              </a:rPr>
              <a:t>means聚类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高斯混合聚类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Mixture-of-Gaussian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密度聚类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层次聚类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……</a:t>
            </a:r>
            <a:endParaRPr lang="en-US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84CCCD-8A9A-6D85-D470-CEF362E7BD6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EBE5D-CCA0-C9E4-3F18-6FC02BE77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10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0796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7D37-A8A9-F49F-04A1-17D5237E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CN" dirty="0"/>
              <a:t>-means聚类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8933F-D4FA-48E4-3281-6C14E7152BB4}"/>
              </a:ext>
            </a:extLst>
          </p:cNvPr>
          <p:cNvSpPr txBox="1"/>
          <p:nvPr/>
        </p:nvSpPr>
        <p:spPr>
          <a:xfrm>
            <a:off x="727761" y="1231636"/>
            <a:ext cx="5966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给定m个样本点</a:t>
            </a:r>
            <a:r>
              <a:rPr lang="zh-CN" altLang="en-US" sz="2000" dirty="0">
                <a:solidFill>
                  <a:srgbClr val="000000"/>
                </a:solidFill>
              </a:rPr>
              <a:t>，划分成</a:t>
            </a:r>
            <a:r>
              <a:rPr lang="en-US" altLang="zh-CN" sz="2000" dirty="0">
                <a:solidFill>
                  <a:srgbClr val="000000"/>
                </a:solidFill>
              </a:rPr>
              <a:t>k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=2</a:t>
            </a:r>
            <a:r>
              <a:rPr lang="zh-CN" altLang="en-US" sz="2000" dirty="0">
                <a:solidFill>
                  <a:srgbClr val="000000"/>
                </a:solidFill>
              </a:rPr>
              <a:t>）簇，该如何分类？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E8D55-8F68-BCD1-32B1-91775BB76EAA}"/>
              </a:ext>
            </a:extLst>
          </p:cNvPr>
          <p:cNvSpPr txBox="1"/>
          <p:nvPr/>
        </p:nvSpPr>
        <p:spPr>
          <a:xfrm>
            <a:off x="6783414" y="1231636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b="1" dirty="0">
                <a:solidFill>
                  <a:srgbClr val="000000"/>
                </a:solidFill>
              </a:rPr>
              <a:t>原则</a:t>
            </a:r>
            <a:r>
              <a:rPr lang="en-US" altLang="zh-CN" sz="2000" b="1" dirty="0">
                <a:solidFill>
                  <a:srgbClr val="000000"/>
                </a:solidFill>
              </a:rPr>
              <a:t>:</a:t>
            </a:r>
            <a:r>
              <a:rPr lang="zh-CN" altLang="en-US" sz="2000" b="1" dirty="0">
                <a:solidFill>
                  <a:srgbClr val="000000"/>
                </a:solidFill>
              </a:rPr>
              <a:t> 每一簇内样本尽可能聚拢！</a:t>
            </a:r>
            <a:endParaRPr lang="en-CN" sz="2000" b="1" dirty="0">
              <a:solidFill>
                <a:srgbClr val="0000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7181FF-11DF-1D0D-F66D-1066599D63E3}"/>
              </a:ext>
            </a:extLst>
          </p:cNvPr>
          <p:cNvGrpSpPr/>
          <p:nvPr/>
        </p:nvGrpSpPr>
        <p:grpSpPr>
          <a:xfrm>
            <a:off x="9411129" y="1943483"/>
            <a:ext cx="2492990" cy="899305"/>
            <a:chOff x="9411129" y="1943483"/>
            <a:chExt cx="2492990" cy="89930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D13829-4934-D3D8-7725-BE376D466E31}"/>
                </a:ext>
              </a:extLst>
            </p:cNvPr>
            <p:cNvSpPr txBox="1"/>
            <p:nvPr/>
          </p:nvSpPr>
          <p:spPr>
            <a:xfrm>
              <a:off x="9411129" y="1943483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簇C</a:t>
              </a:r>
              <a:r>
                <a:rPr lang="en-US" sz="2000" dirty="0" err="1">
                  <a:solidFill>
                    <a:srgbClr val="000000"/>
                  </a:solidFill>
                </a:rPr>
                <a:t>i的中心</a:t>
              </a:r>
              <a:r>
                <a:rPr lang="zh-CN" altLang="en-US" sz="2000" dirty="0">
                  <a:solidFill>
                    <a:srgbClr val="000000"/>
                  </a:solidFill>
                </a:rPr>
                <a:t>（均值）</a:t>
              </a:r>
              <a:endParaRPr lang="en-CN" sz="2000" dirty="0">
                <a:solidFill>
                  <a:srgbClr val="00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8C57419-7C87-48E7-72B4-17E113230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4562" y="2343593"/>
              <a:ext cx="472611" cy="499195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598630-253B-5C64-18EF-1A83F690281F}"/>
              </a:ext>
            </a:extLst>
          </p:cNvPr>
          <p:cNvSpPr txBox="1"/>
          <p:nvPr/>
        </p:nvSpPr>
        <p:spPr>
          <a:xfrm>
            <a:off x="7818684" y="3723869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E越小</a:t>
            </a:r>
            <a:r>
              <a:rPr lang="zh-CN" altLang="en-US" sz="2000" dirty="0">
                <a:solidFill>
                  <a:srgbClr val="000000"/>
                </a:solidFill>
              </a:rPr>
              <a:t>，聚集越紧密！</a:t>
            </a:r>
            <a:endParaRPr lang="en-CN" sz="2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F6E470-BFA2-37E6-BD79-3C3E0CD73D5C}"/>
                  </a:ext>
                </a:extLst>
              </p:cNvPr>
              <p:cNvSpPr txBox="1"/>
              <p:nvPr/>
            </p:nvSpPr>
            <p:spPr>
              <a:xfrm>
                <a:off x="2582665" y="4641926"/>
                <a:ext cx="70266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求解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CN" sz="2000" dirty="0">
                    <a:solidFill>
                      <a:srgbClr val="000000"/>
                    </a:solidFill>
                  </a:rPr>
                  <a:t>极小值的最优解问题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NP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 难问题！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CN" sz="2000" dirty="0" err="1">
                    <a:solidFill>
                      <a:srgbClr val="000000"/>
                    </a:solidFill>
                  </a:rPr>
                  <a:t>Aloise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 et al., 2009]</a:t>
                </a:r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F6E470-BFA2-37E6-BD79-3C3E0CD7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5" y="4641926"/>
                <a:ext cx="7026667" cy="400110"/>
              </a:xfrm>
              <a:prstGeom prst="rect">
                <a:avLst/>
              </a:prstGeom>
              <a:blipFill>
                <a:blip r:embed="rId6"/>
                <a:stretch>
                  <a:fillRect l="-903" t="-15625" b="-281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51725CF-EE0C-25CC-8F2A-3DB185F66A40}"/>
              </a:ext>
            </a:extLst>
          </p:cNvPr>
          <p:cNvSpPr txBox="1"/>
          <p:nvPr/>
        </p:nvSpPr>
        <p:spPr>
          <a:xfrm>
            <a:off x="4130211" y="5511693"/>
            <a:ext cx="3563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b="1" dirty="0">
                <a:solidFill>
                  <a:srgbClr val="000000"/>
                </a:solidFill>
              </a:rPr>
              <a:t>贪心算法策略</a:t>
            </a:r>
            <a:r>
              <a:rPr lang="zh-CN" altLang="en-US" sz="2000" b="1" dirty="0">
                <a:solidFill>
                  <a:srgbClr val="000000"/>
                </a:solidFill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</a:rPr>
              <a:t>K-means</a:t>
            </a:r>
            <a:r>
              <a:rPr lang="zh-CN" altLang="en-US" sz="2000" dirty="0">
                <a:solidFill>
                  <a:srgbClr val="000000"/>
                </a:solidFill>
              </a:rPr>
              <a:t> 算法</a:t>
            </a:r>
            <a:endParaRPr lang="en-CN" sz="20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3BAF0-366F-8E48-C1AA-3BC031044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621" y="1943483"/>
            <a:ext cx="3018310" cy="2279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B99CEA-96E6-00CF-B275-B41161C7E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2569" y="1973281"/>
            <a:ext cx="2610845" cy="2171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49794-3FD8-8FA7-BE5B-6EA687C20106}"/>
                  </a:ext>
                </a:extLst>
              </p:cNvPr>
              <p:cNvSpPr txBox="1"/>
              <p:nvPr/>
            </p:nvSpPr>
            <p:spPr>
              <a:xfrm>
                <a:off x="7136544" y="2356077"/>
                <a:ext cx="3395160" cy="1276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CN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49794-3FD8-8FA7-BE5B-6EA687C20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544" y="2356077"/>
                <a:ext cx="3395160" cy="1276440"/>
              </a:xfrm>
              <a:prstGeom prst="rect">
                <a:avLst/>
              </a:prstGeom>
              <a:blipFill>
                <a:blip r:embed="rId9"/>
                <a:stretch>
                  <a:fillRect l="-17537" t="-105882" b="-1588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52D6204-4193-F31B-CEF1-6186262DCC28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C1B7FA-6E00-30EA-7F1D-A1DB671A9DF5}"/>
              </a:ext>
            </a:extLst>
          </p:cNvPr>
          <p:cNvCxnSpPr>
            <a:cxnSpLocks/>
          </p:cNvCxnSpPr>
          <p:nvPr/>
        </p:nvCxnSpPr>
        <p:spPr>
          <a:xfrm>
            <a:off x="4827763" y="3101599"/>
            <a:ext cx="322087" cy="82232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231FD1-3C96-6816-F884-AF3A150F4EEF}"/>
              </a:ext>
            </a:extLst>
          </p:cNvPr>
          <p:cNvCxnSpPr>
            <a:cxnSpLocks/>
          </p:cNvCxnSpPr>
          <p:nvPr/>
        </p:nvCxnSpPr>
        <p:spPr>
          <a:xfrm flipH="1">
            <a:off x="5583206" y="3169656"/>
            <a:ext cx="1025587" cy="92572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09FC-C6A6-A538-FBD2-6F9BB1BD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11</a:t>
            </a:fld>
            <a:r>
              <a:rPr lang="en-US" altLang="zh-CN"/>
              <a:t>/40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83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3D79-5998-4F9C-52DE-3B29737B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K-mean聚类</a:t>
            </a:r>
            <a:r>
              <a:rPr lang="zh-CN" altLang="en-US" dirty="0"/>
              <a:t> （</a:t>
            </a:r>
            <a:r>
              <a:rPr lang="en-US" altLang="zh-CN" dirty="0"/>
              <a:t>k=3)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F63F55-EC05-0E0E-37AE-80BFD2964ECF}"/>
                  </a:ext>
                </a:extLst>
              </p:cNvPr>
              <p:cNvSpPr txBox="1"/>
              <p:nvPr/>
            </p:nvSpPr>
            <p:spPr>
              <a:xfrm>
                <a:off x="1062349" y="1265252"/>
                <a:ext cx="3979551" cy="40011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chemeClr val="bg1"/>
                    </a:solidFill>
                  </a:rPr>
                  <a:t>随机选取3个样本作为初始均值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F63F55-EC05-0E0E-37AE-80BFD296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49" y="1265252"/>
                <a:ext cx="3979551" cy="400110"/>
              </a:xfrm>
              <a:prstGeom prst="rect">
                <a:avLst/>
              </a:prstGeom>
              <a:blipFill>
                <a:blip r:embed="rId6"/>
                <a:stretch>
                  <a:fillRect l="-1592" t="-12121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EA77CB-DBD1-EA8C-91F1-C0C99595B6E4}"/>
                  </a:ext>
                </a:extLst>
              </p:cNvPr>
              <p:cNvSpPr txBox="1"/>
              <p:nvPr/>
            </p:nvSpPr>
            <p:spPr>
              <a:xfrm>
                <a:off x="1056995" y="2171018"/>
                <a:ext cx="3999236" cy="40011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chemeClr val="bg1"/>
                    </a:solidFill>
                  </a:rPr>
                  <a:t>根据均值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000" dirty="0">
                    <a:solidFill>
                      <a:schemeClr val="bg1"/>
                    </a:solidFill>
                  </a:rPr>
                  <a:t>, 将其他样本划定分簇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EA77CB-DBD1-EA8C-91F1-C0C99595B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95" y="2171018"/>
                <a:ext cx="3999236" cy="400110"/>
              </a:xfrm>
              <a:prstGeom prst="rect">
                <a:avLst/>
              </a:prstGeom>
              <a:blipFill>
                <a:blip r:embed="rId7"/>
                <a:stretch>
                  <a:fillRect l="-1587" t="-12121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7B7DC3-A995-2552-C117-8CCCD1F5D633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3052125" y="1665362"/>
            <a:ext cx="4488" cy="5056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BC4234-B2BA-8190-0F4E-50D6EBE2C200}"/>
              </a:ext>
            </a:extLst>
          </p:cNvPr>
          <p:cNvSpPr txBox="1"/>
          <p:nvPr/>
        </p:nvSpPr>
        <p:spPr>
          <a:xfrm>
            <a:off x="639444" y="3288823"/>
            <a:ext cx="482536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根据当前所有样本的分簇</a:t>
            </a:r>
            <a:r>
              <a:rPr lang="zh-CN" altLang="en-US" sz="2000" dirty="0">
                <a:solidFill>
                  <a:schemeClr val="bg1"/>
                </a:solidFill>
              </a:rPr>
              <a:t>，计算新的均值</a:t>
            </a:r>
            <a:endParaRPr lang="en-CN" sz="2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1097E9-6FB7-5367-9C01-2E0EEDCACA83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3052124" y="2571128"/>
            <a:ext cx="4489" cy="7176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00A3156-C247-2389-2E76-0A78A411A8F7}"/>
              </a:ext>
            </a:extLst>
          </p:cNvPr>
          <p:cNvCxnSpPr>
            <a:cxnSpLocks/>
            <a:stCxn id="37" idx="3"/>
            <a:endCxn id="9" idx="3"/>
          </p:cNvCxnSpPr>
          <p:nvPr/>
        </p:nvCxnSpPr>
        <p:spPr>
          <a:xfrm flipH="1" flipV="1">
            <a:off x="5056231" y="2371073"/>
            <a:ext cx="221751" cy="2238227"/>
          </a:xfrm>
          <a:prstGeom prst="bentConnector3">
            <a:avLst>
              <a:gd name="adj1" fmla="val -103089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09D3F1-48E3-7597-E190-02D254E9CBBC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>
            <a:off x="3056613" y="5312394"/>
            <a:ext cx="0" cy="2905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41D16E7-9F6C-FA91-99C6-643E94160F4C}"/>
              </a:ext>
            </a:extLst>
          </p:cNvPr>
          <p:cNvSpPr txBox="1"/>
          <p:nvPr/>
        </p:nvSpPr>
        <p:spPr>
          <a:xfrm>
            <a:off x="1810118" y="5602961"/>
            <a:ext cx="249299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最终分簇与对应均值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BAE63C-2893-B0D7-6060-13729A7C00A2}"/>
              </a:ext>
            </a:extLst>
          </p:cNvPr>
          <p:cNvSpPr txBox="1"/>
          <p:nvPr/>
        </p:nvSpPr>
        <p:spPr>
          <a:xfrm>
            <a:off x="835244" y="3906206"/>
            <a:ext cx="4442738" cy="1406188"/>
          </a:xfrm>
          <a:prstGeom prst="diamond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CN" dirty="0"/>
              <a:t>是否收敛</a:t>
            </a:r>
          </a:p>
          <a:p>
            <a:pPr algn="ctr"/>
            <a:r>
              <a:rPr lang="zh-CN" altLang="en-US" dirty="0"/>
              <a:t>（</a:t>
            </a:r>
            <a:r>
              <a:rPr lang="en-CN" dirty="0"/>
              <a:t>均值不再变化</a:t>
            </a:r>
            <a:r>
              <a:rPr lang="zh-CN" altLang="en-US" dirty="0"/>
              <a:t>）</a:t>
            </a:r>
            <a:endParaRPr lang="en-CN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9088B2-CA97-EF67-C921-6C183E1F352E}"/>
              </a:ext>
            </a:extLst>
          </p:cNvPr>
          <p:cNvCxnSpPr>
            <a:cxnSpLocks/>
            <a:stCxn id="12" idx="2"/>
            <a:endCxn id="37" idx="0"/>
          </p:cNvCxnSpPr>
          <p:nvPr/>
        </p:nvCxnSpPr>
        <p:spPr>
          <a:xfrm>
            <a:off x="3052124" y="3688933"/>
            <a:ext cx="4489" cy="2172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9EF980C-7575-DF18-01F1-C231DF311A42}"/>
              </a:ext>
            </a:extLst>
          </p:cNvPr>
          <p:cNvSpPr txBox="1"/>
          <p:nvPr/>
        </p:nvSpPr>
        <p:spPr>
          <a:xfrm>
            <a:off x="3701560" y="51562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是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7D82A2-6386-80F3-D6D4-419DE184E0CB}"/>
              </a:ext>
            </a:extLst>
          </p:cNvPr>
          <p:cNvSpPr txBox="1"/>
          <p:nvPr/>
        </p:nvSpPr>
        <p:spPr>
          <a:xfrm>
            <a:off x="4648836" y="394906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否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937921-70DB-3E68-AE1B-42E49F536FE8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3" name="Picture 12" descr="A group of colorful dots&#10;&#10;AI-generated content may be incorrect.">
            <a:extLst>
              <a:ext uri="{FF2B5EF4-FFF2-40B4-BE49-F238E27FC236}">
                <a16:creationId xmlns:a16="http://schemas.microsoft.com/office/drawing/2014/main" id="{006B2C12-8F5B-B937-9DD7-7E442F74AB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"/>
          <a:stretch/>
        </p:blipFill>
        <p:spPr>
          <a:xfrm>
            <a:off x="6142324" y="1054099"/>
            <a:ext cx="5156578" cy="5013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ADBB8-39F6-3087-AB69-1A73FB24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12</a:t>
            </a:fld>
            <a:r>
              <a:rPr lang="en-US" altLang="zh-CN"/>
              <a:t>/40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67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34" grpId="0" animBg="1"/>
      <p:bldP spid="37" grpId="0" animBg="1"/>
      <p:bldP spid="48" grpId="0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E97D-9A21-81B6-AE61-CB65ED19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K-means聚类小结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7A8B1D-C72D-E754-717A-FB66484932E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1112" y="1229989"/>
            <a:ext cx="11009888" cy="4915224"/>
          </a:xfrm>
        </p:spPr>
        <p:txBody>
          <a:bodyPr/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zh-CN" altLang="en-US" dirty="0"/>
              <a:t>基于初始</a:t>
            </a:r>
            <a:r>
              <a:rPr lang="en-US" altLang="zh-CN" dirty="0"/>
              <a:t>k</a:t>
            </a:r>
            <a:r>
              <a:rPr lang="zh-CN" altLang="en-US" dirty="0"/>
              <a:t>个代表性样本的优化（</a:t>
            </a:r>
            <a:r>
              <a:rPr lang="en-CN" dirty="0"/>
              <a:t>Prototype</a:t>
            </a:r>
            <a:r>
              <a:rPr lang="en-US" altLang="zh-CN" dirty="0"/>
              <a:t>-based</a:t>
            </a:r>
            <a:r>
              <a:rPr lang="zh-CN" altLang="en-US" dirty="0"/>
              <a:t> </a:t>
            </a:r>
            <a:r>
              <a:rPr lang="en-US" altLang="zh-CN" dirty="0"/>
              <a:t>clustering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zh-CN" altLang="en-US" dirty="0"/>
              <a:t>贪心算法：每个样本点距离所属簇中心距离最近</a:t>
            </a:r>
            <a:endParaRPr lang="en-US" altLang="zh-CN" dirty="0"/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CN" dirty="0"/>
              <a:t>K-means</a:t>
            </a:r>
            <a:r>
              <a:rPr lang="zh-CN" altLang="en-US" dirty="0"/>
              <a:t> </a:t>
            </a:r>
            <a:r>
              <a:rPr lang="en-CN" dirty="0"/>
              <a:t>局限</a:t>
            </a:r>
            <a:r>
              <a:rPr lang="zh-CN" altLang="en-US" dirty="0"/>
              <a:t>：</a:t>
            </a:r>
            <a:r>
              <a:rPr lang="en-CN" dirty="0"/>
              <a:t>无法动态调整簇个数</a:t>
            </a:r>
            <a:r>
              <a:rPr lang="zh-CN" altLang="en-US" dirty="0"/>
              <a:t>（</a:t>
            </a:r>
            <a:r>
              <a:rPr lang="en-US" altLang="zh-CN" dirty="0"/>
              <a:t>k</a:t>
            </a:r>
            <a:r>
              <a:rPr lang="en-CN" altLang="zh-CN" dirty="0"/>
              <a:t>)</a:t>
            </a:r>
            <a:endParaRPr lang="en-US" altLang="zh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708AD0-B560-9F15-8336-3F9DA50B9D71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4474E-8650-96CB-B6DD-BFFA1DF276CB}"/>
              </a:ext>
            </a:extLst>
          </p:cNvPr>
          <p:cNvSpPr txBox="1"/>
          <p:nvPr/>
        </p:nvSpPr>
        <p:spPr>
          <a:xfrm>
            <a:off x="7772401" y="5427956"/>
            <a:ext cx="321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课后习题：如何动态调节</a:t>
            </a:r>
            <a:r>
              <a:rPr lang="en-US" altLang="zh-CN" sz="2000" dirty="0"/>
              <a:t>k</a:t>
            </a:r>
            <a:r>
              <a:rPr lang="zh-CN" altLang="en-US" sz="2000" dirty="0"/>
              <a:t>？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4A41C-9800-E65B-6251-AA4A42D84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13</a:t>
            </a:fld>
            <a:r>
              <a:rPr lang="en-US" altLang="zh-CN"/>
              <a:t>/40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564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E29006-2785-33C7-4E52-A772A87A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能否估计样本的分布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9" name="Picture 8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317F3A48-8993-8EAF-9F5D-549730B10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309" y="3707024"/>
            <a:ext cx="3034135" cy="2160000"/>
          </a:xfrm>
          <a:prstGeom prst="rect">
            <a:avLst/>
          </a:prstGeom>
        </p:spPr>
      </p:pic>
      <p:pic>
        <p:nvPicPr>
          <p:cNvPr id="11" name="Picture 10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874AD5DA-1784-80EA-6425-643F921A32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188" y="3707024"/>
            <a:ext cx="3034135" cy="2160000"/>
          </a:xfrm>
          <a:prstGeom prst="rect">
            <a:avLst/>
          </a:prstGeom>
        </p:spPr>
      </p:pic>
      <p:pic>
        <p:nvPicPr>
          <p:cNvPr id="13" name="Picture 12" descr="A group of colored dots in circles&#10;&#10;AI-generated content may be incorrect.">
            <a:extLst>
              <a:ext uri="{FF2B5EF4-FFF2-40B4-BE49-F238E27FC236}">
                <a16:creationId xmlns:a16="http://schemas.microsoft.com/office/drawing/2014/main" id="{E64DD79E-A8B5-EDE8-E361-510924C607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255" y="1378971"/>
            <a:ext cx="3034135" cy="216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DE546E-1422-7430-B7EA-FA62AC137B99}"/>
              </a:ext>
            </a:extLst>
          </p:cNvPr>
          <p:cNvSpPr txBox="1"/>
          <p:nvPr/>
        </p:nvSpPr>
        <p:spPr>
          <a:xfrm>
            <a:off x="699556" y="4944509"/>
            <a:ext cx="4560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可以用若干个</a:t>
            </a:r>
            <a:r>
              <a:rPr lang="en-CN" sz="2000" dirty="0"/>
              <a:t>高斯分布的和进行估计</a:t>
            </a:r>
            <a:r>
              <a:rPr lang="zh-CN" altLang="en-US" sz="2000" dirty="0"/>
              <a:t>！</a:t>
            </a:r>
            <a:endParaRPr lang="en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02CDE-8E6A-DA84-5C72-BC5F0F3722E1}"/>
              </a:ext>
            </a:extLst>
          </p:cNvPr>
          <p:cNvSpPr txBox="1"/>
          <p:nvPr/>
        </p:nvSpPr>
        <p:spPr>
          <a:xfrm>
            <a:off x="1141784" y="6403334"/>
            <a:ext cx="899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chemeClr val="bg1"/>
                </a:solidFill>
              </a:rPr>
              <a:t>https://medium.com/towards-data-science/gaussian-mixture-models-d13a5e915c8e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CF8F64-39AC-1739-42B4-C48B4E2D8B05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A2ABC-3C4D-1913-F236-D7D667730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832" y="1058063"/>
            <a:ext cx="4186287" cy="34812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CD8A-796B-C0D8-9824-0DA3C4B0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14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969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3F2A-400E-4B53-C851-E1A8A445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高斯分布</a:t>
            </a:r>
          </a:p>
        </p:txBody>
      </p:sp>
      <p:pic>
        <p:nvPicPr>
          <p:cNvPr id="13" name="2d_gaussian_rho">
            <a:hlinkClick r:id="" action="ppaction://media"/>
            <a:extLst>
              <a:ext uri="{FF2B5EF4-FFF2-40B4-BE49-F238E27FC236}">
                <a16:creationId xmlns:a16="http://schemas.microsoft.com/office/drawing/2014/main" id="{42767BAA-1BD2-7EA1-1337-66EB6C2F4C3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84156" y="4031177"/>
            <a:ext cx="7136463" cy="2195764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1D66CB-D74A-4958-4CB1-3CF9DE88E92A}"/>
                  </a:ext>
                </a:extLst>
              </p:cNvPr>
              <p:cNvSpPr/>
              <p:nvPr/>
            </p:nvSpPr>
            <p:spPr>
              <a:xfrm>
                <a:off x="1100012" y="4744486"/>
                <a:ext cx="24881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-122"/>
                      </a:rPr>
                      <m:t>𝝆</m:t>
                    </m:r>
                    <m:r>
                      <a:rPr kumimoji="1"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-122"/>
                      </a:rPr>
                      <m:t> 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𝑿</m:t>
                    </m:r>
                  </m:oMath>
                </a14:m>
                <a:r>
                  <a:rPr kumimoji="1" lang="en-US" altLang="zh-CN" sz="2000" b="1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,</a:t>
                </a:r>
                <a:r>
                  <a:rPr kumimoji="1" lang="en-US" altLang="zh-CN" sz="2000" b="1" dirty="0">
                    <a:solidFill>
                      <a:srgbClr val="C00000"/>
                    </a:solidFill>
                    <a:ea typeface="Microsoft YaHei" charset="-122"/>
                    <a:cs typeface="Microsoft YaHei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𝒀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的相关程度</a:t>
                </a:r>
                <a:endPara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1D66CB-D74A-4958-4CB1-3CF9DE88E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012" y="4744486"/>
                <a:ext cx="2488182" cy="400110"/>
              </a:xfrm>
              <a:prstGeom prst="rect">
                <a:avLst/>
              </a:prstGeom>
              <a:blipFill>
                <a:blip r:embed="rId9"/>
                <a:stretch>
                  <a:fillRect t="-6061" r="-2030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4451BC-7632-56BA-8929-B14D5322DA7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3B5901-70D9-D187-7E19-AA934CFB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15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755C45-B5B1-2B29-10B9-F6726E368870}"/>
              </a:ext>
            </a:extLst>
          </p:cNvPr>
          <p:cNvGrpSpPr/>
          <p:nvPr/>
        </p:nvGrpSpPr>
        <p:grpSpPr>
          <a:xfrm>
            <a:off x="608958" y="1222715"/>
            <a:ext cx="8758526" cy="1152892"/>
            <a:chOff x="608958" y="1222715"/>
            <a:chExt cx="8758526" cy="115289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BE7E2E-2422-CB47-1AE1-88F5A240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3435" y="1222715"/>
              <a:ext cx="1614049" cy="115289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1">
                  <a:extLst>
                    <a:ext uri="{FF2B5EF4-FFF2-40B4-BE49-F238E27FC236}">
                      <a16:creationId xmlns:a16="http://schemas.microsoft.com/office/drawing/2014/main" id="{6F9E1506-62C2-3FAC-4D90-894DC9A02A10}"/>
                    </a:ext>
                  </a:extLst>
                </p:cNvPr>
                <p:cNvSpPr/>
                <p:nvPr/>
              </p:nvSpPr>
              <p:spPr>
                <a:xfrm>
                  <a:off x="2495991" y="1320977"/>
                  <a:ext cx="4521712" cy="7866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bg-BG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kumimoji="1" lang="en-US" altLang="zh-CN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kumimoji="1" lang="en-US" altLang="zh-CN" sz="2000" i="0">
                            <a:latin typeface="Cambria Math" charset="0"/>
                          </a:rPr>
                          <m:t>exp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i="1">
                                <a:latin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bg-BG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zh-CN" sz="2000" i="1">
                                    <a:latin typeface="Cambria Math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" name="矩形 1">
                  <a:extLst>
                    <a:ext uri="{FF2B5EF4-FFF2-40B4-BE49-F238E27FC236}">
                      <a16:creationId xmlns:a16="http://schemas.microsoft.com/office/drawing/2014/main" id="{6F9E1506-62C2-3FAC-4D90-894DC9A02A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991" y="1320977"/>
                  <a:ext cx="4521712" cy="78669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2643E5-30B4-CA37-5F56-FAA569B149A7}"/>
                </a:ext>
              </a:extLst>
            </p:cNvPr>
            <p:cNvSpPr txBox="1"/>
            <p:nvPr/>
          </p:nvSpPr>
          <p:spPr>
            <a:xfrm>
              <a:off x="608958" y="1553570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一元高斯分布</a:t>
              </a:r>
              <a:r>
                <a:rPr lang="zh-CN" altLang="en-US" sz="2000" dirty="0"/>
                <a:t>：</a:t>
              </a:r>
              <a:endParaRPr lang="en-CN" sz="2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A39474-001C-FF00-BC56-5A344ABB1E91}"/>
              </a:ext>
            </a:extLst>
          </p:cNvPr>
          <p:cNvGrpSpPr/>
          <p:nvPr/>
        </p:nvGrpSpPr>
        <p:grpSpPr>
          <a:xfrm>
            <a:off x="570849" y="1222716"/>
            <a:ext cx="11012194" cy="2595911"/>
            <a:chOff x="570849" y="1222716"/>
            <a:chExt cx="11012194" cy="25959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1FA299C-B248-B2AF-3CCB-E3B231A92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7" t="15221" r="9940" b="17836"/>
            <a:stretch/>
          </p:blipFill>
          <p:spPr>
            <a:xfrm>
              <a:off x="9696009" y="1222716"/>
              <a:ext cx="1614049" cy="115289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">
                  <a:extLst>
                    <a:ext uri="{FF2B5EF4-FFF2-40B4-BE49-F238E27FC236}">
                      <a16:creationId xmlns:a16="http://schemas.microsoft.com/office/drawing/2014/main" id="{85C52534-65EE-69F9-FACD-C989E7E0309A}"/>
                    </a:ext>
                  </a:extLst>
                </p:cNvPr>
                <p:cNvSpPr/>
                <p:nvPr/>
              </p:nvSpPr>
              <p:spPr>
                <a:xfrm>
                  <a:off x="570849" y="2834575"/>
                  <a:ext cx="11012194" cy="98405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bg-BG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kumimoji="1"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kumimoji="1" lang="en-US" altLang="zh-CN" i="0">
                            <a:latin typeface="Cambria Math" charset="0"/>
                          </a:rPr>
                          <m:t>exp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bg-BG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>
                                        <a:latin typeface="Cambria Math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  <m:t>𝜌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  <m:d>
                              <m:d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zh-CN" i="1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−2</m:t>
                                </m:r>
                                <m:r>
                                  <a:rPr kumimoji="1"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zh-CN" i="1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矩形 1">
                  <a:extLst>
                    <a:ext uri="{FF2B5EF4-FFF2-40B4-BE49-F238E27FC236}">
                      <a16:creationId xmlns:a16="http://schemas.microsoft.com/office/drawing/2014/main" id="{85C52534-65EE-69F9-FACD-C989E7E030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49" y="2834575"/>
                  <a:ext cx="11012194" cy="98405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4B9C79-B601-6477-016C-4EEB390E0124}"/>
                </a:ext>
              </a:extLst>
            </p:cNvPr>
            <p:cNvSpPr txBox="1"/>
            <p:nvPr/>
          </p:nvSpPr>
          <p:spPr>
            <a:xfrm>
              <a:off x="608957" y="2466467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二元高斯分布</a:t>
              </a:r>
              <a:r>
                <a:rPr lang="zh-CN" altLang="en-US" sz="2000" dirty="0"/>
                <a:t>：</a:t>
              </a:r>
              <a:endParaRPr lang="en-CN" sz="20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1126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31A1-F58E-D2ED-5AC6-363F4D22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4218-5D78-438B-3D16-FFD88464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高斯混合分布</a:t>
            </a:r>
            <a:r>
              <a:rPr lang="zh-CN" altLang="en-US" dirty="0"/>
              <a:t>：多个高斯分布的组合</a:t>
            </a:r>
            <a:endParaRPr lang="en-C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50A6597-9738-BB48-100E-F0D865424EBA}"/>
              </a:ext>
            </a:extLst>
          </p:cNvPr>
          <p:cNvGrpSpPr/>
          <p:nvPr/>
        </p:nvGrpSpPr>
        <p:grpSpPr>
          <a:xfrm>
            <a:off x="4939529" y="4743807"/>
            <a:ext cx="6019630" cy="1045927"/>
            <a:chOff x="4490655" y="5046288"/>
            <a:chExt cx="6019630" cy="10459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675B1D-392A-1AEA-F8F2-80E7EB5CEB80}"/>
                    </a:ext>
                  </a:extLst>
                </p:cNvPr>
                <p:cNvSpPr txBox="1"/>
                <p:nvPr/>
              </p:nvSpPr>
              <p:spPr>
                <a:xfrm>
                  <a:off x="4490655" y="5046288"/>
                  <a:ext cx="3160865" cy="10459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en-CN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675B1D-392A-1AEA-F8F2-80E7EB5CE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655" y="5046288"/>
                  <a:ext cx="3160865" cy="104592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09A52CD-6384-568D-57E6-004531E122B3}"/>
                    </a:ext>
                  </a:extLst>
                </p:cNvPr>
                <p:cNvSpPr txBox="1"/>
                <p:nvPr/>
              </p:nvSpPr>
              <p:spPr>
                <a:xfrm>
                  <a:off x="7893421" y="5090386"/>
                  <a:ext cx="2616864" cy="9640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 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CN" sz="20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09A52CD-6384-568D-57E6-004531E12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3421" y="5090386"/>
                  <a:ext cx="2616864" cy="96404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BA38F875-F660-F5B9-DCDA-1B23695B79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030" b="13750"/>
          <a:stretch/>
        </p:blipFill>
        <p:spPr>
          <a:xfrm>
            <a:off x="1555097" y="1444587"/>
            <a:ext cx="3791079" cy="2000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F74750B-77B5-B9E9-8F4D-240B9CF7DEB8}"/>
              </a:ext>
            </a:extLst>
          </p:cNvPr>
          <p:cNvSpPr txBox="1"/>
          <p:nvPr/>
        </p:nvSpPr>
        <p:spPr>
          <a:xfrm>
            <a:off x="942253" y="5054485"/>
            <a:ext cx="3669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solidFill>
                  <a:srgbClr val="000000"/>
                </a:solidFill>
              </a:rPr>
              <a:t>k元组分高斯混合分布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en-CN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00D0CE-E705-2EA2-E3AB-B8C9E3802708}"/>
              </a:ext>
            </a:extLst>
          </p:cNvPr>
          <p:cNvGrpSpPr/>
          <p:nvPr/>
        </p:nvGrpSpPr>
        <p:grpSpPr>
          <a:xfrm>
            <a:off x="6080358" y="1596679"/>
            <a:ext cx="2261937" cy="1828801"/>
            <a:chOff x="6418847" y="2785310"/>
            <a:chExt cx="2261937" cy="182880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CFB215-61ED-92A3-3F75-81C8639B4A0A}"/>
                </a:ext>
              </a:extLst>
            </p:cNvPr>
            <p:cNvSpPr/>
            <p:nvPr/>
          </p:nvSpPr>
          <p:spPr>
            <a:xfrm rot="18550608">
              <a:off x="6364660" y="3277692"/>
              <a:ext cx="1639310" cy="654546"/>
            </a:xfrm>
            <a:prstGeom prst="ellipse">
              <a:avLst/>
            </a:prstGeom>
            <a:solidFill>
              <a:srgbClr val="F6DAD7"/>
            </a:solidFill>
            <a:ln w="28575" cmpd="sng">
              <a:solidFill>
                <a:srgbClr val="D247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E42FEB1-118C-A153-094F-2F5D13A79A69}"/>
                </a:ext>
              </a:extLst>
            </p:cNvPr>
            <p:cNvSpPr/>
            <p:nvPr/>
          </p:nvSpPr>
          <p:spPr>
            <a:xfrm rot="18550608">
              <a:off x="7305067" y="3464775"/>
              <a:ext cx="1639310" cy="654546"/>
            </a:xfrm>
            <a:prstGeom prst="ellipse">
              <a:avLst/>
            </a:prstGeom>
            <a:solidFill>
              <a:srgbClr val="E5F2E0"/>
            </a:solidFill>
            <a:ln w="28575" cmpd="sng">
              <a:solidFill>
                <a:srgbClr val="7EB9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182FA5D-B0BC-3302-0D2C-C8DF96306544}"/>
                </a:ext>
              </a:extLst>
            </p:cNvPr>
            <p:cNvGrpSpPr/>
            <p:nvPr/>
          </p:nvGrpSpPr>
          <p:grpSpPr>
            <a:xfrm>
              <a:off x="6418847" y="2876711"/>
              <a:ext cx="2261937" cy="1737400"/>
              <a:chOff x="6418847" y="2876711"/>
              <a:chExt cx="2261937" cy="1737400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F6316F5-EFA9-78A1-CD6B-24C6D02DBB54}"/>
                  </a:ext>
                </a:extLst>
              </p:cNvPr>
              <p:cNvCxnSpPr/>
              <p:nvPr/>
            </p:nvCxnSpPr>
            <p:spPr>
              <a:xfrm flipV="1">
                <a:off x="6418847" y="2876711"/>
                <a:ext cx="0" cy="173740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163A42D-6732-D8FB-B58D-1C64C7EE24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8847" y="4614111"/>
                <a:ext cx="2261937" cy="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E133E3-87EF-96D5-1107-FEECC32F6347}"/>
              </a:ext>
            </a:extLst>
          </p:cNvPr>
          <p:cNvGrpSpPr/>
          <p:nvPr/>
        </p:nvGrpSpPr>
        <p:grpSpPr>
          <a:xfrm>
            <a:off x="8972766" y="1542585"/>
            <a:ext cx="2261937" cy="1898636"/>
            <a:chOff x="9482889" y="2751293"/>
            <a:chExt cx="2261937" cy="189863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D8F0A4-E25E-6AE3-DF5B-CF8DC10C90BD}"/>
                </a:ext>
              </a:extLst>
            </p:cNvPr>
            <p:cNvGrpSpPr/>
            <p:nvPr/>
          </p:nvGrpSpPr>
          <p:grpSpPr>
            <a:xfrm>
              <a:off x="9482889" y="2896788"/>
              <a:ext cx="2261937" cy="1737400"/>
              <a:chOff x="6418847" y="2876711"/>
              <a:chExt cx="2261937" cy="173740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852A223-E3B2-D6CC-B9CD-53BB429FFA72}"/>
                  </a:ext>
                </a:extLst>
              </p:cNvPr>
              <p:cNvCxnSpPr/>
              <p:nvPr/>
            </p:nvCxnSpPr>
            <p:spPr>
              <a:xfrm flipV="1">
                <a:off x="6418847" y="2876711"/>
                <a:ext cx="0" cy="173740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81C282A-F0AC-6D82-3AAC-6C8A7148F2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8847" y="4614111"/>
                <a:ext cx="2261937" cy="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87C53A6-10EB-663D-5892-AD7A9BE8099B}"/>
                </a:ext>
              </a:extLst>
            </p:cNvPr>
            <p:cNvSpPr/>
            <p:nvPr/>
          </p:nvSpPr>
          <p:spPr>
            <a:xfrm rot="18550608">
              <a:off x="9552166" y="3092178"/>
              <a:ext cx="1639310" cy="957540"/>
            </a:xfrm>
            <a:prstGeom prst="ellipse">
              <a:avLst/>
            </a:prstGeom>
            <a:solidFill>
              <a:srgbClr val="F6DAD7"/>
            </a:solidFill>
            <a:ln w="28575" cmpd="sng">
              <a:solidFill>
                <a:srgbClr val="D247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701D68B-50F1-D660-F374-B73DE33F7951}"/>
                </a:ext>
              </a:extLst>
            </p:cNvPr>
            <p:cNvSpPr/>
            <p:nvPr/>
          </p:nvSpPr>
          <p:spPr>
            <a:xfrm rot="2879604">
              <a:off x="10136996" y="3393251"/>
              <a:ext cx="1639310" cy="874046"/>
            </a:xfrm>
            <a:prstGeom prst="ellipse">
              <a:avLst/>
            </a:prstGeom>
            <a:solidFill>
              <a:srgbClr val="E5F2E0">
                <a:alpha val="67654"/>
              </a:srgbClr>
            </a:solidFill>
            <a:ln w="28575" cmpd="sng">
              <a:solidFill>
                <a:srgbClr val="7EB9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66A7B1-8169-2523-7CDA-8FA1DA2452D9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AB0C1D-9319-B525-19DF-44BBF1C2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16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2B07C2-5DD8-7599-83B6-53C313E21A48}"/>
              </a:ext>
            </a:extLst>
          </p:cNvPr>
          <p:cNvGrpSpPr/>
          <p:nvPr/>
        </p:nvGrpSpPr>
        <p:grpSpPr>
          <a:xfrm>
            <a:off x="1295078" y="3661632"/>
            <a:ext cx="4180313" cy="888405"/>
            <a:chOff x="666758" y="3704764"/>
            <a:chExt cx="4180313" cy="8884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C22BF2-C317-AD89-4799-7EBAA62FF603}"/>
                    </a:ext>
                  </a:extLst>
                </p:cNvPr>
                <p:cNvSpPr txBox="1"/>
                <p:nvPr/>
              </p:nvSpPr>
              <p:spPr>
                <a:xfrm>
                  <a:off x="3143130" y="4223837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C22BF2-C317-AD89-4799-7EBAA62FF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3130" y="4223837"/>
                  <a:ext cx="151748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524AC9-EE25-C300-EDC1-B0E90CDD2AE7}"/>
                    </a:ext>
                  </a:extLst>
                </p:cNvPr>
                <p:cNvSpPr txBox="1"/>
                <p:nvPr/>
              </p:nvSpPr>
              <p:spPr>
                <a:xfrm>
                  <a:off x="1743456" y="4223837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524AC9-EE25-C300-EDC1-B0E90CDD2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456" y="4223837"/>
                  <a:ext cx="151748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18C46E-8359-D12B-4017-474D705F35E6}"/>
                </a:ext>
              </a:extLst>
            </p:cNvPr>
            <p:cNvSpPr txBox="1"/>
            <p:nvPr/>
          </p:nvSpPr>
          <p:spPr>
            <a:xfrm>
              <a:off x="666758" y="3942765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一维变量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9B3FE40-8B4E-AADD-2138-E97E65A04854}"/>
                    </a:ext>
                  </a:extLst>
                </p:cNvPr>
                <p:cNvSpPr txBox="1"/>
                <p:nvPr/>
              </p:nvSpPr>
              <p:spPr>
                <a:xfrm>
                  <a:off x="1881772" y="3704764"/>
                  <a:ext cx="29652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9B3FE40-8B4E-AADD-2138-E97E65A04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1772" y="3704764"/>
                  <a:ext cx="2965299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702" b="-24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1AF631-43C6-7E69-5D66-5BB6A66B75A0}"/>
              </a:ext>
            </a:extLst>
          </p:cNvPr>
          <p:cNvGrpSpPr/>
          <p:nvPr/>
        </p:nvGrpSpPr>
        <p:grpSpPr>
          <a:xfrm>
            <a:off x="6142086" y="3704764"/>
            <a:ext cx="5067234" cy="884024"/>
            <a:chOff x="5506023" y="3704764"/>
            <a:chExt cx="5067234" cy="884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8E13D3-EB2A-FB5E-CFA0-09E22C32F346}"/>
                    </a:ext>
                  </a:extLst>
                </p:cNvPr>
                <p:cNvSpPr txBox="1"/>
                <p:nvPr/>
              </p:nvSpPr>
              <p:spPr>
                <a:xfrm>
                  <a:off x="6875065" y="3704764"/>
                  <a:ext cx="369819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8E13D3-EB2A-FB5E-CFA0-09E22C32F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5065" y="3704764"/>
                  <a:ext cx="369819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1027" b="-28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5D62CF-4E29-5311-B118-C1DD78A4F92D}"/>
                </a:ext>
              </a:extLst>
            </p:cNvPr>
            <p:cNvSpPr txBox="1"/>
            <p:nvPr/>
          </p:nvSpPr>
          <p:spPr>
            <a:xfrm>
              <a:off x="5506023" y="3910183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二维变量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26A296-FB54-1325-522A-D190680B60E1}"/>
                    </a:ext>
                  </a:extLst>
                </p:cNvPr>
                <p:cNvSpPr txBox="1"/>
                <p:nvPr/>
              </p:nvSpPr>
              <p:spPr>
                <a:xfrm>
                  <a:off x="8606353" y="4219456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26A296-FB54-1325-522A-D190680B6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6353" y="4219456"/>
                  <a:ext cx="151748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E1BE37-C826-CB53-462D-1F8F397C1BA0}"/>
                    </a:ext>
                  </a:extLst>
                </p:cNvPr>
                <p:cNvSpPr txBox="1"/>
                <p:nvPr/>
              </p:nvSpPr>
              <p:spPr>
                <a:xfrm>
                  <a:off x="7206679" y="4219456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E1BE37-C826-CB53-462D-1F8F397C1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679" y="4219456"/>
                  <a:ext cx="151748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12C9531-CC2D-2C66-88C2-23A66A0EFC8F}"/>
              </a:ext>
            </a:extLst>
          </p:cNvPr>
          <p:cNvSpPr txBox="1"/>
          <p:nvPr/>
        </p:nvSpPr>
        <p:spPr>
          <a:xfrm>
            <a:off x="820915" y="1045701"/>
            <a:ext cx="3791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solidFill>
                  <a:srgbClr val="000000"/>
                </a:solidFill>
              </a:rPr>
              <a:t>二元组分高斯混合分布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en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637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50AE-7C47-AD37-094E-C892EF99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0D60-522D-42DC-37A0-8397C11D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B36BE-82C3-9333-3082-2F0B858598F4}"/>
                  </a:ext>
                </a:extLst>
              </p:cNvPr>
              <p:cNvSpPr txBox="1"/>
              <p:nvPr/>
            </p:nvSpPr>
            <p:spPr>
              <a:xfrm>
                <a:off x="1398298" y="1151251"/>
                <a:ext cx="3874266" cy="424283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chemeClr val="bg1"/>
                    </a:solidFill>
                  </a:rPr>
                  <a:t>选定初始参数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B36BE-82C3-9333-3082-2F0B85859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298" y="1151251"/>
                <a:ext cx="3874266" cy="424283"/>
              </a:xfrm>
              <a:prstGeom prst="rect">
                <a:avLst/>
              </a:prstGeom>
              <a:blipFill>
                <a:blip r:embed="rId6"/>
                <a:stretch>
                  <a:fillRect l="-1303" t="-14706" b="-1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F788B0-2E5D-AD50-35B6-EEF71C7C1D34}"/>
                  </a:ext>
                </a:extLst>
              </p:cNvPr>
              <p:cNvSpPr txBox="1"/>
              <p:nvPr/>
            </p:nvSpPr>
            <p:spPr>
              <a:xfrm>
                <a:off x="837609" y="1863886"/>
                <a:ext cx="4995663" cy="790794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计算后验概率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</a:rPr>
                  <a:t>（确定所有样本簇别的依据）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F788B0-2E5D-AD50-35B6-EEF71C7C1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09" y="1863886"/>
                <a:ext cx="4995663" cy="790794"/>
              </a:xfrm>
              <a:prstGeom prst="rect">
                <a:avLst/>
              </a:prstGeom>
              <a:blipFill>
                <a:blip r:embed="rId7"/>
                <a:stretch>
                  <a:fillRect l="-759" t="-3175" b="-95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410146-9AAA-EE7A-08F2-D3457EF6FD87}"/>
              </a:ext>
            </a:extLst>
          </p:cNvPr>
          <p:cNvCxnSpPr>
            <a:stCxn id="5" idx="2"/>
            <a:endCxn id="21" idx="0"/>
          </p:cNvCxnSpPr>
          <p:nvPr/>
        </p:nvCxnSpPr>
        <p:spPr>
          <a:xfrm>
            <a:off x="3335431" y="1575534"/>
            <a:ext cx="10" cy="2883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0D317C-E8F5-3858-97C3-0024014829FB}"/>
                  </a:ext>
                </a:extLst>
              </p:cNvPr>
              <p:cNvSpPr txBox="1"/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根据样本后验分布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，计算新的参数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</a:rPr>
                  <a:t>(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极大似然估计）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0D317C-E8F5-3858-97C3-00240148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blipFill>
                <a:blip r:embed="rId8"/>
                <a:stretch>
                  <a:fillRect t="-5085" b="-1016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9613DC-7B10-A28F-C1D3-C5A0AF0E00DC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3335431" y="2654680"/>
            <a:ext cx="10" cy="4514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11D2371-3E50-37E3-8FCD-02C658519E96}"/>
              </a:ext>
            </a:extLst>
          </p:cNvPr>
          <p:cNvCxnSpPr>
            <a:cxnSpLocks/>
            <a:stCxn id="28" idx="3"/>
            <a:endCxn id="21" idx="3"/>
          </p:cNvCxnSpPr>
          <p:nvPr/>
        </p:nvCxnSpPr>
        <p:spPr>
          <a:xfrm flipV="1">
            <a:off x="4538593" y="2259283"/>
            <a:ext cx="1294679" cy="2268693"/>
          </a:xfrm>
          <a:prstGeom prst="bentConnector3">
            <a:avLst>
              <a:gd name="adj1" fmla="val 117657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0D726E-C404-B833-62B2-C91C654A56F7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3335431" y="5047654"/>
            <a:ext cx="0" cy="2903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0B42204-8E2E-7998-F3A9-92A6534AB647}"/>
              </a:ext>
            </a:extLst>
          </p:cNvPr>
          <p:cNvSpPr txBox="1"/>
          <p:nvPr/>
        </p:nvSpPr>
        <p:spPr>
          <a:xfrm>
            <a:off x="1478832" y="5337984"/>
            <a:ext cx="3713198" cy="70788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2000" dirty="0">
                <a:solidFill>
                  <a:schemeClr val="bg1"/>
                </a:solidFill>
              </a:rPr>
              <a:t>确定最终参数</a:t>
            </a:r>
            <a:r>
              <a:rPr lang="zh-CN" altLang="en-US" sz="2000" dirty="0">
                <a:solidFill>
                  <a:schemeClr val="bg1"/>
                </a:solidFill>
              </a:rPr>
              <a:t>，根据后验分布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判断簇别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E1926B-8C96-A9E6-1571-5EF01D7784AC}"/>
              </a:ext>
            </a:extLst>
          </p:cNvPr>
          <p:cNvSpPr txBox="1"/>
          <p:nvPr/>
        </p:nvSpPr>
        <p:spPr>
          <a:xfrm>
            <a:off x="2132269" y="4008298"/>
            <a:ext cx="2406324" cy="1039356"/>
          </a:xfrm>
          <a:prstGeom prst="diamond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CN" sz="1600" dirty="0"/>
              <a:t>是否收敛</a:t>
            </a:r>
          </a:p>
          <a:p>
            <a:pPr algn="ctr"/>
            <a:r>
              <a:rPr lang="zh-CN" altLang="en-US" sz="1100" dirty="0"/>
              <a:t>（</a:t>
            </a:r>
            <a:r>
              <a:rPr lang="zh-CN" altLang="en-CN" sz="1100" dirty="0"/>
              <a:t>参数</a:t>
            </a:r>
            <a:r>
              <a:rPr lang="en-CN" sz="1100" dirty="0"/>
              <a:t>不再变化</a:t>
            </a:r>
            <a:r>
              <a:rPr lang="zh-CN" altLang="en-US" sz="1100" dirty="0"/>
              <a:t>）</a:t>
            </a:r>
            <a:endParaRPr lang="en-CN" sz="11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CB68DD-736E-F4F3-D467-DD0701A4F645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>
            <a:off x="3335431" y="3838169"/>
            <a:ext cx="0" cy="1701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BFF34C-4E35-C1FD-B569-5E79CE5B6C30}"/>
              </a:ext>
            </a:extLst>
          </p:cNvPr>
          <p:cNvSpPr txBox="1"/>
          <p:nvPr/>
        </p:nvSpPr>
        <p:spPr>
          <a:xfrm>
            <a:off x="3943634" y="48866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是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B6879-070B-7DEC-7E04-567C72E2BF1F}"/>
              </a:ext>
            </a:extLst>
          </p:cNvPr>
          <p:cNvSpPr txBox="1"/>
          <p:nvPr/>
        </p:nvSpPr>
        <p:spPr>
          <a:xfrm>
            <a:off x="4711293" y="415566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否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757C0F8-049E-A754-6F97-6FFF38ACB121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C7678-8C28-5371-1510-1F8A91D2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17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4B1767-5F82-A29B-A692-D331A4F73B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595" y="1056081"/>
            <a:ext cx="4961905" cy="1742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4C3E02-A69D-823D-8A99-3F74AD0D05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5045" y="3241596"/>
            <a:ext cx="5860547" cy="29083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429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7" grpId="0" animBg="1"/>
      <p:bldP spid="28" grpId="0" animBg="1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4E03-36CE-5753-BAE5-1710073F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mm_evolution">
            <a:hlinkClick r:id="" action="ppaction://media"/>
            <a:extLst>
              <a:ext uri="{FF2B5EF4-FFF2-40B4-BE49-F238E27FC236}">
                <a16:creationId xmlns:a16="http://schemas.microsoft.com/office/drawing/2014/main" id="{88FADD4C-E4FA-07B6-6FF2-1C34A2835F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77579" y="882166"/>
            <a:ext cx="5913666" cy="46935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2F2B49-EA53-429C-B64E-530CAA24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263518-0ED8-20FC-FF10-500045EC9E6D}"/>
                  </a:ext>
                </a:extLst>
              </p:cNvPr>
              <p:cNvSpPr txBox="1"/>
              <p:nvPr/>
            </p:nvSpPr>
            <p:spPr>
              <a:xfrm>
                <a:off x="1398298" y="1151251"/>
                <a:ext cx="3874266" cy="424283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chemeClr val="bg1"/>
                    </a:solidFill>
                  </a:rPr>
                  <a:t>选定初始参数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B36BE-82C3-9333-3082-2F0B85859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298" y="1151251"/>
                <a:ext cx="3874266" cy="424283"/>
              </a:xfrm>
              <a:prstGeom prst="rect">
                <a:avLst/>
              </a:prstGeom>
              <a:blipFill>
                <a:blip r:embed="rId8"/>
                <a:stretch>
                  <a:fillRect l="-1303" t="-14706" b="-1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5B4DD9-046E-E73B-B077-C0408D590F42}"/>
                  </a:ext>
                </a:extLst>
              </p:cNvPr>
              <p:cNvSpPr txBox="1"/>
              <p:nvPr/>
            </p:nvSpPr>
            <p:spPr>
              <a:xfrm>
                <a:off x="837609" y="1863886"/>
                <a:ext cx="4995663" cy="790794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计算后验概率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</a:rPr>
                  <a:t>（确定所有样本簇别的依据）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F788B0-2E5D-AD50-35B6-EEF71C7C1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09" y="1863886"/>
                <a:ext cx="4995663" cy="790794"/>
              </a:xfrm>
              <a:prstGeom prst="rect">
                <a:avLst/>
              </a:prstGeom>
              <a:blipFill>
                <a:blip r:embed="rId9"/>
                <a:stretch>
                  <a:fillRect l="-759" t="-3175" b="-95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0E58D2-D747-FB75-7227-BC33B16DC90A}"/>
              </a:ext>
            </a:extLst>
          </p:cNvPr>
          <p:cNvCxnSpPr>
            <a:stCxn id="5" idx="2"/>
            <a:endCxn id="21" idx="0"/>
          </p:cNvCxnSpPr>
          <p:nvPr/>
        </p:nvCxnSpPr>
        <p:spPr>
          <a:xfrm>
            <a:off x="3335431" y="1575534"/>
            <a:ext cx="10" cy="2883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B4AA57-F8CB-036F-0122-5D8A7B525020}"/>
                  </a:ext>
                </a:extLst>
              </p:cNvPr>
              <p:cNvSpPr txBox="1"/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根据样本后验分布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，计算新的参数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</a:rPr>
                  <a:t>(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极大似然估计）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0D317C-E8F5-3858-97C3-00240148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blipFill>
                <a:blip r:embed="rId10"/>
                <a:stretch>
                  <a:fillRect t="-5085" b="-1016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D93F4C-4C76-B156-1802-BE34E793F275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3335431" y="2654680"/>
            <a:ext cx="10" cy="4514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8E047A9-F5B1-18B0-3ACE-07AA3C4F43BA}"/>
              </a:ext>
            </a:extLst>
          </p:cNvPr>
          <p:cNvCxnSpPr>
            <a:cxnSpLocks/>
            <a:stCxn id="28" idx="3"/>
            <a:endCxn id="21" idx="3"/>
          </p:cNvCxnSpPr>
          <p:nvPr/>
        </p:nvCxnSpPr>
        <p:spPr>
          <a:xfrm flipV="1">
            <a:off x="4538593" y="2259283"/>
            <a:ext cx="1294679" cy="2268693"/>
          </a:xfrm>
          <a:prstGeom prst="bentConnector3">
            <a:avLst>
              <a:gd name="adj1" fmla="val 117657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437A0F7-9F29-D584-FE3D-09F8CCB05D19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3335431" y="5047654"/>
            <a:ext cx="0" cy="2903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C13143C-F97A-35EC-BE42-03BF004D633F}"/>
              </a:ext>
            </a:extLst>
          </p:cNvPr>
          <p:cNvSpPr txBox="1"/>
          <p:nvPr/>
        </p:nvSpPr>
        <p:spPr>
          <a:xfrm>
            <a:off x="1478832" y="5337984"/>
            <a:ext cx="3713198" cy="70788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2000" dirty="0">
                <a:solidFill>
                  <a:schemeClr val="bg1"/>
                </a:solidFill>
              </a:rPr>
              <a:t>确定最终参数</a:t>
            </a:r>
            <a:r>
              <a:rPr lang="zh-CN" altLang="en-US" sz="2000" dirty="0">
                <a:solidFill>
                  <a:schemeClr val="bg1"/>
                </a:solidFill>
              </a:rPr>
              <a:t>，根据后验分布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判断簇别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2820F1-3270-5198-DB7D-65ED3070141A}"/>
              </a:ext>
            </a:extLst>
          </p:cNvPr>
          <p:cNvSpPr txBox="1"/>
          <p:nvPr/>
        </p:nvSpPr>
        <p:spPr>
          <a:xfrm>
            <a:off x="2132269" y="4008298"/>
            <a:ext cx="2406324" cy="1039356"/>
          </a:xfrm>
          <a:prstGeom prst="diamond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CN" sz="1600" dirty="0"/>
              <a:t>是否收敛</a:t>
            </a:r>
          </a:p>
          <a:p>
            <a:pPr algn="ctr"/>
            <a:r>
              <a:rPr lang="zh-CN" altLang="en-US" sz="1100" dirty="0"/>
              <a:t>（</a:t>
            </a:r>
            <a:r>
              <a:rPr lang="zh-CN" altLang="en-CN" sz="1100" dirty="0"/>
              <a:t>参数</a:t>
            </a:r>
            <a:r>
              <a:rPr lang="en-CN" sz="1100" dirty="0"/>
              <a:t>不再变化</a:t>
            </a:r>
            <a:r>
              <a:rPr lang="zh-CN" altLang="en-US" sz="1100" dirty="0"/>
              <a:t>）</a:t>
            </a:r>
            <a:endParaRPr lang="en-CN" sz="11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0886DF-E181-2374-F008-89FD38901703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>
            <a:off x="3335431" y="3838169"/>
            <a:ext cx="0" cy="1701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A27D789-852D-71BA-6A58-98C97D3E67C9}"/>
              </a:ext>
            </a:extLst>
          </p:cNvPr>
          <p:cNvSpPr txBox="1"/>
          <p:nvPr/>
        </p:nvSpPr>
        <p:spPr>
          <a:xfrm>
            <a:off x="3943634" y="48866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是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91D31-1C22-AB26-ADE2-B08F51E443C4}"/>
              </a:ext>
            </a:extLst>
          </p:cNvPr>
          <p:cNvSpPr txBox="1"/>
          <p:nvPr/>
        </p:nvSpPr>
        <p:spPr>
          <a:xfrm>
            <a:off x="4711293" y="415566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否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9241D40-7E7D-0472-82F6-B9A78995B673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C5AC9-6874-83E7-6D94-FA6F5D78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18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FB86E-45FD-A0CC-812C-8CB4839DEB61}"/>
              </a:ext>
            </a:extLst>
          </p:cNvPr>
          <p:cNvSpPr txBox="1"/>
          <p:nvPr/>
        </p:nvSpPr>
        <p:spPr>
          <a:xfrm>
            <a:off x="6433755" y="5235714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2000" dirty="0"/>
              <a:t>课外阅读</a:t>
            </a:r>
            <a:r>
              <a:rPr lang="zh-CN" altLang="en-US" sz="2000" dirty="0"/>
              <a:t>：高斯混合聚类算法的数学</a:t>
            </a:r>
            <a:r>
              <a:rPr lang="en-CN" sz="2000" dirty="0"/>
              <a:t>推导</a:t>
            </a:r>
            <a:br>
              <a:rPr lang="en-CN" sz="2000" dirty="0"/>
            </a:br>
            <a:r>
              <a:rPr lang="en-CN" sz="2000" dirty="0"/>
              <a:t>(西瓜书第</a:t>
            </a:r>
            <a:r>
              <a:rPr lang="zh-CN" altLang="en-US" sz="2000" dirty="0"/>
              <a:t> </a:t>
            </a:r>
            <a:r>
              <a:rPr lang="en-US" altLang="zh-CN" sz="2000" dirty="0"/>
              <a:t>9.4.3 </a:t>
            </a:r>
            <a:r>
              <a:rPr lang="zh-CN" altLang="en-US" sz="2000" dirty="0"/>
              <a:t>节</a:t>
            </a:r>
            <a:r>
              <a:rPr lang="en-CN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761392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A713-EF00-4DBC-3BDD-1AE3353B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A8BA-810E-A5AF-B4AE-6826E0B2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高斯混合聚类小结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2ED162-37D1-190C-A1B0-3B5C784F1E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5454" y="1035781"/>
            <a:ext cx="11155545" cy="5109432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/>
              <a:t>假设样本每个簇服从高斯分布，估计样本分布。</a:t>
            </a:r>
            <a:endParaRPr lang="en-US" altLang="zh-CN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局限</a:t>
            </a:r>
            <a:r>
              <a:rPr lang="zh-CN" altLang="en-US" dirty="0"/>
              <a:t>：</a:t>
            </a:r>
            <a:r>
              <a:rPr lang="en-CN" dirty="0"/>
              <a:t>无法动态调整簇个数</a:t>
            </a:r>
            <a:r>
              <a:rPr lang="zh-CN" altLang="en-US" dirty="0"/>
              <a:t>（</a:t>
            </a:r>
            <a:r>
              <a:rPr lang="en-US" altLang="zh-CN" dirty="0"/>
              <a:t>k</a:t>
            </a:r>
            <a:r>
              <a:rPr lang="en-CN" altLang="zh-CN" dirty="0"/>
              <a:t>)</a:t>
            </a:r>
            <a:endParaRPr lang="en-US" altLang="zh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028907-1583-6852-4CF1-D8C24A6619F3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9933-D8AF-FFC0-D75B-D3EB4757EF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19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4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2DFA-B7F9-D5A0-2A0E-19EE7A5E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5AB5E-D94B-E14B-A3F5-110FAB3A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F55319-2BE8-0CDB-6AB8-E85A107B49F5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D3EFD0-0B03-E520-77C0-6A602E46640E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二</a:t>
            </a:r>
            <a:r>
              <a:rPr lang="zh-CN" altLang="en-US" dirty="0"/>
              <a:t>、聚</a:t>
            </a:r>
            <a:r>
              <a:rPr lang="zh-CN" altLang="en-US"/>
              <a:t>类学习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6146E-1037-E33E-F16A-03572B306EAD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三、数据降维</a:t>
            </a:r>
          </a:p>
        </p:txBody>
      </p:sp>
      <p:sp>
        <p:nvSpPr>
          <p:cNvPr id="6" name="Slide Number Placeholder 24">
            <a:extLst>
              <a:ext uri="{FF2B5EF4-FFF2-40B4-BE49-F238E27FC236}">
                <a16:creationId xmlns:a16="http://schemas.microsoft.com/office/drawing/2014/main" id="{CB44F532-4C90-4ADB-B7FC-ECE347B7AD5B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20</a:t>
            </a:fld>
            <a:r>
              <a:rPr lang="en-US" altLang="zh-CN" dirty="0">
                <a:solidFill>
                  <a:schemeClr val="bg1"/>
                </a:solidFill>
              </a:rPr>
              <a:t>/34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41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27CF-2BA5-1BBB-2AE9-BD7A5039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148C04-D319-B596-CA91-549B4847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回顾：高维数据与维数灾难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76C694-4AA0-258C-11FE-9D29D7FB81DA}"/>
              </a:ext>
            </a:extLst>
          </p:cNvPr>
          <p:cNvSpPr txBox="1"/>
          <p:nvPr/>
        </p:nvSpPr>
        <p:spPr>
          <a:xfrm>
            <a:off x="681078" y="894891"/>
            <a:ext cx="223751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高维数据：</a:t>
            </a:r>
            <a:endParaRPr lang="zh-CN" altLang="en-US" sz="24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/>
              <p:nvPr/>
            </p:nvSpPr>
            <p:spPr>
              <a:xfrm>
                <a:off x="2205479" y="1080546"/>
                <a:ext cx="2791983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479" y="1080546"/>
                <a:ext cx="2791983" cy="313291"/>
              </a:xfrm>
              <a:prstGeom prst="rect">
                <a:avLst/>
              </a:prstGeom>
              <a:blipFill>
                <a:blip r:embed="rId5"/>
                <a:stretch>
                  <a:fillRect l="-905"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C9241C-542A-3804-8F7A-C41576FD74B2}"/>
                  </a:ext>
                </a:extLst>
              </p:cNvPr>
              <p:cNvSpPr txBox="1"/>
              <p:nvPr/>
            </p:nvSpPr>
            <p:spPr>
              <a:xfrm>
                <a:off x="5538221" y="1000729"/>
                <a:ext cx="51717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400" dirty="0">
                    <a:solidFill>
                      <a:srgbClr val="070707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70707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</m:t>
                    </m:r>
                  </m:oMath>
                </a14:m>
                <a:r>
                  <a:rPr kumimoji="1" lang="en" altLang="zh-CN" sz="2400" dirty="0">
                    <a:solidFill>
                      <a:srgbClr val="070707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70707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较大时，数据被称为高维数据。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C9241C-542A-3804-8F7A-C41576FD7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221" y="1000729"/>
                <a:ext cx="5171737" cy="461665"/>
              </a:xfrm>
              <a:prstGeom prst="rect">
                <a:avLst/>
              </a:prstGeom>
              <a:blipFill>
                <a:blip r:embed="rId6"/>
                <a:stretch>
                  <a:fillRect l="-1961" t="-10526" r="-735" b="-289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D1E9A95-A7C1-2C7C-E028-47BCE79B859E}"/>
              </a:ext>
            </a:extLst>
          </p:cNvPr>
          <p:cNvGrpSpPr/>
          <p:nvPr/>
        </p:nvGrpSpPr>
        <p:grpSpPr>
          <a:xfrm>
            <a:off x="465508" y="3825875"/>
            <a:ext cx="4302298" cy="1568003"/>
            <a:chOff x="465508" y="3825875"/>
            <a:chExt cx="4302298" cy="1568003"/>
          </a:xfrm>
        </p:grpSpPr>
        <p:pic>
          <p:nvPicPr>
            <p:cNvPr id="1028" name="Picture 4" descr="Eliezer Yudkowsky on AlphaGo's Wins - Future of Life Institute">
              <a:extLst>
                <a:ext uri="{FF2B5EF4-FFF2-40B4-BE49-F238E27FC236}">
                  <a16:creationId xmlns:a16="http://schemas.microsoft.com/office/drawing/2014/main" id="{B26EE3BC-D7F3-2BC8-5D99-6450B1CF4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508" y="3825875"/>
              <a:ext cx="2358901" cy="1568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915E4A8-90BB-ADF3-B870-B8E42558438F}"/>
                </a:ext>
              </a:extLst>
            </p:cNvPr>
            <p:cNvSpPr/>
            <p:nvPr/>
          </p:nvSpPr>
          <p:spPr>
            <a:xfrm>
              <a:off x="2984054" y="3825875"/>
              <a:ext cx="1783752" cy="1568003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围棋：棋盘的每个位置可以用一个维度表示当前的棋子状态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0458F0-BEC3-C7FB-DCE4-C4539E8800CD}"/>
              </a:ext>
            </a:extLst>
          </p:cNvPr>
          <p:cNvGrpSpPr/>
          <p:nvPr/>
        </p:nvGrpSpPr>
        <p:grpSpPr>
          <a:xfrm>
            <a:off x="4861017" y="3675242"/>
            <a:ext cx="7075570" cy="2032696"/>
            <a:chOff x="4861017" y="3675242"/>
            <a:chExt cx="7075570" cy="203269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BC2E66B-32EF-CD28-522F-AA2A8D73E281}"/>
                </a:ext>
              </a:extLst>
            </p:cNvPr>
            <p:cNvSpPr/>
            <p:nvPr/>
          </p:nvSpPr>
          <p:spPr>
            <a:xfrm>
              <a:off x="10428420" y="3675242"/>
              <a:ext cx="1508167" cy="2032696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文本数据：每个单词可以被表示为高维的 </a:t>
              </a:r>
              <a:r>
                <a:rPr kumimoji="1" lang="en-US" altLang="zh-CN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one-hot </a:t>
              </a:r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向量或嵌入到高维空间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365C651-90BA-1525-E015-3A99FB660D5C}"/>
                </a:ext>
              </a:extLst>
            </p:cNvPr>
            <p:cNvGrpSpPr/>
            <p:nvPr/>
          </p:nvGrpSpPr>
          <p:grpSpPr>
            <a:xfrm>
              <a:off x="4861017" y="3777320"/>
              <a:ext cx="5529708" cy="1665112"/>
              <a:chOff x="3825418" y="3757997"/>
              <a:chExt cx="4601308" cy="1385551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A99840D1-DD4C-83C1-D6C6-5A7D13073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25418" y="3757997"/>
                <a:ext cx="4601308" cy="115561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文本框 1">
                    <a:extLst>
                      <a:ext uri="{FF2B5EF4-FFF2-40B4-BE49-F238E27FC236}">
                        <a16:creationId xmlns:a16="http://schemas.microsoft.com/office/drawing/2014/main" id="{F51D0E78-640E-F08F-27B6-D8E74648A48D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060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" name="文本框 1">
                    <a:extLst>
                      <a:ext uri="{FF2B5EF4-FFF2-40B4-BE49-F238E27FC236}">
                        <a16:creationId xmlns:a16="http://schemas.microsoft.com/office/drawing/2014/main" id="{F51D0E78-640E-F08F-27B6-D8E74648A4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8060" y="4835771"/>
                    <a:ext cx="14427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333" r="-4166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0481F66F-427C-57B1-28BF-6A32C4847755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27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0481F66F-427C-57B1-28BF-6A32C48477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0427" y="4835771"/>
                    <a:ext cx="14427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64DE5D7B-0BA8-C706-D385-909E8D6DED9A}"/>
                      </a:ext>
                    </a:extLst>
                  </p:cNvPr>
                  <p:cNvSpPr txBox="1"/>
                  <p:nvPr/>
                </p:nvSpPr>
                <p:spPr>
                  <a:xfrm>
                    <a:off x="7303475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64DE5D7B-0BA8-C706-D385-909E8D6DED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3475" y="4835771"/>
                    <a:ext cx="144270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178B1D46-E95B-21F2-BEBA-8D5CFAA1E8FB}"/>
                      </a:ext>
                    </a:extLst>
                  </p:cNvPr>
                  <p:cNvSpPr txBox="1"/>
                  <p:nvPr/>
                </p:nvSpPr>
                <p:spPr>
                  <a:xfrm>
                    <a:off x="7995136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178B1D46-E95B-21F2-BEBA-8D5CFAA1E8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5136" y="4835771"/>
                    <a:ext cx="14427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333" r="-4166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CC045FEE-5836-D4AD-AF67-E7EB6623E081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955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CC045FEE-5836-D4AD-AF67-E7EB6623E0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955" y="4835771"/>
                    <a:ext cx="144270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4377B0E1-4A9A-66FB-4968-0C4E5FF57993}"/>
                      </a:ext>
                    </a:extLst>
                  </p:cNvPr>
                  <p:cNvSpPr txBox="1"/>
                  <p:nvPr/>
                </p:nvSpPr>
                <p:spPr>
                  <a:xfrm>
                    <a:off x="4384430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4377B0E1-4A9A-66FB-4968-0C4E5FF579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4430" y="4835771"/>
                    <a:ext cx="14427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00D1782-90F2-CB08-87E5-9B908896A6AB}"/>
              </a:ext>
            </a:extLst>
          </p:cNvPr>
          <p:cNvSpPr txBox="1"/>
          <p:nvPr/>
        </p:nvSpPr>
        <p:spPr>
          <a:xfrm>
            <a:off x="1214438" y="6380648"/>
            <a:ext cx="8944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图片来源：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self-taking picture, Carsen Stringer et al.,</a:t>
            </a:r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Spontaneous behaviors drive multidimensional, </a:t>
            </a:r>
            <a:r>
              <a:rPr kumimoji="1"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brainwide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activity. Science 364, eaav7893 (2019),</a:t>
            </a:r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https://wenku.csdn.net/column/5vovwujy5c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http://www.360doc.com/content/23/0618/12/4162_1085211273.shtml</a:t>
            </a:r>
            <a:endParaRPr kumimoji="1" lang="en-US" altLang="zh-C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6A1917-FF8C-EDEC-CF8E-E80D9C8E8E10}"/>
              </a:ext>
            </a:extLst>
          </p:cNvPr>
          <p:cNvGrpSpPr/>
          <p:nvPr/>
        </p:nvGrpSpPr>
        <p:grpSpPr>
          <a:xfrm>
            <a:off x="625826" y="1608860"/>
            <a:ext cx="4141980" cy="1994772"/>
            <a:chOff x="625826" y="1608860"/>
            <a:chExt cx="4141980" cy="199477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31F8DF4-D474-A875-5597-D448EF13FFDA}"/>
                </a:ext>
              </a:extLst>
            </p:cNvPr>
            <p:cNvSpPr/>
            <p:nvPr/>
          </p:nvSpPr>
          <p:spPr>
            <a:xfrm>
              <a:off x="2984054" y="1661216"/>
              <a:ext cx="1783752" cy="1890059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图像数据：每张图片可以被表示为一个包含像素值的高维向量。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21" name="Picture 20" descr="A dog with its tongue out&#10;&#10;AI-generated content may be incorrect.">
              <a:extLst>
                <a:ext uri="{FF2B5EF4-FFF2-40B4-BE49-F238E27FC236}">
                  <a16:creationId xmlns:a16="http://schemas.microsoft.com/office/drawing/2014/main" id="{951878AF-B198-8610-6953-BAC4B7897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26" y="1608860"/>
              <a:ext cx="1992684" cy="1994772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385C25-DA1F-D526-ABCF-741382C1CEA0}"/>
              </a:ext>
            </a:extLst>
          </p:cNvPr>
          <p:cNvGrpSpPr/>
          <p:nvPr/>
        </p:nvGrpSpPr>
        <p:grpSpPr>
          <a:xfrm>
            <a:off x="4927451" y="1704669"/>
            <a:ext cx="7009136" cy="1841734"/>
            <a:chOff x="4927451" y="1704669"/>
            <a:chExt cx="7009136" cy="184173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12E4AD6-AAB6-B4C6-03BD-22EA63CBA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27451" y="1704669"/>
              <a:ext cx="5396840" cy="1780957"/>
            </a:xfrm>
            <a:prstGeom prst="rect">
              <a:avLst/>
            </a:prstGeom>
          </p:spPr>
        </p:pic>
        <p:sp>
          <p:nvSpPr>
            <p:cNvPr id="26" name="矩形 8">
              <a:extLst>
                <a:ext uri="{FF2B5EF4-FFF2-40B4-BE49-F238E27FC236}">
                  <a16:creationId xmlns:a16="http://schemas.microsoft.com/office/drawing/2014/main" id="{2D88A7D2-6FE8-5CB0-3BFC-84C009D7A21C}"/>
                </a:ext>
              </a:extLst>
            </p:cNvPr>
            <p:cNvSpPr/>
            <p:nvPr/>
          </p:nvSpPr>
          <p:spPr>
            <a:xfrm>
              <a:off x="10428420" y="1723683"/>
              <a:ext cx="1508167" cy="1822720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神经元数据：每时刻所有记录神经元活动可以被表示为一个高维向量。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3D4146E-D438-39BD-F813-0018E3E59141}"/>
              </a:ext>
            </a:extLst>
          </p:cNvPr>
          <p:cNvSpPr txBox="1"/>
          <p:nvPr/>
        </p:nvSpPr>
        <p:spPr>
          <a:xfrm>
            <a:off x="834071" y="5721224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 err="1">
                <a:solidFill>
                  <a:srgbClr val="000000"/>
                </a:solidFill>
              </a:rPr>
              <a:t>维数灾难</a:t>
            </a:r>
            <a:r>
              <a:rPr lang="zh-CN" altLang="en-US" sz="2000" b="1" dirty="0">
                <a:solidFill>
                  <a:srgbClr val="000000"/>
                </a:solidFill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</a:rPr>
              <a:t>样本稀疏，距离计算困难，采样不充分</a:t>
            </a:r>
            <a:r>
              <a:rPr lang="en-US" altLang="zh-CN" sz="2000" dirty="0">
                <a:solidFill>
                  <a:srgbClr val="000000"/>
                </a:solidFill>
              </a:rPr>
              <a:t>…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0FC88B-F61C-BCD6-2901-8080D0037C89}"/>
              </a:ext>
            </a:extLst>
          </p:cNvPr>
          <p:cNvSpPr txBox="1"/>
          <p:nvPr/>
        </p:nvSpPr>
        <p:spPr>
          <a:xfrm>
            <a:off x="7803690" y="5614804"/>
            <a:ext cx="2276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3200" b="1" dirty="0"/>
              <a:t>数据降维</a:t>
            </a:r>
            <a:r>
              <a:rPr lang="zh-CN" altLang="en-US" sz="3200" b="1" dirty="0"/>
              <a:t>！</a:t>
            </a:r>
            <a:endParaRPr lang="en-CN" sz="3200" b="1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7EBAC6C-1F18-1A98-5BE8-6376D30C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21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20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8FC0-DAD5-01B2-1A36-F7153909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531CD4-43C5-2BBA-C8A6-FCCE495B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高维空间的低维嵌入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E5EC3FE-43F5-D55E-8BB5-3A5866FE89F1}"/>
              </a:ext>
            </a:extLst>
          </p:cNvPr>
          <p:cNvSpPr/>
          <p:nvPr/>
        </p:nvSpPr>
        <p:spPr>
          <a:xfrm>
            <a:off x="5276602" y="1819807"/>
            <a:ext cx="1638795" cy="498764"/>
          </a:xfrm>
          <a:prstGeom prst="rightArrow">
            <a:avLst/>
          </a:prstGeom>
          <a:solidFill>
            <a:schemeClr val="bg1">
              <a:lumMod val="50000"/>
            </a:schemeClr>
          </a:solidFill>
          <a:ln cmpd="sng">
            <a:noFill/>
            <a:headEnd type="stealth"/>
            <a:tailEnd type="non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FA18FC-3B35-159F-C86B-B11ECBD24EBA}"/>
              </a:ext>
            </a:extLst>
          </p:cNvPr>
          <p:cNvGrpSpPr/>
          <p:nvPr/>
        </p:nvGrpSpPr>
        <p:grpSpPr>
          <a:xfrm>
            <a:off x="653536" y="1005746"/>
            <a:ext cx="4550575" cy="2126888"/>
            <a:chOff x="653536" y="909114"/>
            <a:chExt cx="4550575" cy="21268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77693-BA04-5CB4-63F4-023FD9B0A94F}"/>
                </a:ext>
              </a:extLst>
            </p:cNvPr>
            <p:cNvSpPr txBox="1"/>
            <p:nvPr/>
          </p:nvSpPr>
          <p:spPr>
            <a:xfrm>
              <a:off x="653536" y="1555031"/>
              <a:ext cx="15883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三维空间中的二维曲面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1A80D09-B88E-4B86-ABC5-392C78A1A3B3}"/>
                </a:ext>
              </a:extLst>
            </p:cNvPr>
            <p:cNvGrpSpPr/>
            <p:nvPr/>
          </p:nvGrpSpPr>
          <p:grpSpPr>
            <a:xfrm>
              <a:off x="2126457" y="909114"/>
              <a:ext cx="3077654" cy="2126888"/>
              <a:chOff x="4180793" y="2218380"/>
              <a:chExt cx="3968220" cy="274233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CA997D4-63E1-0239-8297-A03C32D7C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224" t="20028" r="45721" b="17496"/>
              <a:stretch/>
            </p:blipFill>
            <p:spPr>
              <a:xfrm>
                <a:off x="4180793" y="2218380"/>
                <a:ext cx="3968220" cy="2742335"/>
              </a:xfrm>
              <a:prstGeom prst="rect">
                <a:avLst/>
              </a:prstGeom>
            </p:spPr>
          </p:pic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F848171-6827-3FB1-88B0-848EEAAEA09B}"/>
                  </a:ext>
                </a:extLst>
              </p:cNvPr>
              <p:cNvSpPr/>
              <p:nvPr/>
            </p:nvSpPr>
            <p:spPr>
              <a:xfrm>
                <a:off x="5263202" y="2749368"/>
                <a:ext cx="1563122" cy="1680359"/>
              </a:xfrm>
              <a:custGeom>
                <a:avLst/>
                <a:gdLst>
                  <a:gd name="connsiteX0" fmla="*/ 7059 w 1563122"/>
                  <a:gd name="connsiteY0" fmla="*/ 1680358 h 1680358"/>
                  <a:gd name="connsiteX1" fmla="*/ 7059 w 1563122"/>
                  <a:gd name="connsiteY1" fmla="*/ 1514104 h 1680358"/>
                  <a:gd name="connsiteX2" fmla="*/ 24872 w 1563122"/>
                  <a:gd name="connsiteY2" fmla="*/ 1430977 h 1680358"/>
                  <a:gd name="connsiteX3" fmla="*/ 36747 w 1563122"/>
                  <a:gd name="connsiteY3" fmla="*/ 1371600 h 1680358"/>
                  <a:gd name="connsiteX4" fmla="*/ 48623 w 1563122"/>
                  <a:gd name="connsiteY4" fmla="*/ 1330036 h 1680358"/>
                  <a:gd name="connsiteX5" fmla="*/ 60498 w 1563122"/>
                  <a:gd name="connsiteY5" fmla="*/ 1294410 h 1680358"/>
                  <a:gd name="connsiteX6" fmla="*/ 78311 w 1563122"/>
                  <a:gd name="connsiteY6" fmla="*/ 1235034 h 1680358"/>
                  <a:gd name="connsiteX7" fmla="*/ 90186 w 1563122"/>
                  <a:gd name="connsiteY7" fmla="*/ 1217221 h 1680358"/>
                  <a:gd name="connsiteX8" fmla="*/ 96124 w 1563122"/>
                  <a:gd name="connsiteY8" fmla="*/ 1199408 h 1680358"/>
                  <a:gd name="connsiteX9" fmla="*/ 107999 w 1563122"/>
                  <a:gd name="connsiteY9" fmla="*/ 1187532 h 1680358"/>
                  <a:gd name="connsiteX10" fmla="*/ 131750 w 1563122"/>
                  <a:gd name="connsiteY10" fmla="*/ 1151906 h 1680358"/>
                  <a:gd name="connsiteX11" fmla="*/ 143625 w 1563122"/>
                  <a:gd name="connsiteY11" fmla="*/ 1134093 h 1680358"/>
                  <a:gd name="connsiteX12" fmla="*/ 155501 w 1563122"/>
                  <a:gd name="connsiteY12" fmla="*/ 1122218 h 1680358"/>
                  <a:gd name="connsiteX13" fmla="*/ 167376 w 1563122"/>
                  <a:gd name="connsiteY13" fmla="*/ 1104405 h 1680358"/>
                  <a:gd name="connsiteX14" fmla="*/ 185189 w 1563122"/>
                  <a:gd name="connsiteY14" fmla="*/ 1092530 h 1680358"/>
                  <a:gd name="connsiteX15" fmla="*/ 203002 w 1563122"/>
                  <a:gd name="connsiteY15" fmla="*/ 1068779 h 1680358"/>
                  <a:gd name="connsiteX16" fmla="*/ 220815 w 1563122"/>
                  <a:gd name="connsiteY16" fmla="*/ 1056904 h 1680358"/>
                  <a:gd name="connsiteX17" fmla="*/ 244565 w 1563122"/>
                  <a:gd name="connsiteY17" fmla="*/ 1039091 h 1680358"/>
                  <a:gd name="connsiteX18" fmla="*/ 286129 w 1563122"/>
                  <a:gd name="connsiteY18" fmla="*/ 1009403 h 1680358"/>
                  <a:gd name="connsiteX19" fmla="*/ 327693 w 1563122"/>
                  <a:gd name="connsiteY19" fmla="*/ 979714 h 1680358"/>
                  <a:gd name="connsiteX20" fmla="*/ 345506 w 1563122"/>
                  <a:gd name="connsiteY20" fmla="*/ 967839 h 1680358"/>
                  <a:gd name="connsiteX21" fmla="*/ 381132 w 1563122"/>
                  <a:gd name="connsiteY21" fmla="*/ 955964 h 1680358"/>
                  <a:gd name="connsiteX22" fmla="*/ 428633 w 1563122"/>
                  <a:gd name="connsiteY22" fmla="*/ 932213 h 1680358"/>
                  <a:gd name="connsiteX23" fmla="*/ 464259 w 1563122"/>
                  <a:gd name="connsiteY23" fmla="*/ 908462 h 1680358"/>
                  <a:gd name="connsiteX24" fmla="*/ 517698 w 1563122"/>
                  <a:gd name="connsiteY24" fmla="*/ 890649 h 1680358"/>
                  <a:gd name="connsiteX25" fmla="*/ 571137 w 1563122"/>
                  <a:gd name="connsiteY25" fmla="*/ 872836 h 1680358"/>
                  <a:gd name="connsiteX26" fmla="*/ 588950 w 1563122"/>
                  <a:gd name="connsiteY26" fmla="*/ 866899 h 1680358"/>
                  <a:gd name="connsiteX27" fmla="*/ 600825 w 1563122"/>
                  <a:gd name="connsiteY27" fmla="*/ 855023 h 1680358"/>
                  <a:gd name="connsiteX28" fmla="*/ 636451 w 1563122"/>
                  <a:gd name="connsiteY28" fmla="*/ 843148 h 1680358"/>
                  <a:gd name="connsiteX29" fmla="*/ 672077 w 1563122"/>
                  <a:gd name="connsiteY29" fmla="*/ 831273 h 1680358"/>
                  <a:gd name="connsiteX30" fmla="*/ 707703 w 1563122"/>
                  <a:gd name="connsiteY30" fmla="*/ 819397 h 1680358"/>
                  <a:gd name="connsiteX31" fmla="*/ 725516 w 1563122"/>
                  <a:gd name="connsiteY31" fmla="*/ 813460 h 1680358"/>
                  <a:gd name="connsiteX32" fmla="*/ 773017 w 1563122"/>
                  <a:gd name="connsiteY32" fmla="*/ 801584 h 1680358"/>
                  <a:gd name="connsiteX33" fmla="*/ 814581 w 1563122"/>
                  <a:gd name="connsiteY33" fmla="*/ 789709 h 1680358"/>
                  <a:gd name="connsiteX34" fmla="*/ 832394 w 1563122"/>
                  <a:gd name="connsiteY34" fmla="*/ 783771 h 1680358"/>
                  <a:gd name="connsiteX35" fmla="*/ 868020 w 1563122"/>
                  <a:gd name="connsiteY35" fmla="*/ 777834 h 1680358"/>
                  <a:gd name="connsiteX36" fmla="*/ 885833 w 1563122"/>
                  <a:gd name="connsiteY36" fmla="*/ 771896 h 1680358"/>
                  <a:gd name="connsiteX37" fmla="*/ 980836 w 1563122"/>
                  <a:gd name="connsiteY37" fmla="*/ 754083 h 1680358"/>
                  <a:gd name="connsiteX38" fmla="*/ 1004586 w 1563122"/>
                  <a:gd name="connsiteY38" fmla="*/ 748145 h 1680358"/>
                  <a:gd name="connsiteX39" fmla="*/ 1040212 w 1563122"/>
                  <a:gd name="connsiteY39" fmla="*/ 736270 h 1680358"/>
                  <a:gd name="connsiteX40" fmla="*/ 1111464 w 1563122"/>
                  <a:gd name="connsiteY40" fmla="*/ 712519 h 1680358"/>
                  <a:gd name="connsiteX41" fmla="*/ 1147090 w 1563122"/>
                  <a:gd name="connsiteY41" fmla="*/ 700644 h 1680358"/>
                  <a:gd name="connsiteX42" fmla="*/ 1164903 w 1563122"/>
                  <a:gd name="connsiteY42" fmla="*/ 694706 h 1680358"/>
                  <a:gd name="connsiteX43" fmla="*/ 1182716 w 1563122"/>
                  <a:gd name="connsiteY43" fmla="*/ 682831 h 1680358"/>
                  <a:gd name="connsiteX44" fmla="*/ 1218342 w 1563122"/>
                  <a:gd name="connsiteY44" fmla="*/ 670956 h 1680358"/>
                  <a:gd name="connsiteX45" fmla="*/ 1230217 w 1563122"/>
                  <a:gd name="connsiteY45" fmla="*/ 653143 h 1680358"/>
                  <a:gd name="connsiteX46" fmla="*/ 1265843 w 1563122"/>
                  <a:gd name="connsiteY46" fmla="*/ 635330 h 1680358"/>
                  <a:gd name="connsiteX47" fmla="*/ 1307407 w 1563122"/>
                  <a:gd name="connsiteY47" fmla="*/ 605642 h 1680358"/>
                  <a:gd name="connsiteX48" fmla="*/ 1319282 w 1563122"/>
                  <a:gd name="connsiteY48" fmla="*/ 593766 h 1680358"/>
                  <a:gd name="connsiteX49" fmla="*/ 1325220 w 1563122"/>
                  <a:gd name="connsiteY49" fmla="*/ 575953 h 1680358"/>
                  <a:gd name="connsiteX50" fmla="*/ 1360846 w 1563122"/>
                  <a:gd name="connsiteY50" fmla="*/ 552203 h 1680358"/>
                  <a:gd name="connsiteX51" fmla="*/ 1372721 w 1563122"/>
                  <a:gd name="connsiteY51" fmla="*/ 540327 h 1680358"/>
                  <a:gd name="connsiteX52" fmla="*/ 1396472 w 1563122"/>
                  <a:gd name="connsiteY52" fmla="*/ 510639 h 1680358"/>
                  <a:gd name="connsiteX53" fmla="*/ 1408347 w 1563122"/>
                  <a:gd name="connsiteY53" fmla="*/ 492826 h 1680358"/>
                  <a:gd name="connsiteX54" fmla="*/ 1432098 w 1563122"/>
                  <a:gd name="connsiteY54" fmla="*/ 469075 h 1680358"/>
                  <a:gd name="connsiteX55" fmla="*/ 1438036 w 1563122"/>
                  <a:gd name="connsiteY55" fmla="*/ 451262 h 1680358"/>
                  <a:gd name="connsiteX56" fmla="*/ 1467724 w 1563122"/>
                  <a:gd name="connsiteY56" fmla="*/ 421574 h 1680358"/>
                  <a:gd name="connsiteX57" fmla="*/ 1473662 w 1563122"/>
                  <a:gd name="connsiteY57" fmla="*/ 403761 h 1680358"/>
                  <a:gd name="connsiteX58" fmla="*/ 1497412 w 1563122"/>
                  <a:gd name="connsiteY58" fmla="*/ 368135 h 1680358"/>
                  <a:gd name="connsiteX59" fmla="*/ 1515225 w 1563122"/>
                  <a:gd name="connsiteY59" fmla="*/ 314696 h 1680358"/>
                  <a:gd name="connsiteX60" fmla="*/ 1538976 w 1563122"/>
                  <a:gd name="connsiteY60" fmla="*/ 243444 h 1680358"/>
                  <a:gd name="connsiteX61" fmla="*/ 1544914 w 1563122"/>
                  <a:gd name="connsiteY61" fmla="*/ 225631 h 1680358"/>
                  <a:gd name="connsiteX62" fmla="*/ 1550851 w 1563122"/>
                  <a:gd name="connsiteY62" fmla="*/ 207818 h 1680358"/>
                  <a:gd name="connsiteX63" fmla="*/ 1556789 w 1563122"/>
                  <a:gd name="connsiteY63" fmla="*/ 118753 h 1680358"/>
                  <a:gd name="connsiteX64" fmla="*/ 1562727 w 1563122"/>
                  <a:gd name="connsiteY64" fmla="*/ 53439 h 1680358"/>
                  <a:gd name="connsiteX65" fmla="*/ 1562727 w 1563122"/>
                  <a:gd name="connsiteY65" fmla="*/ 0 h 168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563122" h="1680358">
                    <a:moveTo>
                      <a:pt x="7059" y="1680358"/>
                    </a:moveTo>
                    <a:cubicBezTo>
                      <a:pt x="-1401" y="1604225"/>
                      <a:pt x="-3261" y="1613861"/>
                      <a:pt x="7059" y="1514104"/>
                    </a:cubicBezTo>
                    <a:cubicBezTo>
                      <a:pt x="11532" y="1470860"/>
                      <a:pt x="17678" y="1464551"/>
                      <a:pt x="24872" y="1430977"/>
                    </a:cubicBezTo>
                    <a:cubicBezTo>
                      <a:pt x="29101" y="1411241"/>
                      <a:pt x="30364" y="1390748"/>
                      <a:pt x="36747" y="1371600"/>
                    </a:cubicBezTo>
                    <a:cubicBezTo>
                      <a:pt x="56693" y="1311765"/>
                      <a:pt x="26267" y="1404555"/>
                      <a:pt x="48623" y="1330036"/>
                    </a:cubicBezTo>
                    <a:cubicBezTo>
                      <a:pt x="52220" y="1318046"/>
                      <a:pt x="57462" y="1306554"/>
                      <a:pt x="60498" y="1294410"/>
                    </a:cubicBezTo>
                    <a:cubicBezTo>
                      <a:pt x="63817" y="1281135"/>
                      <a:pt x="72530" y="1243705"/>
                      <a:pt x="78311" y="1235034"/>
                    </a:cubicBezTo>
                    <a:cubicBezTo>
                      <a:pt x="82269" y="1229096"/>
                      <a:pt x="86995" y="1223604"/>
                      <a:pt x="90186" y="1217221"/>
                    </a:cubicBezTo>
                    <a:cubicBezTo>
                      <a:pt x="92985" y="1211623"/>
                      <a:pt x="92904" y="1204775"/>
                      <a:pt x="96124" y="1199408"/>
                    </a:cubicBezTo>
                    <a:cubicBezTo>
                      <a:pt x="99004" y="1194608"/>
                      <a:pt x="104640" y="1192011"/>
                      <a:pt x="107999" y="1187532"/>
                    </a:cubicBezTo>
                    <a:cubicBezTo>
                      <a:pt x="116562" y="1176114"/>
                      <a:pt x="123833" y="1163781"/>
                      <a:pt x="131750" y="1151906"/>
                    </a:cubicBezTo>
                    <a:cubicBezTo>
                      <a:pt x="135708" y="1145968"/>
                      <a:pt x="138579" y="1139139"/>
                      <a:pt x="143625" y="1134093"/>
                    </a:cubicBezTo>
                    <a:cubicBezTo>
                      <a:pt x="147584" y="1130135"/>
                      <a:pt x="152004" y="1126589"/>
                      <a:pt x="155501" y="1122218"/>
                    </a:cubicBezTo>
                    <a:cubicBezTo>
                      <a:pt x="159959" y="1116646"/>
                      <a:pt x="162330" y="1109451"/>
                      <a:pt x="167376" y="1104405"/>
                    </a:cubicBezTo>
                    <a:cubicBezTo>
                      <a:pt x="172422" y="1099359"/>
                      <a:pt x="179251" y="1096488"/>
                      <a:pt x="185189" y="1092530"/>
                    </a:cubicBezTo>
                    <a:cubicBezTo>
                      <a:pt x="191127" y="1084613"/>
                      <a:pt x="196004" y="1075777"/>
                      <a:pt x="203002" y="1068779"/>
                    </a:cubicBezTo>
                    <a:cubicBezTo>
                      <a:pt x="208048" y="1063733"/>
                      <a:pt x="215008" y="1061052"/>
                      <a:pt x="220815" y="1056904"/>
                    </a:cubicBezTo>
                    <a:cubicBezTo>
                      <a:pt x="228868" y="1051152"/>
                      <a:pt x="237118" y="1045608"/>
                      <a:pt x="244565" y="1039091"/>
                    </a:cubicBezTo>
                    <a:cubicBezTo>
                      <a:pt x="279243" y="1008748"/>
                      <a:pt x="254060" y="1020091"/>
                      <a:pt x="286129" y="1009403"/>
                    </a:cubicBezTo>
                    <a:cubicBezTo>
                      <a:pt x="331259" y="964273"/>
                      <a:pt x="289781" y="998670"/>
                      <a:pt x="327693" y="979714"/>
                    </a:cubicBezTo>
                    <a:cubicBezTo>
                      <a:pt x="334076" y="976523"/>
                      <a:pt x="338985" y="970737"/>
                      <a:pt x="345506" y="967839"/>
                    </a:cubicBezTo>
                    <a:cubicBezTo>
                      <a:pt x="356945" y="962755"/>
                      <a:pt x="381132" y="955964"/>
                      <a:pt x="381132" y="955964"/>
                    </a:cubicBezTo>
                    <a:cubicBezTo>
                      <a:pt x="420163" y="916930"/>
                      <a:pt x="346766" y="986792"/>
                      <a:pt x="428633" y="932213"/>
                    </a:cubicBezTo>
                    <a:cubicBezTo>
                      <a:pt x="440508" y="924296"/>
                      <a:pt x="450719" y="912975"/>
                      <a:pt x="464259" y="908462"/>
                    </a:cubicBezTo>
                    <a:lnTo>
                      <a:pt x="517698" y="890649"/>
                    </a:lnTo>
                    <a:lnTo>
                      <a:pt x="571137" y="872836"/>
                    </a:lnTo>
                    <a:lnTo>
                      <a:pt x="588950" y="866899"/>
                    </a:lnTo>
                    <a:cubicBezTo>
                      <a:pt x="592908" y="862940"/>
                      <a:pt x="595818" y="857527"/>
                      <a:pt x="600825" y="855023"/>
                    </a:cubicBezTo>
                    <a:cubicBezTo>
                      <a:pt x="612021" y="849425"/>
                      <a:pt x="624576" y="847106"/>
                      <a:pt x="636451" y="843148"/>
                    </a:cubicBezTo>
                    <a:lnTo>
                      <a:pt x="672077" y="831273"/>
                    </a:lnTo>
                    <a:lnTo>
                      <a:pt x="707703" y="819397"/>
                    </a:lnTo>
                    <a:cubicBezTo>
                      <a:pt x="713641" y="817418"/>
                      <a:pt x="719444" y="814978"/>
                      <a:pt x="725516" y="813460"/>
                    </a:cubicBezTo>
                    <a:cubicBezTo>
                      <a:pt x="741350" y="809501"/>
                      <a:pt x="757533" y="806745"/>
                      <a:pt x="773017" y="801584"/>
                    </a:cubicBezTo>
                    <a:cubicBezTo>
                      <a:pt x="815746" y="787342"/>
                      <a:pt x="762365" y="804629"/>
                      <a:pt x="814581" y="789709"/>
                    </a:cubicBezTo>
                    <a:cubicBezTo>
                      <a:pt x="820599" y="787989"/>
                      <a:pt x="826284" y="785129"/>
                      <a:pt x="832394" y="783771"/>
                    </a:cubicBezTo>
                    <a:cubicBezTo>
                      <a:pt x="844146" y="781159"/>
                      <a:pt x="856145" y="779813"/>
                      <a:pt x="868020" y="777834"/>
                    </a:cubicBezTo>
                    <a:cubicBezTo>
                      <a:pt x="873958" y="775855"/>
                      <a:pt x="879723" y="773254"/>
                      <a:pt x="885833" y="771896"/>
                    </a:cubicBezTo>
                    <a:cubicBezTo>
                      <a:pt x="975969" y="751865"/>
                      <a:pt x="851644" y="786384"/>
                      <a:pt x="980836" y="754083"/>
                    </a:cubicBezTo>
                    <a:cubicBezTo>
                      <a:pt x="988753" y="752104"/>
                      <a:pt x="996770" y="750490"/>
                      <a:pt x="1004586" y="748145"/>
                    </a:cubicBezTo>
                    <a:cubicBezTo>
                      <a:pt x="1016576" y="744548"/>
                      <a:pt x="1028337" y="740228"/>
                      <a:pt x="1040212" y="736270"/>
                    </a:cubicBezTo>
                    <a:lnTo>
                      <a:pt x="1111464" y="712519"/>
                    </a:lnTo>
                    <a:lnTo>
                      <a:pt x="1147090" y="700644"/>
                    </a:lnTo>
                    <a:cubicBezTo>
                      <a:pt x="1153028" y="698665"/>
                      <a:pt x="1159695" y="698178"/>
                      <a:pt x="1164903" y="694706"/>
                    </a:cubicBezTo>
                    <a:cubicBezTo>
                      <a:pt x="1170841" y="690748"/>
                      <a:pt x="1176195" y="685729"/>
                      <a:pt x="1182716" y="682831"/>
                    </a:cubicBezTo>
                    <a:cubicBezTo>
                      <a:pt x="1194155" y="677747"/>
                      <a:pt x="1218342" y="670956"/>
                      <a:pt x="1218342" y="670956"/>
                    </a:cubicBezTo>
                    <a:cubicBezTo>
                      <a:pt x="1222300" y="665018"/>
                      <a:pt x="1225171" y="658189"/>
                      <a:pt x="1230217" y="653143"/>
                    </a:cubicBezTo>
                    <a:cubicBezTo>
                      <a:pt x="1241726" y="641634"/>
                      <a:pt x="1251356" y="640159"/>
                      <a:pt x="1265843" y="635330"/>
                    </a:cubicBezTo>
                    <a:cubicBezTo>
                      <a:pt x="1294020" y="607153"/>
                      <a:pt x="1278972" y="615119"/>
                      <a:pt x="1307407" y="605642"/>
                    </a:cubicBezTo>
                    <a:cubicBezTo>
                      <a:pt x="1311365" y="601683"/>
                      <a:pt x="1316402" y="598566"/>
                      <a:pt x="1319282" y="593766"/>
                    </a:cubicBezTo>
                    <a:cubicBezTo>
                      <a:pt x="1322502" y="588399"/>
                      <a:pt x="1320794" y="580379"/>
                      <a:pt x="1325220" y="575953"/>
                    </a:cubicBezTo>
                    <a:cubicBezTo>
                      <a:pt x="1335312" y="565861"/>
                      <a:pt x="1350754" y="562295"/>
                      <a:pt x="1360846" y="552203"/>
                    </a:cubicBezTo>
                    <a:lnTo>
                      <a:pt x="1372721" y="540327"/>
                    </a:lnTo>
                    <a:cubicBezTo>
                      <a:pt x="1384281" y="505648"/>
                      <a:pt x="1369614" y="537497"/>
                      <a:pt x="1396472" y="510639"/>
                    </a:cubicBezTo>
                    <a:cubicBezTo>
                      <a:pt x="1401518" y="505593"/>
                      <a:pt x="1403703" y="498244"/>
                      <a:pt x="1408347" y="492826"/>
                    </a:cubicBezTo>
                    <a:cubicBezTo>
                      <a:pt x="1415633" y="484325"/>
                      <a:pt x="1432098" y="469075"/>
                      <a:pt x="1432098" y="469075"/>
                    </a:cubicBezTo>
                    <a:cubicBezTo>
                      <a:pt x="1434077" y="463137"/>
                      <a:pt x="1434126" y="456149"/>
                      <a:pt x="1438036" y="451262"/>
                    </a:cubicBezTo>
                    <a:cubicBezTo>
                      <a:pt x="1469704" y="411678"/>
                      <a:pt x="1443973" y="469075"/>
                      <a:pt x="1467724" y="421574"/>
                    </a:cubicBezTo>
                    <a:cubicBezTo>
                      <a:pt x="1470523" y="415976"/>
                      <a:pt x="1470622" y="409232"/>
                      <a:pt x="1473662" y="403761"/>
                    </a:cubicBezTo>
                    <a:cubicBezTo>
                      <a:pt x="1480593" y="391285"/>
                      <a:pt x="1492898" y="381675"/>
                      <a:pt x="1497412" y="368135"/>
                    </a:cubicBezTo>
                    <a:lnTo>
                      <a:pt x="1515225" y="314696"/>
                    </a:lnTo>
                    <a:lnTo>
                      <a:pt x="1538976" y="243444"/>
                    </a:lnTo>
                    <a:lnTo>
                      <a:pt x="1544914" y="225631"/>
                    </a:lnTo>
                    <a:lnTo>
                      <a:pt x="1550851" y="207818"/>
                    </a:lnTo>
                    <a:cubicBezTo>
                      <a:pt x="1552830" y="178130"/>
                      <a:pt x="1554507" y="148420"/>
                      <a:pt x="1556789" y="118753"/>
                    </a:cubicBezTo>
                    <a:cubicBezTo>
                      <a:pt x="1558466" y="96956"/>
                      <a:pt x="1561635" y="75273"/>
                      <a:pt x="1562727" y="53439"/>
                    </a:cubicBezTo>
                    <a:cubicBezTo>
                      <a:pt x="1563617" y="35648"/>
                      <a:pt x="1562727" y="17813"/>
                      <a:pt x="1562727" y="0"/>
                    </a:cubicBezTo>
                  </a:path>
                </a:pathLst>
              </a:custGeom>
              <a:noFill/>
              <a:ln cmpd="sng">
                <a:solidFill>
                  <a:srgbClr val="FF000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8905302-45B0-0EC5-5038-B0B71DBEC009}"/>
              </a:ext>
            </a:extLst>
          </p:cNvPr>
          <p:cNvGrpSpPr/>
          <p:nvPr/>
        </p:nvGrpSpPr>
        <p:grpSpPr>
          <a:xfrm>
            <a:off x="7204381" y="950720"/>
            <a:ext cx="4043343" cy="2191828"/>
            <a:chOff x="7543877" y="1262392"/>
            <a:chExt cx="4043343" cy="219182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974544-DE27-86B8-16A6-F69E490331C5}"/>
                </a:ext>
              </a:extLst>
            </p:cNvPr>
            <p:cNvSpPr txBox="1"/>
            <p:nvPr/>
          </p:nvSpPr>
          <p:spPr>
            <a:xfrm>
              <a:off x="10019361" y="2004363"/>
              <a:ext cx="15678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二维空间中的降维结果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CAF2354-EEE0-6FFE-FEED-14901AB4C031}"/>
                </a:ext>
              </a:extLst>
            </p:cNvPr>
            <p:cNvGrpSpPr/>
            <p:nvPr/>
          </p:nvGrpSpPr>
          <p:grpSpPr>
            <a:xfrm>
              <a:off x="7543877" y="1262392"/>
              <a:ext cx="2422713" cy="2191828"/>
              <a:chOff x="8420014" y="2947717"/>
              <a:chExt cx="2763494" cy="250013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DE8EA38-FC40-8732-9B19-4F50A4BB6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486" t="14442" b="12646"/>
              <a:stretch/>
            </p:blipFill>
            <p:spPr>
              <a:xfrm>
                <a:off x="8420014" y="2947717"/>
                <a:ext cx="2763494" cy="2500133"/>
              </a:xfrm>
              <a:prstGeom prst="rect">
                <a:avLst/>
              </a:prstGeom>
            </p:spPr>
          </p:pic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5CE2299-8DBA-8F2D-FA8A-C420937DFD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45698" y="4220994"/>
                <a:ext cx="1656608" cy="0"/>
              </a:xfrm>
              <a:prstGeom prst="straightConnector1">
                <a:avLst/>
              </a:prstGeom>
              <a:noFill/>
              <a:ln cmpd="sng">
                <a:solidFill>
                  <a:srgbClr val="FF0000"/>
                </a:solidFill>
                <a:headEnd type="none"/>
                <a:tailEnd type="stealth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4737D8-B669-5FF2-B89A-4BBF3234CA17}"/>
              </a:ext>
            </a:extLst>
          </p:cNvPr>
          <p:cNvGrpSpPr/>
          <p:nvPr/>
        </p:nvGrpSpPr>
        <p:grpSpPr>
          <a:xfrm>
            <a:off x="7355941" y="3369815"/>
            <a:ext cx="2471677" cy="2462008"/>
            <a:chOff x="7298290" y="3746654"/>
            <a:chExt cx="2471677" cy="246200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85DE064-793A-2A18-6F14-5209AFC2E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430" t="15595" r="40505" b="19467"/>
            <a:stretch/>
          </p:blipFill>
          <p:spPr>
            <a:xfrm>
              <a:off x="7298290" y="4180458"/>
              <a:ext cx="2471677" cy="202820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D181B6-D921-C31A-6E82-036E05BA9030}"/>
                </a:ext>
              </a:extLst>
            </p:cNvPr>
            <p:cNvSpPr txBox="1"/>
            <p:nvPr/>
          </p:nvSpPr>
          <p:spPr>
            <a:xfrm>
              <a:off x="7428498" y="3746654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神经活动数据降维</a:t>
              </a: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F503EE-9433-47E6-5415-5D1E835E7AD2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1026BE9C-FAB8-00E5-4870-3E8FAD9DFD2B}"/>
              </a:ext>
            </a:extLst>
          </p:cNvPr>
          <p:cNvSpPr/>
          <p:nvPr/>
        </p:nvSpPr>
        <p:spPr>
          <a:xfrm>
            <a:off x="6380913" y="4345914"/>
            <a:ext cx="857290" cy="498764"/>
          </a:xfrm>
          <a:prstGeom prst="rightArrow">
            <a:avLst/>
          </a:prstGeom>
          <a:solidFill>
            <a:schemeClr val="bg1">
              <a:lumMod val="50000"/>
            </a:schemeClr>
          </a:solidFill>
          <a:ln cmpd="sng">
            <a:noFill/>
            <a:headEnd type="stealth"/>
            <a:tailEnd type="non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9A991F3-4181-2D98-05E9-69C6052D8900}"/>
              </a:ext>
            </a:extLst>
          </p:cNvPr>
          <p:cNvGrpSpPr/>
          <p:nvPr/>
        </p:nvGrpSpPr>
        <p:grpSpPr>
          <a:xfrm>
            <a:off x="801308" y="3369815"/>
            <a:ext cx="5456494" cy="2453183"/>
            <a:chOff x="885097" y="3534332"/>
            <a:chExt cx="5456494" cy="245318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21FE615-6D8D-9043-5F6F-AC489504D71D}"/>
                </a:ext>
              </a:extLst>
            </p:cNvPr>
            <p:cNvGrpSpPr/>
            <p:nvPr/>
          </p:nvGrpSpPr>
          <p:grpSpPr>
            <a:xfrm>
              <a:off x="885097" y="3534332"/>
              <a:ext cx="5456494" cy="2453183"/>
              <a:chOff x="885097" y="3534332"/>
              <a:chExt cx="5456494" cy="2453183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EED1D6-10A6-10D2-001B-00AA3680EF1C}"/>
                  </a:ext>
                </a:extLst>
              </p:cNvPr>
              <p:cNvSpPr txBox="1"/>
              <p:nvPr/>
            </p:nvSpPr>
            <p:spPr>
              <a:xfrm>
                <a:off x="2290647" y="3534332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高维神经活动数据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245D670-7585-2580-2402-F1927F30A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2678"/>
              <a:stretch/>
            </p:blipFill>
            <p:spPr>
              <a:xfrm>
                <a:off x="885097" y="4027452"/>
                <a:ext cx="3077654" cy="1771796"/>
              </a:xfrm>
              <a:prstGeom prst="rect">
                <a:avLst/>
              </a:prstGeom>
            </p:spPr>
          </p:pic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1653AB0-DACC-AAE2-79BA-C699053907AF}"/>
                  </a:ext>
                </a:extLst>
              </p:cNvPr>
              <p:cNvGrpSpPr/>
              <p:nvPr/>
            </p:nvGrpSpPr>
            <p:grpSpPr>
              <a:xfrm>
                <a:off x="3791532" y="3839186"/>
                <a:ext cx="2550059" cy="2148329"/>
                <a:chOff x="4365338" y="3686494"/>
                <a:chExt cx="2550059" cy="214832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62F06BF8-10D7-04EE-24A0-2616FEC5E565}"/>
                    </a:ext>
                  </a:extLst>
                </p:cNvPr>
                <p:cNvGrpSpPr/>
                <p:nvPr/>
              </p:nvGrpSpPr>
              <p:grpSpPr>
                <a:xfrm>
                  <a:off x="4365338" y="3686494"/>
                  <a:ext cx="2550059" cy="2148329"/>
                  <a:chOff x="1134057" y="2073619"/>
                  <a:chExt cx="2550059" cy="2148329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08C922C4-4DF0-3D65-9F1A-B32935E43256}"/>
                      </a:ext>
                    </a:extLst>
                  </p:cNvPr>
                  <p:cNvGrpSpPr/>
                  <p:nvPr/>
                </p:nvGrpSpPr>
                <p:grpSpPr>
                  <a:xfrm>
                    <a:off x="1134057" y="2073619"/>
                    <a:ext cx="2550059" cy="2148329"/>
                    <a:chOff x="979678" y="2407955"/>
                    <a:chExt cx="2550059" cy="2148329"/>
                  </a:xfrm>
                </p:grpSpPr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C0BC20DB-F1A4-422B-120A-6CCBC32DE0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54200" y="2607733"/>
                      <a:ext cx="0" cy="1075267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897F5A52-7057-B15D-A31A-B17CD74ACB0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54200" y="3683000"/>
                      <a:ext cx="412029" cy="764309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5010DE1F-59E8-30C8-6B92-8D6030F90C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251164" y="3683000"/>
                      <a:ext cx="603036" cy="601133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FB79B762-6C7F-A2FB-7EE9-6C183856D74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52682" y="2407955"/>
                          <a:ext cx="279051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FB79B762-6C7F-A2FB-7EE9-6C183856D74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52682" y="2407955"/>
                          <a:ext cx="279051" cy="307777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l="-8333" b="-12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E4EC7230-DA14-0E5F-A37A-1F74A441CFB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79678" y="4217957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E4EC7230-DA14-0E5F-A37A-1F74A441CFB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79678" y="4217957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 l="-8696" r="-4348" b="-12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BC78826C-BA5F-F833-EA28-AB40E9EC9F2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321493" y="4248507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BC78826C-BA5F-F833-EA28-AB40E9EC9F2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321493" y="4248507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l="-13043" r="-4348" b="-16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4" name="Straight Arrow Connector 43">
                      <a:extLst>
                        <a:ext uri="{FF2B5EF4-FFF2-40B4-BE49-F238E27FC236}">
                          <a16:creationId xmlns:a16="http://schemas.microsoft.com/office/drawing/2014/main" id="{32C0A4C8-797F-668D-E7FD-1751CFF9393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53380" y="3683000"/>
                      <a:ext cx="1170454" cy="382153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97C431B0-96A2-1468-12E2-E2D9C401AE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3635" y="3568535"/>
                      <a:ext cx="1341719" cy="114465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6" name="TextBox 45">
                          <a:extLst>
                            <a:ext uri="{FF2B5EF4-FFF2-40B4-BE49-F238E27FC236}">
                              <a16:creationId xmlns:a16="http://schemas.microsoft.com/office/drawing/2014/main" id="{8781FA04-2127-2EE6-61DA-2DB13EE743C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049611" y="3956598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6" name="TextBox 45">
                          <a:extLst>
                            <a:ext uri="{FF2B5EF4-FFF2-40B4-BE49-F238E27FC236}">
                              <a16:creationId xmlns:a16="http://schemas.microsoft.com/office/drawing/2014/main" id="{8781FA04-2127-2EE6-61DA-2DB13EE743C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049611" y="3956598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27273" r="-86364" b="-16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48E11264-EAB1-4874-6B21-40E5E5A97C7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58252" y="3414646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48E11264-EAB1-4874-6B21-40E5E5A97C7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58252" y="3414646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l="-13636" r="-9091" b="-16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2FBB997D-BD89-3399-B7B5-FF2FC1664DF1}"/>
                      </a:ext>
                    </a:extLst>
                  </p:cNvPr>
                  <p:cNvGrpSpPr/>
                  <p:nvPr/>
                </p:nvGrpSpPr>
                <p:grpSpPr>
                  <a:xfrm>
                    <a:off x="1694640" y="2493837"/>
                    <a:ext cx="1297136" cy="1099903"/>
                    <a:chOff x="1694640" y="2493837"/>
                    <a:chExt cx="1297136" cy="1099903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CD6E2A8B-2BBC-29D3-80B0-3B931106A6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03614" y="2493837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21539C4C-BF96-5039-45CB-D94058F1A8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883776" y="3399893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7D1BF02B-643D-8EB8-B24D-FC0E12EDCA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924062" y="2886246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460DEEF8-75B9-B42E-15CE-AA5E826775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94640" y="3485740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C0EC31EA-1A6E-97B5-4058-AB7D1CE3291D}"/>
                    </a:ext>
                  </a:extLst>
                </p:cNvPr>
                <p:cNvSpPr/>
                <p:nvPr/>
              </p:nvSpPr>
              <p:spPr>
                <a:xfrm>
                  <a:off x="4970694" y="4131762"/>
                  <a:ext cx="1317263" cy="1317049"/>
                </a:xfrm>
                <a:custGeom>
                  <a:avLst/>
                  <a:gdLst>
                    <a:gd name="connsiteX0" fmla="*/ 45010 w 1317263"/>
                    <a:gd name="connsiteY0" fmla="*/ 1317049 h 1317049"/>
                    <a:gd name="connsiteX1" fmla="*/ 17301 w 1317263"/>
                    <a:gd name="connsiteY1" fmla="*/ 753631 h 1317049"/>
                    <a:gd name="connsiteX2" fmla="*/ 275919 w 1317263"/>
                    <a:gd name="connsiteY2" fmla="*/ 411885 h 1317049"/>
                    <a:gd name="connsiteX3" fmla="*/ 599192 w 1317263"/>
                    <a:gd name="connsiteY3" fmla="*/ 790576 h 1317049"/>
                    <a:gd name="connsiteX4" fmla="*/ 867046 w 1317263"/>
                    <a:gd name="connsiteY4" fmla="*/ 1113849 h 1317049"/>
                    <a:gd name="connsiteX5" fmla="*/ 1254973 w 1317263"/>
                    <a:gd name="connsiteY5" fmla="*/ 845994 h 1317049"/>
                    <a:gd name="connsiteX6" fmla="*/ 1291919 w 1317263"/>
                    <a:gd name="connsiteY6" fmla="*/ 319522 h 1317049"/>
                    <a:gd name="connsiteX7" fmla="*/ 1005592 w 1317263"/>
                    <a:gd name="connsiteY7" fmla="*/ 88613 h 1317049"/>
                    <a:gd name="connsiteX8" fmla="*/ 673083 w 1317263"/>
                    <a:gd name="connsiteY8" fmla="*/ 5485 h 1317049"/>
                    <a:gd name="connsiteX9" fmla="*/ 589955 w 1317263"/>
                    <a:gd name="connsiteY9" fmla="*/ 14722 h 131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17263" h="1317049">
                      <a:moveTo>
                        <a:pt x="45010" y="1317049"/>
                      </a:moveTo>
                      <a:cubicBezTo>
                        <a:pt x="11913" y="1110770"/>
                        <a:pt x="-21184" y="904492"/>
                        <a:pt x="17301" y="753631"/>
                      </a:cubicBezTo>
                      <a:cubicBezTo>
                        <a:pt x="55786" y="602770"/>
                        <a:pt x="178937" y="405728"/>
                        <a:pt x="275919" y="411885"/>
                      </a:cubicBezTo>
                      <a:cubicBezTo>
                        <a:pt x="372901" y="418042"/>
                        <a:pt x="500671" y="673582"/>
                        <a:pt x="599192" y="790576"/>
                      </a:cubicBezTo>
                      <a:cubicBezTo>
                        <a:pt x="697713" y="907570"/>
                        <a:pt x="757749" y="1104613"/>
                        <a:pt x="867046" y="1113849"/>
                      </a:cubicBezTo>
                      <a:cubicBezTo>
                        <a:pt x="976343" y="1123085"/>
                        <a:pt x="1184161" y="978382"/>
                        <a:pt x="1254973" y="845994"/>
                      </a:cubicBezTo>
                      <a:cubicBezTo>
                        <a:pt x="1325785" y="713606"/>
                        <a:pt x="1333483" y="445752"/>
                        <a:pt x="1291919" y="319522"/>
                      </a:cubicBezTo>
                      <a:cubicBezTo>
                        <a:pt x="1250356" y="193292"/>
                        <a:pt x="1108731" y="140952"/>
                        <a:pt x="1005592" y="88613"/>
                      </a:cubicBezTo>
                      <a:cubicBezTo>
                        <a:pt x="902453" y="36273"/>
                        <a:pt x="742356" y="17800"/>
                        <a:pt x="673083" y="5485"/>
                      </a:cubicBezTo>
                      <a:cubicBezTo>
                        <a:pt x="603810" y="-6830"/>
                        <a:pt x="596882" y="3946"/>
                        <a:pt x="589955" y="14722"/>
                      </a:cubicBezTo>
                    </a:path>
                  </a:pathLst>
                </a:custGeom>
                <a:noFill/>
                <a:ln cmpd="sng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A7F783A-5CCF-7591-2B42-346C92D4567D}"/>
                </a:ext>
              </a:extLst>
            </p:cNvPr>
            <p:cNvGrpSpPr/>
            <p:nvPr/>
          </p:nvGrpSpPr>
          <p:grpSpPr>
            <a:xfrm>
              <a:off x="4820833" y="4497077"/>
              <a:ext cx="766557" cy="521982"/>
              <a:chOff x="4820833" y="4497077"/>
              <a:chExt cx="766557" cy="52198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CC9B515-9E64-55D3-4D17-33D389F721F6}"/>
                  </a:ext>
                </a:extLst>
              </p:cNvPr>
              <p:cNvSpPr txBox="1"/>
              <p:nvPr/>
            </p:nvSpPr>
            <p:spPr>
              <a:xfrm>
                <a:off x="4820833" y="4497077"/>
                <a:ext cx="7665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Time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492ADB4-6B60-0E6B-8F66-D9EB5F1AD9F1}"/>
                  </a:ext>
                </a:extLst>
              </p:cNvPr>
              <p:cNvCxnSpPr/>
              <p:nvPr/>
            </p:nvCxnSpPr>
            <p:spPr>
              <a:xfrm>
                <a:off x="4849573" y="4677314"/>
                <a:ext cx="240145" cy="341745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26171EA-C5B0-F11C-754E-BFCAAED22791}"/>
              </a:ext>
            </a:extLst>
          </p:cNvPr>
          <p:cNvSpPr txBox="1"/>
          <p:nvPr/>
        </p:nvSpPr>
        <p:spPr>
          <a:xfrm>
            <a:off x="9720121" y="4157304"/>
            <a:ext cx="1984334" cy="1172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 sz="2000" dirty="0"/>
              <a:t>寻找低维子空间</a:t>
            </a:r>
          </a:p>
          <a:p>
            <a:pPr algn="ctr">
              <a:lnSpc>
                <a:spcPct val="120000"/>
              </a:lnSpc>
            </a:pPr>
            <a:r>
              <a:rPr lang="en-CN" sz="2000" dirty="0"/>
              <a:t>同时保留大部分主要信息</a:t>
            </a:r>
            <a:r>
              <a:rPr lang="zh-CN" altLang="en-US" sz="2000" dirty="0"/>
              <a:t>？</a:t>
            </a:r>
            <a:endParaRPr lang="en-CN" sz="2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ED3D70-82EA-C179-3E9E-C69E7B52DC63}"/>
              </a:ext>
            </a:extLst>
          </p:cNvPr>
          <p:cNvSpPr txBox="1"/>
          <p:nvPr/>
        </p:nvSpPr>
        <p:spPr>
          <a:xfrm>
            <a:off x="1212766" y="6372556"/>
            <a:ext cx="8467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Carsen Stringer et al.,</a:t>
            </a:r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Spontaneous behaviors drive multidimensional, </a:t>
            </a:r>
            <a:r>
              <a:rPr kumimoji="1"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brainwide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activity. Science 364, eaav7893 (2019),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Cunningham</a:t>
            </a:r>
            <a:r>
              <a:rPr lang="zh-CN" alt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Yu. Dimensionality Reduction for Large-Scale Neural Recordings. </a:t>
            </a:r>
            <a:r>
              <a:rPr lang="en-US" sz="12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Nat. </a:t>
            </a:r>
            <a:r>
              <a:rPr lang="en-US" sz="12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Neurosci</a:t>
            </a:r>
            <a:r>
              <a:rPr lang="en-US" sz="12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17, no. 11 (2014): 1500–1509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4FDA8-BB29-7FF5-CB01-14634D3F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22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12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1" grpId="0" animBg="1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5896-05FF-F0B2-F187-04E4026F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B264C-0F3C-F4E7-C973-5CCF5FEB70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528" r="16528"/>
          <a:stretch/>
        </p:blipFill>
        <p:spPr>
          <a:xfrm>
            <a:off x="4325971" y="1334829"/>
            <a:ext cx="3672840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90599E-FA9C-0912-F527-1AD9B34D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主成分分析(PCA): 最常用的数据降维方法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F57EEA-3FFF-F5F2-7A03-7334A5457E30}"/>
                  </a:ext>
                </a:extLst>
              </p:cNvPr>
              <p:cNvSpPr txBox="1"/>
              <p:nvPr/>
            </p:nvSpPr>
            <p:spPr>
              <a:xfrm>
                <a:off x="9729323" y="4897101"/>
                <a:ext cx="2327210" cy="9785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CN" sz="20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F57EEA-3FFF-F5F2-7A03-7334A5457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9323" y="4897101"/>
                <a:ext cx="2327210" cy="978538"/>
              </a:xfrm>
              <a:prstGeom prst="rect">
                <a:avLst/>
              </a:prstGeom>
              <a:blipFill>
                <a:blip r:embed="rId7"/>
                <a:stretch>
                  <a:fillRect b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C53B601-0AB1-591C-7863-B08062FB1F7D}"/>
              </a:ext>
            </a:extLst>
          </p:cNvPr>
          <p:cNvSpPr txBox="1">
            <a:spLocks/>
          </p:cNvSpPr>
          <p:nvPr/>
        </p:nvSpPr>
        <p:spPr>
          <a:xfrm>
            <a:off x="381242" y="927100"/>
            <a:ext cx="9544636" cy="493105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>
            <a:lvl1pPr marL="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sz="24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2192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sz="18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b="0"/>
              <a:t>给猕猴不同水果的图片</a:t>
            </a:r>
            <a:r>
              <a:rPr lang="zh-CN" altLang="en-US" b="0"/>
              <a:t>，同时测量初级</a:t>
            </a:r>
            <a:r>
              <a:rPr lang="zh-CN" altLang="en-CN" b="0"/>
              <a:t>视皮层</a:t>
            </a:r>
            <a:r>
              <a:rPr lang="zh-CN" altLang="en-US" b="0"/>
              <a:t>中</a:t>
            </a:r>
            <a:r>
              <a:rPr lang="en-US" altLang="zh-CN" b="0"/>
              <a:t>2</a:t>
            </a:r>
            <a:r>
              <a:rPr lang="zh-CN" altLang="en-US" b="0"/>
              <a:t>个神经元的活动</a:t>
            </a:r>
            <a:endParaRPr lang="en-CN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81EB31-EBF0-6AC0-CC35-7A8229E366B8}"/>
              </a:ext>
            </a:extLst>
          </p:cNvPr>
          <p:cNvGrpSpPr/>
          <p:nvPr/>
        </p:nvGrpSpPr>
        <p:grpSpPr>
          <a:xfrm>
            <a:off x="590375" y="1850522"/>
            <a:ext cx="3791219" cy="2865120"/>
            <a:chOff x="1234440" y="2818448"/>
            <a:chExt cx="4588510" cy="34676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0C0B68-70F3-79D8-5660-B7FE7CB30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34440" y="2818448"/>
              <a:ext cx="4588510" cy="346765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B5E1108-9850-1F6E-A7AC-5502F7914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01720" y="4175388"/>
              <a:ext cx="544648" cy="61917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2E24CC-B4FE-D6DA-1920-D21CE7C8F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59787" y="4030650"/>
              <a:ext cx="811530" cy="86071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158E0BC-CD3A-CC0E-44D9-CC82CA007366}"/>
              </a:ext>
            </a:extLst>
          </p:cNvPr>
          <p:cNvSpPr txBox="1"/>
          <p:nvPr/>
        </p:nvSpPr>
        <p:spPr>
          <a:xfrm>
            <a:off x="588706" y="5200712"/>
            <a:ext cx="7226555" cy="497957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>
            <a:lvl1pPr indent="0" algn="just" defTabSz="1219200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sz="2400" b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just" defTabSz="1219200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indent="0" algn="just" defTabSz="1219200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1336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7432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  <a:lvl6pPr marL="33528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6pPr>
            <a:lvl7pPr marL="39624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7pPr>
            <a:lvl8pPr marL="45720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8pPr>
            <a:lvl9pPr marL="51816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9pPr>
          </a:lstStyle>
          <a:p>
            <a:r>
              <a:rPr lang="en-CN" dirty="0"/>
              <a:t>能否用一个指标</a:t>
            </a:r>
            <a:r>
              <a:rPr lang="zh-CN" altLang="en-US" dirty="0"/>
              <a:t>，判断猴子看到的水果种类？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7BFCA8-9BB5-B840-E051-8D1FF418B4AE}"/>
                  </a:ext>
                </a:extLst>
              </p:cNvPr>
              <p:cNvSpPr txBox="1"/>
              <p:nvPr/>
            </p:nvSpPr>
            <p:spPr>
              <a:xfrm>
                <a:off x="10456691" y="2820380"/>
                <a:ext cx="139435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7BFCA8-9BB5-B840-E051-8D1FF418B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691" y="2820380"/>
                <a:ext cx="1394353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003AE08-95F3-AD12-EA10-F9FBB1B2B7A0}"/>
              </a:ext>
            </a:extLst>
          </p:cNvPr>
          <p:cNvSpPr txBox="1"/>
          <p:nvPr/>
        </p:nvSpPr>
        <p:spPr>
          <a:xfrm>
            <a:off x="8060568" y="285585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400" dirty="0">
                <a:solidFill>
                  <a:srgbClr val="000000"/>
                </a:solidFill>
              </a:rPr>
              <a:t>神经元数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EAEDB-F466-D8BE-0E59-E2AC5611E349}"/>
              </a:ext>
            </a:extLst>
          </p:cNvPr>
          <p:cNvSpPr txBox="1"/>
          <p:nvPr/>
        </p:nvSpPr>
        <p:spPr>
          <a:xfrm>
            <a:off x="9242599" y="23692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400" dirty="0">
                <a:solidFill>
                  <a:srgbClr val="000000"/>
                </a:solidFill>
              </a:rPr>
              <a:t>时间点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23FFC8-CBCA-CC65-2C32-374EEA563F0E}"/>
              </a:ext>
            </a:extLst>
          </p:cNvPr>
          <p:cNvCxnSpPr>
            <a:cxnSpLocks/>
          </p:cNvCxnSpPr>
          <p:nvPr/>
        </p:nvCxnSpPr>
        <p:spPr>
          <a:xfrm>
            <a:off x="8925592" y="2761517"/>
            <a:ext cx="0" cy="595922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7A5998-62FD-1D58-0903-87157DCEA596}"/>
              </a:ext>
            </a:extLst>
          </p:cNvPr>
          <p:cNvCxnSpPr>
            <a:cxnSpLocks/>
          </p:cNvCxnSpPr>
          <p:nvPr/>
        </p:nvCxnSpPr>
        <p:spPr>
          <a:xfrm>
            <a:off x="9042127" y="2671888"/>
            <a:ext cx="1073228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2B263F-7BBC-91D5-F18E-BF5E444DC2E4}"/>
              </a:ext>
            </a:extLst>
          </p:cNvPr>
          <p:cNvGrpSpPr/>
          <p:nvPr/>
        </p:nvGrpSpPr>
        <p:grpSpPr>
          <a:xfrm>
            <a:off x="8026748" y="3652923"/>
            <a:ext cx="3857466" cy="385749"/>
            <a:chOff x="8804829" y="3843790"/>
            <a:chExt cx="3857466" cy="3857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78148F1-4343-C73E-4F2E-925CA980D1DE}"/>
                    </a:ext>
                  </a:extLst>
                </p:cNvPr>
                <p:cNvSpPr txBox="1"/>
                <p:nvPr/>
              </p:nvSpPr>
              <p:spPr>
                <a:xfrm>
                  <a:off x="10374489" y="3851872"/>
                  <a:ext cx="2287806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78148F1-4343-C73E-4F2E-925CA980D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489" y="3851872"/>
                  <a:ext cx="2287806" cy="377667"/>
                </a:xfrm>
                <a:prstGeom prst="rect">
                  <a:avLst/>
                </a:prstGeom>
                <a:blipFill>
                  <a:blip r:embed="rId12"/>
                  <a:stretch>
                    <a:fillRect l="-2394" t="-3226" r="-532"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0B4E1A-7646-F802-E438-E79CAFA29BCF}"/>
                </a:ext>
              </a:extLst>
            </p:cNvPr>
            <p:cNvSpPr txBox="1"/>
            <p:nvPr/>
          </p:nvSpPr>
          <p:spPr>
            <a:xfrm>
              <a:off x="8804829" y="384379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dirty="0">
                  <a:solidFill>
                    <a:srgbClr val="000000"/>
                  </a:solidFill>
                </a:rPr>
                <a:t>协方差矩阵</a:t>
              </a:r>
              <a:r>
                <a:rPr lang="zh-CN" altLang="en-US" dirty="0">
                  <a:solidFill>
                    <a:srgbClr val="000000"/>
                  </a:solidFill>
                </a:rPr>
                <a:t>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BCD2F3-8174-3B2B-79E9-7E6441758507}"/>
              </a:ext>
            </a:extLst>
          </p:cNvPr>
          <p:cNvGrpSpPr/>
          <p:nvPr/>
        </p:nvGrpSpPr>
        <p:grpSpPr>
          <a:xfrm>
            <a:off x="8060568" y="4222449"/>
            <a:ext cx="3220011" cy="370017"/>
            <a:chOff x="8928034" y="4530976"/>
            <a:chExt cx="3220011" cy="3700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C40C64E-DE6A-C829-5D71-1052F5AAABE3}"/>
                    </a:ext>
                  </a:extLst>
                </p:cNvPr>
                <p:cNvSpPr txBox="1"/>
                <p:nvPr/>
              </p:nvSpPr>
              <p:spPr>
                <a:xfrm>
                  <a:off x="10427189" y="4531661"/>
                  <a:ext cx="172085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C40C64E-DE6A-C829-5D71-1052F5AAAB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189" y="4531661"/>
                  <a:ext cx="1720856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19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6CD374-E198-A070-7533-099214A0D8F3}"/>
                </a:ext>
              </a:extLst>
            </p:cNvPr>
            <p:cNvSpPr txBox="1"/>
            <p:nvPr/>
          </p:nvSpPr>
          <p:spPr>
            <a:xfrm>
              <a:off x="8928034" y="453097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00"/>
                  </a:solidFill>
                </a:rPr>
                <a:t>特征值分析：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68FBF26-3B7A-9327-9913-CCC0D7ED5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171413"/>
              </p:ext>
            </p:extLst>
          </p:nvPr>
        </p:nvGraphicFramePr>
        <p:xfrm>
          <a:off x="9042127" y="2800398"/>
          <a:ext cx="1298030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606">
                  <a:extLst>
                    <a:ext uri="{9D8B030D-6E8A-4147-A177-3AD203B41FA5}">
                      <a16:colId xmlns:a16="http://schemas.microsoft.com/office/drawing/2014/main" val="2770823029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2855502343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1429897695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48518079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438278903"/>
                    </a:ext>
                  </a:extLst>
                </a:gridCol>
              </a:tblGrid>
              <a:tr h="257884"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49932"/>
                  </a:ext>
                </a:extLst>
              </a:tr>
              <a:tr h="257884"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490685"/>
                  </a:ext>
                </a:extLst>
              </a:tr>
            </a:tbl>
          </a:graphicData>
        </a:graphic>
      </p:graphicFrame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4A3C150-6E04-1A0C-85C2-5E8FBC36A571}"/>
              </a:ext>
            </a:extLst>
          </p:cNvPr>
          <p:cNvSpPr/>
          <p:nvPr/>
        </p:nvSpPr>
        <p:spPr>
          <a:xfrm>
            <a:off x="7864251" y="1709108"/>
            <a:ext cx="4249526" cy="4221792"/>
          </a:xfrm>
          <a:prstGeom prst="roundRect">
            <a:avLst>
              <a:gd name="adj" fmla="val 4684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C10F7-6859-D929-49C3-17E2F7E2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23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04B2F3-DC26-E053-5ADD-B103DC6422E0}"/>
                  </a:ext>
                </a:extLst>
              </p:cNvPr>
              <p:cNvSpPr txBox="1"/>
              <p:nvPr/>
            </p:nvSpPr>
            <p:spPr>
              <a:xfrm>
                <a:off x="8026748" y="4880684"/>
                <a:ext cx="18872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dirty="0">
                    <a:solidFill>
                      <a:srgbClr val="000000"/>
                    </a:solidFill>
                  </a:rPr>
                  <a:t>投影到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</a:rPr>
                  <a:t>的方差：</a:t>
                </a:r>
                <a:endParaRPr lang="en-CN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04B2F3-DC26-E053-5ADD-B103DC642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748" y="4880684"/>
                <a:ext cx="1887248" cy="338554"/>
              </a:xfrm>
              <a:prstGeom prst="rect">
                <a:avLst/>
              </a:prstGeom>
              <a:blipFill>
                <a:blip r:embed="rId14"/>
                <a:stretch>
                  <a:fillRect l="-1942" t="-909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5B21138-437C-6CAC-7D3C-06CA80B2D61E}"/>
              </a:ext>
            </a:extLst>
          </p:cNvPr>
          <p:cNvSpPr txBox="1"/>
          <p:nvPr/>
        </p:nvSpPr>
        <p:spPr>
          <a:xfrm>
            <a:off x="8061545" y="1968289"/>
            <a:ext cx="3785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600" b="1" dirty="0">
                <a:solidFill>
                  <a:srgbClr val="000000"/>
                </a:solidFill>
              </a:rPr>
              <a:t>两个神经元活动数据</a:t>
            </a:r>
            <a:r>
              <a:rPr lang="en-US" sz="1600" b="1" dirty="0">
                <a:solidFill>
                  <a:srgbClr val="000000"/>
                </a:solidFill>
              </a:rPr>
              <a:t> (</a:t>
            </a:r>
            <a:r>
              <a:rPr lang="zh-CN" altLang="en-US" sz="1600" b="1" dirty="0">
                <a:solidFill>
                  <a:srgbClr val="000000"/>
                </a:solidFill>
              </a:rPr>
              <a:t>归一成均值为</a:t>
            </a:r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r>
              <a:rPr lang="en-US" sz="1600" b="1" dirty="0">
                <a:solidFill>
                  <a:srgbClr val="000000"/>
                </a:solidFill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</a:rPr>
              <a:t>：</a:t>
            </a:r>
            <a:endParaRPr lang="en-CN" sz="1600" b="1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F9ED8-0473-BF6E-A6E2-94B016329C8A}"/>
              </a:ext>
            </a:extLst>
          </p:cNvPr>
          <p:cNvSpPr txBox="1"/>
          <p:nvPr/>
        </p:nvSpPr>
        <p:spPr>
          <a:xfrm>
            <a:off x="1482236" y="5783629"/>
            <a:ext cx="6125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课外阅读</a:t>
            </a:r>
            <a:r>
              <a:rPr lang="zh-CN" altLang="en-US" sz="2000" dirty="0"/>
              <a:t>：主成分分析的数学推导 </a:t>
            </a:r>
            <a:r>
              <a:rPr lang="en-CN" sz="2000" dirty="0"/>
              <a:t>(西瓜书第</a:t>
            </a:r>
            <a:r>
              <a:rPr lang="zh-CN" altLang="en-US" sz="2000" dirty="0"/>
              <a:t> </a:t>
            </a:r>
            <a:r>
              <a:rPr lang="en-US" altLang="zh-CN" sz="2000" dirty="0"/>
              <a:t>10.3 </a:t>
            </a:r>
            <a:r>
              <a:rPr lang="zh-CN" altLang="en-US" sz="2000" dirty="0"/>
              <a:t>节</a:t>
            </a:r>
            <a:r>
              <a:rPr lang="en-CN" sz="20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35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6" grpId="0"/>
      <p:bldP spid="7" grpId="0"/>
      <p:bldP spid="33" grpId="0" animBg="1"/>
      <p:bldP spid="13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57E3-0A9A-719C-9D8C-FC4A6A64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0204-A88B-3256-614C-FC30B281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非线性降维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C52AF-FCDD-B5DB-9625-AF71FE1882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6"/>
          <a:stretch/>
        </p:blipFill>
        <p:spPr>
          <a:xfrm>
            <a:off x="4591793" y="1577168"/>
            <a:ext cx="6614558" cy="2830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4EBAB5-3FE6-D6AA-643B-A7056B87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7" t="19168" r="71910" b="17291"/>
          <a:stretch/>
        </p:blipFill>
        <p:spPr>
          <a:xfrm>
            <a:off x="752094" y="1779319"/>
            <a:ext cx="3695214" cy="2628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CDC6EE-4A6F-A43F-608D-C99EA9BCC8D1}"/>
              </a:ext>
            </a:extLst>
          </p:cNvPr>
          <p:cNvSpPr txBox="1"/>
          <p:nvPr/>
        </p:nvSpPr>
        <p:spPr>
          <a:xfrm>
            <a:off x="1285880" y="1219935"/>
            <a:ext cx="262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三维空间中的S型曲面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6ECE4-DCD9-21A5-AB0E-8B9A0807A7AD}"/>
              </a:ext>
            </a:extLst>
          </p:cNvPr>
          <p:cNvSpPr txBox="1"/>
          <p:nvPr/>
        </p:nvSpPr>
        <p:spPr>
          <a:xfrm>
            <a:off x="5134198" y="121993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沿二维曲面的结构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CE8C47-6C6E-C918-AB0E-9C214B128217}"/>
              </a:ext>
            </a:extLst>
          </p:cNvPr>
          <p:cNvSpPr txBox="1"/>
          <p:nvPr/>
        </p:nvSpPr>
        <p:spPr>
          <a:xfrm>
            <a:off x="8811501" y="1219935"/>
            <a:ext cx="1745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PCA降维结果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42963-21EC-280D-3FBC-866523389162}"/>
              </a:ext>
            </a:extLst>
          </p:cNvPr>
          <p:cNvSpPr txBox="1"/>
          <p:nvPr/>
        </p:nvSpPr>
        <p:spPr>
          <a:xfrm>
            <a:off x="1527281" y="5042745"/>
            <a:ext cx="9137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solidFill>
                  <a:srgbClr val="000000"/>
                </a:solidFill>
              </a:rPr>
              <a:t>PCA线性降维无法准确刻画曲面的结构</a:t>
            </a:r>
            <a:r>
              <a:rPr lang="zh-CN" altLang="en-US" sz="2400" dirty="0">
                <a:solidFill>
                  <a:srgbClr val="000000"/>
                </a:solidFill>
              </a:rPr>
              <a:t>，需要引入非线性降维方法</a:t>
            </a:r>
            <a:endParaRPr lang="en-CN" sz="2400" dirty="0">
              <a:solidFill>
                <a:srgbClr val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D04DFF-1157-B3DF-6EC4-ADC9AF22E794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0BC19-F835-3519-F286-765906E3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24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41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3D4D-1A66-5772-E5A4-F5D04E91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等度量映射</a:t>
            </a:r>
            <a:r>
              <a:rPr lang="zh-CN" altLang="en-US" dirty="0"/>
              <a:t>（</a:t>
            </a:r>
            <a:r>
              <a:rPr lang="en-US" altLang="zh-CN" dirty="0"/>
              <a:t>Isometric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，</a:t>
            </a:r>
            <a:r>
              <a:rPr lang="en-US" altLang="zh-CN" dirty="0"/>
              <a:t>ISOMAP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13FAA-B4BA-E661-358A-E8E84BC9F98A}"/>
              </a:ext>
            </a:extLst>
          </p:cNvPr>
          <p:cNvSpPr txBox="1"/>
          <p:nvPr/>
        </p:nvSpPr>
        <p:spPr>
          <a:xfrm>
            <a:off x="1867242" y="4086963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三维空间的欧氏距离不再合适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47A52-1998-FFB8-B7A4-2EDFD0FAA104}"/>
              </a:ext>
            </a:extLst>
          </p:cNvPr>
          <p:cNvSpPr txBox="1"/>
          <p:nvPr/>
        </p:nvSpPr>
        <p:spPr>
          <a:xfrm>
            <a:off x="6522163" y="4086963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改用测地线距离</a:t>
            </a:r>
            <a:r>
              <a:rPr lang="zh-CN" altLang="en-US" sz="2000" dirty="0">
                <a:solidFill>
                  <a:srgbClr val="000000"/>
                </a:solidFill>
              </a:rPr>
              <a:t>（沿曲面距离）</a:t>
            </a:r>
            <a:endParaRPr lang="en-CN" sz="2000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F10986-5A21-8E06-E874-8FAE49772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478" r="45876" b="16887"/>
          <a:stretch/>
        </p:blipFill>
        <p:spPr>
          <a:xfrm>
            <a:off x="4036390" y="1349764"/>
            <a:ext cx="3312406" cy="2233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0EE01E-6236-55CC-8BE3-C1AB10E74EC3}"/>
              </a:ext>
            </a:extLst>
          </p:cNvPr>
          <p:cNvSpPr txBox="1"/>
          <p:nvPr/>
        </p:nvSpPr>
        <p:spPr>
          <a:xfrm>
            <a:off x="1507059" y="4990322"/>
            <a:ext cx="9443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ISOMAP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CN" sz="2000" dirty="0">
                <a:solidFill>
                  <a:srgbClr val="000000"/>
                </a:solidFill>
              </a:rPr>
              <a:t>想法</a:t>
            </a:r>
            <a:r>
              <a:rPr lang="zh-CN" altLang="en-US" sz="2000" dirty="0">
                <a:solidFill>
                  <a:srgbClr val="000000"/>
                </a:solidFill>
              </a:rPr>
              <a:t>：运用测地线距离代替欧氏距离，随后根据曲面上距离进行降维。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85541E-0D14-4AC2-6A99-D2F1C7E6B997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31CC5F-8560-CB68-E5F7-93FF2FEE6173}"/>
              </a:ext>
            </a:extLst>
          </p:cNvPr>
          <p:cNvSpPr/>
          <p:nvPr/>
        </p:nvSpPr>
        <p:spPr>
          <a:xfrm>
            <a:off x="5950406" y="1892675"/>
            <a:ext cx="64294" cy="64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BD9086-6656-0442-B397-F476C16BC7B6}"/>
              </a:ext>
            </a:extLst>
          </p:cNvPr>
          <p:cNvSpPr/>
          <p:nvPr/>
        </p:nvSpPr>
        <p:spPr>
          <a:xfrm>
            <a:off x="5660446" y="2339199"/>
            <a:ext cx="64294" cy="64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6CB09B-2C1A-8AE5-F962-8791D136AB99}"/>
              </a:ext>
            </a:extLst>
          </p:cNvPr>
          <p:cNvCxnSpPr>
            <a:cxnSpLocks/>
            <a:stCxn id="8" idx="7"/>
            <a:endCxn id="4" idx="3"/>
          </p:cNvCxnSpPr>
          <p:nvPr/>
        </p:nvCxnSpPr>
        <p:spPr>
          <a:xfrm flipV="1">
            <a:off x="5715324" y="1947553"/>
            <a:ext cx="244498" cy="401062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>
            <a:extLst>
              <a:ext uri="{FF2B5EF4-FFF2-40B4-BE49-F238E27FC236}">
                <a16:creationId xmlns:a16="http://schemas.microsoft.com/office/drawing/2014/main" id="{C5FB4CAF-0963-AB03-0812-8798A0B953B5}"/>
              </a:ext>
            </a:extLst>
          </p:cNvPr>
          <p:cNvSpPr/>
          <p:nvPr/>
        </p:nvSpPr>
        <p:spPr>
          <a:xfrm>
            <a:off x="5111412" y="1698206"/>
            <a:ext cx="857250" cy="666794"/>
          </a:xfrm>
          <a:custGeom>
            <a:avLst/>
            <a:gdLst>
              <a:gd name="connsiteX0" fmla="*/ 857250 w 857250"/>
              <a:gd name="connsiteY0" fmla="*/ 212725 h 666794"/>
              <a:gd name="connsiteX1" fmla="*/ 841375 w 857250"/>
              <a:gd name="connsiteY1" fmla="*/ 180975 h 666794"/>
              <a:gd name="connsiteX2" fmla="*/ 831850 w 857250"/>
              <a:gd name="connsiteY2" fmla="*/ 171450 h 666794"/>
              <a:gd name="connsiteX3" fmla="*/ 825500 w 857250"/>
              <a:gd name="connsiteY3" fmla="*/ 161925 h 666794"/>
              <a:gd name="connsiteX4" fmla="*/ 806450 w 857250"/>
              <a:gd name="connsiteY4" fmla="*/ 149225 h 666794"/>
              <a:gd name="connsiteX5" fmla="*/ 790575 w 857250"/>
              <a:gd name="connsiteY5" fmla="*/ 133350 h 666794"/>
              <a:gd name="connsiteX6" fmla="*/ 774700 w 857250"/>
              <a:gd name="connsiteY6" fmla="*/ 117475 h 666794"/>
              <a:gd name="connsiteX7" fmla="*/ 758825 w 857250"/>
              <a:gd name="connsiteY7" fmla="*/ 101600 h 666794"/>
              <a:gd name="connsiteX8" fmla="*/ 752475 w 857250"/>
              <a:gd name="connsiteY8" fmla="*/ 92075 h 666794"/>
              <a:gd name="connsiteX9" fmla="*/ 733425 w 857250"/>
              <a:gd name="connsiteY9" fmla="*/ 79375 h 666794"/>
              <a:gd name="connsiteX10" fmla="*/ 714375 w 857250"/>
              <a:gd name="connsiteY10" fmla="*/ 66675 h 666794"/>
              <a:gd name="connsiteX11" fmla="*/ 704850 w 857250"/>
              <a:gd name="connsiteY11" fmla="*/ 60325 h 666794"/>
              <a:gd name="connsiteX12" fmla="*/ 695325 w 857250"/>
              <a:gd name="connsiteY12" fmla="*/ 57150 h 666794"/>
              <a:gd name="connsiteX13" fmla="*/ 685800 w 857250"/>
              <a:gd name="connsiteY13" fmla="*/ 50800 h 666794"/>
              <a:gd name="connsiteX14" fmla="*/ 666750 w 857250"/>
              <a:gd name="connsiteY14" fmla="*/ 44450 h 666794"/>
              <a:gd name="connsiteX15" fmla="*/ 647700 w 857250"/>
              <a:gd name="connsiteY15" fmla="*/ 38100 h 666794"/>
              <a:gd name="connsiteX16" fmla="*/ 628650 w 857250"/>
              <a:gd name="connsiteY16" fmla="*/ 31750 h 666794"/>
              <a:gd name="connsiteX17" fmla="*/ 593725 w 857250"/>
              <a:gd name="connsiteY17" fmla="*/ 22225 h 666794"/>
              <a:gd name="connsiteX18" fmla="*/ 549275 w 857250"/>
              <a:gd name="connsiteY18" fmla="*/ 15875 h 666794"/>
              <a:gd name="connsiteX19" fmla="*/ 517525 w 857250"/>
              <a:gd name="connsiteY19" fmla="*/ 9525 h 666794"/>
              <a:gd name="connsiteX20" fmla="*/ 492125 w 857250"/>
              <a:gd name="connsiteY20" fmla="*/ 6350 h 666794"/>
              <a:gd name="connsiteX21" fmla="*/ 479425 w 857250"/>
              <a:gd name="connsiteY21" fmla="*/ 3175 h 666794"/>
              <a:gd name="connsiteX22" fmla="*/ 454025 w 857250"/>
              <a:gd name="connsiteY22" fmla="*/ 0 h 666794"/>
              <a:gd name="connsiteX23" fmla="*/ 314325 w 857250"/>
              <a:gd name="connsiteY23" fmla="*/ 3175 h 666794"/>
              <a:gd name="connsiteX24" fmla="*/ 269875 w 857250"/>
              <a:gd name="connsiteY24" fmla="*/ 9525 h 666794"/>
              <a:gd name="connsiteX25" fmla="*/ 215900 w 857250"/>
              <a:gd name="connsiteY25" fmla="*/ 19050 h 666794"/>
              <a:gd name="connsiteX26" fmla="*/ 168275 w 857250"/>
              <a:gd name="connsiteY26" fmla="*/ 34925 h 666794"/>
              <a:gd name="connsiteX27" fmla="*/ 139700 w 857250"/>
              <a:gd name="connsiteY27" fmla="*/ 44450 h 666794"/>
              <a:gd name="connsiteX28" fmla="*/ 130175 w 857250"/>
              <a:gd name="connsiteY28" fmla="*/ 47625 h 666794"/>
              <a:gd name="connsiteX29" fmla="*/ 120650 w 857250"/>
              <a:gd name="connsiteY29" fmla="*/ 50800 h 666794"/>
              <a:gd name="connsiteX30" fmla="*/ 107950 w 857250"/>
              <a:gd name="connsiteY30" fmla="*/ 57150 h 666794"/>
              <a:gd name="connsiteX31" fmla="*/ 88900 w 857250"/>
              <a:gd name="connsiteY31" fmla="*/ 63500 h 666794"/>
              <a:gd name="connsiteX32" fmla="*/ 69850 w 857250"/>
              <a:gd name="connsiteY32" fmla="*/ 76200 h 666794"/>
              <a:gd name="connsiteX33" fmla="*/ 50800 w 857250"/>
              <a:gd name="connsiteY33" fmla="*/ 85725 h 666794"/>
              <a:gd name="connsiteX34" fmla="*/ 44450 w 857250"/>
              <a:gd name="connsiteY34" fmla="*/ 95250 h 666794"/>
              <a:gd name="connsiteX35" fmla="*/ 34925 w 857250"/>
              <a:gd name="connsiteY35" fmla="*/ 101600 h 666794"/>
              <a:gd name="connsiteX36" fmla="*/ 22225 w 857250"/>
              <a:gd name="connsiteY36" fmla="*/ 120650 h 666794"/>
              <a:gd name="connsiteX37" fmla="*/ 15875 w 857250"/>
              <a:gd name="connsiteY37" fmla="*/ 130175 h 666794"/>
              <a:gd name="connsiteX38" fmla="*/ 9525 w 857250"/>
              <a:gd name="connsiteY38" fmla="*/ 139700 h 666794"/>
              <a:gd name="connsiteX39" fmla="*/ 0 w 857250"/>
              <a:gd name="connsiteY39" fmla="*/ 171450 h 666794"/>
              <a:gd name="connsiteX40" fmla="*/ 3175 w 857250"/>
              <a:gd name="connsiteY40" fmla="*/ 222250 h 666794"/>
              <a:gd name="connsiteX41" fmla="*/ 12700 w 857250"/>
              <a:gd name="connsiteY41" fmla="*/ 254000 h 666794"/>
              <a:gd name="connsiteX42" fmla="*/ 15875 w 857250"/>
              <a:gd name="connsiteY42" fmla="*/ 263525 h 666794"/>
              <a:gd name="connsiteX43" fmla="*/ 22225 w 857250"/>
              <a:gd name="connsiteY43" fmla="*/ 273050 h 666794"/>
              <a:gd name="connsiteX44" fmla="*/ 28575 w 857250"/>
              <a:gd name="connsiteY44" fmla="*/ 292100 h 666794"/>
              <a:gd name="connsiteX45" fmla="*/ 41275 w 857250"/>
              <a:gd name="connsiteY45" fmla="*/ 311150 h 666794"/>
              <a:gd name="connsiteX46" fmla="*/ 50800 w 857250"/>
              <a:gd name="connsiteY46" fmla="*/ 330200 h 666794"/>
              <a:gd name="connsiteX47" fmla="*/ 63500 w 857250"/>
              <a:gd name="connsiteY47" fmla="*/ 349250 h 666794"/>
              <a:gd name="connsiteX48" fmla="*/ 66675 w 857250"/>
              <a:gd name="connsiteY48" fmla="*/ 358775 h 666794"/>
              <a:gd name="connsiteX49" fmla="*/ 79375 w 857250"/>
              <a:gd name="connsiteY49" fmla="*/ 377825 h 666794"/>
              <a:gd name="connsiteX50" fmla="*/ 85725 w 857250"/>
              <a:gd name="connsiteY50" fmla="*/ 387350 h 666794"/>
              <a:gd name="connsiteX51" fmla="*/ 92075 w 857250"/>
              <a:gd name="connsiteY51" fmla="*/ 396875 h 666794"/>
              <a:gd name="connsiteX52" fmla="*/ 98425 w 857250"/>
              <a:gd name="connsiteY52" fmla="*/ 406400 h 666794"/>
              <a:gd name="connsiteX53" fmla="*/ 107950 w 857250"/>
              <a:gd name="connsiteY53" fmla="*/ 415925 h 666794"/>
              <a:gd name="connsiteX54" fmla="*/ 120650 w 857250"/>
              <a:gd name="connsiteY54" fmla="*/ 434975 h 666794"/>
              <a:gd name="connsiteX55" fmla="*/ 127000 w 857250"/>
              <a:gd name="connsiteY55" fmla="*/ 444500 h 666794"/>
              <a:gd name="connsiteX56" fmla="*/ 136525 w 857250"/>
              <a:gd name="connsiteY56" fmla="*/ 450850 h 666794"/>
              <a:gd name="connsiteX57" fmla="*/ 152400 w 857250"/>
              <a:gd name="connsiteY57" fmla="*/ 466725 h 666794"/>
              <a:gd name="connsiteX58" fmla="*/ 158750 w 857250"/>
              <a:gd name="connsiteY58" fmla="*/ 476250 h 666794"/>
              <a:gd name="connsiteX59" fmla="*/ 168275 w 857250"/>
              <a:gd name="connsiteY59" fmla="*/ 482600 h 666794"/>
              <a:gd name="connsiteX60" fmla="*/ 177800 w 857250"/>
              <a:gd name="connsiteY60" fmla="*/ 492125 h 666794"/>
              <a:gd name="connsiteX61" fmla="*/ 196850 w 857250"/>
              <a:gd name="connsiteY61" fmla="*/ 504825 h 666794"/>
              <a:gd name="connsiteX62" fmla="*/ 206375 w 857250"/>
              <a:gd name="connsiteY62" fmla="*/ 511175 h 666794"/>
              <a:gd name="connsiteX63" fmla="*/ 234950 w 857250"/>
              <a:gd name="connsiteY63" fmla="*/ 530225 h 666794"/>
              <a:gd name="connsiteX64" fmla="*/ 244475 w 857250"/>
              <a:gd name="connsiteY64" fmla="*/ 536575 h 666794"/>
              <a:gd name="connsiteX65" fmla="*/ 254000 w 857250"/>
              <a:gd name="connsiteY65" fmla="*/ 539750 h 666794"/>
              <a:gd name="connsiteX66" fmla="*/ 276225 w 857250"/>
              <a:gd name="connsiteY66" fmla="*/ 552450 h 666794"/>
              <a:gd name="connsiteX67" fmla="*/ 285750 w 857250"/>
              <a:gd name="connsiteY67" fmla="*/ 555625 h 666794"/>
              <a:gd name="connsiteX68" fmla="*/ 295275 w 857250"/>
              <a:gd name="connsiteY68" fmla="*/ 561975 h 666794"/>
              <a:gd name="connsiteX69" fmla="*/ 304800 w 857250"/>
              <a:gd name="connsiteY69" fmla="*/ 565150 h 666794"/>
              <a:gd name="connsiteX70" fmla="*/ 314325 w 857250"/>
              <a:gd name="connsiteY70" fmla="*/ 571500 h 666794"/>
              <a:gd name="connsiteX71" fmla="*/ 333375 w 857250"/>
              <a:gd name="connsiteY71" fmla="*/ 577850 h 666794"/>
              <a:gd name="connsiteX72" fmla="*/ 342900 w 857250"/>
              <a:gd name="connsiteY72" fmla="*/ 584200 h 666794"/>
              <a:gd name="connsiteX73" fmla="*/ 361950 w 857250"/>
              <a:gd name="connsiteY73" fmla="*/ 590550 h 666794"/>
              <a:gd name="connsiteX74" fmla="*/ 371475 w 857250"/>
              <a:gd name="connsiteY74" fmla="*/ 593725 h 666794"/>
              <a:gd name="connsiteX75" fmla="*/ 390525 w 857250"/>
              <a:gd name="connsiteY75" fmla="*/ 603250 h 666794"/>
              <a:gd name="connsiteX76" fmla="*/ 400050 w 857250"/>
              <a:gd name="connsiteY76" fmla="*/ 609600 h 666794"/>
              <a:gd name="connsiteX77" fmla="*/ 419100 w 857250"/>
              <a:gd name="connsiteY77" fmla="*/ 615950 h 666794"/>
              <a:gd name="connsiteX78" fmla="*/ 428625 w 857250"/>
              <a:gd name="connsiteY78" fmla="*/ 619125 h 666794"/>
              <a:gd name="connsiteX79" fmla="*/ 447675 w 857250"/>
              <a:gd name="connsiteY79" fmla="*/ 628650 h 666794"/>
              <a:gd name="connsiteX80" fmla="*/ 457200 w 857250"/>
              <a:gd name="connsiteY80" fmla="*/ 635000 h 666794"/>
              <a:gd name="connsiteX81" fmla="*/ 476250 w 857250"/>
              <a:gd name="connsiteY81" fmla="*/ 641350 h 666794"/>
              <a:gd name="connsiteX82" fmla="*/ 495300 w 857250"/>
              <a:gd name="connsiteY82" fmla="*/ 650875 h 666794"/>
              <a:gd name="connsiteX83" fmla="*/ 504825 w 857250"/>
              <a:gd name="connsiteY83" fmla="*/ 657225 h 666794"/>
              <a:gd name="connsiteX84" fmla="*/ 523875 w 857250"/>
              <a:gd name="connsiteY84" fmla="*/ 663575 h 666794"/>
              <a:gd name="connsiteX85" fmla="*/ 539750 w 857250"/>
              <a:gd name="connsiteY85" fmla="*/ 666750 h 66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857250" h="666794">
                <a:moveTo>
                  <a:pt x="857250" y="212725"/>
                </a:moveTo>
                <a:cubicBezTo>
                  <a:pt x="852272" y="201110"/>
                  <a:pt x="849332" y="190523"/>
                  <a:pt x="841375" y="180975"/>
                </a:cubicBezTo>
                <a:cubicBezTo>
                  <a:pt x="838500" y="177526"/>
                  <a:pt x="834725" y="174899"/>
                  <a:pt x="831850" y="171450"/>
                </a:cubicBezTo>
                <a:cubicBezTo>
                  <a:pt x="829407" y="168519"/>
                  <a:pt x="828372" y="164438"/>
                  <a:pt x="825500" y="161925"/>
                </a:cubicBezTo>
                <a:cubicBezTo>
                  <a:pt x="819757" y="156899"/>
                  <a:pt x="806450" y="149225"/>
                  <a:pt x="806450" y="149225"/>
                </a:cubicBezTo>
                <a:cubicBezTo>
                  <a:pt x="789517" y="123825"/>
                  <a:pt x="811742" y="154517"/>
                  <a:pt x="790575" y="133350"/>
                </a:cubicBezTo>
                <a:cubicBezTo>
                  <a:pt x="769408" y="112183"/>
                  <a:pt x="800100" y="134408"/>
                  <a:pt x="774700" y="117475"/>
                </a:cubicBezTo>
                <a:cubicBezTo>
                  <a:pt x="757767" y="92075"/>
                  <a:pt x="779992" y="122767"/>
                  <a:pt x="758825" y="101600"/>
                </a:cubicBezTo>
                <a:cubicBezTo>
                  <a:pt x="756127" y="98902"/>
                  <a:pt x="755347" y="94588"/>
                  <a:pt x="752475" y="92075"/>
                </a:cubicBezTo>
                <a:cubicBezTo>
                  <a:pt x="746732" y="87049"/>
                  <a:pt x="739775" y="83608"/>
                  <a:pt x="733425" y="79375"/>
                </a:cubicBezTo>
                <a:lnTo>
                  <a:pt x="714375" y="66675"/>
                </a:lnTo>
                <a:cubicBezTo>
                  <a:pt x="711200" y="64558"/>
                  <a:pt x="708470" y="61532"/>
                  <a:pt x="704850" y="60325"/>
                </a:cubicBezTo>
                <a:cubicBezTo>
                  <a:pt x="701675" y="59267"/>
                  <a:pt x="698318" y="58647"/>
                  <a:pt x="695325" y="57150"/>
                </a:cubicBezTo>
                <a:cubicBezTo>
                  <a:pt x="691912" y="55443"/>
                  <a:pt x="689287" y="52350"/>
                  <a:pt x="685800" y="50800"/>
                </a:cubicBezTo>
                <a:cubicBezTo>
                  <a:pt x="679683" y="48082"/>
                  <a:pt x="673100" y="46567"/>
                  <a:pt x="666750" y="44450"/>
                </a:cubicBezTo>
                <a:lnTo>
                  <a:pt x="647700" y="38100"/>
                </a:lnTo>
                <a:lnTo>
                  <a:pt x="628650" y="31750"/>
                </a:lnTo>
                <a:cubicBezTo>
                  <a:pt x="617025" y="27875"/>
                  <a:pt x="606258" y="24015"/>
                  <a:pt x="593725" y="22225"/>
                </a:cubicBezTo>
                <a:cubicBezTo>
                  <a:pt x="578908" y="20108"/>
                  <a:pt x="563951" y="18810"/>
                  <a:pt x="549275" y="15875"/>
                </a:cubicBezTo>
                <a:cubicBezTo>
                  <a:pt x="538692" y="13758"/>
                  <a:pt x="528235" y="10864"/>
                  <a:pt x="517525" y="9525"/>
                </a:cubicBezTo>
                <a:cubicBezTo>
                  <a:pt x="509058" y="8467"/>
                  <a:pt x="500541" y="7753"/>
                  <a:pt x="492125" y="6350"/>
                </a:cubicBezTo>
                <a:cubicBezTo>
                  <a:pt x="487821" y="5633"/>
                  <a:pt x="483729" y="3892"/>
                  <a:pt x="479425" y="3175"/>
                </a:cubicBezTo>
                <a:cubicBezTo>
                  <a:pt x="471009" y="1772"/>
                  <a:pt x="462492" y="1058"/>
                  <a:pt x="454025" y="0"/>
                </a:cubicBezTo>
                <a:lnTo>
                  <a:pt x="314325" y="3175"/>
                </a:lnTo>
                <a:cubicBezTo>
                  <a:pt x="302333" y="3636"/>
                  <a:pt x="282406" y="7597"/>
                  <a:pt x="269875" y="9525"/>
                </a:cubicBezTo>
                <a:cubicBezTo>
                  <a:pt x="255084" y="11801"/>
                  <a:pt x="228857" y="14731"/>
                  <a:pt x="215900" y="19050"/>
                </a:cubicBezTo>
                <a:lnTo>
                  <a:pt x="168275" y="34925"/>
                </a:lnTo>
                <a:lnTo>
                  <a:pt x="139700" y="44450"/>
                </a:lnTo>
                <a:lnTo>
                  <a:pt x="130175" y="47625"/>
                </a:lnTo>
                <a:cubicBezTo>
                  <a:pt x="127000" y="48683"/>
                  <a:pt x="123643" y="49303"/>
                  <a:pt x="120650" y="50800"/>
                </a:cubicBezTo>
                <a:cubicBezTo>
                  <a:pt x="116417" y="52917"/>
                  <a:pt x="112344" y="55392"/>
                  <a:pt x="107950" y="57150"/>
                </a:cubicBezTo>
                <a:cubicBezTo>
                  <a:pt x="101735" y="59636"/>
                  <a:pt x="94469" y="59787"/>
                  <a:pt x="88900" y="63500"/>
                </a:cubicBezTo>
                <a:cubicBezTo>
                  <a:pt x="82550" y="67733"/>
                  <a:pt x="77090" y="73787"/>
                  <a:pt x="69850" y="76200"/>
                </a:cubicBezTo>
                <a:cubicBezTo>
                  <a:pt x="56705" y="80582"/>
                  <a:pt x="63110" y="77519"/>
                  <a:pt x="50800" y="85725"/>
                </a:cubicBezTo>
                <a:cubicBezTo>
                  <a:pt x="48683" y="88900"/>
                  <a:pt x="47148" y="92552"/>
                  <a:pt x="44450" y="95250"/>
                </a:cubicBezTo>
                <a:cubicBezTo>
                  <a:pt x="41752" y="97948"/>
                  <a:pt x="37438" y="98728"/>
                  <a:pt x="34925" y="101600"/>
                </a:cubicBezTo>
                <a:cubicBezTo>
                  <a:pt x="29899" y="107343"/>
                  <a:pt x="26458" y="114300"/>
                  <a:pt x="22225" y="120650"/>
                </a:cubicBezTo>
                <a:lnTo>
                  <a:pt x="15875" y="130175"/>
                </a:lnTo>
                <a:cubicBezTo>
                  <a:pt x="13758" y="133350"/>
                  <a:pt x="10732" y="136080"/>
                  <a:pt x="9525" y="139700"/>
                </a:cubicBezTo>
                <a:cubicBezTo>
                  <a:pt x="1795" y="162890"/>
                  <a:pt x="4798" y="152256"/>
                  <a:pt x="0" y="171450"/>
                </a:cubicBezTo>
                <a:cubicBezTo>
                  <a:pt x="1058" y="188383"/>
                  <a:pt x="1487" y="205368"/>
                  <a:pt x="3175" y="222250"/>
                </a:cubicBezTo>
                <a:cubicBezTo>
                  <a:pt x="3860" y="229105"/>
                  <a:pt x="11279" y="249737"/>
                  <a:pt x="12700" y="254000"/>
                </a:cubicBezTo>
                <a:cubicBezTo>
                  <a:pt x="13758" y="257175"/>
                  <a:pt x="14019" y="260740"/>
                  <a:pt x="15875" y="263525"/>
                </a:cubicBezTo>
                <a:cubicBezTo>
                  <a:pt x="17992" y="266700"/>
                  <a:pt x="20675" y="269563"/>
                  <a:pt x="22225" y="273050"/>
                </a:cubicBezTo>
                <a:cubicBezTo>
                  <a:pt x="24943" y="279167"/>
                  <a:pt x="24862" y="286531"/>
                  <a:pt x="28575" y="292100"/>
                </a:cubicBezTo>
                <a:cubicBezTo>
                  <a:pt x="32808" y="298450"/>
                  <a:pt x="38862" y="303910"/>
                  <a:pt x="41275" y="311150"/>
                </a:cubicBezTo>
                <a:cubicBezTo>
                  <a:pt x="49255" y="335091"/>
                  <a:pt x="38490" y="305581"/>
                  <a:pt x="50800" y="330200"/>
                </a:cubicBezTo>
                <a:cubicBezTo>
                  <a:pt x="59990" y="348580"/>
                  <a:pt x="45444" y="331194"/>
                  <a:pt x="63500" y="349250"/>
                </a:cubicBezTo>
                <a:cubicBezTo>
                  <a:pt x="64558" y="352425"/>
                  <a:pt x="65050" y="355849"/>
                  <a:pt x="66675" y="358775"/>
                </a:cubicBezTo>
                <a:cubicBezTo>
                  <a:pt x="70381" y="365446"/>
                  <a:pt x="75142" y="371475"/>
                  <a:pt x="79375" y="377825"/>
                </a:cubicBezTo>
                <a:lnTo>
                  <a:pt x="85725" y="387350"/>
                </a:lnTo>
                <a:lnTo>
                  <a:pt x="92075" y="396875"/>
                </a:lnTo>
                <a:cubicBezTo>
                  <a:pt x="94192" y="400050"/>
                  <a:pt x="95727" y="403702"/>
                  <a:pt x="98425" y="406400"/>
                </a:cubicBezTo>
                <a:cubicBezTo>
                  <a:pt x="101600" y="409575"/>
                  <a:pt x="105193" y="412381"/>
                  <a:pt x="107950" y="415925"/>
                </a:cubicBezTo>
                <a:cubicBezTo>
                  <a:pt x="112635" y="421949"/>
                  <a:pt x="116417" y="428625"/>
                  <a:pt x="120650" y="434975"/>
                </a:cubicBezTo>
                <a:cubicBezTo>
                  <a:pt x="122767" y="438150"/>
                  <a:pt x="123825" y="442383"/>
                  <a:pt x="127000" y="444500"/>
                </a:cubicBezTo>
                <a:lnTo>
                  <a:pt x="136525" y="450850"/>
                </a:lnTo>
                <a:cubicBezTo>
                  <a:pt x="153458" y="476250"/>
                  <a:pt x="131233" y="445558"/>
                  <a:pt x="152400" y="466725"/>
                </a:cubicBezTo>
                <a:cubicBezTo>
                  <a:pt x="155098" y="469423"/>
                  <a:pt x="156052" y="473552"/>
                  <a:pt x="158750" y="476250"/>
                </a:cubicBezTo>
                <a:cubicBezTo>
                  <a:pt x="161448" y="478948"/>
                  <a:pt x="165344" y="480157"/>
                  <a:pt x="168275" y="482600"/>
                </a:cubicBezTo>
                <a:cubicBezTo>
                  <a:pt x="171724" y="485475"/>
                  <a:pt x="174256" y="489368"/>
                  <a:pt x="177800" y="492125"/>
                </a:cubicBezTo>
                <a:cubicBezTo>
                  <a:pt x="183824" y="496810"/>
                  <a:pt x="190500" y="500592"/>
                  <a:pt x="196850" y="504825"/>
                </a:cubicBezTo>
                <a:lnTo>
                  <a:pt x="206375" y="511175"/>
                </a:lnTo>
                <a:lnTo>
                  <a:pt x="234950" y="530225"/>
                </a:lnTo>
                <a:cubicBezTo>
                  <a:pt x="238125" y="532342"/>
                  <a:pt x="240855" y="535368"/>
                  <a:pt x="244475" y="536575"/>
                </a:cubicBezTo>
                <a:cubicBezTo>
                  <a:pt x="247650" y="537633"/>
                  <a:pt x="251007" y="538253"/>
                  <a:pt x="254000" y="539750"/>
                </a:cubicBezTo>
                <a:cubicBezTo>
                  <a:pt x="285886" y="555693"/>
                  <a:pt x="237261" y="535751"/>
                  <a:pt x="276225" y="552450"/>
                </a:cubicBezTo>
                <a:cubicBezTo>
                  <a:pt x="279301" y="553768"/>
                  <a:pt x="282757" y="554128"/>
                  <a:pt x="285750" y="555625"/>
                </a:cubicBezTo>
                <a:cubicBezTo>
                  <a:pt x="289163" y="557332"/>
                  <a:pt x="291862" y="560268"/>
                  <a:pt x="295275" y="561975"/>
                </a:cubicBezTo>
                <a:cubicBezTo>
                  <a:pt x="298268" y="563472"/>
                  <a:pt x="301807" y="563653"/>
                  <a:pt x="304800" y="565150"/>
                </a:cubicBezTo>
                <a:cubicBezTo>
                  <a:pt x="308213" y="566857"/>
                  <a:pt x="310838" y="569950"/>
                  <a:pt x="314325" y="571500"/>
                </a:cubicBezTo>
                <a:cubicBezTo>
                  <a:pt x="320442" y="574218"/>
                  <a:pt x="327806" y="574137"/>
                  <a:pt x="333375" y="577850"/>
                </a:cubicBezTo>
                <a:cubicBezTo>
                  <a:pt x="336550" y="579967"/>
                  <a:pt x="339413" y="582650"/>
                  <a:pt x="342900" y="584200"/>
                </a:cubicBezTo>
                <a:cubicBezTo>
                  <a:pt x="349017" y="586918"/>
                  <a:pt x="355600" y="588433"/>
                  <a:pt x="361950" y="590550"/>
                </a:cubicBezTo>
                <a:cubicBezTo>
                  <a:pt x="365125" y="591608"/>
                  <a:pt x="368690" y="591869"/>
                  <a:pt x="371475" y="593725"/>
                </a:cubicBezTo>
                <a:cubicBezTo>
                  <a:pt x="398772" y="611923"/>
                  <a:pt x="364235" y="590105"/>
                  <a:pt x="390525" y="603250"/>
                </a:cubicBezTo>
                <a:cubicBezTo>
                  <a:pt x="393938" y="604957"/>
                  <a:pt x="396563" y="608050"/>
                  <a:pt x="400050" y="609600"/>
                </a:cubicBezTo>
                <a:cubicBezTo>
                  <a:pt x="406167" y="612318"/>
                  <a:pt x="412750" y="613833"/>
                  <a:pt x="419100" y="615950"/>
                </a:cubicBezTo>
                <a:cubicBezTo>
                  <a:pt x="422275" y="617008"/>
                  <a:pt x="425840" y="617269"/>
                  <a:pt x="428625" y="619125"/>
                </a:cubicBezTo>
                <a:cubicBezTo>
                  <a:pt x="455922" y="637323"/>
                  <a:pt x="421385" y="615505"/>
                  <a:pt x="447675" y="628650"/>
                </a:cubicBezTo>
                <a:cubicBezTo>
                  <a:pt x="451088" y="630357"/>
                  <a:pt x="453713" y="633450"/>
                  <a:pt x="457200" y="635000"/>
                </a:cubicBezTo>
                <a:cubicBezTo>
                  <a:pt x="463317" y="637718"/>
                  <a:pt x="470681" y="637637"/>
                  <a:pt x="476250" y="641350"/>
                </a:cubicBezTo>
                <a:cubicBezTo>
                  <a:pt x="503547" y="659548"/>
                  <a:pt x="469010" y="637730"/>
                  <a:pt x="495300" y="650875"/>
                </a:cubicBezTo>
                <a:cubicBezTo>
                  <a:pt x="498713" y="652582"/>
                  <a:pt x="501338" y="655675"/>
                  <a:pt x="504825" y="657225"/>
                </a:cubicBezTo>
                <a:cubicBezTo>
                  <a:pt x="510942" y="659943"/>
                  <a:pt x="517525" y="661458"/>
                  <a:pt x="523875" y="663575"/>
                </a:cubicBezTo>
                <a:cubicBezTo>
                  <a:pt x="535408" y="667419"/>
                  <a:pt x="530053" y="666750"/>
                  <a:pt x="539750" y="666750"/>
                </a:cubicBezTo>
              </a:path>
            </a:pathLst>
          </a:custGeom>
          <a:noFill/>
          <a:ln w="28575" cmpd="sng">
            <a:solidFill>
              <a:srgbClr val="7EB964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3C67FA-8708-76BC-5A14-C2B72D58F013}"/>
              </a:ext>
            </a:extLst>
          </p:cNvPr>
          <p:cNvSpPr txBox="1"/>
          <p:nvPr/>
        </p:nvSpPr>
        <p:spPr>
          <a:xfrm>
            <a:off x="7897830" y="2110748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三维空间中的欧氏距离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71370-A62E-CD0F-9315-B04FC2521FA5}"/>
              </a:ext>
            </a:extLst>
          </p:cNvPr>
          <p:cNvSpPr txBox="1"/>
          <p:nvPr/>
        </p:nvSpPr>
        <p:spPr>
          <a:xfrm>
            <a:off x="7897830" y="2535056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7EB964"/>
                </a:solidFill>
              </a:rPr>
              <a:t>二维曲面上的距离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FDA37-6150-814C-5A3B-20A07588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25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813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4" grpId="0" animBg="1"/>
      <p:bldP spid="8" grpId="0" animBg="1"/>
      <p:bldP spid="27" grpId="0" animBg="1"/>
      <p:bldP spid="28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C260-0543-AF83-80EC-97673382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基于距离的降维</a:t>
            </a:r>
            <a:r>
              <a:rPr lang="zh-CN" altLang="en-US" dirty="0"/>
              <a:t>：</a:t>
            </a:r>
            <a:r>
              <a:rPr lang="en-CN" dirty="0"/>
              <a:t> 多维放缩</a:t>
            </a:r>
            <a:r>
              <a:rPr lang="zh-CN" altLang="en-US" sz="2800" dirty="0"/>
              <a:t>（</a:t>
            </a:r>
            <a:r>
              <a:rPr lang="en-US" altLang="zh-CN" sz="2800" dirty="0"/>
              <a:t>multi-dimensional</a:t>
            </a:r>
            <a:r>
              <a:rPr lang="zh-CN" altLang="en-US" sz="2800" dirty="0"/>
              <a:t> </a:t>
            </a:r>
            <a:r>
              <a:rPr lang="en-US" altLang="zh-CN" sz="2800" dirty="0"/>
              <a:t>scaling</a:t>
            </a:r>
            <a:r>
              <a:rPr lang="zh-CN" altLang="en-US" sz="2800" dirty="0"/>
              <a:t>，</a:t>
            </a:r>
            <a:r>
              <a:rPr lang="en-US" altLang="zh-CN" sz="2800" dirty="0"/>
              <a:t>MDS</a:t>
            </a:r>
            <a:r>
              <a:rPr lang="zh-CN" altLang="en-US" sz="2800" dirty="0"/>
              <a:t>）</a:t>
            </a:r>
            <a:endParaRPr lang="en-C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688ED7-C599-B091-1867-B8EE61D94C08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4ADB10-8D74-0E5C-CF5E-D4716B79331F}"/>
              </a:ext>
            </a:extLst>
          </p:cNvPr>
          <p:cNvGrpSpPr/>
          <p:nvPr/>
        </p:nvGrpSpPr>
        <p:grpSpPr>
          <a:xfrm>
            <a:off x="2748310" y="2533962"/>
            <a:ext cx="1261727" cy="1282313"/>
            <a:chOff x="2748310" y="2533962"/>
            <a:chExt cx="1261727" cy="128231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72179EC-A251-B2A9-5ABB-DE875F0F1FCC}"/>
                </a:ext>
              </a:extLst>
            </p:cNvPr>
            <p:cNvCxnSpPr>
              <a:cxnSpLocks/>
              <a:stCxn id="12" idx="4"/>
              <a:endCxn id="13" idx="1"/>
            </p:cNvCxnSpPr>
            <p:nvPr/>
          </p:nvCxnSpPr>
          <p:spPr>
            <a:xfrm>
              <a:off x="2748310" y="2905155"/>
              <a:ext cx="230025" cy="8729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45E66D7-66B6-83CA-D67E-4AEE4A392A84}"/>
                </a:ext>
              </a:extLst>
            </p:cNvPr>
            <p:cNvCxnSpPr>
              <a:cxnSpLocks/>
              <a:stCxn id="10" idx="2"/>
              <a:endCxn id="12" idx="6"/>
            </p:cNvCxnSpPr>
            <p:nvPr/>
          </p:nvCxnSpPr>
          <p:spPr>
            <a:xfrm flipH="1">
              <a:off x="2802310" y="2533962"/>
              <a:ext cx="793277" cy="31719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06A5684-0ED1-3937-FF06-B65DF52390EE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3687771" y="2572146"/>
              <a:ext cx="322266" cy="83892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57DE273-B101-6D44-45BC-2BDA08CDED3C}"/>
                </a:ext>
              </a:extLst>
            </p:cNvPr>
            <p:cNvCxnSpPr>
              <a:cxnSpLocks/>
              <a:stCxn id="11" idx="3"/>
              <a:endCxn id="13" idx="6"/>
            </p:cNvCxnSpPr>
            <p:nvPr/>
          </p:nvCxnSpPr>
          <p:spPr>
            <a:xfrm flipH="1">
              <a:off x="3070519" y="3487438"/>
              <a:ext cx="939518" cy="328837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A104D06-2652-35F3-3C43-6714F5C9D056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054703" y="2572146"/>
              <a:ext cx="556700" cy="120594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F25B3CA-82C1-676A-261C-46C9B17AC160}"/>
                </a:ext>
              </a:extLst>
            </p:cNvPr>
            <p:cNvCxnSpPr>
              <a:cxnSpLocks/>
              <a:stCxn id="12" idx="5"/>
              <a:endCxn id="11" idx="2"/>
            </p:cNvCxnSpPr>
            <p:nvPr/>
          </p:nvCxnSpPr>
          <p:spPr>
            <a:xfrm>
              <a:off x="2786494" y="2889339"/>
              <a:ext cx="1207727" cy="55991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51A26C2-3E98-7BB2-0D42-F60E68EF35EC}"/>
              </a:ext>
            </a:extLst>
          </p:cNvPr>
          <p:cNvGrpSpPr/>
          <p:nvPr/>
        </p:nvGrpSpPr>
        <p:grpSpPr>
          <a:xfrm>
            <a:off x="8144404" y="2302833"/>
            <a:ext cx="1317200" cy="1297216"/>
            <a:chOff x="8144404" y="2302833"/>
            <a:chExt cx="1317200" cy="1297216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57164C8-E7A9-008D-61A0-32ABDEA1EA13}"/>
                </a:ext>
              </a:extLst>
            </p:cNvPr>
            <p:cNvCxnSpPr>
              <a:cxnSpLocks/>
              <a:stCxn id="35" idx="4"/>
              <a:endCxn id="36" idx="1"/>
            </p:cNvCxnSpPr>
            <p:nvPr/>
          </p:nvCxnSpPr>
          <p:spPr>
            <a:xfrm rot="18123485">
              <a:off x="8559934" y="3048569"/>
              <a:ext cx="230025" cy="8729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1E24085-F809-965E-B2F4-88609ADE182B}"/>
                </a:ext>
              </a:extLst>
            </p:cNvPr>
            <p:cNvCxnSpPr>
              <a:cxnSpLocks/>
              <a:stCxn id="33" idx="2"/>
              <a:endCxn id="35" idx="6"/>
            </p:cNvCxnSpPr>
            <p:nvPr/>
          </p:nvCxnSpPr>
          <p:spPr>
            <a:xfrm rot="18123485" flipH="1">
              <a:off x="7906362" y="2697485"/>
              <a:ext cx="793277" cy="31719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F2B3A50-6942-5540-52BF-B32F4404EBD5}"/>
                </a:ext>
              </a:extLst>
            </p:cNvPr>
            <p:cNvCxnSpPr>
              <a:cxnSpLocks/>
              <a:stCxn id="33" idx="5"/>
              <a:endCxn id="34" idx="1"/>
            </p:cNvCxnSpPr>
            <p:nvPr/>
          </p:nvCxnSpPr>
          <p:spPr>
            <a:xfrm rot="18123485">
              <a:off x="8740298" y="2044504"/>
              <a:ext cx="322266" cy="83892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91CF217-56D8-D247-C44E-469B57EB6F27}"/>
                </a:ext>
              </a:extLst>
            </p:cNvPr>
            <p:cNvCxnSpPr>
              <a:cxnSpLocks/>
              <a:stCxn id="34" idx="3"/>
              <a:endCxn id="36" idx="6"/>
            </p:cNvCxnSpPr>
            <p:nvPr/>
          </p:nvCxnSpPr>
          <p:spPr>
            <a:xfrm rot="18123485" flipH="1">
              <a:off x="8827427" y="2911557"/>
              <a:ext cx="939518" cy="328837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5F215ED-B01E-07EC-1429-81420A7DA8B4}"/>
                </a:ext>
              </a:extLst>
            </p:cNvPr>
            <p:cNvCxnSpPr>
              <a:cxnSpLocks/>
              <a:stCxn id="33" idx="3"/>
              <a:endCxn id="36" idx="7"/>
            </p:cNvCxnSpPr>
            <p:nvPr/>
          </p:nvCxnSpPr>
          <p:spPr>
            <a:xfrm rot="18123485" flipH="1">
              <a:off x="8504805" y="2395586"/>
              <a:ext cx="556700" cy="120594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7191DC6-AA1E-3A7E-3918-C063274D0571}"/>
                </a:ext>
              </a:extLst>
            </p:cNvPr>
            <p:cNvCxnSpPr>
              <a:cxnSpLocks/>
              <a:stCxn id="35" idx="5"/>
              <a:endCxn id="34" idx="2"/>
            </p:cNvCxnSpPr>
            <p:nvPr/>
          </p:nvCxnSpPr>
          <p:spPr>
            <a:xfrm rot="18123485">
              <a:off x="8204773" y="2666945"/>
              <a:ext cx="1207727" cy="55991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Arrow 46">
            <a:extLst>
              <a:ext uri="{FF2B5EF4-FFF2-40B4-BE49-F238E27FC236}">
                <a16:creationId xmlns:a16="http://schemas.microsoft.com/office/drawing/2014/main" id="{D3FA5F98-EEF1-4BEB-21C3-7C4BCBFCD26A}"/>
              </a:ext>
            </a:extLst>
          </p:cNvPr>
          <p:cNvSpPr/>
          <p:nvPr/>
        </p:nvSpPr>
        <p:spPr>
          <a:xfrm>
            <a:off x="5256047" y="2956190"/>
            <a:ext cx="1618273" cy="566106"/>
          </a:xfrm>
          <a:prstGeom prst="rightArrow">
            <a:avLst/>
          </a:prstGeom>
          <a:solidFill>
            <a:schemeClr val="bg1">
              <a:lumMod val="50000"/>
            </a:schemeClr>
          </a:solidFill>
          <a:ln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FFA1865-5E3E-BBB3-4967-41C477EBF7D6}"/>
              </a:ext>
            </a:extLst>
          </p:cNvPr>
          <p:cNvGrpSpPr/>
          <p:nvPr/>
        </p:nvGrpSpPr>
        <p:grpSpPr>
          <a:xfrm>
            <a:off x="2226030" y="1422830"/>
            <a:ext cx="2550059" cy="2785243"/>
            <a:chOff x="2226030" y="1422830"/>
            <a:chExt cx="2550059" cy="278524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62F259B-4862-EA11-FE52-300A67EC7EA9}"/>
                </a:ext>
              </a:extLst>
            </p:cNvPr>
            <p:cNvGrpSpPr/>
            <p:nvPr/>
          </p:nvGrpSpPr>
          <p:grpSpPr>
            <a:xfrm>
              <a:off x="2226030" y="2059744"/>
              <a:ext cx="2550059" cy="2148329"/>
              <a:chOff x="2226030" y="2059744"/>
              <a:chExt cx="2550059" cy="2148329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F78CAA2-BE2C-EC73-11BA-7DC0376618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0552" y="2259522"/>
                <a:ext cx="0" cy="107526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2753875-0F7C-BDDF-3638-014B5EC5AC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0552" y="3334789"/>
                <a:ext cx="412029" cy="764309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137ABAB-D0B0-C853-4E5F-9CE0EB869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97516" y="3334789"/>
                <a:ext cx="603036" cy="60113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1A66667-6BDA-31B7-D41B-5DCAEC33FC74}"/>
                      </a:ext>
                    </a:extLst>
                  </p:cNvPr>
                  <p:cNvSpPr txBox="1"/>
                  <p:nvPr/>
                </p:nvSpPr>
                <p:spPr>
                  <a:xfrm>
                    <a:off x="2799034" y="2059744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1A66667-6BDA-31B7-D41B-5DCAEC33FC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99034" y="2059744"/>
                    <a:ext cx="271485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636" r="-4545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DB94835-9F36-31F6-9781-3A6EA1145DC8}"/>
                      </a:ext>
                    </a:extLst>
                  </p:cNvPr>
                  <p:cNvSpPr txBox="1"/>
                  <p:nvPr/>
                </p:nvSpPr>
                <p:spPr>
                  <a:xfrm>
                    <a:off x="2226030" y="3869746"/>
                    <a:ext cx="277448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DB94835-9F36-31F6-9781-3A6EA1145D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6030" y="3869746"/>
                    <a:ext cx="277448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043" r="-4348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9E044BE-9E55-A341-4D07-68F7576B781E}"/>
                      </a:ext>
                    </a:extLst>
                  </p:cNvPr>
                  <p:cNvSpPr txBox="1"/>
                  <p:nvPr/>
                </p:nvSpPr>
                <p:spPr>
                  <a:xfrm>
                    <a:off x="3567845" y="3900296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9E044BE-9E55-A341-4D07-68F7576B78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7845" y="3900296"/>
                    <a:ext cx="271485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3043" r="-4348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F457A4C-9E96-81D2-4EB1-AB2DF5CDF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9732" y="3334789"/>
                <a:ext cx="1170454" cy="38215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7572A74-583C-7177-37D4-F7E63D0739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9987" y="3220324"/>
                <a:ext cx="1341719" cy="114465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0D585844-FE52-ED1C-D559-D0E725AEDD60}"/>
                      </a:ext>
                    </a:extLst>
                  </p:cNvPr>
                  <p:cNvSpPr txBox="1"/>
                  <p:nvPr/>
                </p:nvSpPr>
                <p:spPr>
                  <a:xfrm>
                    <a:off x="4295963" y="3608387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0D585844-FE52-ED1C-D559-D0E725AED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5963" y="3608387"/>
                    <a:ext cx="271485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636" r="-9091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141FC6D-AB81-67DF-B8F8-55618B16A5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04" y="3066435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141FC6D-AB81-67DF-B8F8-55618B16A5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4604" y="3066435"/>
                    <a:ext cx="271485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3636" r="-4545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3315EF2-E3B5-6AA7-9F46-99837EF36F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95587" y="2479962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FA831EC-977B-19D7-3802-040D5A0FFD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94221" y="3395254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CDB9779-2517-7544-49BE-C3A7817742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4310" y="2797155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8BB6D4A-DD4F-B590-7E5B-8B7DEC186D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519" y="3762275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3F78E42-B32E-C058-5F1D-8B77A8D8781A}"/>
                </a:ext>
              </a:extLst>
            </p:cNvPr>
            <p:cNvSpPr txBox="1"/>
            <p:nvPr/>
          </p:nvSpPr>
          <p:spPr>
            <a:xfrm>
              <a:off x="2383779" y="1422830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800" dirty="0">
                  <a:solidFill>
                    <a:srgbClr val="000000"/>
                  </a:solidFill>
                </a:rPr>
                <a:t>高维空间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1F1BD6-1673-6E28-B598-957EB6C7A494}"/>
              </a:ext>
            </a:extLst>
          </p:cNvPr>
          <p:cNvGrpSpPr/>
          <p:nvPr/>
        </p:nvGrpSpPr>
        <p:grpSpPr>
          <a:xfrm>
            <a:off x="7463905" y="1422724"/>
            <a:ext cx="1985179" cy="2668699"/>
            <a:chOff x="7463905" y="1422724"/>
            <a:chExt cx="1985179" cy="266869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4F51C2B-6C41-0C80-1389-384710A2F1D6}"/>
                </a:ext>
              </a:extLst>
            </p:cNvPr>
            <p:cNvGrpSpPr/>
            <p:nvPr/>
          </p:nvGrpSpPr>
          <p:grpSpPr>
            <a:xfrm>
              <a:off x="7463905" y="2335981"/>
              <a:ext cx="1985179" cy="1755442"/>
              <a:chOff x="7463905" y="2335981"/>
              <a:chExt cx="1985179" cy="1755442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5A4C0E7-291D-9CF8-D13A-054A20CA4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65423" y="2796877"/>
                <a:ext cx="0" cy="107526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B1920E4-C18A-6E65-802B-38663E2DB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5423" y="3872144"/>
                <a:ext cx="1202284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7721996-A3ED-B279-3C75-F252A64887C8}"/>
                      </a:ext>
                    </a:extLst>
                  </p:cNvPr>
                  <p:cNvSpPr txBox="1"/>
                  <p:nvPr/>
                </p:nvSpPr>
                <p:spPr>
                  <a:xfrm>
                    <a:off x="7463905" y="2597099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7721996-A3ED-B279-3C75-F252A64887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3905" y="2597099"/>
                    <a:ext cx="271485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696" t="-20000" r="-4348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A39607B-9AD5-1247-9D96-5D2CEF2B8B8F}"/>
                      </a:ext>
                    </a:extLst>
                  </p:cNvPr>
                  <p:cNvSpPr txBox="1"/>
                  <p:nvPr/>
                </p:nvSpPr>
                <p:spPr>
                  <a:xfrm>
                    <a:off x="8967707" y="3783646"/>
                    <a:ext cx="277448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A39607B-9AD5-1247-9D96-5D2CEF2B8B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67707" y="3783646"/>
                    <a:ext cx="277448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3043" t="-24000" r="-4348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01D6766-69F2-E967-69D4-FA7A76EE337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8353778" y="2335981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1C956C9-C49A-6E1D-98D8-546513A9365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9341084" y="2483952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437714B-6CDB-5DE2-7C8C-365EA6BA3E8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8144224" y="3268182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5D1C09B-4426-DE3D-3E28-7241F323641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9104532" y="3553137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A5AF314-A9A8-5612-A4CC-5903D63283BD}"/>
                </a:ext>
              </a:extLst>
            </p:cNvPr>
            <p:cNvSpPr txBox="1"/>
            <p:nvPr/>
          </p:nvSpPr>
          <p:spPr>
            <a:xfrm>
              <a:off x="7556086" y="1422724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800" dirty="0">
                  <a:solidFill>
                    <a:srgbClr val="000000"/>
                  </a:solidFill>
                </a:rPr>
                <a:t>低维空间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EDDC97A-7775-2E68-A336-6084C4881788}"/>
              </a:ext>
            </a:extLst>
          </p:cNvPr>
          <p:cNvSpPr txBox="1"/>
          <p:nvPr/>
        </p:nvSpPr>
        <p:spPr>
          <a:xfrm>
            <a:off x="1483971" y="483030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solidFill>
                  <a:srgbClr val="000000"/>
                </a:solidFill>
              </a:rPr>
              <a:t>高维空间中样本间距离</a:t>
            </a:r>
            <a:endParaRPr lang="en-CN" sz="2800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C4B661-91BF-282A-5FF3-B9A76A4597B8}"/>
              </a:ext>
            </a:extLst>
          </p:cNvPr>
          <p:cNvSpPr txBox="1"/>
          <p:nvPr/>
        </p:nvSpPr>
        <p:spPr>
          <a:xfrm>
            <a:off x="3208525" y="5299642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CN" sz="1600" dirty="0">
                <a:solidFill>
                  <a:srgbClr val="000000"/>
                </a:solidFill>
              </a:rPr>
              <a:t>不限制距离定义</a:t>
            </a:r>
            <a:r>
              <a:rPr lang="zh-CN" altLang="en-US" sz="1600" dirty="0">
                <a:solidFill>
                  <a:srgbClr val="000000"/>
                </a:solidFill>
              </a:rPr>
              <a:t>）</a:t>
            </a:r>
            <a:endParaRPr lang="en-CN" sz="16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93F19-7FC5-E898-CF6D-247A3F437869}"/>
              </a:ext>
            </a:extLst>
          </p:cNvPr>
          <p:cNvSpPr txBox="1"/>
          <p:nvPr/>
        </p:nvSpPr>
        <p:spPr>
          <a:xfrm>
            <a:off x="6475126" y="4830305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solidFill>
                  <a:srgbClr val="000000"/>
                </a:solidFill>
              </a:rPr>
              <a:t>低维空间中样本间的</a:t>
            </a:r>
            <a:r>
              <a:rPr lang="en-CN" sz="2800" dirty="0">
                <a:solidFill>
                  <a:srgbClr val="C00000"/>
                </a:solidFill>
              </a:rPr>
              <a:t>欧氏距离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0A28DF-867C-B6F9-3890-F0FE0E675D6C}"/>
              </a:ext>
            </a:extLst>
          </p:cNvPr>
          <p:cNvGrpSpPr/>
          <p:nvPr/>
        </p:nvGrpSpPr>
        <p:grpSpPr>
          <a:xfrm>
            <a:off x="5264538" y="4517306"/>
            <a:ext cx="1210588" cy="714336"/>
            <a:chOff x="5264538" y="4517306"/>
            <a:chExt cx="1210588" cy="714336"/>
          </a:xfrm>
        </p:grpSpPr>
        <p:sp>
          <p:nvSpPr>
            <p:cNvPr id="5" name="Left-Right Arrow 4">
              <a:extLst>
                <a:ext uri="{FF2B5EF4-FFF2-40B4-BE49-F238E27FC236}">
                  <a16:creationId xmlns:a16="http://schemas.microsoft.com/office/drawing/2014/main" id="{F9586A74-5335-86C0-EE50-FD4973AD4C26}"/>
                </a:ext>
              </a:extLst>
            </p:cNvPr>
            <p:cNvSpPr/>
            <p:nvPr/>
          </p:nvSpPr>
          <p:spPr>
            <a:xfrm>
              <a:off x="5385382" y="4952188"/>
              <a:ext cx="963726" cy="279454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8C050D-A5BD-D70E-2088-D2D0263EFC20}"/>
                </a:ext>
              </a:extLst>
            </p:cNvPr>
            <p:cNvSpPr txBox="1"/>
            <p:nvPr/>
          </p:nvSpPr>
          <p:spPr>
            <a:xfrm>
              <a:off x="5264538" y="4517306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保持一致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37309-A0AB-1F3C-EB94-B9AF8562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26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94A4D-E7E1-6629-055D-02CFEF6D4D33}"/>
              </a:ext>
            </a:extLst>
          </p:cNvPr>
          <p:cNvSpPr txBox="1"/>
          <p:nvPr/>
        </p:nvSpPr>
        <p:spPr>
          <a:xfrm>
            <a:off x="4178257" y="5637592"/>
            <a:ext cx="5418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课外阅读</a:t>
            </a:r>
            <a:r>
              <a:rPr lang="zh-CN" altLang="en-US" sz="2000" dirty="0"/>
              <a:t>：</a:t>
            </a:r>
            <a:r>
              <a:rPr lang="en-US" altLang="zh-CN" sz="2000" dirty="0"/>
              <a:t>MDS </a:t>
            </a:r>
            <a:r>
              <a:rPr lang="zh-CN" altLang="en-US" sz="2000" dirty="0"/>
              <a:t>的数学推导</a:t>
            </a:r>
            <a:r>
              <a:rPr lang="en-CN" sz="2000" dirty="0"/>
              <a:t>(西瓜书第</a:t>
            </a:r>
            <a:r>
              <a:rPr lang="zh-CN" altLang="en-US" sz="2000" dirty="0"/>
              <a:t> </a:t>
            </a:r>
            <a:r>
              <a:rPr lang="en-US" altLang="zh-CN" sz="2000" dirty="0"/>
              <a:t>10.2 </a:t>
            </a:r>
            <a:r>
              <a:rPr lang="zh-CN" altLang="en-US" sz="2000" dirty="0"/>
              <a:t>节</a:t>
            </a:r>
            <a:r>
              <a:rPr lang="en-CN" sz="20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632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6" grpId="0"/>
      <p:bldP spid="57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FD87-430D-F477-7011-15C58204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1C59-FF37-1FD6-B101-F7C13C70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降维的本质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CF68A-0734-77BC-B75C-2F159F5213B7}"/>
              </a:ext>
            </a:extLst>
          </p:cNvPr>
          <p:cNvSpPr txBox="1"/>
          <p:nvPr/>
        </p:nvSpPr>
        <p:spPr>
          <a:xfrm>
            <a:off x="689712" y="1118289"/>
            <a:ext cx="10418237" cy="1233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CN" sz="2000" dirty="0">
                <a:solidFill>
                  <a:srgbClr val="000000"/>
                </a:solidFill>
              </a:rPr>
              <a:t>寻找最佳低维子空间</a:t>
            </a:r>
            <a:r>
              <a:rPr lang="zh-CN" altLang="en-US" sz="2000" dirty="0">
                <a:solidFill>
                  <a:srgbClr val="000000"/>
                </a:solidFill>
              </a:rPr>
              <a:t>，</a:t>
            </a:r>
            <a:r>
              <a:rPr lang="en-CN" sz="2000" dirty="0">
                <a:solidFill>
                  <a:srgbClr val="000000"/>
                </a:solidFill>
              </a:rPr>
              <a:t>尽可能保留</a:t>
            </a:r>
            <a:r>
              <a:rPr lang="en-CN" sz="2000" b="1" dirty="0"/>
              <a:t>样本之间关联</a:t>
            </a:r>
            <a:r>
              <a:rPr lang="en-CN" sz="2000" dirty="0">
                <a:solidFill>
                  <a:srgbClr val="000000"/>
                </a:solidFill>
              </a:rPr>
              <a:t>的更多信息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PCA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  <a:endParaRPr lang="en-CN" sz="2000" dirty="0">
              <a:solidFill>
                <a:srgbClr val="000000"/>
              </a:solidFill>
            </a:endParaRP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CN" sz="2000" dirty="0">
                <a:solidFill>
                  <a:srgbClr val="000000"/>
                </a:solidFill>
              </a:rPr>
              <a:t>通过样本空间的局部性质</a:t>
            </a:r>
            <a:r>
              <a:rPr lang="zh-CN" altLang="en-US" sz="2000" dirty="0">
                <a:solidFill>
                  <a:srgbClr val="000000"/>
                </a:solidFill>
              </a:rPr>
              <a:t>，运用测地线</a:t>
            </a:r>
            <a:r>
              <a:rPr lang="zh-CN" altLang="en-US" sz="2000" dirty="0"/>
              <a:t>距离</a:t>
            </a:r>
            <a:r>
              <a:rPr lang="zh-CN" altLang="en-US" sz="2000" dirty="0">
                <a:solidFill>
                  <a:srgbClr val="000000"/>
                </a:solidFill>
              </a:rPr>
              <a:t>刻画</a:t>
            </a:r>
            <a:r>
              <a:rPr lang="zh-CN" altLang="en-US" sz="2000" b="1" dirty="0"/>
              <a:t>样本之间的关联 （</a:t>
            </a:r>
            <a:r>
              <a:rPr lang="en-US" altLang="zh-CN" sz="2000" b="1" dirty="0"/>
              <a:t>ISOMAP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MDS</a:t>
            </a:r>
            <a:r>
              <a:rPr lang="zh-CN" altLang="en-US" sz="2000" b="1" dirty="0"/>
              <a:t>）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9FC32-576C-62E4-367A-039C86861600}"/>
              </a:ext>
            </a:extLst>
          </p:cNvPr>
          <p:cNvSpPr txBox="1"/>
          <p:nvPr/>
        </p:nvSpPr>
        <p:spPr>
          <a:xfrm>
            <a:off x="2179006" y="3004237"/>
            <a:ext cx="2965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b="1" dirty="0">
                <a:solidFill>
                  <a:srgbClr val="000000"/>
                </a:solidFill>
              </a:rPr>
              <a:t>样本之间的关系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8EB2FFDB-C797-37C5-4861-815F4B9E9828}"/>
              </a:ext>
            </a:extLst>
          </p:cNvPr>
          <p:cNvSpPr/>
          <p:nvPr/>
        </p:nvSpPr>
        <p:spPr>
          <a:xfrm rot="16200000">
            <a:off x="5234019" y="3001217"/>
            <a:ext cx="201827" cy="529259"/>
          </a:xfrm>
          <a:prstGeom prst="downArrow">
            <a:avLst>
              <a:gd name="adj1" fmla="val 41837"/>
              <a:gd name="adj2" fmla="val 5816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7744F-87C3-2D37-05AA-C4004E9ED518}"/>
              </a:ext>
            </a:extLst>
          </p:cNvPr>
          <p:cNvSpPr txBox="1"/>
          <p:nvPr/>
        </p:nvSpPr>
        <p:spPr>
          <a:xfrm>
            <a:off x="8565184" y="3009385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b="1" dirty="0">
                <a:solidFill>
                  <a:srgbClr val="C00000"/>
                </a:solidFill>
              </a:rPr>
              <a:t>距离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93932-83F2-1DF6-EC43-AE4FD5AB6DA5}"/>
              </a:ext>
            </a:extLst>
          </p:cNvPr>
          <p:cNvSpPr txBox="1"/>
          <p:nvPr/>
        </p:nvSpPr>
        <p:spPr>
          <a:xfrm>
            <a:off x="5347294" y="3009386"/>
            <a:ext cx="2965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b="1" dirty="0">
                <a:solidFill>
                  <a:srgbClr val="000000"/>
                </a:solidFill>
              </a:rPr>
              <a:t>样本的相似性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95234F3-8519-6383-AC49-6BD1463FD49A}"/>
              </a:ext>
            </a:extLst>
          </p:cNvPr>
          <p:cNvSpPr/>
          <p:nvPr/>
        </p:nvSpPr>
        <p:spPr>
          <a:xfrm rot="16200000">
            <a:off x="8199641" y="3001216"/>
            <a:ext cx="201827" cy="529259"/>
          </a:xfrm>
          <a:prstGeom prst="downArrow">
            <a:avLst>
              <a:gd name="adj1" fmla="val 41837"/>
              <a:gd name="adj2" fmla="val 5816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E14B5-4801-A25B-561D-D5D809B82A24}"/>
              </a:ext>
            </a:extLst>
          </p:cNvPr>
          <p:cNvSpPr txBox="1"/>
          <p:nvPr/>
        </p:nvSpPr>
        <p:spPr>
          <a:xfrm>
            <a:off x="7121699" y="4505848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通过概率密度分布定义距离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9978C-E7AD-F70A-433F-F7F9921DA2DF}"/>
              </a:ext>
            </a:extLst>
          </p:cNvPr>
          <p:cNvSpPr txBox="1"/>
          <p:nvPr/>
        </p:nvSpPr>
        <p:spPr>
          <a:xfrm>
            <a:off x="1461620" y="4198070"/>
            <a:ext cx="36086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N" sz="2000" dirty="0"/>
              <a:t>高维空间中样本分布不均匀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CN" sz="2000" dirty="0"/>
              <a:t>降维后</a:t>
            </a:r>
            <a:r>
              <a:rPr lang="zh-CN" altLang="en-US" sz="2000" dirty="0"/>
              <a:t>距离关系</a:t>
            </a:r>
            <a:r>
              <a:rPr lang="zh-CN" altLang="en-CN" sz="2000" dirty="0"/>
              <a:t>失</a:t>
            </a:r>
            <a:r>
              <a:rPr lang="zh-CN" altLang="en-US" sz="2000" dirty="0"/>
              <a:t>真</a:t>
            </a:r>
            <a:endParaRPr lang="en-US" altLang="zh-C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……</a:t>
            </a:r>
            <a:endParaRPr lang="en-CN" sz="2000" dirty="0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8A13CBFF-CE8A-91BB-A039-7D2919B20750}"/>
              </a:ext>
            </a:extLst>
          </p:cNvPr>
          <p:cNvSpPr/>
          <p:nvPr/>
        </p:nvSpPr>
        <p:spPr>
          <a:xfrm rot="16200000">
            <a:off x="5995086" y="4247618"/>
            <a:ext cx="201827" cy="916568"/>
          </a:xfrm>
          <a:prstGeom prst="downArrow">
            <a:avLst>
              <a:gd name="adj1" fmla="val 41837"/>
              <a:gd name="adj2" fmla="val 5816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191BBC-E601-6922-7573-0FFC02468DB4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99E270-2DE4-2DA8-E55E-89BE6E7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27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00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/>
      <p:bldP spid="8" grpId="0" animBg="1"/>
      <p:bldP spid="9" grpId="0"/>
      <p:bldP spid="11" grpId="0"/>
      <p:bldP spid="12" grpId="0" animBg="1"/>
      <p:bldP spid="4" grpId="0"/>
      <p:bldP spid="6" grpId="0" build="p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8B19-9B59-E676-EDF0-01B2B61D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E6E0-21CC-1257-CE11-0068F56A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随机近邻嵌入</a:t>
            </a:r>
            <a:r>
              <a:rPr lang="en-US" dirty="0"/>
              <a:t>(</a:t>
            </a:r>
            <a:r>
              <a:rPr lang="en-US" altLang="zh-CN" dirty="0"/>
              <a:t>stochastic neighbor embedding, </a:t>
            </a:r>
            <a:r>
              <a:rPr lang="en-CN" dirty="0"/>
              <a:t>SNE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D476F-DE56-7AD7-CEB7-9BB6D0892E9A}"/>
              </a:ext>
            </a:extLst>
          </p:cNvPr>
          <p:cNvSpPr txBox="1"/>
          <p:nvPr/>
        </p:nvSpPr>
        <p:spPr>
          <a:xfrm>
            <a:off x="1260389" y="6457195"/>
            <a:ext cx="87568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“Visualizing High-Dimensional Data Using t-SNE” van der </a:t>
            </a:r>
            <a:r>
              <a:rPr lang="en-US" sz="1100" dirty="0" err="1">
                <a:solidFill>
                  <a:schemeClr val="bg1"/>
                </a:solidFill>
              </a:rPr>
              <a:t>Maaten</a:t>
            </a:r>
            <a:r>
              <a:rPr lang="en-US" sz="1100" dirty="0">
                <a:solidFill>
                  <a:schemeClr val="bg1"/>
                </a:solidFill>
              </a:rPr>
              <a:t>, L.J.P.; Hinton, G. Journal of Machine Learning Research (2008)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A6B6C8-4C2C-362B-67CA-E9547A81F9CF}"/>
                  </a:ext>
                </a:extLst>
              </p:cNvPr>
              <p:cNvSpPr txBox="1"/>
              <p:nvPr/>
            </p:nvSpPr>
            <p:spPr>
              <a:xfrm>
                <a:off x="792616" y="3692572"/>
                <a:ext cx="9900339" cy="427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目标</a:t>
                </a:r>
                <a:r>
                  <a:rPr lang="zh-CN" altLang="en-US" sz="2000" dirty="0"/>
                  <a:t>：高维空间样本间距离与低维空间相似，即，使条件概率分布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00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000" dirty="0"/>
                  <a:t>尽可能相似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A6B6C8-4C2C-362B-67CA-E9547A81F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16" y="3692572"/>
                <a:ext cx="9900339" cy="427618"/>
              </a:xfrm>
              <a:prstGeom prst="rect">
                <a:avLst/>
              </a:prstGeom>
              <a:blipFill>
                <a:blip r:embed="rId7"/>
                <a:stretch>
                  <a:fillRect l="-641" t="-11429" b="-1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5FBC5E9-7E21-1722-008B-9A194E93ACB0}"/>
              </a:ext>
            </a:extLst>
          </p:cNvPr>
          <p:cNvGrpSpPr/>
          <p:nvPr/>
        </p:nvGrpSpPr>
        <p:grpSpPr>
          <a:xfrm>
            <a:off x="2400247" y="4409779"/>
            <a:ext cx="6712441" cy="1356765"/>
            <a:chOff x="2184423" y="4326215"/>
            <a:chExt cx="6712441" cy="13567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A99C54-3C7F-6DFF-E0EF-FDF2D7DEDD56}"/>
                </a:ext>
              </a:extLst>
            </p:cNvPr>
            <p:cNvSpPr txBox="1"/>
            <p:nvPr/>
          </p:nvSpPr>
          <p:spPr>
            <a:xfrm>
              <a:off x="2184423" y="4499358"/>
              <a:ext cx="34964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Kullback-Leibler</a:t>
              </a:r>
              <a:r>
                <a:rPr lang="en-US" sz="2000" dirty="0"/>
                <a:t> (KL)</a:t>
              </a:r>
              <a:r>
                <a:rPr lang="en-CN" sz="2000" dirty="0"/>
                <a:t> 散度</a:t>
              </a:r>
              <a:r>
                <a:rPr lang="zh-CN" altLang="en-US" sz="2000" dirty="0"/>
                <a:t>：</a:t>
              </a:r>
              <a:endParaRPr lang="en-CN" sz="2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B58F7F-7CEA-06AE-3745-8FCF64493B32}"/>
                </a:ext>
              </a:extLst>
            </p:cNvPr>
            <p:cNvSpPr txBox="1"/>
            <p:nvPr/>
          </p:nvSpPr>
          <p:spPr>
            <a:xfrm>
              <a:off x="3663520" y="5282870"/>
              <a:ext cx="35189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衡量两个概率分布之间的距离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2EBDB8D-AEF4-0373-7DB9-B8B85091798A}"/>
                    </a:ext>
                  </a:extLst>
                </p:cNvPr>
                <p:cNvSpPr txBox="1"/>
                <p:nvPr/>
              </p:nvSpPr>
              <p:spPr>
                <a:xfrm>
                  <a:off x="5616542" y="4326215"/>
                  <a:ext cx="3280322" cy="8740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func>
                          </m:e>
                        </m:nary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2EBDB8D-AEF4-0373-7DB9-B8B850917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542" y="4326215"/>
                  <a:ext cx="3280322" cy="874085"/>
                </a:xfrm>
                <a:prstGeom prst="rect">
                  <a:avLst/>
                </a:prstGeom>
                <a:blipFill>
                  <a:blip r:embed="rId8"/>
                  <a:stretch>
                    <a:fillRect t="-120000" b="-16285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6BBEA2-480F-7DF9-010F-45D3AE1ABBEE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0A493-2FA0-FF1D-C4D9-0404122C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28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91A63-EE3D-EE72-4284-C7898AA76F9F}"/>
              </a:ext>
            </a:extLst>
          </p:cNvPr>
          <p:cNvSpPr txBox="1"/>
          <p:nvPr/>
        </p:nvSpPr>
        <p:spPr>
          <a:xfrm>
            <a:off x="8445346" y="5472184"/>
            <a:ext cx="2387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课外阅读</a:t>
            </a:r>
            <a:r>
              <a:rPr lang="zh-CN" altLang="en-US" sz="2000" dirty="0"/>
              <a:t>：</a:t>
            </a:r>
            <a:r>
              <a:rPr lang="en-US" altLang="zh-CN" sz="2000" dirty="0"/>
              <a:t>KL </a:t>
            </a:r>
            <a:r>
              <a:rPr lang="zh-CN" altLang="en-US" sz="2000" dirty="0"/>
              <a:t>散度</a:t>
            </a:r>
            <a:endParaRPr lang="en-CN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860669-0FC7-0EA8-BF07-3B2FAF79C105}"/>
              </a:ext>
            </a:extLst>
          </p:cNvPr>
          <p:cNvGrpSpPr/>
          <p:nvPr/>
        </p:nvGrpSpPr>
        <p:grpSpPr>
          <a:xfrm>
            <a:off x="792616" y="1267933"/>
            <a:ext cx="7125948" cy="863057"/>
            <a:chOff x="488334" y="959397"/>
            <a:chExt cx="7125948" cy="8630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591D8C-E390-701F-2013-6B9717625FB2}"/>
                    </a:ext>
                  </a:extLst>
                </p:cNvPr>
                <p:cNvSpPr txBox="1"/>
                <p:nvPr/>
              </p:nvSpPr>
              <p:spPr>
                <a:xfrm>
                  <a:off x="3649360" y="959397"/>
                  <a:ext cx="3964922" cy="8630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N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n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CN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‖"/>
                                                <m:endChr m:val="‖"/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CN" i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CN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CN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supHide m:val="on"/>
                                <m:ctrlP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/>
                              <m:e>
                                <m: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func>
                              <m:funcPr>
                                <m:ctrlP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N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n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CN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‖"/>
                                                <m:endChr m:val="‖"/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𝑙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CN" i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CN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CN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CN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591D8C-E390-701F-2013-6B9717625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9360" y="959397"/>
                  <a:ext cx="3964922" cy="863057"/>
                </a:xfrm>
                <a:prstGeom prst="rect">
                  <a:avLst/>
                </a:prstGeom>
                <a:blipFill>
                  <a:blip r:embed="rId9"/>
                  <a:stretch>
                    <a:fillRect t="-39130" b="-6956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784C9A0-047E-D34C-05BC-AF376BC56D9A}"/>
                    </a:ext>
                  </a:extLst>
                </p:cNvPr>
                <p:cNvSpPr txBox="1"/>
                <p:nvPr/>
              </p:nvSpPr>
              <p:spPr>
                <a:xfrm>
                  <a:off x="488334" y="1025084"/>
                  <a:ext cx="3183639" cy="7325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N" sz="2000" dirty="0">
                      <a:solidFill>
                        <a:srgbClr val="000000"/>
                      </a:solidFill>
                    </a:rPr>
                    <a:t>高维空间中样本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到样本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的距离</a:t>
                  </a:r>
                  <a:r>
                    <a:rPr lang="zh-CN" altLang="en-US" sz="2000" dirty="0">
                      <a:solidFill>
                        <a:srgbClr val="000000"/>
                      </a:solidFill>
                    </a:rPr>
                    <a:t>：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(</a:t>
                  </a:r>
                  <a:r>
                    <a:rPr lang="en-US" sz="2000" dirty="0" err="1">
                      <a:solidFill>
                        <a:srgbClr val="000000"/>
                      </a:solidFill>
                    </a:rPr>
                    <a:t>高斯分布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)</a:t>
                  </a:r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784C9A0-047E-D34C-05BC-AF376BC56D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34" y="1025084"/>
                  <a:ext cx="3183639" cy="732573"/>
                </a:xfrm>
                <a:prstGeom prst="rect">
                  <a:avLst/>
                </a:prstGeom>
                <a:blipFill>
                  <a:blip r:embed="rId10"/>
                  <a:stretch>
                    <a:fillRect l="-1594" t="-8621" b="-1379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B7E50F-4113-6661-7142-F19536BB2E0F}"/>
              </a:ext>
            </a:extLst>
          </p:cNvPr>
          <p:cNvGrpSpPr/>
          <p:nvPr/>
        </p:nvGrpSpPr>
        <p:grpSpPr>
          <a:xfrm>
            <a:off x="792616" y="2347403"/>
            <a:ext cx="6932630" cy="1206933"/>
            <a:chOff x="488334" y="2042326"/>
            <a:chExt cx="6932630" cy="12069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218D611-9B7B-972B-E98E-5B48206034ED}"/>
                    </a:ext>
                  </a:extLst>
                </p:cNvPr>
                <p:cNvSpPr txBox="1"/>
                <p:nvPr/>
              </p:nvSpPr>
              <p:spPr>
                <a:xfrm>
                  <a:off x="3456041" y="2042326"/>
                  <a:ext cx="3964923" cy="8873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CN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N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supHide m:val="on"/>
                                <m:ctrlP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CN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/>
                              <m:e>
                                <m: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CN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N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CN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218D611-9B7B-972B-E98E-5B48206034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41" y="2042326"/>
                  <a:ext cx="3964923" cy="887359"/>
                </a:xfrm>
                <a:prstGeom prst="rect">
                  <a:avLst/>
                </a:prstGeom>
                <a:blipFill>
                  <a:blip r:embed="rId11"/>
                  <a:stretch>
                    <a:fillRect b="-6901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45009C-BDC8-047D-61CB-D8EDE3CB62FF}"/>
                    </a:ext>
                  </a:extLst>
                </p:cNvPr>
                <p:cNvSpPr txBox="1"/>
                <p:nvPr/>
              </p:nvSpPr>
              <p:spPr>
                <a:xfrm>
                  <a:off x="488334" y="2208910"/>
                  <a:ext cx="3183639" cy="10403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N" sz="2000" dirty="0">
                      <a:solidFill>
                        <a:srgbClr val="000000"/>
                      </a:solidFill>
                    </a:rPr>
                    <a:t>降维空间中样本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到样本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的距离</a:t>
                  </a:r>
                  <a:r>
                    <a:rPr lang="zh-CN" altLang="en-US" sz="2000" dirty="0">
                      <a:solidFill>
                        <a:srgbClr val="000000"/>
                      </a:solidFill>
                    </a:rPr>
                    <a:t>：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(</a:t>
                  </a:r>
                  <a:r>
                    <a:rPr lang="en-US" sz="2000" dirty="0" err="1">
                      <a:solidFill>
                        <a:srgbClr val="000000"/>
                      </a:solidFill>
                    </a:rPr>
                    <a:t>学生t分布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)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rgbClr val="FF0000"/>
                      </a:solidFill>
                    </a:rPr>
                    <a:t>随机初始化，可训练</a:t>
                  </a:r>
                  <a:endParaRPr lang="en-CN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45009C-BDC8-047D-61CB-D8EDE3CB6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34" y="2208910"/>
                  <a:ext cx="3183639" cy="1040349"/>
                </a:xfrm>
                <a:prstGeom prst="rect">
                  <a:avLst/>
                </a:prstGeom>
                <a:blipFill>
                  <a:blip r:embed="rId12"/>
                  <a:stretch>
                    <a:fillRect l="-1724" t="-4678" b="-760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Picture 23" descr="A diagram of normal distribution&#10;&#10;AI-generated content may be incorrect.">
            <a:extLst>
              <a:ext uri="{FF2B5EF4-FFF2-40B4-BE49-F238E27FC236}">
                <a16:creationId xmlns:a16="http://schemas.microsoft.com/office/drawing/2014/main" id="{A7F30BB9-D055-7DC3-FBB3-B8C31E58C32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1" t="3025" r="11765" b="-45"/>
          <a:stretch>
            <a:fillRect/>
          </a:stretch>
        </p:blipFill>
        <p:spPr>
          <a:xfrm>
            <a:off x="7908932" y="1355069"/>
            <a:ext cx="3624649" cy="21085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320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46B6-E628-5545-FFB6-46CA5513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对比t-SNE与PCA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63C840-7498-964C-B372-4789C2769016}"/>
              </a:ext>
            </a:extLst>
          </p:cNvPr>
          <p:cNvGrpSpPr/>
          <p:nvPr/>
        </p:nvGrpSpPr>
        <p:grpSpPr>
          <a:xfrm>
            <a:off x="445062" y="1641389"/>
            <a:ext cx="11627740" cy="3575222"/>
            <a:chOff x="381242" y="1517822"/>
            <a:chExt cx="12461856" cy="36000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2C6BFB7-BF02-4F60-1A94-30F2D8DD5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242" y="1517822"/>
              <a:ext cx="4800000" cy="360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D1C898-33B9-FA91-B129-B9D656577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2170" y="1517822"/>
              <a:ext cx="4800000" cy="360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089D4F-5BA1-FA54-DC23-0B72B293F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43098" y="1517822"/>
              <a:ext cx="4800000" cy="3600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0D142F9-10AF-4EAD-9FFB-E9B779C40FFD}"/>
              </a:ext>
            </a:extLst>
          </p:cNvPr>
          <p:cNvSpPr txBox="1"/>
          <p:nvPr/>
        </p:nvSpPr>
        <p:spPr>
          <a:xfrm>
            <a:off x="1962888" y="1241534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PCA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E82742-50BF-B67E-E994-E1AB5BCC9266}"/>
              </a:ext>
            </a:extLst>
          </p:cNvPr>
          <p:cNvSpPr txBox="1"/>
          <p:nvPr/>
        </p:nvSpPr>
        <p:spPr>
          <a:xfrm>
            <a:off x="4769229" y="1241534"/>
            <a:ext cx="2486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Kernel PCA (cosine)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DEA759-1AF8-AE32-BFC3-4D194F29B5DC}"/>
              </a:ext>
            </a:extLst>
          </p:cNvPr>
          <p:cNvSpPr txBox="1"/>
          <p:nvPr/>
        </p:nvSpPr>
        <p:spPr>
          <a:xfrm>
            <a:off x="9021600" y="1241789"/>
            <a:ext cx="857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t</a:t>
            </a:r>
            <a:r>
              <a:rPr lang="en-CN" sz="2000" dirty="0"/>
              <a:t>-SNE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52871-798C-AB7E-2B3F-55FE635B4AF5}"/>
              </a:ext>
            </a:extLst>
          </p:cNvPr>
          <p:cNvSpPr txBox="1"/>
          <p:nvPr/>
        </p:nvSpPr>
        <p:spPr>
          <a:xfrm>
            <a:off x="3886100" y="5445833"/>
            <a:ext cx="4419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solidFill>
                  <a:srgbClr val="000000"/>
                </a:solidFill>
              </a:rPr>
              <a:t>不同降维方法对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CN" sz="2400" dirty="0">
                <a:solidFill>
                  <a:srgbClr val="000000"/>
                </a:solidFill>
              </a:rPr>
              <a:t>MNIST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CN" sz="2400" dirty="0">
                <a:solidFill>
                  <a:srgbClr val="000000"/>
                </a:solidFill>
              </a:rPr>
              <a:t>的降维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E26DAB-1BAD-ED46-7F03-E33FDD83C7A9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9FBC9-2725-80FD-86D7-EFFB07DA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29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88178-8EE4-AC74-DD04-CC238144BD62}"/>
              </a:ext>
            </a:extLst>
          </p:cNvPr>
          <p:cNvSpPr txBox="1"/>
          <p:nvPr/>
        </p:nvSpPr>
        <p:spPr>
          <a:xfrm>
            <a:off x="1498083" y="6403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https://distill.pub/2016/misread-tsne</a:t>
            </a:r>
            <a:endParaRPr lang="en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26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130E-07D1-F7E5-5095-3C1EC47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ED59BD-FA2F-EF6C-BFF2-91ACF31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内容总结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CE68F9-B4E3-E5B4-F121-57D296ED046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" y="1149927"/>
            <a:ext cx="11201400" cy="499528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CN" sz="28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聚类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算法</a:t>
            </a:r>
            <a:endParaRPr lang="en-US" altLang="zh-CN" sz="28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高斯混合聚类算法</a:t>
            </a:r>
            <a:endParaRPr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CN" sz="28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降维</a:t>
            </a: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线性降维：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主成分分析（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PCA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非线性降维：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ISOMAP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t-SNE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49A93A-FCD5-BC94-399B-8AA6874C2851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3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84092-4110-6FB7-CAF5-5DE2FEF75C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30</a:t>
            </a:fld>
            <a:r>
              <a:rPr lang="en-US" altLang="zh-CN" dirty="0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2178996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F2D9-8211-DFA9-7195-05164E3E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381242" y="1205345"/>
                <a:ext cx="11429758" cy="493986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CN" dirty="0"/>
                  <a:t>分析计算题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1066800" lvl="1" indent="-457200">
                  <a:buFont typeface="+mj-lt"/>
                  <a:buAutoNum type="arabicParenR"/>
                </a:pPr>
                <a:r>
                  <a:rPr lang="en-CN" b="0" dirty="0"/>
                  <a:t>试设计一个</a:t>
                </a:r>
                <a:r>
                  <a:rPr lang="zh-CN" altLang="en-US" b="0" dirty="0"/>
                  <a:t>与课堂上未提及的新的</a:t>
                </a:r>
                <a:r>
                  <a:rPr lang="en-CN" b="0" dirty="0"/>
                  <a:t>聚类性能度量的指标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/>
                </a:pP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 近邻图和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近邻图存在的短路和断路问题会给</a:t>
                </a:r>
                <a:r>
                  <a:rPr lang="en-US" altLang="zh-CN" b="0" dirty="0"/>
                  <a:t>ISOMAP</a:t>
                </a:r>
                <a:r>
                  <a:rPr lang="zh-CN" altLang="en-US" b="0" dirty="0"/>
                  <a:t>造成困扰，试设计一个方法缓解。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/>
                </a:pPr>
                <a:r>
                  <a:rPr lang="zh-CN" altLang="en-US" b="0" dirty="0"/>
                  <a:t>在对高维数据降维之前，对数据进行中心化是一个常见操作，即将协方差矩阵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zh-CN" altLang="en-US" b="0" dirty="0"/>
                  <a:t>转化成为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zh-CN" altLang="en-US" b="0" dirty="0"/>
                  <a:t>。试分析对于中心化数据的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，对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结果会产生什么影响。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/>
                </a:pPr>
                <a:endParaRPr lang="en-US" altLang="zh-CN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dirty="0"/>
                  <a:t>编程题：</a:t>
                </a:r>
                <a:endParaRPr lang="en-CN" dirty="0"/>
              </a:p>
              <a:p>
                <a:pPr marL="1066800" lvl="1" indent="-457200">
                  <a:buFont typeface="+mj-lt"/>
                  <a:buAutoNum type="arabicParenR" startAt="5"/>
                </a:pPr>
                <a:r>
                  <a:rPr lang="en-CN" b="0" dirty="0"/>
                  <a:t>试设计一个</a:t>
                </a:r>
                <a:r>
                  <a:rPr lang="zh-CN" altLang="en-US" b="0" dirty="0"/>
                  <a:t>能自动确定聚类数的改进</a:t>
                </a:r>
                <a:r>
                  <a:rPr lang="en-US" b="0" dirty="0"/>
                  <a:t>k</a:t>
                </a:r>
                <a:r>
                  <a:rPr lang="en-US" altLang="zh-CN" b="0" dirty="0"/>
                  <a:t>-means</a:t>
                </a:r>
                <a:r>
                  <a:rPr lang="zh-CN" altLang="en-US" b="0" dirty="0"/>
                  <a:t>算法，编程实现并在西瓜数据集 </a:t>
                </a:r>
                <a:r>
                  <a:rPr lang="en-US" altLang="zh-CN" b="0" dirty="0"/>
                  <a:t>4.0</a:t>
                </a:r>
                <a:r>
                  <a:rPr lang="zh-CN" altLang="en-US" b="0" dirty="0"/>
                  <a:t>上运行。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 startAt="5"/>
                </a:pPr>
                <a:r>
                  <a:rPr lang="zh-CN" altLang="en-US" b="0" dirty="0"/>
                  <a:t>使用</a:t>
                </a:r>
                <a:r>
                  <a:rPr lang="en-US" altLang="zh-CN" b="0" dirty="0"/>
                  <a:t>Python</a:t>
                </a:r>
                <a:r>
                  <a:rPr lang="zh-CN" altLang="en-US" b="0" dirty="0"/>
                  <a:t>与</a:t>
                </a:r>
                <a:r>
                  <a:rPr lang="en-US" altLang="zh-CN" b="0" dirty="0" err="1"/>
                  <a:t>numpy</a:t>
                </a:r>
                <a:r>
                  <a:rPr lang="zh-CN" altLang="en-US" b="0" dirty="0"/>
                  <a:t>的矩阵计算（不使用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软件包），编程实现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算法。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上机练习）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 startAt="5"/>
                </a:pPr>
                <a:r>
                  <a:rPr lang="zh-CN" altLang="en-US" b="0" dirty="0"/>
                  <a:t>利用你实现的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算法，对带噪声的</a:t>
                </a:r>
                <a:r>
                  <a:rPr lang="en-US" altLang="zh-CN" b="0" dirty="0"/>
                  <a:t>MNIST</a:t>
                </a:r>
                <a:r>
                  <a:rPr lang="zh-CN" altLang="en-US" b="0" dirty="0"/>
                  <a:t>数据集进行降噪。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381242" y="1205345"/>
                <a:ext cx="11429758" cy="4939868"/>
              </a:xfrm>
              <a:blipFill>
                <a:blip r:embed="rId5"/>
                <a:stretch>
                  <a:fillRect l="-666" t="-1285" r="-27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F75E5-D326-5100-1F3B-6954FC6860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31</a:t>
            </a:fld>
            <a:r>
              <a:rPr lang="en-US" altLang="zh-CN" dirty="0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3531258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50D0-82B6-582A-AFDE-EBFB6DF45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5678-1006-9425-43CB-BE8ECA91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K-mean聚类</a:t>
            </a:r>
            <a:r>
              <a:rPr lang="zh-CN" altLang="en-US" dirty="0"/>
              <a:t>：西瓜数据集</a:t>
            </a:r>
            <a:endParaRPr lang="en-C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FB894C-C283-52F9-016E-9BF67B73A674}"/>
              </a:ext>
            </a:extLst>
          </p:cNvPr>
          <p:cNvGrpSpPr/>
          <p:nvPr/>
        </p:nvGrpSpPr>
        <p:grpSpPr>
          <a:xfrm>
            <a:off x="1157103" y="1766761"/>
            <a:ext cx="9329799" cy="3324477"/>
            <a:chOff x="652401" y="1766761"/>
            <a:chExt cx="9329799" cy="33244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521ADF-7478-4532-C67B-91E0DF2FF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766761"/>
              <a:ext cx="7772400" cy="332447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F8217A-D425-4383-2507-3CBEEE3A6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01" y="3984170"/>
              <a:ext cx="1456847" cy="1017237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E2657F-61EC-245B-FD6B-CE4739E5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32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817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5A99-D451-C866-4A43-A90DEA5F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ED12-B36D-17B5-7AAC-DAFC4EF3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PCA应用</a:t>
            </a:r>
            <a:r>
              <a:rPr lang="zh-CN" altLang="en-US" dirty="0"/>
              <a:t>：</a:t>
            </a:r>
            <a:r>
              <a:rPr lang="en-US" altLang="zh-CN" dirty="0"/>
              <a:t>MNIST</a:t>
            </a:r>
            <a:r>
              <a:rPr lang="zh-CN" altLang="en-US" dirty="0"/>
              <a:t>图片降噪</a:t>
            </a:r>
            <a:endParaRPr lang="en-C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0E72EC-1C81-B2AA-A97F-B1924E1E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442"/>
          <a:stretch/>
        </p:blipFill>
        <p:spPr>
          <a:xfrm>
            <a:off x="3141994" y="975105"/>
            <a:ext cx="2443637" cy="256488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F26428-D4CE-0318-EA70-428FC4BF7415}"/>
              </a:ext>
            </a:extLst>
          </p:cNvPr>
          <p:cNvGrpSpPr/>
          <p:nvPr/>
        </p:nvGrpSpPr>
        <p:grpSpPr>
          <a:xfrm>
            <a:off x="752248" y="895272"/>
            <a:ext cx="2443639" cy="2662921"/>
            <a:chOff x="752248" y="895272"/>
            <a:chExt cx="2443639" cy="266292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DB304C7-6CF6-B24B-C460-6BC46E890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248" y="1156148"/>
              <a:ext cx="2443639" cy="240204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628CE1-7A97-07C6-21C8-E78036E78492}"/>
                </a:ext>
              </a:extLst>
            </p:cNvPr>
            <p:cNvSpPr txBox="1"/>
            <p:nvPr/>
          </p:nvSpPr>
          <p:spPr>
            <a:xfrm>
              <a:off x="1420069" y="89527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>
                  <a:solidFill>
                    <a:srgbClr val="000000"/>
                  </a:solidFill>
                </a:rPr>
                <a:t>原始图片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FD241F8-E938-353E-46F7-CA17C0651A02}"/>
              </a:ext>
            </a:extLst>
          </p:cNvPr>
          <p:cNvGrpSpPr/>
          <p:nvPr/>
        </p:nvGrpSpPr>
        <p:grpSpPr>
          <a:xfrm>
            <a:off x="6157288" y="2023828"/>
            <a:ext cx="4988322" cy="3432572"/>
            <a:chOff x="6770608" y="2918460"/>
            <a:chExt cx="4988322" cy="34325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FE7C5BB-BA72-8AF1-F125-8A94494E68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039" b="7586"/>
            <a:stretch/>
          </p:blipFill>
          <p:spPr>
            <a:xfrm>
              <a:off x="7139940" y="2918460"/>
              <a:ext cx="4618990" cy="306324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8144E9-BA05-894A-5306-81DDC6A42C37}"/>
                </a:ext>
              </a:extLst>
            </p:cNvPr>
            <p:cNvSpPr txBox="1"/>
            <p:nvPr/>
          </p:nvSpPr>
          <p:spPr>
            <a:xfrm rot="16200000">
              <a:off x="6285860" y="426541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可解释方差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5ADB9-6618-7046-E32C-F603A4CA0B9B}"/>
                </a:ext>
              </a:extLst>
            </p:cNvPr>
            <p:cNvSpPr txBox="1"/>
            <p:nvPr/>
          </p:nvSpPr>
          <p:spPr>
            <a:xfrm>
              <a:off x="9113520" y="598170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主成分数目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087E47-9430-6C25-D29D-4A568679A528}"/>
              </a:ext>
            </a:extLst>
          </p:cNvPr>
          <p:cNvCxnSpPr>
            <a:cxnSpLocks/>
          </p:cNvCxnSpPr>
          <p:nvPr/>
        </p:nvCxnSpPr>
        <p:spPr>
          <a:xfrm>
            <a:off x="7242900" y="2115268"/>
            <a:ext cx="0" cy="275082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7CD7B6-BDC9-6916-992E-9D081944E0FE}"/>
              </a:ext>
            </a:extLst>
          </p:cNvPr>
          <p:cNvSpPr txBox="1"/>
          <p:nvPr/>
        </p:nvSpPr>
        <p:spPr>
          <a:xfrm>
            <a:off x="7818849" y="1623579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保留前</a:t>
            </a:r>
            <a:r>
              <a:rPr lang="en-US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个主成分</a:t>
            </a:r>
            <a:endParaRPr lang="en-CN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7EE3DD-C112-6081-A6F2-A0ECB6E0336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8FCC3A-0F76-1A57-8A2B-34F080F70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58"/>
          <a:stretch/>
        </p:blipFill>
        <p:spPr>
          <a:xfrm>
            <a:off x="2020460" y="3490678"/>
            <a:ext cx="2389743" cy="2564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D8D7D1-78EB-2566-78DC-280FC5C87150}"/>
              </a:ext>
            </a:extLst>
          </p:cNvPr>
          <p:cNvSpPr txBox="1"/>
          <p:nvPr/>
        </p:nvSpPr>
        <p:spPr>
          <a:xfrm>
            <a:off x="4971426" y="5508516"/>
            <a:ext cx="6170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（</a:t>
            </a:r>
            <a:r>
              <a:rPr lang="en-CN" sz="2000" dirty="0"/>
              <a:t>习题</a:t>
            </a:r>
            <a:r>
              <a:rPr lang="zh-CN" altLang="en-US" sz="2000" dirty="0"/>
              <a:t>：实现使用 </a:t>
            </a:r>
            <a:r>
              <a:rPr lang="en-US" altLang="zh-CN" sz="2000" dirty="0"/>
              <a:t>PCA</a:t>
            </a:r>
            <a:r>
              <a:rPr lang="zh-CN" altLang="en-US" sz="2000" dirty="0"/>
              <a:t> 对 </a:t>
            </a:r>
            <a:r>
              <a:rPr lang="en-US" altLang="zh-CN" sz="2000" dirty="0"/>
              <a:t>MNIST</a:t>
            </a:r>
            <a:r>
              <a:rPr lang="zh-CN" altLang="en-US" sz="2000" dirty="0"/>
              <a:t> 图片降噪的代码）</a:t>
            </a:r>
            <a:endParaRPr lang="en-C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2A1EB-78C7-508C-5A82-D6422B1E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33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51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28C6-61AC-A696-7205-63048480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717C30-E0BC-9F8A-FCBE-09827649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上机练习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386681-6E78-7BD0-D734-17BDBDD0D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聚类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</a:t>
            </a:r>
            <a:endParaRPr lang="en-US" altLang="zh-CN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CN" sz="3200" dirty="0"/>
              <a:t>主成分</a:t>
            </a:r>
            <a:r>
              <a:rPr lang="zh-CN" altLang="en-US" sz="3200" dirty="0"/>
              <a:t>分析</a:t>
            </a:r>
            <a:endParaRPr lang="en-US" altLang="zh-CN" sz="32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9584-D5D6-CF25-567A-4765CE3FB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34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5944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.9|12.1|34.7|24.8|17.2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6|4|0.8|15.1|37.9|21.9|20|1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9|10.8|48.2|4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3.6|9.6|2.4|3.1|37.4|42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9.4|7.5|6.5|7.8|9.8|9.2|2.5|7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2.1|2.8|3.7|8.6|35.1|8.4|12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20.5|8.1|6|11.2|4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3.7|8.1|14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4|3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1.5|17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12|15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8|38.2|28.7|3.4|2.4|1.9|115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8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|23.9|24.7|16.5|15.7|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10.7|12.7|23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8.5|20.6|26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9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5|2.6|4.1|2.9|1.2|5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3.1|1.4|4.3|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1.1|11.1|1.7|2.8|7.4|1.9|7.3|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6|4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1.2|19.8|2.2|11.1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14547</TotalTime>
  <Words>1799</Words>
  <Application>Microsoft Macintosh PowerPoint</Application>
  <PresentationFormat>宽屏</PresentationFormat>
  <Paragraphs>345</Paragraphs>
  <Slides>35</Slides>
  <Notes>18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微软雅黑</vt:lpstr>
      <vt:lpstr>微软雅黑</vt:lpstr>
      <vt:lpstr>等线</vt:lpstr>
      <vt:lpstr>黑体</vt:lpstr>
      <vt:lpstr>Arial</vt:lpstr>
      <vt:lpstr>Book Antiqua</vt:lpstr>
      <vt:lpstr>Cambria Math</vt:lpstr>
      <vt:lpstr>Times New Roman</vt:lpstr>
      <vt:lpstr>Wingdings</vt:lpstr>
      <vt:lpstr>1_自定义设计方案</vt:lpstr>
      <vt:lpstr>传统机器学习 – 无监督学习</vt:lpstr>
      <vt:lpstr>目录</vt:lpstr>
      <vt:lpstr>目录</vt:lpstr>
      <vt:lpstr>无监督学习：挖掘数据中隐含的属性</vt:lpstr>
      <vt:lpstr>无监督学习：挖掘数据中隐含的属性</vt:lpstr>
      <vt:lpstr>目录</vt:lpstr>
      <vt:lpstr>聚类问题</vt:lpstr>
      <vt:lpstr>如何定量刻画聚类效果？</vt:lpstr>
      <vt:lpstr>距离定义</vt:lpstr>
      <vt:lpstr>代表性聚类算法</vt:lpstr>
      <vt:lpstr>K-means聚类</vt:lpstr>
      <vt:lpstr>K-mean聚类 （k=3)</vt:lpstr>
      <vt:lpstr>K-means聚类小结</vt:lpstr>
      <vt:lpstr>能否估计样本的分布？</vt:lpstr>
      <vt:lpstr>高斯分布</vt:lpstr>
      <vt:lpstr>高斯混合分布：多个高斯分布的组合</vt:lpstr>
      <vt:lpstr>高斯混合聚类</vt:lpstr>
      <vt:lpstr>高斯混合聚类</vt:lpstr>
      <vt:lpstr>高斯混合聚类小结</vt:lpstr>
      <vt:lpstr>目录</vt:lpstr>
      <vt:lpstr>回顾：高维数据与维数灾难</vt:lpstr>
      <vt:lpstr>高维空间的低维嵌入</vt:lpstr>
      <vt:lpstr>主成分分析(PCA): 最常用的数据降维方法</vt:lpstr>
      <vt:lpstr>非线性降维</vt:lpstr>
      <vt:lpstr>等度量映射（Isometric Mapping，ISOMAP）</vt:lpstr>
      <vt:lpstr>基于距离的降维： 多维放缩（multi-dimensional scaling，MDS）</vt:lpstr>
      <vt:lpstr>降维的本质</vt:lpstr>
      <vt:lpstr>随机近邻嵌入(stochastic neighbor embedding, SNE)</vt:lpstr>
      <vt:lpstr>对比t-SNE与PCA</vt:lpstr>
      <vt:lpstr>内容总结</vt:lpstr>
      <vt:lpstr>课后习题</vt:lpstr>
      <vt:lpstr>K-mean聚类：西瓜数据集</vt:lpstr>
      <vt:lpstr>PCA应用：MNIST图片降噪</vt:lpstr>
      <vt:lpstr>上机练习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Microsoft Office User</cp:lastModifiedBy>
  <cp:revision>1152</cp:revision>
  <cp:lastPrinted>2025-03-13T11:39:04Z</cp:lastPrinted>
  <dcterms:created xsi:type="dcterms:W3CDTF">2020-06-05T07:59:00Z</dcterms:created>
  <dcterms:modified xsi:type="dcterms:W3CDTF">2025-12-21T01:01:15Z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